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handoutMasterIdLst>
    <p:handoutMasterId r:id="rId24"/>
  </p:handoutMasterIdLst>
  <p:sldIdLst>
    <p:sldId id="359" r:id="rId2"/>
    <p:sldId id="374" r:id="rId3"/>
    <p:sldId id="367" r:id="rId4"/>
    <p:sldId id="375" r:id="rId5"/>
    <p:sldId id="390" r:id="rId6"/>
    <p:sldId id="391" r:id="rId7"/>
    <p:sldId id="366" r:id="rId8"/>
    <p:sldId id="393" r:id="rId9"/>
    <p:sldId id="379" r:id="rId10"/>
    <p:sldId id="394" r:id="rId11"/>
    <p:sldId id="395" r:id="rId12"/>
    <p:sldId id="377" r:id="rId13"/>
    <p:sldId id="373" r:id="rId14"/>
    <p:sldId id="384" r:id="rId15"/>
    <p:sldId id="371" r:id="rId16"/>
    <p:sldId id="376" r:id="rId17"/>
    <p:sldId id="392" r:id="rId18"/>
    <p:sldId id="381" r:id="rId19"/>
    <p:sldId id="369" r:id="rId20"/>
    <p:sldId id="387" r:id="rId21"/>
    <p:sldId id="386" r:id="rId22"/>
  </p:sldIdLst>
  <p:sldSz cx="9144000" cy="5143500" type="screen16x9"/>
  <p:notesSz cx="7010400" cy="92964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457200" rtl="0" eaLnBrk="1" latinLnBrk="0" hangingPunct="1">
      <a:defRPr kern="1200">
        <a:solidFill>
          <a:schemeClr val="tx1"/>
        </a:solidFill>
        <a:latin typeface="Arial" charset="0"/>
        <a:ea typeface="+mn-ea"/>
        <a:cs typeface="+mn-cs"/>
      </a:defRPr>
    </a:lvl6pPr>
    <a:lvl7pPr marL="2743200" algn="l" defTabSz="457200" rtl="0" eaLnBrk="1" latinLnBrk="0" hangingPunct="1">
      <a:defRPr kern="1200">
        <a:solidFill>
          <a:schemeClr val="tx1"/>
        </a:solidFill>
        <a:latin typeface="Arial" charset="0"/>
        <a:ea typeface="+mn-ea"/>
        <a:cs typeface="+mn-cs"/>
      </a:defRPr>
    </a:lvl7pPr>
    <a:lvl8pPr marL="3200400" algn="l" defTabSz="457200" rtl="0" eaLnBrk="1" latinLnBrk="0" hangingPunct="1">
      <a:defRPr kern="1200">
        <a:solidFill>
          <a:schemeClr val="tx1"/>
        </a:solidFill>
        <a:latin typeface="Arial" charset="0"/>
        <a:ea typeface="+mn-ea"/>
        <a:cs typeface="+mn-cs"/>
      </a:defRPr>
    </a:lvl8pPr>
    <a:lvl9pPr marL="3657600" algn="l" defTabSz="4572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805" userDrawn="1">
          <p15:clr>
            <a:srgbClr val="A4A3A4"/>
          </p15:clr>
        </p15:guide>
        <p15:guide id="2" orient="horz" pos="204" userDrawn="1">
          <p15:clr>
            <a:srgbClr val="A4A3A4"/>
          </p15:clr>
        </p15:guide>
        <p15:guide id="3" orient="horz" pos="3116" userDrawn="1">
          <p15:clr>
            <a:srgbClr val="A4A3A4"/>
          </p15:clr>
        </p15:guide>
        <p15:guide id="4" pos="302" userDrawn="1">
          <p15:clr>
            <a:srgbClr val="A4A3A4"/>
          </p15:clr>
        </p15:guide>
        <p15:guide id="5" pos="5478" userDrawn="1">
          <p15:clr>
            <a:srgbClr val="A4A3A4"/>
          </p15:clr>
        </p15:guide>
        <p15:guide id="6" pos="40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hishek Mishra" initials="AM" lastIdx="1" clrIdx="0">
    <p:extLst>
      <p:ext uri="{19B8F6BF-5375-455C-9EA6-DF929625EA0E}">
        <p15:presenceInfo xmlns:p15="http://schemas.microsoft.com/office/powerpoint/2012/main" userId="S-1-5-21-1761170581-294597109-3035037286-64674472" providerId="AD"/>
      </p:ext>
    </p:extLst>
  </p:cmAuthor>
  <p:cmAuthor id="2" name="Erica McGinnis" initials="EM" lastIdx="7" clrIdx="1">
    <p:extLst>
      <p:ext uri="{19B8F6BF-5375-455C-9EA6-DF929625EA0E}">
        <p15:presenceInfo xmlns:p15="http://schemas.microsoft.com/office/powerpoint/2012/main" userId="S::Erica.McGinnis@aexp.com::1869f000-331e-439d-a92b-1aa0a7d9409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E733BF"/>
    <a:srgbClr val="E734BF"/>
    <a:srgbClr val="386CD4"/>
    <a:srgbClr val="2B60CB"/>
    <a:srgbClr val="668DDE"/>
    <a:srgbClr val="002663"/>
    <a:srgbClr val="00A3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01"/>
    <p:restoredTop sz="94667" autoAdjust="0"/>
  </p:normalViewPr>
  <p:slideViewPr>
    <p:cSldViewPr snapToGrid="0" showGuides="1">
      <p:cViewPr>
        <p:scale>
          <a:sx n="134" d="100"/>
          <a:sy n="134" d="100"/>
        </p:scale>
        <p:origin x="88" y="592"/>
      </p:cViewPr>
      <p:guideLst>
        <p:guide orient="horz" pos="805"/>
        <p:guide orient="horz" pos="204"/>
        <p:guide orient="horz" pos="3116"/>
        <p:guide pos="302"/>
        <p:guide pos="5478"/>
        <p:guide pos="4002"/>
      </p:guideLst>
    </p:cSldViewPr>
  </p:slid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lith" userId="442bf74a-e3b5-438a-b483-6c56fc02c72a" providerId="ADAL" clId="{3AE96265-1357-43AF-83A9-D4E2A2EB01BC}"/>
    <pc:docChg chg="undo custSel modSld">
      <pc:chgData name="Lalith" userId="442bf74a-e3b5-438a-b483-6c56fc02c72a" providerId="ADAL" clId="{3AE96265-1357-43AF-83A9-D4E2A2EB01BC}" dt="2022-04-01T20:44:01.319" v="8" actId="1076"/>
      <pc:docMkLst>
        <pc:docMk/>
      </pc:docMkLst>
      <pc:sldChg chg="modSp mod">
        <pc:chgData name="Lalith" userId="442bf74a-e3b5-438a-b483-6c56fc02c72a" providerId="ADAL" clId="{3AE96265-1357-43AF-83A9-D4E2A2EB01BC}" dt="2022-04-01T20:44:01.319" v="8" actId="1076"/>
        <pc:sldMkLst>
          <pc:docMk/>
          <pc:sldMk cId="2256867894" sldId="369"/>
        </pc:sldMkLst>
        <pc:picChg chg="mod">
          <ac:chgData name="Lalith" userId="442bf74a-e3b5-438a-b483-6c56fc02c72a" providerId="ADAL" clId="{3AE96265-1357-43AF-83A9-D4E2A2EB01BC}" dt="2022-04-01T20:44:01.319" v="8" actId="1076"/>
          <ac:picMkLst>
            <pc:docMk/>
            <pc:sldMk cId="2256867894" sldId="369"/>
            <ac:picMk id="5" creationId="{00000000-0000-0000-0000-000000000000}"/>
          </ac:picMkLst>
        </pc:picChg>
      </pc:sldChg>
      <pc:sldChg chg="modSp mod">
        <pc:chgData name="Lalith" userId="442bf74a-e3b5-438a-b483-6c56fc02c72a" providerId="ADAL" clId="{3AE96265-1357-43AF-83A9-D4E2A2EB01BC}" dt="2022-04-01T19:50:14.835" v="4" actId="1076"/>
        <pc:sldMkLst>
          <pc:docMk/>
          <pc:sldMk cId="1954867213" sldId="376"/>
        </pc:sldMkLst>
        <pc:spChg chg="mod">
          <ac:chgData name="Lalith" userId="442bf74a-e3b5-438a-b483-6c56fc02c72a" providerId="ADAL" clId="{3AE96265-1357-43AF-83A9-D4E2A2EB01BC}" dt="2022-04-01T19:50:14.835" v="4" actId="1076"/>
          <ac:spMkLst>
            <pc:docMk/>
            <pc:sldMk cId="1954867213" sldId="376"/>
            <ac:spMk id="4" creationId="{00000000-0000-0000-0000-000000000000}"/>
          </ac:spMkLst>
        </pc:spChg>
      </pc:sldChg>
      <pc:sldChg chg="modSp mod">
        <pc:chgData name="Lalith" userId="442bf74a-e3b5-438a-b483-6c56fc02c72a" providerId="ADAL" clId="{3AE96265-1357-43AF-83A9-D4E2A2EB01BC}" dt="2022-04-01T20:43:55.366" v="7" actId="1076"/>
        <pc:sldMkLst>
          <pc:docMk/>
          <pc:sldMk cId="3140485185" sldId="387"/>
        </pc:sldMkLst>
        <pc:picChg chg="mod">
          <ac:chgData name="Lalith" userId="442bf74a-e3b5-438a-b483-6c56fc02c72a" providerId="ADAL" clId="{3AE96265-1357-43AF-83A9-D4E2A2EB01BC}" dt="2022-04-01T20:43:55.366" v="7" actId="1076"/>
          <ac:picMkLst>
            <pc:docMk/>
            <pc:sldMk cId="3140485185" sldId="387"/>
            <ac:picMk id="4" creationId="{00000000-0000-0000-0000-000000000000}"/>
          </ac:picMkLst>
        </pc:picChg>
      </pc:sldChg>
      <pc:sldChg chg="modSp mod">
        <pc:chgData name="Lalith" userId="442bf74a-e3b5-438a-b483-6c56fc02c72a" providerId="ADAL" clId="{3AE96265-1357-43AF-83A9-D4E2A2EB01BC}" dt="2022-04-01T19:18:51.151" v="3" actId="1037"/>
        <pc:sldMkLst>
          <pc:docMk/>
          <pc:sldMk cId="2062281599" sldId="393"/>
        </pc:sldMkLst>
        <pc:spChg chg="mod">
          <ac:chgData name="Lalith" userId="442bf74a-e3b5-438a-b483-6c56fc02c72a" providerId="ADAL" clId="{3AE96265-1357-43AF-83A9-D4E2A2EB01BC}" dt="2022-04-01T19:18:51.151" v="3" actId="1037"/>
          <ac:spMkLst>
            <pc:docMk/>
            <pc:sldMk cId="2062281599" sldId="393"/>
            <ac:spMk id="52" creationId="{8B595119-1574-4209-B5FD-6AE4DEFEAB4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FC581F-F3A3-49DE-AE51-CA8FF1922AAF}" type="doc">
      <dgm:prSet loTypeId="urn:microsoft.com/office/officeart/2008/layout/VerticalCurvedList" loCatId="list" qsTypeId="urn:microsoft.com/office/officeart/2005/8/quickstyle/simple1" qsCatId="simple" csTypeId="urn:microsoft.com/office/officeart/2005/8/colors/accent1_4" csCatId="accent1" phldr="1"/>
      <dgm:spPr/>
      <dgm:t>
        <a:bodyPr/>
        <a:lstStyle/>
        <a:p>
          <a:endParaRPr lang="en-GB"/>
        </a:p>
      </dgm:t>
    </dgm:pt>
    <dgm:pt modelId="{EBF754C2-CD3D-4738-A4F4-26BEF3F244D5}">
      <dgm:prSet phldrT="[Text]" custT="1"/>
      <dgm:spPr/>
      <dgm:t>
        <a:bodyPr/>
        <a:lstStyle/>
        <a:p>
          <a:r>
            <a:rPr lang="en-US" sz="1050" dirty="0"/>
            <a:t>Four key activities that take place to ensure data is appropriately loaded into CADENCE      </a:t>
          </a:r>
        </a:p>
        <a:p>
          <a:r>
            <a:rPr lang="en-US" sz="1050" dirty="0"/>
            <a:t>(1)  Data balancing  (2) Transformation/Standardization (3) Hierarchy establishment (4) Customer relationship establishment</a:t>
          </a:r>
          <a:endParaRPr lang="en-GB" sz="1050" dirty="0"/>
        </a:p>
      </dgm:t>
    </dgm:pt>
    <dgm:pt modelId="{67B2C9D8-73DF-4078-8CB3-18108DBDF975}" type="parTrans" cxnId="{2D9ABBB6-1A83-4748-86A7-5D2E743CBEF0}">
      <dgm:prSet/>
      <dgm:spPr/>
      <dgm:t>
        <a:bodyPr/>
        <a:lstStyle/>
        <a:p>
          <a:endParaRPr lang="en-GB"/>
        </a:p>
      </dgm:t>
    </dgm:pt>
    <dgm:pt modelId="{D67F4E77-C186-479C-9B75-124BBEDE41A6}" type="sibTrans" cxnId="{2D9ABBB6-1A83-4748-86A7-5D2E743CBEF0}">
      <dgm:prSet/>
      <dgm:spPr/>
      <dgm:t>
        <a:bodyPr/>
        <a:lstStyle/>
        <a:p>
          <a:endParaRPr lang="en-GB"/>
        </a:p>
      </dgm:t>
    </dgm:pt>
    <dgm:pt modelId="{C82C655A-CD90-4AC6-9CA3-8E947E684209}">
      <dgm:prSet phldrT="[Text]" custT="1"/>
      <dgm:spPr>
        <a:solidFill>
          <a:srgbClr val="386CD4"/>
        </a:solidFill>
      </dgm:spPr>
      <dgm:t>
        <a:bodyPr/>
        <a:lstStyle/>
        <a:p>
          <a:r>
            <a:rPr lang="en-US" sz="1050" dirty="0"/>
            <a:t>Four key activities take place to support the Customer risk assessment</a:t>
          </a:r>
        </a:p>
        <a:p>
          <a:r>
            <a:rPr lang="en-US" sz="1050" dirty="0"/>
            <a:t>(1) Account risk assessment (2) Hierarchy risk assessment  (3) Customer risk assessment (4) PEP risk assessment</a:t>
          </a:r>
          <a:endParaRPr lang="en-GB" sz="1050" dirty="0"/>
        </a:p>
      </dgm:t>
    </dgm:pt>
    <dgm:pt modelId="{DAEAAEC0-F3A0-44DD-A664-71FE0FE3A45E}" type="parTrans" cxnId="{7FCAA397-0C90-4899-AB03-46B47723EFF3}">
      <dgm:prSet/>
      <dgm:spPr/>
      <dgm:t>
        <a:bodyPr/>
        <a:lstStyle/>
        <a:p>
          <a:endParaRPr lang="en-GB"/>
        </a:p>
      </dgm:t>
    </dgm:pt>
    <dgm:pt modelId="{062A817D-872A-47E0-80B2-1AF8CA4D2A92}" type="sibTrans" cxnId="{7FCAA397-0C90-4899-AB03-46B47723EFF3}">
      <dgm:prSet/>
      <dgm:spPr/>
      <dgm:t>
        <a:bodyPr/>
        <a:lstStyle/>
        <a:p>
          <a:endParaRPr lang="en-GB"/>
        </a:p>
      </dgm:t>
    </dgm:pt>
    <dgm:pt modelId="{E965F176-0238-4C63-9C2C-5E2A27B2488E}">
      <dgm:prSet phldrT="[Text]" custT="1"/>
      <dgm:spPr/>
      <dgm:t>
        <a:bodyPr/>
        <a:lstStyle/>
        <a:p>
          <a:r>
            <a:rPr lang="en-GB" sz="1050" dirty="0"/>
            <a:t>Five types of reviews are scheduled to support compliance due diligence.</a:t>
          </a:r>
        </a:p>
        <a:p>
          <a:r>
            <a:rPr lang="en-GB" sz="1050" dirty="0"/>
            <a:t>(1) KYC refresh (2) CDD (3) EDD (4) PEP (5) PRO(Prohibited)</a:t>
          </a:r>
        </a:p>
      </dgm:t>
    </dgm:pt>
    <dgm:pt modelId="{595D67B1-F8E4-4E57-AB5F-B3CE77331632}" type="parTrans" cxnId="{393E853C-BAE3-4259-8709-685BD1DA5660}">
      <dgm:prSet/>
      <dgm:spPr/>
      <dgm:t>
        <a:bodyPr/>
        <a:lstStyle/>
        <a:p>
          <a:endParaRPr lang="en-GB"/>
        </a:p>
      </dgm:t>
    </dgm:pt>
    <dgm:pt modelId="{D57E98C0-AF09-4552-BE9E-EF237EB5B0BD}" type="sibTrans" cxnId="{393E853C-BAE3-4259-8709-685BD1DA5660}">
      <dgm:prSet/>
      <dgm:spPr/>
      <dgm:t>
        <a:bodyPr/>
        <a:lstStyle/>
        <a:p>
          <a:endParaRPr lang="en-GB"/>
        </a:p>
      </dgm:t>
    </dgm:pt>
    <dgm:pt modelId="{A0EA191C-C806-4EFC-B4C8-E8F2D177B496}" type="pres">
      <dgm:prSet presAssocID="{50FC581F-F3A3-49DE-AE51-CA8FF1922AAF}" presName="Name0" presStyleCnt="0">
        <dgm:presLayoutVars>
          <dgm:chMax val="7"/>
          <dgm:chPref val="7"/>
          <dgm:dir/>
        </dgm:presLayoutVars>
      </dgm:prSet>
      <dgm:spPr/>
    </dgm:pt>
    <dgm:pt modelId="{190478A8-F662-4C41-9C59-BE038956357B}" type="pres">
      <dgm:prSet presAssocID="{50FC581F-F3A3-49DE-AE51-CA8FF1922AAF}" presName="Name1" presStyleCnt="0"/>
      <dgm:spPr/>
    </dgm:pt>
    <dgm:pt modelId="{D41ABEDB-B16B-42D2-BB2F-37EAF454A58E}" type="pres">
      <dgm:prSet presAssocID="{50FC581F-F3A3-49DE-AE51-CA8FF1922AAF}" presName="cycle" presStyleCnt="0"/>
      <dgm:spPr/>
    </dgm:pt>
    <dgm:pt modelId="{DD7B502A-70CB-484C-A2F5-695A166AFC3A}" type="pres">
      <dgm:prSet presAssocID="{50FC581F-F3A3-49DE-AE51-CA8FF1922AAF}" presName="srcNode" presStyleLbl="node1" presStyleIdx="0" presStyleCnt="3"/>
      <dgm:spPr/>
    </dgm:pt>
    <dgm:pt modelId="{E785E132-A07B-4F2C-942C-DF8423C94E5E}" type="pres">
      <dgm:prSet presAssocID="{50FC581F-F3A3-49DE-AE51-CA8FF1922AAF}" presName="conn" presStyleLbl="parChTrans1D2" presStyleIdx="0" presStyleCnt="1"/>
      <dgm:spPr/>
    </dgm:pt>
    <dgm:pt modelId="{364760CE-8B2F-436A-BFED-F298D14E1DA8}" type="pres">
      <dgm:prSet presAssocID="{50FC581F-F3A3-49DE-AE51-CA8FF1922AAF}" presName="extraNode" presStyleLbl="node1" presStyleIdx="0" presStyleCnt="3"/>
      <dgm:spPr/>
    </dgm:pt>
    <dgm:pt modelId="{69A47B26-6CD0-4200-AC10-4A9F173E34CB}" type="pres">
      <dgm:prSet presAssocID="{50FC581F-F3A3-49DE-AE51-CA8FF1922AAF}" presName="dstNode" presStyleLbl="node1" presStyleIdx="0" presStyleCnt="3"/>
      <dgm:spPr/>
    </dgm:pt>
    <dgm:pt modelId="{6392FEDB-E7F6-4DBE-8483-E3B41A7F6BED}" type="pres">
      <dgm:prSet presAssocID="{EBF754C2-CD3D-4738-A4F4-26BEF3F244D5}" presName="text_1" presStyleLbl="node1" presStyleIdx="0" presStyleCnt="3">
        <dgm:presLayoutVars>
          <dgm:bulletEnabled val="1"/>
        </dgm:presLayoutVars>
      </dgm:prSet>
      <dgm:spPr/>
    </dgm:pt>
    <dgm:pt modelId="{212D3793-A7AD-40A8-9687-2B6D09D4220D}" type="pres">
      <dgm:prSet presAssocID="{EBF754C2-CD3D-4738-A4F4-26BEF3F244D5}" presName="accent_1" presStyleCnt="0"/>
      <dgm:spPr/>
    </dgm:pt>
    <dgm:pt modelId="{FEE8EF8F-A7A9-4FE5-9E81-7AC159D29884}" type="pres">
      <dgm:prSet presAssocID="{EBF754C2-CD3D-4738-A4F4-26BEF3F244D5}" presName="accentRepeatNode" presStyleLbl="solidFgAcc1" presStyleIdx="0" presStyleCnt="3" custScaleX="110937" custScaleY="109313"/>
      <dgm:spPr/>
    </dgm:pt>
    <dgm:pt modelId="{BA13B0B8-6F9E-4FBB-A07E-959271D1BAA8}" type="pres">
      <dgm:prSet presAssocID="{C82C655A-CD90-4AC6-9CA3-8E947E684209}" presName="text_2" presStyleLbl="node1" presStyleIdx="1" presStyleCnt="3">
        <dgm:presLayoutVars>
          <dgm:bulletEnabled val="1"/>
        </dgm:presLayoutVars>
      </dgm:prSet>
      <dgm:spPr/>
    </dgm:pt>
    <dgm:pt modelId="{BE043FE5-3B19-4861-9F76-23F6FC93D9EF}" type="pres">
      <dgm:prSet presAssocID="{C82C655A-CD90-4AC6-9CA3-8E947E684209}" presName="accent_2" presStyleCnt="0"/>
      <dgm:spPr/>
    </dgm:pt>
    <dgm:pt modelId="{25CC7BE5-180F-4964-B45B-99CEAFDCB4A1}" type="pres">
      <dgm:prSet presAssocID="{C82C655A-CD90-4AC6-9CA3-8E947E684209}" presName="accentRepeatNode" presStyleLbl="solidFgAcc1" presStyleIdx="1" presStyleCnt="3" custScaleX="110700" custScaleY="109800"/>
      <dgm:spPr>
        <a:solidFill>
          <a:schemeClr val="bg1"/>
        </a:solidFill>
        <a:ln>
          <a:solidFill>
            <a:srgbClr val="386CD4"/>
          </a:solidFill>
        </a:ln>
      </dgm:spPr>
    </dgm:pt>
    <dgm:pt modelId="{CB047DB5-8B57-44C4-908E-362DFAA8AAF0}" type="pres">
      <dgm:prSet presAssocID="{E965F176-0238-4C63-9C2C-5E2A27B2488E}" presName="text_3" presStyleLbl="node1" presStyleIdx="2" presStyleCnt="3">
        <dgm:presLayoutVars>
          <dgm:bulletEnabled val="1"/>
        </dgm:presLayoutVars>
      </dgm:prSet>
      <dgm:spPr/>
    </dgm:pt>
    <dgm:pt modelId="{45AED334-F712-4F6B-A6BF-7EE5652BD8B5}" type="pres">
      <dgm:prSet presAssocID="{E965F176-0238-4C63-9C2C-5E2A27B2488E}" presName="accent_3" presStyleCnt="0"/>
      <dgm:spPr/>
    </dgm:pt>
    <dgm:pt modelId="{7C5A7C9B-91E2-495D-A810-630C8FF1D97E}" type="pres">
      <dgm:prSet presAssocID="{E965F176-0238-4C63-9C2C-5E2A27B2488E}" presName="accentRepeatNode" presStyleLbl="solidFgAcc1" presStyleIdx="2" presStyleCnt="3" custScaleX="110700" custScaleY="109800"/>
      <dgm:spPr/>
    </dgm:pt>
  </dgm:ptLst>
  <dgm:cxnLst>
    <dgm:cxn modelId="{C9F43E11-5D78-4144-86AC-9FC1220AA643}" type="presOf" srcId="{EBF754C2-CD3D-4738-A4F4-26BEF3F244D5}" destId="{6392FEDB-E7F6-4DBE-8483-E3B41A7F6BED}" srcOrd="0" destOrd="0" presId="urn:microsoft.com/office/officeart/2008/layout/VerticalCurvedList"/>
    <dgm:cxn modelId="{393E853C-BAE3-4259-8709-685BD1DA5660}" srcId="{50FC581F-F3A3-49DE-AE51-CA8FF1922AAF}" destId="{E965F176-0238-4C63-9C2C-5E2A27B2488E}" srcOrd="2" destOrd="0" parTransId="{595D67B1-F8E4-4E57-AB5F-B3CE77331632}" sibTransId="{D57E98C0-AF09-4552-BE9E-EF237EB5B0BD}"/>
    <dgm:cxn modelId="{C7B7FA3E-695B-4476-A138-C60D7917E35E}" type="presOf" srcId="{D67F4E77-C186-479C-9B75-124BBEDE41A6}" destId="{E785E132-A07B-4F2C-942C-DF8423C94E5E}" srcOrd="0" destOrd="0" presId="urn:microsoft.com/office/officeart/2008/layout/VerticalCurvedList"/>
    <dgm:cxn modelId="{7981098B-594C-40FD-9A03-DFFCF7DF976F}" type="presOf" srcId="{50FC581F-F3A3-49DE-AE51-CA8FF1922AAF}" destId="{A0EA191C-C806-4EFC-B4C8-E8F2D177B496}" srcOrd="0" destOrd="0" presId="urn:microsoft.com/office/officeart/2008/layout/VerticalCurvedList"/>
    <dgm:cxn modelId="{7FCAA397-0C90-4899-AB03-46B47723EFF3}" srcId="{50FC581F-F3A3-49DE-AE51-CA8FF1922AAF}" destId="{C82C655A-CD90-4AC6-9CA3-8E947E684209}" srcOrd="1" destOrd="0" parTransId="{DAEAAEC0-F3A0-44DD-A664-71FE0FE3A45E}" sibTransId="{062A817D-872A-47E0-80B2-1AF8CA4D2A92}"/>
    <dgm:cxn modelId="{2D9ABBB6-1A83-4748-86A7-5D2E743CBEF0}" srcId="{50FC581F-F3A3-49DE-AE51-CA8FF1922AAF}" destId="{EBF754C2-CD3D-4738-A4F4-26BEF3F244D5}" srcOrd="0" destOrd="0" parTransId="{67B2C9D8-73DF-4078-8CB3-18108DBDF975}" sibTransId="{D67F4E77-C186-479C-9B75-124BBEDE41A6}"/>
    <dgm:cxn modelId="{F6CB19DA-7DBD-4597-8408-84477C029170}" type="presOf" srcId="{C82C655A-CD90-4AC6-9CA3-8E947E684209}" destId="{BA13B0B8-6F9E-4FBB-A07E-959271D1BAA8}" srcOrd="0" destOrd="0" presId="urn:microsoft.com/office/officeart/2008/layout/VerticalCurvedList"/>
    <dgm:cxn modelId="{4C09F1FC-E61E-4837-940D-0FC85C06BD75}" type="presOf" srcId="{E965F176-0238-4C63-9C2C-5E2A27B2488E}" destId="{CB047DB5-8B57-44C4-908E-362DFAA8AAF0}" srcOrd="0" destOrd="0" presId="urn:microsoft.com/office/officeart/2008/layout/VerticalCurvedList"/>
    <dgm:cxn modelId="{92A61C3C-FFF3-493C-BEF1-E48B213C0781}" type="presParOf" srcId="{A0EA191C-C806-4EFC-B4C8-E8F2D177B496}" destId="{190478A8-F662-4C41-9C59-BE038956357B}" srcOrd="0" destOrd="0" presId="urn:microsoft.com/office/officeart/2008/layout/VerticalCurvedList"/>
    <dgm:cxn modelId="{64AD5C4A-AC34-45CA-BD33-2DA03CAA02C6}" type="presParOf" srcId="{190478A8-F662-4C41-9C59-BE038956357B}" destId="{D41ABEDB-B16B-42D2-BB2F-37EAF454A58E}" srcOrd="0" destOrd="0" presId="urn:microsoft.com/office/officeart/2008/layout/VerticalCurvedList"/>
    <dgm:cxn modelId="{EF783A03-075D-4DDD-BD2B-C64711F6DB75}" type="presParOf" srcId="{D41ABEDB-B16B-42D2-BB2F-37EAF454A58E}" destId="{DD7B502A-70CB-484C-A2F5-695A166AFC3A}" srcOrd="0" destOrd="0" presId="urn:microsoft.com/office/officeart/2008/layout/VerticalCurvedList"/>
    <dgm:cxn modelId="{F6DD80CD-4391-4A94-9D41-441B00A83252}" type="presParOf" srcId="{D41ABEDB-B16B-42D2-BB2F-37EAF454A58E}" destId="{E785E132-A07B-4F2C-942C-DF8423C94E5E}" srcOrd="1" destOrd="0" presId="urn:microsoft.com/office/officeart/2008/layout/VerticalCurvedList"/>
    <dgm:cxn modelId="{896628AD-811B-4830-B12E-A641B2C87AFF}" type="presParOf" srcId="{D41ABEDB-B16B-42D2-BB2F-37EAF454A58E}" destId="{364760CE-8B2F-436A-BFED-F298D14E1DA8}" srcOrd="2" destOrd="0" presId="urn:microsoft.com/office/officeart/2008/layout/VerticalCurvedList"/>
    <dgm:cxn modelId="{69347028-A4B6-4BF6-AC85-03D052A8B5EE}" type="presParOf" srcId="{D41ABEDB-B16B-42D2-BB2F-37EAF454A58E}" destId="{69A47B26-6CD0-4200-AC10-4A9F173E34CB}" srcOrd="3" destOrd="0" presId="urn:microsoft.com/office/officeart/2008/layout/VerticalCurvedList"/>
    <dgm:cxn modelId="{6964188F-827A-4AA4-AD5C-7DE1B33CE284}" type="presParOf" srcId="{190478A8-F662-4C41-9C59-BE038956357B}" destId="{6392FEDB-E7F6-4DBE-8483-E3B41A7F6BED}" srcOrd="1" destOrd="0" presId="urn:microsoft.com/office/officeart/2008/layout/VerticalCurvedList"/>
    <dgm:cxn modelId="{5692824B-C60A-4354-8069-F3B5A347AFD3}" type="presParOf" srcId="{190478A8-F662-4C41-9C59-BE038956357B}" destId="{212D3793-A7AD-40A8-9687-2B6D09D4220D}" srcOrd="2" destOrd="0" presId="urn:microsoft.com/office/officeart/2008/layout/VerticalCurvedList"/>
    <dgm:cxn modelId="{9004B49D-63DA-4E69-95DB-3603B3E2F36D}" type="presParOf" srcId="{212D3793-A7AD-40A8-9687-2B6D09D4220D}" destId="{FEE8EF8F-A7A9-4FE5-9E81-7AC159D29884}" srcOrd="0" destOrd="0" presId="urn:microsoft.com/office/officeart/2008/layout/VerticalCurvedList"/>
    <dgm:cxn modelId="{C51C675D-95AD-48CF-AD26-F07617529DC5}" type="presParOf" srcId="{190478A8-F662-4C41-9C59-BE038956357B}" destId="{BA13B0B8-6F9E-4FBB-A07E-959271D1BAA8}" srcOrd="3" destOrd="0" presId="urn:microsoft.com/office/officeart/2008/layout/VerticalCurvedList"/>
    <dgm:cxn modelId="{23763036-3F07-4AF8-B6E7-53EEF44AA101}" type="presParOf" srcId="{190478A8-F662-4C41-9C59-BE038956357B}" destId="{BE043FE5-3B19-4861-9F76-23F6FC93D9EF}" srcOrd="4" destOrd="0" presId="urn:microsoft.com/office/officeart/2008/layout/VerticalCurvedList"/>
    <dgm:cxn modelId="{5EA54254-0B1A-492A-95C5-49885C341E48}" type="presParOf" srcId="{BE043FE5-3B19-4861-9F76-23F6FC93D9EF}" destId="{25CC7BE5-180F-4964-B45B-99CEAFDCB4A1}" srcOrd="0" destOrd="0" presId="urn:microsoft.com/office/officeart/2008/layout/VerticalCurvedList"/>
    <dgm:cxn modelId="{9EDFAB03-70A3-4B36-8BB2-5F95CF817162}" type="presParOf" srcId="{190478A8-F662-4C41-9C59-BE038956357B}" destId="{CB047DB5-8B57-44C4-908E-362DFAA8AAF0}" srcOrd="5" destOrd="0" presId="urn:microsoft.com/office/officeart/2008/layout/VerticalCurvedList"/>
    <dgm:cxn modelId="{810EB4D5-BCC7-4668-8B7E-76C6474FA126}" type="presParOf" srcId="{190478A8-F662-4C41-9C59-BE038956357B}" destId="{45AED334-F712-4F6B-A6BF-7EE5652BD8B5}" srcOrd="6" destOrd="0" presId="urn:microsoft.com/office/officeart/2008/layout/VerticalCurvedList"/>
    <dgm:cxn modelId="{91E8D98A-7F63-4F6B-91F6-9F927AA4138A}" type="presParOf" srcId="{45AED334-F712-4F6B-A6BF-7EE5652BD8B5}" destId="{7C5A7C9B-91E2-495D-A810-630C8FF1D97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85E132-A07B-4F2C-942C-DF8423C94E5E}">
      <dsp:nvSpPr>
        <dsp:cNvPr id="0" name=""/>
        <dsp:cNvSpPr/>
      </dsp:nvSpPr>
      <dsp:spPr>
        <a:xfrm>
          <a:off x="-4567452" y="-704407"/>
          <a:ext cx="5472816" cy="5472816"/>
        </a:xfrm>
        <a:prstGeom prst="blockArc">
          <a:avLst>
            <a:gd name="adj1" fmla="val 18900000"/>
            <a:gd name="adj2" fmla="val 2700000"/>
            <a:gd name="adj3" fmla="val 395"/>
          </a:avLst>
        </a:prstGeom>
        <a:noFill/>
        <a:ln w="25400" cap="flat" cmpd="sng" algn="ctr">
          <a:solidFill>
            <a:schemeClr val="accent1">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92FEDB-E7F6-4DBE-8483-E3B41A7F6BED}">
      <dsp:nvSpPr>
        <dsp:cNvPr id="0" name=""/>
        <dsp:cNvSpPr/>
      </dsp:nvSpPr>
      <dsp:spPr>
        <a:xfrm>
          <a:off x="591863" y="406400"/>
          <a:ext cx="7279573" cy="812800"/>
        </a:xfrm>
        <a:prstGeom prst="rect">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27940" rIns="27940" bIns="27940" numCol="1" spcCol="1270" anchor="ctr" anchorCtr="0">
          <a:noAutofit/>
        </a:bodyPr>
        <a:lstStyle/>
        <a:p>
          <a:pPr marL="0" lvl="0" indent="0" algn="l" defTabSz="466725">
            <a:lnSpc>
              <a:spcPct val="90000"/>
            </a:lnSpc>
            <a:spcBef>
              <a:spcPct val="0"/>
            </a:spcBef>
            <a:spcAft>
              <a:spcPct val="35000"/>
            </a:spcAft>
            <a:buNone/>
          </a:pPr>
          <a:r>
            <a:rPr lang="en-US" sz="1050" kern="1200" dirty="0"/>
            <a:t>Four key activities that take place to ensure data is appropriately loaded into CADENCE      </a:t>
          </a:r>
        </a:p>
        <a:p>
          <a:pPr marL="0" lvl="0" indent="0" algn="l" defTabSz="466725">
            <a:lnSpc>
              <a:spcPct val="90000"/>
            </a:lnSpc>
            <a:spcBef>
              <a:spcPct val="0"/>
            </a:spcBef>
            <a:spcAft>
              <a:spcPct val="35000"/>
            </a:spcAft>
            <a:buNone/>
          </a:pPr>
          <a:r>
            <a:rPr lang="en-US" sz="1050" kern="1200" dirty="0"/>
            <a:t>(1)  Data balancing  (2) Transformation/Standardization (3) Hierarchy establishment (4) Customer relationship establishment</a:t>
          </a:r>
          <a:endParaRPr lang="en-GB" sz="1050" kern="1200" dirty="0"/>
        </a:p>
      </dsp:txBody>
      <dsp:txXfrm>
        <a:off x="591863" y="406400"/>
        <a:ext cx="7279573" cy="812800"/>
      </dsp:txXfrm>
    </dsp:sp>
    <dsp:sp modelId="{FEE8EF8F-A7A9-4FE5-9E81-7AC159D29884}">
      <dsp:nvSpPr>
        <dsp:cNvPr id="0" name=""/>
        <dsp:cNvSpPr/>
      </dsp:nvSpPr>
      <dsp:spPr>
        <a:xfrm>
          <a:off x="28303" y="257489"/>
          <a:ext cx="1127119" cy="1110620"/>
        </a:xfrm>
        <a:prstGeom prst="ellipse">
          <a:avLst/>
        </a:prstGeom>
        <a:solidFill>
          <a:schemeClr val="lt1">
            <a:hueOff val="0"/>
            <a:satOff val="0"/>
            <a:lumOff val="0"/>
            <a:alphaOff val="0"/>
          </a:schemeClr>
        </a:solidFill>
        <a:ln w="25400" cap="flat" cmpd="sng" algn="ctr">
          <a:solidFill>
            <a:schemeClr val="accent1">
              <a:shade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13B0B8-6F9E-4FBB-A07E-959271D1BAA8}">
      <dsp:nvSpPr>
        <dsp:cNvPr id="0" name=""/>
        <dsp:cNvSpPr/>
      </dsp:nvSpPr>
      <dsp:spPr>
        <a:xfrm>
          <a:off x="887315" y="1625599"/>
          <a:ext cx="6984120" cy="812800"/>
        </a:xfrm>
        <a:prstGeom prst="rect">
          <a:avLst/>
        </a:prstGeom>
        <a:solidFill>
          <a:srgbClr val="386CD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27940" rIns="27940" bIns="27940" numCol="1" spcCol="1270" anchor="ctr" anchorCtr="0">
          <a:noAutofit/>
        </a:bodyPr>
        <a:lstStyle/>
        <a:p>
          <a:pPr marL="0" lvl="0" indent="0" algn="l" defTabSz="466725">
            <a:lnSpc>
              <a:spcPct val="90000"/>
            </a:lnSpc>
            <a:spcBef>
              <a:spcPct val="0"/>
            </a:spcBef>
            <a:spcAft>
              <a:spcPct val="35000"/>
            </a:spcAft>
            <a:buNone/>
          </a:pPr>
          <a:r>
            <a:rPr lang="en-US" sz="1050" kern="1200" dirty="0"/>
            <a:t>Four key activities take place to support the Customer risk assessment</a:t>
          </a:r>
        </a:p>
        <a:p>
          <a:pPr marL="0" lvl="0" indent="0" algn="l" defTabSz="466725">
            <a:lnSpc>
              <a:spcPct val="90000"/>
            </a:lnSpc>
            <a:spcBef>
              <a:spcPct val="0"/>
            </a:spcBef>
            <a:spcAft>
              <a:spcPct val="35000"/>
            </a:spcAft>
            <a:buNone/>
          </a:pPr>
          <a:r>
            <a:rPr lang="en-US" sz="1050" kern="1200" dirty="0"/>
            <a:t>(1) Account risk assessment (2) Hierarchy risk assessment  (3) Customer risk assessment (4) PEP risk assessment</a:t>
          </a:r>
          <a:endParaRPr lang="en-GB" sz="1050" kern="1200" dirty="0"/>
        </a:p>
      </dsp:txBody>
      <dsp:txXfrm>
        <a:off x="887315" y="1625599"/>
        <a:ext cx="6984120" cy="812800"/>
      </dsp:txXfrm>
    </dsp:sp>
    <dsp:sp modelId="{25CC7BE5-180F-4964-B45B-99CEAFDCB4A1}">
      <dsp:nvSpPr>
        <dsp:cNvPr id="0" name=""/>
        <dsp:cNvSpPr/>
      </dsp:nvSpPr>
      <dsp:spPr>
        <a:xfrm>
          <a:off x="324959" y="1474216"/>
          <a:ext cx="1124711" cy="1115567"/>
        </a:xfrm>
        <a:prstGeom prst="ellipse">
          <a:avLst/>
        </a:prstGeom>
        <a:solidFill>
          <a:schemeClr val="bg1"/>
        </a:solidFill>
        <a:ln w="25400" cap="flat" cmpd="sng" algn="ctr">
          <a:solidFill>
            <a:srgbClr val="386CD4"/>
          </a:solidFill>
          <a:prstDash val="solid"/>
        </a:ln>
        <a:effectLst/>
      </dsp:spPr>
      <dsp:style>
        <a:lnRef idx="2">
          <a:scrgbClr r="0" g="0" b="0"/>
        </a:lnRef>
        <a:fillRef idx="1">
          <a:scrgbClr r="0" g="0" b="0"/>
        </a:fillRef>
        <a:effectRef idx="0">
          <a:scrgbClr r="0" g="0" b="0"/>
        </a:effectRef>
        <a:fontRef idx="minor"/>
      </dsp:style>
    </dsp:sp>
    <dsp:sp modelId="{CB047DB5-8B57-44C4-908E-362DFAA8AAF0}">
      <dsp:nvSpPr>
        <dsp:cNvPr id="0" name=""/>
        <dsp:cNvSpPr/>
      </dsp:nvSpPr>
      <dsp:spPr>
        <a:xfrm>
          <a:off x="591863" y="2844800"/>
          <a:ext cx="7279573" cy="812800"/>
        </a:xfrm>
        <a:prstGeom prst="rect">
          <a:avLst/>
        </a:prstGeom>
        <a:solidFill>
          <a:schemeClr val="accent1">
            <a:shade val="50000"/>
            <a:hueOff val="543788"/>
            <a:satOff val="-29403"/>
            <a:lumOff val="331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5160" tIns="27940" rIns="27940" bIns="27940" numCol="1" spcCol="1270" anchor="ctr" anchorCtr="0">
          <a:noAutofit/>
        </a:bodyPr>
        <a:lstStyle/>
        <a:p>
          <a:pPr marL="0" lvl="0" indent="0" algn="l" defTabSz="466725">
            <a:lnSpc>
              <a:spcPct val="90000"/>
            </a:lnSpc>
            <a:spcBef>
              <a:spcPct val="0"/>
            </a:spcBef>
            <a:spcAft>
              <a:spcPct val="35000"/>
            </a:spcAft>
            <a:buNone/>
          </a:pPr>
          <a:r>
            <a:rPr lang="en-GB" sz="1050" kern="1200" dirty="0"/>
            <a:t>Five types of reviews are scheduled to support compliance due diligence.</a:t>
          </a:r>
        </a:p>
        <a:p>
          <a:pPr marL="0" lvl="0" indent="0" algn="l" defTabSz="466725">
            <a:lnSpc>
              <a:spcPct val="90000"/>
            </a:lnSpc>
            <a:spcBef>
              <a:spcPct val="0"/>
            </a:spcBef>
            <a:spcAft>
              <a:spcPct val="35000"/>
            </a:spcAft>
            <a:buNone/>
          </a:pPr>
          <a:r>
            <a:rPr lang="en-GB" sz="1050" kern="1200" dirty="0"/>
            <a:t>(1) KYC refresh (2) CDD (3) EDD (4) PEP (5) PRO(Prohibited)</a:t>
          </a:r>
        </a:p>
      </dsp:txBody>
      <dsp:txXfrm>
        <a:off x="591863" y="2844800"/>
        <a:ext cx="7279573" cy="812800"/>
      </dsp:txXfrm>
    </dsp:sp>
    <dsp:sp modelId="{7C5A7C9B-91E2-495D-A810-630C8FF1D97E}">
      <dsp:nvSpPr>
        <dsp:cNvPr id="0" name=""/>
        <dsp:cNvSpPr/>
      </dsp:nvSpPr>
      <dsp:spPr>
        <a:xfrm>
          <a:off x="29507" y="2693416"/>
          <a:ext cx="1124711" cy="1115567"/>
        </a:xfrm>
        <a:prstGeom prst="ellipse">
          <a:avLst/>
        </a:prstGeom>
        <a:solidFill>
          <a:schemeClr val="lt1">
            <a:hueOff val="0"/>
            <a:satOff val="0"/>
            <a:lumOff val="0"/>
            <a:alphaOff val="0"/>
          </a:schemeClr>
        </a:solidFill>
        <a:ln w="25400" cap="flat" cmpd="sng" algn="ctr">
          <a:solidFill>
            <a:schemeClr val="accent1">
              <a:shade val="50000"/>
              <a:hueOff val="543788"/>
              <a:satOff val="-29403"/>
              <a:lumOff val="33147"/>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Calibri" charset="0"/>
              </a:defRPr>
            </a:lvl1pPr>
          </a:lstStyle>
          <a:p>
            <a:pPr>
              <a:defRPr/>
            </a:pPr>
            <a:fld id="{5B5A1699-07DC-6341-A542-EDE38A062D5D}" type="datetime1">
              <a:rPr lang="en-US"/>
              <a:pPr>
                <a:defRPr/>
              </a:pPr>
              <a:t>4/1/2022</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Calibri" charset="0"/>
              </a:defRPr>
            </a:lvl1pPr>
          </a:lstStyle>
          <a:p>
            <a:pPr>
              <a:defRPr/>
            </a:pPr>
            <a:fld id="{AB584260-858E-7D42-9572-289239DD66D7}" type="slidenum">
              <a:rPr lang="en-US"/>
              <a:pPr>
                <a:defRPr/>
              </a:pPr>
              <a:t>‹#›</a:t>
            </a:fld>
            <a:endParaRPr lang="en-US" dirty="0"/>
          </a:p>
        </p:txBody>
      </p:sp>
    </p:spTree>
    <p:extLst>
      <p:ext uri="{BB962C8B-B14F-4D97-AF65-F5344CB8AC3E}">
        <p14:creationId xmlns:p14="http://schemas.microsoft.com/office/powerpoint/2010/main" val="24511719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Calibri" charset="0"/>
              </a:defRPr>
            </a:lvl1pPr>
          </a:lstStyle>
          <a:p>
            <a:pPr>
              <a:defRPr/>
            </a:pPr>
            <a:fld id="{E7882F77-E135-8344-9837-CD6552BB96D3}" type="datetime1">
              <a:rPr lang="en-US"/>
              <a:pPr>
                <a:defRPr/>
              </a:pPr>
              <a:t>4/1/2022</a:t>
            </a:fld>
            <a:endParaRPr lang="en-US"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Calibri" charset="0"/>
              </a:defRPr>
            </a:lvl1pPr>
          </a:lstStyle>
          <a:p>
            <a:pPr>
              <a:defRPr/>
            </a:pPr>
            <a:fld id="{95172E71-CA9A-5B48-9FDB-7CE7372289BC}" type="slidenum">
              <a:rPr lang="en-US"/>
              <a:pPr>
                <a:defRPr/>
              </a:pPr>
              <a:t>‹#›</a:t>
            </a:fld>
            <a:endParaRPr lang="en-US" dirty="0"/>
          </a:p>
        </p:txBody>
      </p:sp>
    </p:spTree>
    <p:extLst>
      <p:ext uri="{BB962C8B-B14F-4D97-AF65-F5344CB8AC3E}">
        <p14:creationId xmlns:p14="http://schemas.microsoft.com/office/powerpoint/2010/main" val="3974790486"/>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172E71-CA9A-5B48-9FDB-7CE7372289BC}" type="slidenum">
              <a:rPr lang="en-US" smtClean="0"/>
              <a:pPr>
                <a:defRPr/>
              </a:pPr>
              <a:t>17</a:t>
            </a:fld>
            <a:endParaRPr lang="en-US" dirty="0"/>
          </a:p>
        </p:txBody>
      </p:sp>
    </p:spTree>
    <p:extLst>
      <p:ext uri="{BB962C8B-B14F-4D97-AF65-F5344CB8AC3E}">
        <p14:creationId xmlns:p14="http://schemas.microsoft.com/office/powerpoint/2010/main" val="29277857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w/o Co-brand">
    <p:spTree>
      <p:nvGrpSpPr>
        <p:cNvPr id="1" name=""/>
        <p:cNvGrpSpPr/>
        <p:nvPr/>
      </p:nvGrpSpPr>
      <p:grpSpPr>
        <a:xfrm>
          <a:off x="0" y="0"/>
          <a:ext cx="0" cy="0"/>
          <a:chOff x="0" y="0"/>
          <a:chExt cx="0" cy="0"/>
        </a:xfrm>
      </p:grpSpPr>
      <p:sp>
        <p:nvSpPr>
          <p:cNvPr id="2" name="Title 1"/>
          <p:cNvSpPr>
            <a:spLocks noGrp="1"/>
          </p:cNvSpPr>
          <p:nvPr>
            <p:ph type="ctrTitle"/>
          </p:nvPr>
        </p:nvSpPr>
        <p:spPr bwMode="white">
          <a:xfrm>
            <a:off x="680748" y="2871758"/>
            <a:ext cx="7949296" cy="449332"/>
          </a:xfrm>
        </p:spPr>
        <p:txBody>
          <a:bodyPr>
            <a:noAutofit/>
          </a:bodyPr>
          <a:lstStyle>
            <a:lvl1pPr algn="r">
              <a:defRPr sz="2250" b="0" i="0" cap="none">
                <a:solidFill>
                  <a:schemeClr val="accent2"/>
                </a:solidFill>
                <a:latin typeface="Guardian Egyp Regular" panose="02060503050503060803" pitchFamily="18" charset="77"/>
                <a:ea typeface="Guardian Egyp Regular" panose="02060503050503060803" pitchFamily="18" charset="77"/>
                <a:cs typeface="Guardian Egyp Regular" panose="02060503050503060803" pitchFamily="18" charset="77"/>
              </a:defRPr>
            </a:lvl1pPr>
          </a:lstStyle>
          <a:p>
            <a:r>
              <a:rPr lang="en-US" dirty="0"/>
              <a:t>Click to edit Master title style</a:t>
            </a:r>
          </a:p>
        </p:txBody>
      </p:sp>
      <p:sp>
        <p:nvSpPr>
          <p:cNvPr id="3" name="Subtitle 2"/>
          <p:cNvSpPr>
            <a:spLocks noGrp="1"/>
          </p:cNvSpPr>
          <p:nvPr>
            <p:ph type="subTitle" idx="1" hasCustomPrompt="1"/>
          </p:nvPr>
        </p:nvSpPr>
        <p:spPr bwMode="white">
          <a:xfrm>
            <a:off x="672282" y="3449367"/>
            <a:ext cx="7957762" cy="139981"/>
          </a:xfrm>
        </p:spPr>
        <p:txBody>
          <a:bodyPr>
            <a:normAutofit/>
          </a:bodyPr>
          <a:lstStyle>
            <a:lvl1pPr marL="0" indent="0" algn="r">
              <a:spcBef>
                <a:spcPts val="0"/>
              </a:spcBef>
              <a:spcAft>
                <a:spcPts val="0"/>
              </a:spcAft>
              <a:buNone/>
              <a:defRPr sz="750" b="0" i="0" spc="75" baseline="0">
                <a:solidFill>
                  <a:schemeClr val="tx1"/>
                </a:solidFill>
                <a:latin typeface="BentonSans Medium" charset="0"/>
                <a:ea typeface="BentonSans Medium" charset="0"/>
                <a:cs typeface="BentonSans Medium"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TEAM/BUSINESS UNIT HERE |  DATE HERE  |  PRESENTED BY HERE</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1782" y="372482"/>
            <a:ext cx="8222212" cy="2228219"/>
          </a:xfrm>
          <a:prstGeom prst="rect">
            <a:avLst/>
          </a:prstGeom>
        </p:spPr>
      </p:pic>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3_Title Slide w/o Co-bra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white">
          <a:xfrm>
            <a:off x="680748" y="2871758"/>
            <a:ext cx="7949296" cy="449332"/>
          </a:xfrm>
        </p:spPr>
        <p:txBody>
          <a:bodyPr>
            <a:noAutofit/>
          </a:bodyPr>
          <a:lstStyle>
            <a:lvl1pPr algn="r">
              <a:defRPr sz="2250" b="0" i="0" cap="none">
                <a:solidFill>
                  <a:schemeClr val="bg1"/>
                </a:solidFill>
                <a:latin typeface="Guardian Egyp Regular" panose="02060503050503060803" pitchFamily="18" charset="77"/>
                <a:ea typeface="Guardian Egyp Regular" panose="02060503050503060803" pitchFamily="18" charset="77"/>
                <a:cs typeface="Guardian Egyp Regular" panose="02060503050503060803" pitchFamily="18" charset="77"/>
              </a:defRPr>
            </a:lvl1pPr>
          </a:lstStyle>
          <a:p>
            <a:r>
              <a:rPr lang="en-US" dirty="0"/>
              <a:t>Click to edit Master title style</a:t>
            </a:r>
          </a:p>
        </p:txBody>
      </p:sp>
      <p:sp>
        <p:nvSpPr>
          <p:cNvPr id="3" name="Subtitle 2"/>
          <p:cNvSpPr>
            <a:spLocks noGrp="1"/>
          </p:cNvSpPr>
          <p:nvPr>
            <p:ph type="subTitle" idx="1" hasCustomPrompt="1"/>
          </p:nvPr>
        </p:nvSpPr>
        <p:spPr bwMode="white">
          <a:xfrm>
            <a:off x="672282" y="3449367"/>
            <a:ext cx="7957762" cy="139981"/>
          </a:xfrm>
        </p:spPr>
        <p:txBody>
          <a:bodyPr>
            <a:normAutofit/>
          </a:bodyPr>
          <a:lstStyle>
            <a:lvl1pPr marL="0" indent="0" algn="r">
              <a:spcBef>
                <a:spcPts val="0"/>
              </a:spcBef>
              <a:spcAft>
                <a:spcPts val="0"/>
              </a:spcAft>
              <a:buNone/>
              <a:defRPr sz="750" b="0" i="0" spc="75" baseline="0">
                <a:solidFill>
                  <a:schemeClr val="bg1"/>
                </a:solidFill>
                <a:latin typeface="BentonSans Medium" charset="0"/>
                <a:ea typeface="BentonSans Medium" charset="0"/>
                <a:cs typeface="BentonSans Medium"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  |  DATE HERE  |  PRESENTED BY HERE</a:t>
            </a:r>
          </a:p>
        </p:txBody>
      </p:sp>
      <p:pic>
        <p:nvPicPr>
          <p:cNvPr id="6" name="Picture 5"/>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81782" y="372482"/>
            <a:ext cx="8222212" cy="2229864"/>
          </a:xfrm>
          <a:prstGeom prst="rect">
            <a:avLst/>
          </a:prstGeom>
        </p:spPr>
      </p:pic>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900"/>
            </a:lvl1p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a:t>
            </a:fld>
            <a:endParaRPr lang="en-US" dirty="0"/>
          </a:p>
        </p:txBody>
      </p:sp>
      <p:sp>
        <p:nvSpPr>
          <p:cNvPr id="5" name="Text Placeholder 4"/>
          <p:cNvSpPr>
            <a:spLocks noGrp="1"/>
          </p:cNvSpPr>
          <p:nvPr>
            <p:ph type="body" sz="quarter" idx="11"/>
          </p:nvPr>
        </p:nvSpPr>
        <p:spPr>
          <a:xfrm>
            <a:off x="387350" y="1197769"/>
            <a:ext cx="6508750" cy="2487216"/>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747596"/>
          </a:xfrm>
        </p:spPr>
        <p:txBody>
          <a:bodyPr/>
          <a:lstStyle>
            <a:lvl1pPr>
              <a:defRPr sz="2900"/>
            </a:lvl1pPr>
          </a:lstStyle>
          <a:p>
            <a:r>
              <a:rPr lang="en-US" dirty="0"/>
              <a:t>Click to edit Master title style</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a:t>
            </a:fld>
            <a:endParaRPr lang="en-US" dirty="0"/>
          </a:p>
        </p:txBody>
      </p:sp>
      <p:sp>
        <p:nvSpPr>
          <p:cNvPr id="5" name="Text Placeholder 4"/>
          <p:cNvSpPr>
            <a:spLocks noGrp="1"/>
          </p:cNvSpPr>
          <p:nvPr>
            <p:ph type="body" sz="quarter" idx="11"/>
          </p:nvPr>
        </p:nvSpPr>
        <p:spPr>
          <a:xfrm>
            <a:off x="1146875" y="1197769"/>
            <a:ext cx="6121184" cy="2487216"/>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userDrawn="1"/>
        </p:nvPicPr>
        <p:blipFill rotWithShape="1">
          <a:blip r:embed="rId2">
            <a:alphaModFix amt="89000"/>
            <a:extLst>
              <a:ext uri="{28A0092B-C50C-407E-A947-70E740481C1C}">
                <a14:useLocalDpi xmlns:a14="http://schemas.microsoft.com/office/drawing/2010/main"/>
              </a:ext>
            </a:extLst>
          </a:blip>
          <a:srcRect/>
          <a:stretch/>
        </p:blipFill>
        <p:spPr>
          <a:xfrm>
            <a:off x="0" y="0"/>
            <a:ext cx="759308" cy="5143500"/>
          </a:xfrm>
          <a:prstGeom prst="rect">
            <a:avLst/>
          </a:prstGeom>
        </p:spPr>
      </p:pic>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747596"/>
          </a:xfrm>
        </p:spPr>
        <p:txBody>
          <a:bodyPr/>
          <a:lstStyle>
            <a:lvl1pPr>
              <a:defRPr sz="2900"/>
            </a:lvl1pPr>
          </a:lstStyle>
          <a:p>
            <a:r>
              <a:rPr lang="en-US" dirty="0"/>
              <a:t>Click to edit Master title style</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a:t>
            </a:fld>
            <a:endParaRPr lang="en-US" dirty="0"/>
          </a:p>
        </p:txBody>
      </p:sp>
      <p:sp>
        <p:nvSpPr>
          <p:cNvPr id="5" name="Text Placeholder 4"/>
          <p:cNvSpPr>
            <a:spLocks noGrp="1"/>
          </p:cNvSpPr>
          <p:nvPr>
            <p:ph type="body" sz="quarter" idx="11"/>
          </p:nvPr>
        </p:nvSpPr>
        <p:spPr>
          <a:xfrm>
            <a:off x="1146875" y="1197769"/>
            <a:ext cx="6121184" cy="2487216"/>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p:nvPr userDrawn="1"/>
        </p:nvSpPr>
        <p:spPr>
          <a:xfrm>
            <a:off x="-1" y="0"/>
            <a:ext cx="759309" cy="51435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rotWithShape="1">
          <a:blip r:embed="rId2">
            <a:alphaModFix amt="89000"/>
            <a:extLst>
              <a:ext uri="{28A0092B-C50C-407E-A947-70E740481C1C}">
                <a14:useLocalDpi xmlns:a14="http://schemas.microsoft.com/office/drawing/2010/main"/>
              </a:ext>
            </a:extLst>
          </a:blip>
          <a:srcRect/>
          <a:stretch/>
        </p:blipFill>
        <p:spPr>
          <a:xfrm>
            <a:off x="0" y="0"/>
            <a:ext cx="759308" cy="5143500"/>
          </a:xfrm>
          <a:prstGeom prst="rect">
            <a:avLst/>
          </a:prstGeom>
        </p:spPr>
      </p:pic>
    </p:spTree>
    <p:extLst>
      <p:ext uri="{BB962C8B-B14F-4D97-AF65-F5344CB8AC3E}">
        <p14:creationId xmlns:p14="http://schemas.microsoft.com/office/powerpoint/2010/main" val="1557399730"/>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Slide">
    <p:bg>
      <p:bgPr>
        <a:solidFill>
          <a:schemeClr val="accent5"/>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bwMode="black">
          <a:xfrm>
            <a:off x="1143000" y="0"/>
            <a:ext cx="8001000" cy="5143500"/>
          </a:xfrm>
        </p:spPr>
        <p:txBody>
          <a:bodyPr anchor="ctr">
            <a:noAutofit/>
          </a:bodyPr>
          <a:lstStyle>
            <a:lvl1pPr algn="l">
              <a:defRPr sz="3150" cap="none">
                <a:solidFill>
                  <a:schemeClr val="bg1"/>
                </a:solidFill>
              </a:defRPr>
            </a:lvl1pPr>
          </a:lstStyle>
          <a:p>
            <a:r>
              <a:rPr lang="en-US" dirty="0"/>
              <a:t>Click to edit Master title style</a:t>
            </a: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2_Divider Slid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bwMode="black">
          <a:xfrm>
            <a:off x="1143000" y="0"/>
            <a:ext cx="8001000" cy="5143500"/>
          </a:xfrm>
        </p:spPr>
        <p:txBody>
          <a:bodyPr anchor="ctr">
            <a:noAutofit/>
          </a:bodyPr>
          <a:lstStyle>
            <a:lvl1pPr algn="l">
              <a:defRPr sz="3150" cap="none">
                <a:solidFill>
                  <a:schemeClr val="bg1"/>
                </a:solidFill>
              </a:defRPr>
            </a:lvl1pPr>
          </a:lstStyle>
          <a:p>
            <a:r>
              <a:rPr lang="en-US" dirty="0"/>
              <a:t>Click to edit Master title style</a:t>
            </a:r>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Divider Slide">
    <p:bg>
      <p:bgPr>
        <a:solidFill>
          <a:schemeClr val="tx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bwMode="black">
          <a:xfrm>
            <a:off x="1143000" y="0"/>
            <a:ext cx="8001000" cy="5143500"/>
          </a:xfrm>
        </p:spPr>
        <p:txBody>
          <a:bodyPr anchor="ctr">
            <a:noAutofit/>
          </a:bodyPr>
          <a:lstStyle>
            <a:lvl1pPr algn="l">
              <a:defRPr sz="3150" cap="none">
                <a:solidFill>
                  <a:schemeClr val="bg1"/>
                </a:solidFill>
              </a:defRPr>
            </a:lvl1pPr>
          </a:lstStyle>
          <a:p>
            <a:r>
              <a:rPr lang="en-US" dirty="0"/>
              <a:t>Click to edit Master title style</a:t>
            </a: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3_Divider Slide">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bwMode="black">
          <a:xfrm>
            <a:off x="1143000" y="0"/>
            <a:ext cx="8001000" cy="5143500"/>
          </a:xfrm>
        </p:spPr>
        <p:txBody>
          <a:bodyPr anchor="ctr">
            <a:noAutofit/>
          </a:bodyPr>
          <a:lstStyle>
            <a:lvl1pPr algn="l">
              <a:defRPr sz="3150" cap="none">
                <a:solidFill>
                  <a:schemeClr val="bg2"/>
                </a:solidFill>
              </a:defRPr>
            </a:lvl1pPr>
          </a:lstStyle>
          <a:p>
            <a:r>
              <a:rPr lang="en-US" dirty="0"/>
              <a:t>Click to edit Master title style</a:t>
            </a: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387746" y="283110"/>
            <a:ext cx="8229600" cy="747596"/>
          </a:xfrm>
          <a:prstGeom prst="rect">
            <a:avLst/>
          </a:prstGeom>
        </p:spPr>
        <p:txBody>
          <a:bodyPr vert="horz" lIns="0" tIns="0" rIns="0" bIns="0" rtlCol="0" anchor="t">
            <a:noAutofit/>
          </a:bodyPr>
          <a:lstStyle/>
          <a:p>
            <a:r>
              <a:rPr lang="en-US" dirty="0"/>
              <a:t>Click to edit Master title style</a:t>
            </a:r>
          </a:p>
        </p:txBody>
      </p:sp>
      <p:sp>
        <p:nvSpPr>
          <p:cNvPr id="1027" name="Text Placeholder 2"/>
          <p:cNvSpPr>
            <a:spLocks noGrp="1"/>
          </p:cNvSpPr>
          <p:nvPr>
            <p:ph type="body" idx="1"/>
          </p:nvPr>
        </p:nvSpPr>
        <p:spPr bwMode="gray">
          <a:xfrm>
            <a:off x="387746" y="1030707"/>
            <a:ext cx="8229600" cy="366361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bwMode="gray">
          <a:xfrm>
            <a:off x="8006740" y="4794514"/>
            <a:ext cx="789202" cy="225955"/>
          </a:xfrm>
          <a:prstGeom prst="rect">
            <a:avLst/>
          </a:prstGeom>
        </p:spPr>
        <p:txBody>
          <a:bodyPr vert="horz" wrap="square" lIns="91440" tIns="45720" rIns="91440" bIns="45720" numCol="1" anchor="ctr" anchorCtr="0" compatLnSpc="1">
            <a:prstTxWarp prst="textNoShape">
              <a:avLst/>
            </a:prstTxWarp>
          </a:bodyPr>
          <a:lstStyle>
            <a:lvl1pPr algn="r">
              <a:defRPr sz="750">
                <a:solidFill>
                  <a:schemeClr val="tx2"/>
                </a:solidFill>
                <a:latin typeface="Guardian Egyp" charset="0"/>
                <a:ea typeface="Guardian Egyp" charset="0"/>
                <a:cs typeface="Guardian Egyp" charset="0"/>
              </a:defRPr>
            </a:lvl1pPr>
          </a:lstStyle>
          <a:p>
            <a:pPr>
              <a:defRPr/>
            </a:pPr>
            <a:fld id="{920384AA-0A71-E644-AEED-65CD2253F2C8}"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759" r:id="rId1"/>
    <p:sldLayoutId id="2147483766" r:id="rId2"/>
    <p:sldLayoutId id="2147483758" r:id="rId3"/>
    <p:sldLayoutId id="2147483764" r:id="rId4"/>
    <p:sldLayoutId id="2147483757" r:id="rId5"/>
    <p:sldLayoutId id="2147483752" r:id="rId6"/>
    <p:sldLayoutId id="2147483761" r:id="rId7"/>
    <p:sldLayoutId id="2147483760" r:id="rId8"/>
    <p:sldLayoutId id="2147483765" r:id="rId9"/>
  </p:sldLayoutIdLst>
  <p:transition spd="slow"/>
  <p:hf hdr="0"/>
  <p:txStyles>
    <p:titleStyle>
      <a:lvl1pPr algn="l" defTabSz="342900" rtl="0" eaLnBrk="1" fontAlgn="base" hangingPunct="1">
        <a:lnSpc>
          <a:spcPct val="82000"/>
        </a:lnSpc>
        <a:spcBef>
          <a:spcPct val="0"/>
        </a:spcBef>
        <a:spcAft>
          <a:spcPct val="0"/>
        </a:spcAft>
        <a:defRPr sz="2175" b="0" i="0" kern="1200" cap="none" baseline="0">
          <a:solidFill>
            <a:schemeClr val="tx1"/>
          </a:solidFill>
          <a:latin typeface="Guardian Egyp Regular" panose="02060503050503060803" pitchFamily="18" charset="77"/>
          <a:ea typeface="Guardian Egyp Regular" panose="02060503050503060803" pitchFamily="18" charset="77"/>
          <a:cs typeface="Guardian Egyp Regular" panose="02060503050503060803" pitchFamily="18" charset="77"/>
        </a:defRPr>
      </a:lvl1pPr>
      <a:lvl2pPr algn="l" defTabSz="342900" rtl="0" eaLnBrk="1" fontAlgn="base" hangingPunct="1">
        <a:spcBef>
          <a:spcPct val="0"/>
        </a:spcBef>
        <a:spcAft>
          <a:spcPct val="0"/>
        </a:spcAft>
        <a:defRPr sz="1050">
          <a:solidFill>
            <a:schemeClr val="tx1"/>
          </a:solidFill>
          <a:latin typeface="Arial" charset="0"/>
          <a:ea typeface="Arial" charset="0"/>
          <a:cs typeface="Arial" charset="0"/>
        </a:defRPr>
      </a:lvl2pPr>
      <a:lvl3pPr algn="l" defTabSz="342900" rtl="0" eaLnBrk="1" fontAlgn="base" hangingPunct="1">
        <a:spcBef>
          <a:spcPct val="0"/>
        </a:spcBef>
        <a:spcAft>
          <a:spcPct val="0"/>
        </a:spcAft>
        <a:defRPr sz="1050">
          <a:solidFill>
            <a:schemeClr val="tx1"/>
          </a:solidFill>
          <a:latin typeface="Arial" charset="0"/>
          <a:ea typeface="Arial" charset="0"/>
          <a:cs typeface="Arial" charset="0"/>
        </a:defRPr>
      </a:lvl3pPr>
      <a:lvl4pPr algn="l" defTabSz="342900" rtl="0" eaLnBrk="1" fontAlgn="base" hangingPunct="1">
        <a:spcBef>
          <a:spcPct val="0"/>
        </a:spcBef>
        <a:spcAft>
          <a:spcPct val="0"/>
        </a:spcAft>
        <a:defRPr sz="1050">
          <a:solidFill>
            <a:schemeClr val="tx1"/>
          </a:solidFill>
          <a:latin typeface="Arial" charset="0"/>
          <a:ea typeface="Arial" charset="0"/>
          <a:cs typeface="Arial" charset="0"/>
        </a:defRPr>
      </a:lvl4pPr>
      <a:lvl5pPr algn="l" defTabSz="342900" rtl="0" eaLnBrk="1" fontAlgn="base" hangingPunct="1">
        <a:spcBef>
          <a:spcPct val="0"/>
        </a:spcBef>
        <a:spcAft>
          <a:spcPct val="0"/>
        </a:spcAft>
        <a:defRPr sz="1050">
          <a:solidFill>
            <a:schemeClr val="tx1"/>
          </a:solidFill>
          <a:latin typeface="Arial" charset="0"/>
          <a:ea typeface="Arial" charset="0"/>
          <a:cs typeface="Arial" charset="0"/>
        </a:defRPr>
      </a:lvl5pPr>
      <a:lvl6pPr marL="342900" algn="l" defTabSz="342900" rtl="0" eaLnBrk="1" fontAlgn="base" hangingPunct="1">
        <a:spcBef>
          <a:spcPct val="0"/>
        </a:spcBef>
        <a:spcAft>
          <a:spcPct val="0"/>
        </a:spcAft>
        <a:defRPr sz="1050">
          <a:solidFill>
            <a:schemeClr val="tx1"/>
          </a:solidFill>
          <a:latin typeface="Arial" charset="0"/>
          <a:ea typeface="Arial" charset="0"/>
          <a:cs typeface="Arial" charset="0"/>
        </a:defRPr>
      </a:lvl6pPr>
      <a:lvl7pPr marL="685800" algn="l" defTabSz="342900" rtl="0" eaLnBrk="1" fontAlgn="base" hangingPunct="1">
        <a:spcBef>
          <a:spcPct val="0"/>
        </a:spcBef>
        <a:spcAft>
          <a:spcPct val="0"/>
        </a:spcAft>
        <a:defRPr sz="1050">
          <a:solidFill>
            <a:schemeClr val="tx1"/>
          </a:solidFill>
          <a:latin typeface="Arial" charset="0"/>
          <a:ea typeface="Arial" charset="0"/>
          <a:cs typeface="Arial" charset="0"/>
        </a:defRPr>
      </a:lvl7pPr>
      <a:lvl8pPr marL="1028700" algn="l" defTabSz="342900" rtl="0" eaLnBrk="1" fontAlgn="base" hangingPunct="1">
        <a:spcBef>
          <a:spcPct val="0"/>
        </a:spcBef>
        <a:spcAft>
          <a:spcPct val="0"/>
        </a:spcAft>
        <a:defRPr sz="1050">
          <a:solidFill>
            <a:schemeClr val="tx1"/>
          </a:solidFill>
          <a:latin typeface="Arial" charset="0"/>
          <a:ea typeface="Arial" charset="0"/>
          <a:cs typeface="Arial" charset="0"/>
        </a:defRPr>
      </a:lvl8pPr>
      <a:lvl9pPr marL="1371600" algn="l" defTabSz="342900" rtl="0" eaLnBrk="1" fontAlgn="base" hangingPunct="1">
        <a:spcBef>
          <a:spcPct val="0"/>
        </a:spcBef>
        <a:spcAft>
          <a:spcPct val="0"/>
        </a:spcAft>
        <a:defRPr sz="1050">
          <a:solidFill>
            <a:schemeClr val="tx1"/>
          </a:solidFill>
          <a:latin typeface="Arial" charset="0"/>
          <a:ea typeface="Arial" charset="0"/>
          <a:cs typeface="Arial" charset="0"/>
        </a:defRPr>
      </a:lvl9pPr>
    </p:titleStyle>
    <p:bodyStyle>
      <a:lvl1pPr marL="257175" indent="-257175" algn="l" defTabSz="342900" rtl="0" eaLnBrk="1" fontAlgn="base" hangingPunct="1">
        <a:lnSpc>
          <a:spcPct val="100000"/>
        </a:lnSpc>
        <a:spcBef>
          <a:spcPts val="0"/>
        </a:spcBef>
        <a:spcAft>
          <a:spcPts val="0"/>
        </a:spcAft>
        <a:buFont typeface="Arial" charset="0"/>
        <a:buNone/>
        <a:defRPr b="0" i="0" kern="1200">
          <a:solidFill>
            <a:schemeClr val="bg2"/>
          </a:solidFill>
          <a:latin typeface="BentonSans Light" charset="0"/>
          <a:ea typeface="BentonSans Light" charset="0"/>
          <a:cs typeface="BentonSans Light" charset="0"/>
        </a:defRPr>
      </a:lvl1pPr>
      <a:lvl2pPr marL="170260" indent="-170260" algn="l" defTabSz="342900" rtl="0" eaLnBrk="1" fontAlgn="base" hangingPunct="1">
        <a:lnSpc>
          <a:spcPct val="100000"/>
        </a:lnSpc>
        <a:spcBef>
          <a:spcPts val="0"/>
        </a:spcBef>
        <a:spcAft>
          <a:spcPts val="0"/>
        </a:spcAft>
        <a:buFont typeface="Arial" charset="0"/>
        <a:buChar char="•"/>
        <a:defRPr sz="1350" b="0" i="0" kern="1200">
          <a:solidFill>
            <a:schemeClr val="bg2"/>
          </a:solidFill>
          <a:latin typeface="BentonSans Light" charset="0"/>
          <a:ea typeface="BentonSans Light" charset="0"/>
          <a:cs typeface="BentonSans Light" charset="0"/>
        </a:defRPr>
      </a:lvl2pPr>
      <a:lvl3pPr marL="558404" indent="-216694" algn="l" defTabSz="342900" rtl="0" eaLnBrk="1" fontAlgn="base" hangingPunct="1">
        <a:lnSpc>
          <a:spcPct val="100000"/>
        </a:lnSpc>
        <a:spcBef>
          <a:spcPts val="0"/>
        </a:spcBef>
        <a:spcAft>
          <a:spcPts val="0"/>
        </a:spcAft>
        <a:buFont typeface="Arial" pitchFamily="34" charset="0"/>
        <a:buChar char="–"/>
        <a:defRPr b="0" i="0" kern="1200">
          <a:solidFill>
            <a:schemeClr val="bg2"/>
          </a:solidFill>
          <a:latin typeface="BentonSans Light" charset="0"/>
          <a:ea typeface="BentonSans Light" charset="0"/>
          <a:cs typeface="BentonSans Light" charset="0"/>
        </a:defRPr>
      </a:lvl3pPr>
      <a:lvl4pPr marL="862013" indent="-171450" algn="l" defTabSz="342900" rtl="0" eaLnBrk="1" fontAlgn="base" hangingPunct="1">
        <a:lnSpc>
          <a:spcPct val="100000"/>
        </a:lnSpc>
        <a:spcBef>
          <a:spcPts val="0"/>
        </a:spcBef>
        <a:spcAft>
          <a:spcPts val="0"/>
        </a:spcAft>
        <a:buFont typeface="Arial"/>
        <a:buChar char="•"/>
        <a:defRPr sz="1200" b="0" i="0" kern="1200">
          <a:solidFill>
            <a:schemeClr val="bg2"/>
          </a:solidFill>
          <a:latin typeface="BentonSans Light" charset="0"/>
          <a:ea typeface="BentonSans Light" charset="0"/>
          <a:cs typeface="BentonSans Light" charset="0"/>
        </a:defRPr>
      </a:lvl4pPr>
      <a:lvl5pPr marL="1197769" indent="-169069" algn="l" defTabSz="342900" rtl="0" eaLnBrk="1" fontAlgn="base" hangingPunct="1">
        <a:lnSpc>
          <a:spcPct val="100000"/>
        </a:lnSpc>
        <a:spcBef>
          <a:spcPts val="0"/>
        </a:spcBef>
        <a:spcAft>
          <a:spcPts val="0"/>
        </a:spcAft>
        <a:buFont typeface="Arial"/>
        <a:buChar char="−"/>
        <a:defRPr sz="1200" b="0" i="0" kern="1200">
          <a:solidFill>
            <a:schemeClr val="bg2"/>
          </a:solidFill>
          <a:latin typeface="BentonSans Light" charset="0"/>
          <a:ea typeface="BentonSans Light" charset="0"/>
          <a:cs typeface="BentonSans Light"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C26F8-16D0-8E4E-A9A8-0DBEB73F73CD}"/>
              </a:ext>
            </a:extLst>
          </p:cNvPr>
          <p:cNvSpPr>
            <a:spLocks noGrp="1"/>
          </p:cNvSpPr>
          <p:nvPr>
            <p:ph type="ctrTitle"/>
          </p:nvPr>
        </p:nvSpPr>
        <p:spPr/>
        <p:txBody>
          <a:bodyPr/>
          <a:lstStyle/>
          <a:p>
            <a:r>
              <a:rPr lang="en-US" dirty="0"/>
              <a:t>Business Unit Review-CADENCE</a:t>
            </a:r>
          </a:p>
        </p:txBody>
      </p:sp>
      <p:sp>
        <p:nvSpPr>
          <p:cNvPr id="3" name="Subtitle 2">
            <a:extLst>
              <a:ext uri="{FF2B5EF4-FFF2-40B4-BE49-F238E27FC236}">
                <a16:creationId xmlns:a16="http://schemas.microsoft.com/office/drawing/2014/main" id="{74F1B829-D669-FA42-B818-727995949083}"/>
              </a:ext>
            </a:extLst>
          </p:cNvPr>
          <p:cNvSpPr>
            <a:spLocks noGrp="1"/>
          </p:cNvSpPr>
          <p:nvPr>
            <p:ph type="subTitle" idx="1"/>
          </p:nvPr>
        </p:nvSpPr>
        <p:spPr/>
        <p:txBody>
          <a:bodyPr/>
          <a:lstStyle/>
          <a:p>
            <a:r>
              <a:rPr lang="en-US" dirty="0"/>
              <a:t> Feb 1</a:t>
            </a:r>
            <a:r>
              <a:rPr lang="en-US" baseline="30000" dirty="0"/>
              <a:t>st</a:t>
            </a:r>
            <a:r>
              <a:rPr lang="en-US" dirty="0"/>
              <a:t> 2022 | Abhishek Mishra </a:t>
            </a:r>
          </a:p>
        </p:txBody>
      </p:sp>
    </p:spTree>
    <p:extLst>
      <p:ext uri="{BB962C8B-B14F-4D97-AF65-F5344CB8AC3E}">
        <p14:creationId xmlns:p14="http://schemas.microsoft.com/office/powerpoint/2010/main" val="20199429"/>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315031"/>
          </a:xfrm>
        </p:spPr>
        <p:txBody>
          <a:bodyPr/>
          <a:lstStyle/>
          <a:p>
            <a:r>
              <a:rPr lang="en-US" sz="2400" dirty="0"/>
              <a:t>What is CADENCE?</a:t>
            </a:r>
            <a:endParaRPr lang="en-GB" sz="2400" dirty="0"/>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2</a:t>
            </a:fld>
            <a:endParaRPr lang="en-US" dirty="0"/>
          </a:p>
        </p:txBody>
      </p:sp>
      <p:sp>
        <p:nvSpPr>
          <p:cNvPr id="4" name="Text Placeholder 3"/>
          <p:cNvSpPr>
            <a:spLocks noGrp="1"/>
          </p:cNvSpPr>
          <p:nvPr>
            <p:ph type="body" sz="quarter" idx="11"/>
          </p:nvPr>
        </p:nvSpPr>
        <p:spPr>
          <a:xfrm>
            <a:off x="1146876" y="908957"/>
            <a:ext cx="7127175" cy="3684814"/>
          </a:xfrm>
        </p:spPr>
        <p:txBody>
          <a:bodyPr/>
          <a:lstStyle/>
          <a:p>
            <a:pPr marL="285750" indent="-285750" defTabSz="457200">
              <a:buFont typeface="Wingdings" panose="05000000000000000000" pitchFamily="2" charset="2"/>
              <a:buChar char="Ø"/>
            </a:pPr>
            <a:r>
              <a:rPr lang="en-US" sz="1400" dirty="0">
                <a:solidFill>
                  <a:schemeClr val="tx1"/>
                </a:solidFill>
                <a:latin typeface="BentonSans Light" panose="02000503000000020004" pitchFamily="2" charset="0"/>
                <a:ea typeface="Calibri" panose="020F0502020204030204" pitchFamily="34" charset="0"/>
                <a:cs typeface="+mn-cs"/>
              </a:rPr>
              <a:t>CADENCE is an internal application that calculates customer risk score, from a money laundering perspective for all ongoing Amex proprietary relationships.  </a:t>
            </a:r>
          </a:p>
          <a:p>
            <a:pPr marL="285750" indent="-285750" defTabSz="457200">
              <a:buFont typeface="Wingdings" panose="05000000000000000000" pitchFamily="2" charset="2"/>
              <a:buChar char="Ø"/>
            </a:pPr>
            <a:endParaRPr lang="en-US" sz="1400" dirty="0">
              <a:solidFill>
                <a:schemeClr val="tx1"/>
              </a:solidFill>
              <a:latin typeface="BentonSans Light" panose="02000503000000020004" pitchFamily="2" charset="0"/>
              <a:ea typeface="Calibri" panose="020F0502020204030204" pitchFamily="34" charset="0"/>
              <a:cs typeface="+mn-cs"/>
            </a:endParaRPr>
          </a:p>
          <a:p>
            <a:pPr marL="285750" indent="-285750" defTabSz="457200">
              <a:buFont typeface="Wingdings" panose="05000000000000000000" pitchFamily="2" charset="2"/>
              <a:buChar char="Ø"/>
            </a:pPr>
            <a:r>
              <a:rPr lang="en-US" sz="1400" dirty="0">
                <a:solidFill>
                  <a:schemeClr val="tx1"/>
                </a:solidFill>
                <a:latin typeface="BentonSans Light" panose="02000503000000020004" pitchFamily="2" charset="0"/>
                <a:ea typeface="Calibri" panose="020F0502020204030204" pitchFamily="34" charset="0"/>
                <a:cs typeface="+mn-cs"/>
              </a:rPr>
              <a:t>Though, CADENCE started as a Customer risk calculation engine it has since evolved as the system of record for Politically Exposed Persons and KYC refresh elements.</a:t>
            </a:r>
          </a:p>
          <a:p>
            <a:pPr marL="0" indent="0" defTabSz="457200"/>
            <a:endParaRPr lang="en-US" sz="1400" dirty="0">
              <a:solidFill>
                <a:schemeClr val="tx1"/>
              </a:solidFill>
              <a:latin typeface="BentonSans Light" panose="02000503000000020004" pitchFamily="2" charset="0"/>
              <a:ea typeface="Calibri" panose="020F0502020204030204" pitchFamily="34" charset="0"/>
              <a:cs typeface="+mn-cs"/>
            </a:endParaRPr>
          </a:p>
          <a:p>
            <a:pPr marL="285750" indent="-285750" defTabSz="457200">
              <a:buFont typeface="Wingdings" panose="05000000000000000000" pitchFamily="2" charset="2"/>
              <a:buChar char="Ø"/>
            </a:pPr>
            <a:r>
              <a:rPr lang="en-US" sz="1400" dirty="0">
                <a:solidFill>
                  <a:schemeClr val="tx1"/>
                </a:solidFill>
                <a:latin typeface="BentonSans Light" panose="02000503000000020004" pitchFamily="2" charset="0"/>
                <a:ea typeface="Calibri" panose="020F0502020204030204" pitchFamily="34" charset="0"/>
                <a:cs typeface="+mn-cs"/>
              </a:rPr>
              <a:t>CADENCE drives scheduling of KYC Refresh(KYC)/Customer Due Diligence(CDD)/Enhanced Due Diligence(EDD)/Special PEP Due Diligence(PEP) reviews.</a:t>
            </a:r>
          </a:p>
          <a:p>
            <a:pPr marL="285750" indent="-285750" defTabSz="457200">
              <a:buFont typeface="Wingdings" panose="05000000000000000000" pitchFamily="2" charset="2"/>
              <a:buChar char="Ø"/>
            </a:pPr>
            <a:endParaRPr lang="en-US" sz="1400" dirty="0">
              <a:solidFill>
                <a:schemeClr val="tx1"/>
              </a:solidFill>
              <a:latin typeface="BentonSans Light" panose="02000503000000020004" pitchFamily="2" charset="0"/>
              <a:ea typeface="Calibri" panose="020F0502020204030204" pitchFamily="34" charset="0"/>
              <a:cs typeface="+mn-cs"/>
            </a:endParaRPr>
          </a:p>
          <a:p>
            <a:pPr marL="285750" indent="-285750" defTabSz="457200">
              <a:buFont typeface="Wingdings" panose="05000000000000000000" pitchFamily="2" charset="2"/>
              <a:buChar char="Ø"/>
            </a:pPr>
            <a:r>
              <a:rPr lang="en-US" sz="1400" dirty="0">
                <a:solidFill>
                  <a:schemeClr val="tx1"/>
                </a:solidFill>
                <a:latin typeface="BentonSans Light" panose="02000503000000020004" pitchFamily="2" charset="0"/>
                <a:ea typeface="Calibri" panose="020F0502020204030204" pitchFamily="34" charset="0"/>
                <a:cs typeface="+mn-cs"/>
              </a:rPr>
              <a:t>An automatic feed from Bridger to CADENCE facilitates PEP identification &amp; corresponding due diligence.</a:t>
            </a:r>
          </a:p>
          <a:p>
            <a:pPr marL="285750" indent="-285750" defTabSz="457200">
              <a:buFont typeface="Wingdings" panose="05000000000000000000" pitchFamily="2" charset="2"/>
              <a:buChar char="Ø"/>
            </a:pPr>
            <a:endParaRPr lang="en-US" sz="1400" dirty="0">
              <a:solidFill>
                <a:schemeClr val="tx1"/>
              </a:solidFill>
              <a:latin typeface="BentonSans Light" panose="02000503000000020004" pitchFamily="2" charset="0"/>
              <a:ea typeface="Calibri" panose="020F0502020204030204" pitchFamily="34" charset="0"/>
              <a:cs typeface="+mn-cs"/>
            </a:endParaRPr>
          </a:p>
          <a:p>
            <a:pPr marL="285750" indent="-285750" defTabSz="457200">
              <a:buFont typeface="Wingdings" panose="05000000000000000000" pitchFamily="2" charset="2"/>
              <a:buChar char="Ø"/>
            </a:pPr>
            <a:r>
              <a:rPr lang="en-US" sz="1400" dirty="0">
                <a:solidFill>
                  <a:schemeClr val="tx1"/>
                </a:solidFill>
                <a:latin typeface="BentonSans Light" panose="02000503000000020004" pitchFamily="2" charset="0"/>
                <a:ea typeface="Calibri" panose="020F0502020204030204" pitchFamily="34" charset="0"/>
                <a:cs typeface="+mn-cs"/>
              </a:rPr>
              <a:t>It is an enterprise-wide tool used by all lines of business across all jurisdictions.</a:t>
            </a:r>
          </a:p>
          <a:p>
            <a:pPr marL="285750" indent="-285750" defTabSz="457200">
              <a:buFont typeface="Wingdings" panose="05000000000000000000" pitchFamily="2" charset="2"/>
              <a:buChar char="Ø"/>
            </a:pPr>
            <a:endParaRPr lang="en-US" sz="1400" dirty="0">
              <a:solidFill>
                <a:schemeClr val="tx1"/>
              </a:solidFill>
              <a:latin typeface="BentonSans Light" panose="02000503000000020004" pitchFamily="2" charset="0"/>
              <a:ea typeface="Calibri" panose="020F0502020204030204" pitchFamily="34" charset="0"/>
              <a:cs typeface="+mn-cs"/>
            </a:endParaRPr>
          </a:p>
          <a:p>
            <a:pPr marL="285750" indent="-285750" defTabSz="457200">
              <a:buFont typeface="Wingdings" panose="05000000000000000000" pitchFamily="2" charset="2"/>
              <a:buChar char="Ø"/>
            </a:pPr>
            <a:endParaRPr lang="en-US" sz="1400" dirty="0">
              <a:solidFill>
                <a:schemeClr val="tx1"/>
              </a:solidFill>
              <a:latin typeface="BentonSans Light" panose="02000503000000020004" pitchFamily="2" charset="0"/>
              <a:ea typeface="Calibri" panose="020F0502020204030204" pitchFamily="34" charset="0"/>
              <a:cs typeface="+mn-cs"/>
            </a:endParaRPr>
          </a:p>
          <a:p>
            <a:pPr marL="285750" indent="-285750" defTabSz="457200">
              <a:buFont typeface="Wingdings" panose="05000000000000000000" pitchFamily="2" charset="2"/>
              <a:buChar char="Ø"/>
            </a:pPr>
            <a:r>
              <a:rPr lang="en-US" sz="1400" dirty="0">
                <a:solidFill>
                  <a:schemeClr val="tx1"/>
                </a:solidFill>
                <a:latin typeface="BentonSans Light" panose="02000503000000020004" pitchFamily="2" charset="0"/>
                <a:ea typeface="Calibri" panose="020F0502020204030204" pitchFamily="34" charset="0"/>
                <a:cs typeface="+mn-cs"/>
              </a:rPr>
              <a:t>To do all of this, feeds from 30+ systems regularly bring data into CADENCE. </a:t>
            </a:r>
          </a:p>
        </p:txBody>
      </p:sp>
    </p:spTree>
    <p:extLst>
      <p:ext uri="{BB962C8B-B14F-4D97-AF65-F5344CB8AC3E}">
        <p14:creationId xmlns:p14="http://schemas.microsoft.com/office/powerpoint/2010/main" val="266802077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315031"/>
          </a:xfrm>
        </p:spPr>
        <p:txBody>
          <a:bodyPr/>
          <a:lstStyle/>
          <a:p>
            <a:r>
              <a:rPr lang="en-US" sz="2400" dirty="0"/>
              <a:t>CADENCE Data Sources</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3</a:t>
            </a:fld>
            <a:endParaRPr lang="en-US" dirty="0"/>
          </a:p>
        </p:txBody>
      </p:sp>
      <p:pic>
        <p:nvPicPr>
          <p:cNvPr id="5" name="Picture 4"/>
          <p:cNvPicPr>
            <a:picLocks noChangeAspect="1"/>
          </p:cNvPicPr>
          <p:nvPr/>
        </p:nvPicPr>
        <p:blipFill>
          <a:blip r:embed="rId2"/>
          <a:stretch>
            <a:fillRect/>
          </a:stretch>
        </p:blipFill>
        <p:spPr>
          <a:xfrm>
            <a:off x="1274306" y="862361"/>
            <a:ext cx="7063139" cy="3746809"/>
          </a:xfrm>
          <a:prstGeom prst="rect">
            <a:avLst/>
          </a:prstGeom>
        </p:spPr>
      </p:pic>
    </p:spTree>
    <p:extLst>
      <p:ext uri="{BB962C8B-B14F-4D97-AF65-F5344CB8AC3E}">
        <p14:creationId xmlns:p14="http://schemas.microsoft.com/office/powerpoint/2010/main" val="3424182156"/>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333581"/>
          </a:xfrm>
        </p:spPr>
        <p:txBody>
          <a:bodyPr/>
          <a:lstStyle/>
          <a:p>
            <a:r>
              <a:rPr lang="en-US" sz="2400" dirty="0"/>
              <a:t>CADENCE (cont.)</a:t>
            </a:r>
            <a:endParaRPr lang="en-GB" sz="2400" dirty="0"/>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4</a:t>
            </a:fld>
            <a:endParaRPr lang="en-US" dirty="0"/>
          </a:p>
        </p:txBody>
      </p:sp>
      <p:graphicFrame>
        <p:nvGraphicFramePr>
          <p:cNvPr id="7" name="Diagram 6"/>
          <p:cNvGraphicFramePr/>
          <p:nvPr>
            <p:extLst>
              <p:ext uri="{D42A27DB-BD31-4B8C-83A1-F6EECF244321}">
                <p14:modId xmlns:p14="http://schemas.microsoft.com/office/powerpoint/2010/main" val="3703602302"/>
              </p:ext>
            </p:extLst>
          </p:nvPr>
        </p:nvGraphicFramePr>
        <p:xfrm>
          <a:off x="896202" y="656908"/>
          <a:ext cx="789974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p:cNvSpPr txBox="1"/>
          <p:nvPr/>
        </p:nvSpPr>
        <p:spPr>
          <a:xfrm>
            <a:off x="953827" y="1239956"/>
            <a:ext cx="1028699" cy="484748"/>
          </a:xfrm>
          <a:prstGeom prst="rect">
            <a:avLst/>
          </a:prstGeom>
          <a:noFill/>
        </p:spPr>
        <p:txBody>
          <a:bodyPr wrap="square" lIns="0" tIns="0" rIns="0" bIns="0" rtlCol="0">
            <a:spAutoFit/>
          </a:bodyPr>
          <a:lstStyle/>
          <a:p>
            <a:pPr algn="ctr"/>
            <a:r>
              <a:rPr lang="en-US" sz="1050" b="0" i="0" dirty="0">
                <a:solidFill>
                  <a:schemeClr val="bg2"/>
                </a:solidFill>
                <a:latin typeface="BentonSans Medium" panose="02000603000000020004" pitchFamily="2" charset="0"/>
              </a:rPr>
              <a:t>Data Ingestion &amp; Standardization</a:t>
            </a:r>
            <a:endParaRPr lang="en-GB" sz="1050" b="0" i="0" dirty="0">
              <a:solidFill>
                <a:schemeClr val="bg2"/>
              </a:solidFill>
              <a:latin typeface="BentonSans Medium" panose="02000603000000020004" pitchFamily="2" charset="0"/>
            </a:endParaRPr>
          </a:p>
        </p:txBody>
      </p:sp>
      <p:sp>
        <p:nvSpPr>
          <p:cNvPr id="9" name="TextBox 8"/>
          <p:cNvSpPr txBox="1"/>
          <p:nvPr/>
        </p:nvSpPr>
        <p:spPr>
          <a:xfrm>
            <a:off x="1229057" y="2378529"/>
            <a:ext cx="1122257" cy="484748"/>
          </a:xfrm>
          <a:prstGeom prst="rect">
            <a:avLst/>
          </a:prstGeom>
          <a:noFill/>
        </p:spPr>
        <p:txBody>
          <a:bodyPr wrap="square" lIns="0" tIns="0" rIns="0" bIns="0" rtlCol="0">
            <a:spAutoFit/>
          </a:bodyPr>
          <a:lstStyle/>
          <a:p>
            <a:pPr algn="ctr"/>
            <a:endParaRPr lang="en-US" sz="1050" b="0" i="0" dirty="0">
              <a:solidFill>
                <a:srgbClr val="668DDE"/>
              </a:solidFill>
              <a:latin typeface="BentonSans Medium" panose="02000603000000020004" pitchFamily="2" charset="0"/>
            </a:endParaRPr>
          </a:p>
          <a:p>
            <a:pPr algn="ctr"/>
            <a:r>
              <a:rPr lang="en-US" sz="1050" b="0" i="0" dirty="0">
                <a:solidFill>
                  <a:srgbClr val="668DDE"/>
                </a:solidFill>
                <a:latin typeface="BentonSans Medium" panose="02000603000000020004" pitchFamily="2" charset="0"/>
              </a:rPr>
              <a:t>Risk  </a:t>
            </a:r>
          </a:p>
          <a:p>
            <a:pPr algn="ctr"/>
            <a:r>
              <a:rPr lang="en-US" sz="1050" b="0" i="0" dirty="0">
                <a:solidFill>
                  <a:srgbClr val="668DDE"/>
                </a:solidFill>
                <a:latin typeface="BentonSans Medium" panose="02000603000000020004" pitchFamily="2" charset="0"/>
              </a:rPr>
              <a:t>Assessment</a:t>
            </a:r>
            <a:endParaRPr lang="en-GB" sz="1050" b="0" i="0" dirty="0">
              <a:solidFill>
                <a:srgbClr val="668DDE"/>
              </a:solidFill>
              <a:latin typeface="BentonSans Medium" panose="02000603000000020004" pitchFamily="2" charset="0"/>
            </a:endParaRPr>
          </a:p>
        </p:txBody>
      </p:sp>
      <p:sp>
        <p:nvSpPr>
          <p:cNvPr id="4" name="TextBox 3"/>
          <p:cNvSpPr txBox="1"/>
          <p:nvPr/>
        </p:nvSpPr>
        <p:spPr>
          <a:xfrm>
            <a:off x="1146876" y="3774478"/>
            <a:ext cx="835650" cy="323165"/>
          </a:xfrm>
          <a:prstGeom prst="rect">
            <a:avLst/>
          </a:prstGeom>
          <a:noFill/>
        </p:spPr>
        <p:txBody>
          <a:bodyPr wrap="square" lIns="0" tIns="0" rIns="0" bIns="0" rtlCol="0">
            <a:spAutoFit/>
          </a:bodyPr>
          <a:lstStyle/>
          <a:p>
            <a:pPr algn="l"/>
            <a:r>
              <a:rPr lang="en-US" sz="1050" dirty="0">
                <a:solidFill>
                  <a:srgbClr val="668DDE"/>
                </a:solidFill>
                <a:latin typeface="BentonSans Medium" panose="02000603000000020004" pitchFamily="2" charset="0"/>
              </a:rPr>
              <a:t>Review processing</a:t>
            </a:r>
          </a:p>
        </p:txBody>
      </p:sp>
    </p:spTree>
    <p:extLst>
      <p:ext uri="{BB962C8B-B14F-4D97-AF65-F5344CB8AC3E}">
        <p14:creationId xmlns:p14="http://schemas.microsoft.com/office/powerpoint/2010/main" val="366674452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6876" y="283110"/>
            <a:ext cx="7739565" cy="315031"/>
          </a:xfrm>
        </p:spPr>
        <p:txBody>
          <a:bodyPr/>
          <a:lstStyle/>
          <a:p>
            <a:r>
              <a:rPr lang="en-US" sz="2400" dirty="0"/>
              <a:t>Types of Risk Scores</a:t>
            </a:r>
          </a:p>
        </p:txBody>
      </p:sp>
      <p:sp>
        <p:nvSpPr>
          <p:cNvPr id="5" name="TextBox 4"/>
          <p:cNvSpPr txBox="1"/>
          <p:nvPr/>
        </p:nvSpPr>
        <p:spPr>
          <a:xfrm>
            <a:off x="1258159" y="831898"/>
            <a:ext cx="6861438" cy="2769989"/>
          </a:xfrm>
          <a:prstGeom prst="rect">
            <a:avLst/>
          </a:prstGeom>
          <a:noFill/>
        </p:spPr>
        <p:txBody>
          <a:bodyPr wrap="square" lIns="0" tIns="0" rIns="0" bIns="0" rtlCol="0">
            <a:spAutoFit/>
          </a:bodyPr>
          <a:lstStyle/>
          <a:p>
            <a:pPr algn="l"/>
            <a:endParaRPr lang="en-US" sz="1200" b="1" dirty="0">
              <a:solidFill>
                <a:schemeClr val="bg2"/>
              </a:solidFill>
              <a:latin typeface="BentonSans Light" panose="02000503000000020004" pitchFamily="2" charset="0"/>
            </a:endParaRPr>
          </a:p>
          <a:p>
            <a:pPr algn="l"/>
            <a:endParaRPr lang="en-US" sz="1200" b="1" dirty="0">
              <a:solidFill>
                <a:schemeClr val="bg2"/>
              </a:solidFill>
              <a:latin typeface="BentonSans Light" panose="02000503000000020004" pitchFamily="2" charset="0"/>
            </a:endParaRPr>
          </a:p>
          <a:p>
            <a:pPr algn="l"/>
            <a:endParaRPr lang="en-US" sz="1200" b="1" dirty="0">
              <a:solidFill>
                <a:schemeClr val="bg2"/>
              </a:solidFill>
              <a:latin typeface="BentonSans Light" panose="02000503000000020004" pitchFamily="2" charset="0"/>
            </a:endParaRPr>
          </a:p>
          <a:p>
            <a:r>
              <a:rPr lang="en-US" sz="1200" b="1" dirty="0">
                <a:solidFill>
                  <a:schemeClr val="bg2"/>
                </a:solidFill>
                <a:latin typeface="BentonSans Regular" panose="02000503000000020004" pitchFamily="2" charset="0"/>
              </a:rPr>
              <a:t>Account risk score</a:t>
            </a:r>
            <a:r>
              <a:rPr lang="en-US" sz="1200" dirty="0">
                <a:solidFill>
                  <a:schemeClr val="bg2"/>
                </a:solidFill>
                <a:latin typeface="BentonSans Light" panose="02000503000000020004" pitchFamily="2" charset="0"/>
              </a:rPr>
              <a:t>: It the risk score of the account based on Key risk indicators(Product, geography, channel, Industry &amp; structure) of that account only. In simpler words, it is the accounts individual score.</a:t>
            </a:r>
          </a:p>
          <a:p>
            <a:pPr algn="l"/>
            <a:endParaRPr lang="en-US" sz="1200" dirty="0">
              <a:solidFill>
                <a:schemeClr val="bg2"/>
              </a:solidFill>
              <a:latin typeface="BentonSans Light" panose="02000503000000020004" pitchFamily="2" charset="0"/>
            </a:endParaRPr>
          </a:p>
          <a:p>
            <a:pPr algn="l"/>
            <a:endParaRPr lang="en-US" sz="1200" b="0" i="0" dirty="0">
              <a:solidFill>
                <a:schemeClr val="bg2"/>
              </a:solidFill>
              <a:latin typeface="BentonSans Light" panose="02000503000000020004" pitchFamily="2" charset="0"/>
            </a:endParaRPr>
          </a:p>
          <a:p>
            <a:pPr algn="l"/>
            <a:r>
              <a:rPr lang="en-US" sz="1200" b="1" dirty="0">
                <a:solidFill>
                  <a:schemeClr val="bg2"/>
                </a:solidFill>
                <a:latin typeface="BentonSans Regular" panose="02000503000000020004" pitchFamily="2" charset="0"/>
              </a:rPr>
              <a:t>Hierarchy risk score</a:t>
            </a:r>
            <a:r>
              <a:rPr lang="en-US" sz="1200" dirty="0">
                <a:solidFill>
                  <a:schemeClr val="bg2"/>
                </a:solidFill>
                <a:latin typeface="BentonSans Light" panose="02000503000000020004" pitchFamily="2" charset="0"/>
              </a:rPr>
              <a:t>: The highest account risk score of any of the non-closed accounts in the hierarchy, drives the hierarchy score for all accounts in the hierarchy. In simpler words, it is your family score.</a:t>
            </a:r>
          </a:p>
          <a:p>
            <a:pPr algn="l"/>
            <a:endParaRPr lang="en-US" sz="1200" dirty="0">
              <a:solidFill>
                <a:schemeClr val="bg2"/>
              </a:solidFill>
              <a:latin typeface="BentonSans Light" panose="02000503000000020004" pitchFamily="2" charset="0"/>
            </a:endParaRPr>
          </a:p>
          <a:p>
            <a:pPr algn="l"/>
            <a:endParaRPr lang="en-US" sz="1200" dirty="0">
              <a:solidFill>
                <a:schemeClr val="bg2"/>
              </a:solidFill>
              <a:latin typeface="BentonSans Light" panose="02000503000000020004" pitchFamily="2" charset="0"/>
            </a:endParaRPr>
          </a:p>
          <a:p>
            <a:pPr algn="l"/>
            <a:r>
              <a:rPr lang="en-US" sz="1200" b="1" dirty="0">
                <a:solidFill>
                  <a:schemeClr val="bg2"/>
                </a:solidFill>
                <a:latin typeface="BentonSans Regular" panose="02000503000000020004" pitchFamily="2" charset="0"/>
              </a:rPr>
              <a:t>Customer risk score</a:t>
            </a:r>
            <a:r>
              <a:rPr lang="en-US" sz="1200" dirty="0">
                <a:solidFill>
                  <a:schemeClr val="bg2"/>
                </a:solidFill>
                <a:latin typeface="BentonSans Light" panose="02000503000000020004" pitchFamily="2" charset="0"/>
              </a:rPr>
              <a:t>: It is the highest hierarchy risk score from any of the non-closed accounts owned by that customer. In other words, this is your personal score.</a:t>
            </a:r>
          </a:p>
        </p:txBody>
      </p:sp>
    </p:spTree>
    <p:extLst>
      <p:ext uri="{BB962C8B-B14F-4D97-AF65-F5344CB8AC3E}">
        <p14:creationId xmlns:p14="http://schemas.microsoft.com/office/powerpoint/2010/main" val="401739010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304839"/>
          </a:xfrm>
        </p:spPr>
        <p:txBody>
          <a:bodyPr/>
          <a:lstStyle/>
          <a:p>
            <a:r>
              <a:rPr lang="en-US" sz="2400" dirty="0"/>
              <a:t>Customer Risk Score Calculation Example</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6</a:t>
            </a:fld>
            <a:endParaRPr lang="en-US" dirty="0"/>
          </a:p>
        </p:txBody>
      </p:sp>
      <p:pic>
        <p:nvPicPr>
          <p:cNvPr id="7" name="Picture 6"/>
          <p:cNvPicPr>
            <a:picLocks noChangeAspect="1"/>
          </p:cNvPicPr>
          <p:nvPr/>
        </p:nvPicPr>
        <p:blipFill>
          <a:blip r:embed="rId2"/>
          <a:stretch>
            <a:fillRect/>
          </a:stretch>
        </p:blipFill>
        <p:spPr>
          <a:xfrm>
            <a:off x="838200" y="587949"/>
            <a:ext cx="7957742" cy="4311711"/>
          </a:xfrm>
          <a:prstGeom prst="rect">
            <a:avLst/>
          </a:prstGeom>
        </p:spPr>
      </p:pic>
    </p:spTree>
    <p:extLst>
      <p:ext uri="{BB962C8B-B14F-4D97-AF65-F5344CB8AC3E}">
        <p14:creationId xmlns:p14="http://schemas.microsoft.com/office/powerpoint/2010/main" val="216090703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7AEFE-1531-4EFA-B368-265C10609F11}"/>
              </a:ext>
            </a:extLst>
          </p:cNvPr>
          <p:cNvSpPr>
            <a:spLocks noGrp="1"/>
          </p:cNvSpPr>
          <p:nvPr>
            <p:ph type="title"/>
          </p:nvPr>
        </p:nvSpPr>
        <p:spPr>
          <a:xfrm>
            <a:off x="1060357" y="128287"/>
            <a:ext cx="7739565" cy="377290"/>
          </a:xfrm>
        </p:spPr>
        <p:txBody>
          <a:bodyPr/>
          <a:lstStyle/>
          <a:p>
            <a:r>
              <a:rPr lang="en-US" dirty="0"/>
              <a:t>Score Calculation </a:t>
            </a:r>
          </a:p>
        </p:txBody>
      </p:sp>
      <p:sp>
        <p:nvSpPr>
          <p:cNvPr id="3" name="Slide Number Placeholder 2">
            <a:extLst>
              <a:ext uri="{FF2B5EF4-FFF2-40B4-BE49-F238E27FC236}">
                <a16:creationId xmlns:a16="http://schemas.microsoft.com/office/drawing/2014/main" id="{70EAF9B7-DB80-41B4-AD27-28CACE257FD4}"/>
              </a:ext>
            </a:extLst>
          </p:cNvPr>
          <p:cNvSpPr>
            <a:spLocks noGrp="1"/>
          </p:cNvSpPr>
          <p:nvPr>
            <p:ph type="sldNum" sz="quarter" idx="10"/>
          </p:nvPr>
        </p:nvSpPr>
        <p:spPr/>
        <p:txBody>
          <a:bodyPr/>
          <a:lstStyle/>
          <a:p>
            <a:pPr>
              <a:defRPr/>
            </a:pPr>
            <a:fld id="{920384AA-0A71-E644-AEED-65CD2253F2C8}" type="slidenum">
              <a:rPr lang="en-US" smtClean="0"/>
              <a:pPr>
                <a:defRPr/>
              </a:pPr>
              <a:t>7</a:t>
            </a:fld>
            <a:endParaRPr lang="en-US" dirty="0"/>
          </a:p>
        </p:txBody>
      </p:sp>
      <p:sp>
        <p:nvSpPr>
          <p:cNvPr id="4" name="Text Placeholder 3">
            <a:extLst>
              <a:ext uri="{FF2B5EF4-FFF2-40B4-BE49-F238E27FC236}">
                <a16:creationId xmlns:a16="http://schemas.microsoft.com/office/drawing/2014/main" id="{F633475C-0AA9-4899-8E1D-619DF31C643D}"/>
              </a:ext>
            </a:extLst>
          </p:cNvPr>
          <p:cNvSpPr>
            <a:spLocks noGrp="1"/>
          </p:cNvSpPr>
          <p:nvPr>
            <p:ph type="body" sz="quarter" idx="11"/>
          </p:nvPr>
        </p:nvSpPr>
        <p:spPr>
          <a:xfrm>
            <a:off x="1060357" y="595426"/>
            <a:ext cx="7801181" cy="2487216"/>
          </a:xfrm>
        </p:spPr>
        <p:txBody>
          <a:bodyPr/>
          <a:lstStyle/>
          <a:p>
            <a:r>
              <a:rPr lang="en-US" b="1" dirty="0"/>
              <a:t>Roll-up Scoring</a:t>
            </a:r>
          </a:p>
          <a:p>
            <a:pPr marL="0"/>
            <a:r>
              <a:rPr lang="en-US" sz="1200" dirty="0"/>
              <a:t>In a roll-up scoring model the risk elements are grouped into risk categories. Each risk element is assigned a score based on an analysis of its risk. These element scores, where present for a customer, are then added together to create the score for the risk category. These risk category scores are then simply added together to create a customer risk score.</a:t>
            </a:r>
          </a:p>
          <a:p>
            <a:pPr marL="0"/>
            <a:endParaRPr lang="en-US" sz="800" dirty="0"/>
          </a:p>
          <a:p>
            <a:pPr marL="0"/>
            <a:r>
              <a:rPr lang="en-US" sz="1200" dirty="0"/>
              <a:t>Risk Categories </a:t>
            </a:r>
          </a:p>
          <a:p>
            <a:pPr marL="0"/>
            <a:endParaRPr lang="en-US" sz="1200" dirty="0"/>
          </a:p>
          <a:p>
            <a:pPr marL="0"/>
            <a:r>
              <a:rPr lang="en-US" sz="1200" dirty="0"/>
              <a:t> </a:t>
            </a:r>
          </a:p>
        </p:txBody>
      </p:sp>
      <p:pic>
        <p:nvPicPr>
          <p:cNvPr id="11" name="Picture 10">
            <a:extLst>
              <a:ext uri="{FF2B5EF4-FFF2-40B4-BE49-F238E27FC236}">
                <a16:creationId xmlns:a16="http://schemas.microsoft.com/office/drawing/2014/main" id="{1F28B712-87E5-4C24-A587-5745B19509EC}"/>
              </a:ext>
            </a:extLst>
          </p:cNvPr>
          <p:cNvPicPr>
            <a:picLocks noChangeAspect="1"/>
          </p:cNvPicPr>
          <p:nvPr/>
        </p:nvPicPr>
        <p:blipFill>
          <a:blip r:embed="rId2"/>
          <a:stretch>
            <a:fillRect/>
          </a:stretch>
        </p:blipFill>
        <p:spPr>
          <a:xfrm>
            <a:off x="815339" y="1916171"/>
            <a:ext cx="8229600" cy="1311157"/>
          </a:xfrm>
          <a:prstGeom prst="rect">
            <a:avLst/>
          </a:prstGeom>
        </p:spPr>
      </p:pic>
      <p:sp>
        <p:nvSpPr>
          <p:cNvPr id="12" name="Rectangle 11">
            <a:extLst>
              <a:ext uri="{FF2B5EF4-FFF2-40B4-BE49-F238E27FC236}">
                <a16:creationId xmlns:a16="http://schemas.microsoft.com/office/drawing/2014/main" id="{75A2E2CA-C361-4C6F-B179-554C165C1415}"/>
              </a:ext>
            </a:extLst>
          </p:cNvPr>
          <p:cNvSpPr/>
          <p:nvPr/>
        </p:nvSpPr>
        <p:spPr>
          <a:xfrm>
            <a:off x="906780" y="2491445"/>
            <a:ext cx="4335780" cy="2369880"/>
          </a:xfrm>
          <a:prstGeom prst="rect">
            <a:avLst/>
          </a:prstGeom>
        </p:spPr>
        <p:txBody>
          <a:bodyPr wrap="square">
            <a:spAutoFit/>
          </a:bodyPr>
          <a:lstStyle/>
          <a:p>
            <a:endParaRPr lang="en-US" sz="2800" dirty="0">
              <a:solidFill>
                <a:srgbClr val="000000"/>
              </a:solidFill>
              <a:latin typeface="Verdana" panose="020B0604030504040204" pitchFamily="34" charset="0"/>
            </a:endParaRPr>
          </a:p>
          <a:p>
            <a:endParaRPr lang="en-US" sz="1000" dirty="0">
              <a:latin typeface="Verdana" panose="020B0604030504040204" pitchFamily="34" charset="0"/>
            </a:endParaRPr>
          </a:p>
          <a:p>
            <a:endParaRPr lang="en-US" sz="1000" dirty="0">
              <a:latin typeface="Verdana" panose="020B0604030504040204" pitchFamily="34" charset="0"/>
            </a:endParaRPr>
          </a:p>
          <a:p>
            <a:r>
              <a:rPr lang="en-US" sz="1000" b="1" dirty="0">
                <a:latin typeface="Verdana" panose="020B0604030504040204" pitchFamily="34" charset="0"/>
              </a:rPr>
              <a:t>Benefits</a:t>
            </a:r>
          </a:p>
          <a:p>
            <a:pPr marL="171450" indent="-171450">
              <a:buFont typeface="Arial" panose="020B0604020202020204" pitchFamily="34" charset="0"/>
              <a:buChar char="•"/>
            </a:pPr>
            <a:r>
              <a:rPr lang="en-US" sz="1000" dirty="0">
                <a:latin typeface="Verdana" panose="020B0604030504040204" pitchFamily="34" charset="0"/>
              </a:rPr>
              <a:t>Allows for better transparency into high risk factors than the decision tree (existing methodology)</a:t>
            </a:r>
          </a:p>
          <a:p>
            <a:pPr marL="171450" indent="-171450">
              <a:buFont typeface="Arial" panose="020B0604020202020204" pitchFamily="34" charset="0"/>
              <a:buChar char="•"/>
            </a:pPr>
            <a:r>
              <a:rPr lang="en-US" sz="1000" dirty="0">
                <a:latin typeface="Verdana" panose="020B0604030504040204" pitchFamily="34" charset="0"/>
              </a:rPr>
              <a:t>Changes are easy to design and implement </a:t>
            </a:r>
          </a:p>
          <a:p>
            <a:pPr marL="171450" indent="-171450">
              <a:buFont typeface="Arial" panose="020B0604020202020204" pitchFamily="34" charset="0"/>
              <a:buChar char="•"/>
            </a:pPr>
            <a:r>
              <a:rPr lang="en-US" sz="1000" dirty="0">
                <a:latin typeface="Verdana" panose="020B0604030504040204" pitchFamily="34" charset="0"/>
              </a:rPr>
              <a:t>Allows for focus to be distributed among the different risk components and not driven by one main risk Category (i.e., Product Risk)</a:t>
            </a:r>
          </a:p>
          <a:p>
            <a:pPr marL="171450" indent="-171450">
              <a:buFont typeface="Arial" panose="020B0604020202020204" pitchFamily="34" charset="0"/>
              <a:buChar char="•"/>
            </a:pPr>
            <a:r>
              <a:rPr lang="en-US" sz="1000" dirty="0">
                <a:latin typeface="Verdana" panose="020B0604030504040204" pitchFamily="34" charset="0"/>
              </a:rPr>
              <a:t>Tuning is flexible during calibration phase because it would involve a simple approach to set up test cases and understand the impact to CRR risk ratings</a:t>
            </a:r>
          </a:p>
        </p:txBody>
      </p:sp>
      <p:sp>
        <p:nvSpPr>
          <p:cNvPr id="13" name="Rectangle 12">
            <a:extLst>
              <a:ext uri="{FF2B5EF4-FFF2-40B4-BE49-F238E27FC236}">
                <a16:creationId xmlns:a16="http://schemas.microsoft.com/office/drawing/2014/main" id="{41F17EDD-EEC2-4FAE-923C-31A4FE733406}"/>
              </a:ext>
            </a:extLst>
          </p:cNvPr>
          <p:cNvSpPr/>
          <p:nvPr/>
        </p:nvSpPr>
        <p:spPr>
          <a:xfrm>
            <a:off x="5091248" y="2491445"/>
            <a:ext cx="4008120" cy="2523768"/>
          </a:xfrm>
          <a:prstGeom prst="rect">
            <a:avLst/>
          </a:prstGeom>
        </p:spPr>
        <p:txBody>
          <a:bodyPr wrap="square">
            <a:spAutoFit/>
          </a:bodyPr>
          <a:lstStyle/>
          <a:p>
            <a:endParaRPr lang="en-US" sz="2800" dirty="0">
              <a:solidFill>
                <a:srgbClr val="000000"/>
              </a:solidFill>
              <a:latin typeface="Verdana" panose="020B0604030504040204" pitchFamily="34" charset="0"/>
            </a:endParaRPr>
          </a:p>
          <a:p>
            <a:endParaRPr lang="en-US" sz="1000" dirty="0">
              <a:latin typeface="Verdana" panose="020B0604030504040204" pitchFamily="34" charset="0"/>
            </a:endParaRPr>
          </a:p>
          <a:p>
            <a:endParaRPr lang="en-US" sz="1000" dirty="0">
              <a:latin typeface="Verdana" panose="020B0604030504040204" pitchFamily="34" charset="0"/>
            </a:endParaRPr>
          </a:p>
          <a:p>
            <a:r>
              <a:rPr lang="en-US" sz="1000" b="1" dirty="0">
                <a:latin typeface="Verdana" panose="020B0604030504040204" pitchFamily="34" charset="0"/>
              </a:rPr>
              <a:t>Considerations</a:t>
            </a:r>
          </a:p>
          <a:p>
            <a:pPr marL="171450" indent="-171450">
              <a:buFont typeface="Arial" panose="020B0604020202020204" pitchFamily="34" charset="0"/>
              <a:buChar char="•"/>
            </a:pPr>
            <a:r>
              <a:rPr lang="en-US" sz="1000" dirty="0">
                <a:latin typeface="Verdana" panose="020B0604030504040204" pitchFamily="34" charset="0"/>
              </a:rPr>
              <a:t>Assumes that all risk elements are scored on a similar scale (i.e., in a range of 1-10 score, a risk element with a score of 9 is 9x riskier than risk elements with score of 1)</a:t>
            </a:r>
          </a:p>
          <a:p>
            <a:pPr marL="171450" indent="-171450">
              <a:buFont typeface="Arial" panose="020B0604020202020204" pitchFamily="34" charset="0"/>
              <a:buChar char="•"/>
            </a:pPr>
            <a:r>
              <a:rPr lang="en-US" sz="1000" dirty="0">
                <a:latin typeface="Verdana" panose="020B0604030504040204" pitchFamily="34" charset="0"/>
              </a:rPr>
              <a:t>Scores may be over-stated if one Category has more risk elements than another Category (e.g., a customer could be rated high risk because all geography risk elements resulted as high risk, but the customer has no high risk products/services or no high risk customer risk elements) </a:t>
            </a:r>
          </a:p>
        </p:txBody>
      </p:sp>
    </p:spTree>
    <p:extLst>
      <p:ext uri="{BB962C8B-B14F-4D97-AF65-F5344CB8AC3E}">
        <p14:creationId xmlns:p14="http://schemas.microsoft.com/office/powerpoint/2010/main" val="4064742263"/>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3">
            <a:extLst>
              <a:ext uri="{FF2B5EF4-FFF2-40B4-BE49-F238E27FC236}">
                <a16:creationId xmlns:a16="http://schemas.microsoft.com/office/drawing/2014/main" id="{D0648009-C2CE-4504-88DB-CD84CF284489}"/>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solidFill>
                  <a:prstClr val="black">
                    <a:tint val="75000"/>
                  </a:prstClr>
                </a:solidFill>
                <a:latin typeface="Calibri" panose="020F0502020204030204"/>
              </a:rPr>
              <a:t>AXP Internal</a:t>
            </a:r>
          </a:p>
        </p:txBody>
      </p:sp>
      <p:sp>
        <p:nvSpPr>
          <p:cNvPr id="24" name="Date Placeholder 4">
            <a:extLst>
              <a:ext uri="{FF2B5EF4-FFF2-40B4-BE49-F238E27FC236}">
                <a16:creationId xmlns:a16="http://schemas.microsoft.com/office/drawing/2014/main" id="{1ED79B33-D9AF-441C-9B6C-F78D2D23BB1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A46D4F4E-B233-4BBE-8215-EE798DD53D74}" type="datetime5">
              <a:rPr lang="en-US" smtClean="0">
                <a:solidFill>
                  <a:prstClr val="black">
                    <a:tint val="75000"/>
                  </a:prstClr>
                </a:solidFill>
                <a:latin typeface="Calibri" panose="020F0502020204030204"/>
              </a:rPr>
              <a:pPr fontAlgn="auto">
                <a:spcBef>
                  <a:spcPts val="0"/>
                </a:spcBef>
                <a:spcAft>
                  <a:spcPts val="0"/>
                </a:spcAft>
              </a:pPr>
              <a:t>1-Apr-22</a:t>
            </a:fld>
            <a:endParaRPr lang="en-US">
              <a:solidFill>
                <a:prstClr val="black">
                  <a:tint val="75000"/>
                </a:prstClr>
              </a:solidFill>
              <a:latin typeface="Calibri" panose="020F0502020204030204"/>
            </a:endParaRPr>
          </a:p>
        </p:txBody>
      </p:sp>
      <p:sp>
        <p:nvSpPr>
          <p:cNvPr id="25" name="Slide Number Placeholder 5">
            <a:extLst>
              <a:ext uri="{FF2B5EF4-FFF2-40B4-BE49-F238E27FC236}">
                <a16:creationId xmlns:a16="http://schemas.microsoft.com/office/drawing/2014/main" id="{7A80D6DF-05C5-4927-B491-CC6D1C14BE3F}"/>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0842897F-5191-4E88-9CA8-D5AD207F07AB}" type="slidenum">
              <a:rPr lang="en-US" smtClean="0">
                <a:solidFill>
                  <a:prstClr val="black">
                    <a:tint val="75000"/>
                  </a:prstClr>
                </a:solidFill>
                <a:latin typeface="Calibri" panose="020F0502020204030204"/>
              </a:rPr>
              <a:pPr fontAlgn="auto">
                <a:spcBef>
                  <a:spcPts val="0"/>
                </a:spcBef>
                <a:spcAft>
                  <a:spcPts val="0"/>
                </a:spcAft>
              </a:pPr>
              <a:t>8</a:t>
            </a:fld>
            <a:endParaRPr lang="en-US">
              <a:solidFill>
                <a:prstClr val="black">
                  <a:tint val="75000"/>
                </a:prstClr>
              </a:solidFill>
              <a:latin typeface="Calibri" panose="020F0502020204030204"/>
            </a:endParaRPr>
          </a:p>
        </p:txBody>
      </p:sp>
      <p:sp>
        <p:nvSpPr>
          <p:cNvPr id="37" name="TextBox 36">
            <a:extLst>
              <a:ext uri="{FF2B5EF4-FFF2-40B4-BE49-F238E27FC236}">
                <a16:creationId xmlns:a16="http://schemas.microsoft.com/office/drawing/2014/main" id="{F405B3E8-739C-4C6B-B394-C3044A0F685D}"/>
              </a:ext>
            </a:extLst>
          </p:cNvPr>
          <p:cNvSpPr txBox="1"/>
          <p:nvPr/>
        </p:nvSpPr>
        <p:spPr>
          <a:xfrm>
            <a:off x="838200" y="125905"/>
            <a:ext cx="10263499" cy="458267"/>
          </a:xfrm>
          <a:prstGeom prst="rect">
            <a:avLst/>
          </a:prstGeom>
          <a:noFill/>
        </p:spPr>
        <p:txBody>
          <a:bodyPr wrap="square" rtlCol="0">
            <a:spAutoFit/>
          </a:bodyPr>
          <a:lstStyle/>
          <a:p>
            <a:pPr defTabSz="342900">
              <a:lnSpc>
                <a:spcPct val="82000"/>
              </a:lnSpc>
            </a:pPr>
            <a:r>
              <a:rPr lang="en-US" sz="2900" dirty="0">
                <a:latin typeface="Guardian Egyp Regular" panose="02060503050503060803" pitchFamily="18" charset="77"/>
              </a:rPr>
              <a:t>Risk Element example 1</a:t>
            </a:r>
          </a:p>
        </p:txBody>
      </p:sp>
      <p:sp>
        <p:nvSpPr>
          <p:cNvPr id="42" name="Rectangle 41">
            <a:extLst>
              <a:ext uri="{FF2B5EF4-FFF2-40B4-BE49-F238E27FC236}">
                <a16:creationId xmlns:a16="http://schemas.microsoft.com/office/drawing/2014/main" id="{A2D5A956-E74E-4F46-897C-5E44029E5612}"/>
              </a:ext>
            </a:extLst>
          </p:cNvPr>
          <p:cNvSpPr/>
          <p:nvPr/>
        </p:nvSpPr>
        <p:spPr>
          <a:xfrm>
            <a:off x="2509712" y="3214730"/>
            <a:ext cx="2309311"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EF0CA154-EBA0-4988-B83A-A8286762C64B}"/>
              </a:ext>
            </a:extLst>
          </p:cNvPr>
          <p:cNvSpPr/>
          <p:nvPr/>
        </p:nvSpPr>
        <p:spPr>
          <a:xfrm>
            <a:off x="2512817" y="2444897"/>
            <a:ext cx="2309311"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372A1051-4C77-41E9-80C7-8131F7CDCB6F}"/>
              </a:ext>
            </a:extLst>
          </p:cNvPr>
          <p:cNvSpPr txBox="1"/>
          <p:nvPr/>
        </p:nvSpPr>
        <p:spPr>
          <a:xfrm>
            <a:off x="2543779" y="3259892"/>
            <a:ext cx="2241175" cy="169277"/>
          </a:xfrm>
          <a:prstGeom prst="rect">
            <a:avLst/>
          </a:prstGeom>
          <a:noFill/>
        </p:spPr>
        <p:txBody>
          <a:bodyPr wrap="square" lIns="0" tIns="0" rIns="0" bIns="0" rtlCol="0">
            <a:spAutoFit/>
          </a:bodyPr>
          <a:lstStyle/>
          <a:p>
            <a:pPr algn="l"/>
            <a:r>
              <a:rPr lang="en-US" sz="1100" b="0" i="0" dirty="0">
                <a:solidFill>
                  <a:schemeClr val="bg2"/>
                </a:solidFill>
                <a:latin typeface="BentonSans Light" panose="02000503000000020004" pitchFamily="2" charset="0"/>
              </a:rPr>
              <a:t>If Nationality in High risk country</a:t>
            </a:r>
          </a:p>
        </p:txBody>
      </p:sp>
      <p:sp>
        <p:nvSpPr>
          <p:cNvPr id="6" name="TextBox 5">
            <a:extLst>
              <a:ext uri="{FF2B5EF4-FFF2-40B4-BE49-F238E27FC236}">
                <a16:creationId xmlns:a16="http://schemas.microsoft.com/office/drawing/2014/main" id="{0F0073D2-FE6D-4879-B7E8-9A3C3A92BD2C}"/>
              </a:ext>
            </a:extLst>
          </p:cNvPr>
          <p:cNvSpPr txBox="1"/>
          <p:nvPr/>
        </p:nvSpPr>
        <p:spPr>
          <a:xfrm>
            <a:off x="2539260" y="2482988"/>
            <a:ext cx="2309311"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If Nationality in Medium risk country</a:t>
            </a:r>
          </a:p>
        </p:txBody>
      </p:sp>
      <p:sp>
        <p:nvSpPr>
          <p:cNvPr id="45" name="Arrow: Right 44">
            <a:extLst>
              <a:ext uri="{FF2B5EF4-FFF2-40B4-BE49-F238E27FC236}">
                <a16:creationId xmlns:a16="http://schemas.microsoft.com/office/drawing/2014/main" id="{52AF207E-81F1-488F-9EC1-A86E3EA7A75E}"/>
              </a:ext>
            </a:extLst>
          </p:cNvPr>
          <p:cNvSpPr/>
          <p:nvPr/>
        </p:nvSpPr>
        <p:spPr>
          <a:xfrm>
            <a:off x="4494953" y="2898506"/>
            <a:ext cx="587828" cy="289249"/>
          </a:xfrm>
          <a:prstGeom prst="rightArrow">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TextBox 45">
            <a:extLst>
              <a:ext uri="{FF2B5EF4-FFF2-40B4-BE49-F238E27FC236}">
                <a16:creationId xmlns:a16="http://schemas.microsoft.com/office/drawing/2014/main" id="{8ABE29E1-79D8-46C9-BF88-38D6634E5C26}"/>
              </a:ext>
            </a:extLst>
          </p:cNvPr>
          <p:cNvSpPr txBox="1"/>
          <p:nvPr/>
        </p:nvSpPr>
        <p:spPr>
          <a:xfrm>
            <a:off x="4539963" y="2979100"/>
            <a:ext cx="455661"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Result in</a:t>
            </a:r>
          </a:p>
        </p:txBody>
      </p:sp>
      <p:sp>
        <p:nvSpPr>
          <p:cNvPr id="47" name="Rectangle 46">
            <a:extLst>
              <a:ext uri="{FF2B5EF4-FFF2-40B4-BE49-F238E27FC236}">
                <a16:creationId xmlns:a16="http://schemas.microsoft.com/office/drawing/2014/main" id="{37F42435-2D76-40CF-A2CF-085CC6AE7D74}"/>
              </a:ext>
            </a:extLst>
          </p:cNvPr>
          <p:cNvSpPr/>
          <p:nvPr/>
        </p:nvSpPr>
        <p:spPr>
          <a:xfrm>
            <a:off x="5203035" y="2903208"/>
            <a:ext cx="587828" cy="261097"/>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2</a:t>
            </a:r>
          </a:p>
        </p:txBody>
      </p:sp>
      <p:sp>
        <p:nvSpPr>
          <p:cNvPr id="49" name="Arrow: Right 48">
            <a:extLst>
              <a:ext uri="{FF2B5EF4-FFF2-40B4-BE49-F238E27FC236}">
                <a16:creationId xmlns:a16="http://schemas.microsoft.com/office/drawing/2014/main" id="{E403F5A9-00F4-48C6-AB30-78379F845EDE}"/>
              </a:ext>
            </a:extLst>
          </p:cNvPr>
          <p:cNvSpPr/>
          <p:nvPr/>
        </p:nvSpPr>
        <p:spPr>
          <a:xfrm>
            <a:off x="4489610" y="2128493"/>
            <a:ext cx="587828" cy="289249"/>
          </a:xfrm>
          <a:prstGeom prst="rightArrow">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TextBox 49">
            <a:extLst>
              <a:ext uri="{FF2B5EF4-FFF2-40B4-BE49-F238E27FC236}">
                <a16:creationId xmlns:a16="http://schemas.microsoft.com/office/drawing/2014/main" id="{ED564F48-7681-49B8-AEDE-8259124D1E1B}"/>
              </a:ext>
            </a:extLst>
          </p:cNvPr>
          <p:cNvSpPr txBox="1"/>
          <p:nvPr/>
        </p:nvSpPr>
        <p:spPr>
          <a:xfrm>
            <a:off x="4534620" y="2209087"/>
            <a:ext cx="455661"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Result in</a:t>
            </a:r>
          </a:p>
        </p:txBody>
      </p:sp>
      <p:sp>
        <p:nvSpPr>
          <p:cNvPr id="51" name="Rectangle 50">
            <a:extLst>
              <a:ext uri="{FF2B5EF4-FFF2-40B4-BE49-F238E27FC236}">
                <a16:creationId xmlns:a16="http://schemas.microsoft.com/office/drawing/2014/main" id="{98BF5FA1-A863-4C4B-AA59-AAFD15FBF703}"/>
              </a:ext>
            </a:extLst>
          </p:cNvPr>
          <p:cNvSpPr/>
          <p:nvPr/>
        </p:nvSpPr>
        <p:spPr>
          <a:xfrm>
            <a:off x="5197692" y="2142712"/>
            <a:ext cx="587828" cy="265830"/>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1</a:t>
            </a:r>
          </a:p>
        </p:txBody>
      </p:sp>
      <p:sp>
        <p:nvSpPr>
          <p:cNvPr id="7" name="TextBox 6">
            <a:extLst>
              <a:ext uri="{FF2B5EF4-FFF2-40B4-BE49-F238E27FC236}">
                <a16:creationId xmlns:a16="http://schemas.microsoft.com/office/drawing/2014/main" id="{1251F645-02E3-4132-AD0B-4818ED235126}"/>
              </a:ext>
            </a:extLst>
          </p:cNvPr>
          <p:cNvSpPr txBox="1"/>
          <p:nvPr/>
        </p:nvSpPr>
        <p:spPr>
          <a:xfrm>
            <a:off x="2507034" y="1789854"/>
            <a:ext cx="5919514" cy="246221"/>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Customers Nationality                      </a:t>
            </a:r>
            <a:r>
              <a:rPr lang="en-US" sz="1600" b="0" i="0" dirty="0">
                <a:solidFill>
                  <a:schemeClr val="bg2"/>
                </a:solidFill>
                <a:latin typeface="BentonSans Light" panose="02000503000000020004" pitchFamily="2" charset="0"/>
              </a:rPr>
              <a:t>=       </a:t>
            </a:r>
            <a:r>
              <a:rPr lang="en-US" sz="1400" b="0" i="0" dirty="0">
                <a:solidFill>
                  <a:schemeClr val="bg2"/>
                </a:solidFill>
                <a:latin typeface="BentonSans Light" panose="02000503000000020004" pitchFamily="2" charset="0"/>
              </a:rPr>
              <a:t>India		Country Risk = </a:t>
            </a:r>
            <a:r>
              <a:rPr lang="en-US" sz="1400" b="0" i="0" dirty="0">
                <a:solidFill>
                  <a:srgbClr val="C00000"/>
                </a:solidFill>
                <a:latin typeface="BentonSans Light" panose="02000503000000020004" pitchFamily="2" charset="0"/>
              </a:rPr>
              <a:t>High</a:t>
            </a:r>
          </a:p>
        </p:txBody>
      </p:sp>
      <p:sp>
        <p:nvSpPr>
          <p:cNvPr id="9" name="Rectangle: Rounded Corners 8">
            <a:extLst>
              <a:ext uri="{FF2B5EF4-FFF2-40B4-BE49-F238E27FC236}">
                <a16:creationId xmlns:a16="http://schemas.microsoft.com/office/drawing/2014/main" id="{E5411CAA-43D2-4E53-8262-B6F59C39BB01}"/>
              </a:ext>
            </a:extLst>
          </p:cNvPr>
          <p:cNvSpPr/>
          <p:nvPr/>
        </p:nvSpPr>
        <p:spPr>
          <a:xfrm>
            <a:off x="2383718" y="2781759"/>
            <a:ext cx="5459506" cy="774597"/>
          </a:xfrm>
          <a:prstGeom prst="round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32A39A7-D14A-40C5-8764-1A6504F24AE1}"/>
              </a:ext>
            </a:extLst>
          </p:cNvPr>
          <p:cNvSpPr txBox="1"/>
          <p:nvPr/>
        </p:nvSpPr>
        <p:spPr>
          <a:xfrm>
            <a:off x="6808082" y="2979100"/>
            <a:ext cx="833717" cy="276999"/>
          </a:xfrm>
          <a:prstGeom prst="rect">
            <a:avLst/>
          </a:prstGeom>
          <a:noFill/>
        </p:spPr>
        <p:txBody>
          <a:bodyPr wrap="square" lIns="0" tIns="0" rIns="0" bIns="0" rtlCol="0">
            <a:spAutoFit/>
          </a:bodyPr>
          <a:lstStyle/>
          <a:p>
            <a:pPr algn="l"/>
            <a:r>
              <a:rPr lang="en-US" b="0" i="0" dirty="0">
                <a:solidFill>
                  <a:schemeClr val="bg2"/>
                </a:solidFill>
                <a:latin typeface="BentonSans Light" panose="02000503000000020004" pitchFamily="2" charset="0"/>
              </a:rPr>
              <a:t>TRUE</a:t>
            </a:r>
          </a:p>
        </p:txBody>
      </p:sp>
      <p:sp>
        <p:nvSpPr>
          <p:cNvPr id="57" name="Rectangle 56">
            <a:extLst>
              <a:ext uri="{FF2B5EF4-FFF2-40B4-BE49-F238E27FC236}">
                <a16:creationId xmlns:a16="http://schemas.microsoft.com/office/drawing/2014/main" id="{BF66438E-403C-4F15-AB44-7A7DFB9947C4}"/>
              </a:ext>
            </a:extLst>
          </p:cNvPr>
          <p:cNvSpPr/>
          <p:nvPr/>
        </p:nvSpPr>
        <p:spPr>
          <a:xfrm>
            <a:off x="2514686" y="2120549"/>
            <a:ext cx="1760620" cy="286336"/>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Rule Set 1</a:t>
            </a:r>
          </a:p>
        </p:txBody>
      </p:sp>
      <p:sp>
        <p:nvSpPr>
          <p:cNvPr id="3" name="TextBox 2">
            <a:extLst>
              <a:ext uri="{FF2B5EF4-FFF2-40B4-BE49-F238E27FC236}">
                <a16:creationId xmlns:a16="http://schemas.microsoft.com/office/drawing/2014/main" id="{B1AF79BB-30F1-4B02-99CE-EF25E1FCCA43}"/>
              </a:ext>
            </a:extLst>
          </p:cNvPr>
          <p:cNvSpPr txBox="1"/>
          <p:nvPr/>
        </p:nvSpPr>
        <p:spPr>
          <a:xfrm>
            <a:off x="935500" y="695140"/>
            <a:ext cx="3532025" cy="276999"/>
          </a:xfrm>
          <a:prstGeom prst="rect">
            <a:avLst/>
          </a:prstGeom>
          <a:noFill/>
        </p:spPr>
        <p:txBody>
          <a:bodyPr wrap="square" lIns="0" tIns="0" rIns="0" bIns="0" rtlCol="0">
            <a:spAutoFit/>
          </a:bodyPr>
          <a:lstStyle/>
          <a:p>
            <a:pPr algn="l"/>
            <a:r>
              <a:rPr lang="en-US" b="1" i="0" dirty="0">
                <a:solidFill>
                  <a:schemeClr val="bg2"/>
                </a:solidFill>
                <a:latin typeface="BentonSans Light" panose="02000503000000020004" pitchFamily="2" charset="0"/>
              </a:rPr>
              <a:t>Element Name : </a:t>
            </a:r>
            <a:r>
              <a:rPr lang="en-US" b="0" i="0" dirty="0">
                <a:solidFill>
                  <a:schemeClr val="bg2"/>
                </a:solidFill>
                <a:latin typeface="BentonSans Light" panose="02000503000000020004" pitchFamily="2" charset="0"/>
              </a:rPr>
              <a:t>Nationality</a:t>
            </a:r>
          </a:p>
        </p:txBody>
      </p:sp>
      <p:sp>
        <p:nvSpPr>
          <p:cNvPr id="34" name="Rectangle 33">
            <a:extLst>
              <a:ext uri="{FF2B5EF4-FFF2-40B4-BE49-F238E27FC236}">
                <a16:creationId xmlns:a16="http://schemas.microsoft.com/office/drawing/2014/main" id="{0207D5BF-74F5-4DCB-9AFE-689BE1C91E48}"/>
              </a:ext>
            </a:extLst>
          </p:cNvPr>
          <p:cNvSpPr/>
          <p:nvPr/>
        </p:nvSpPr>
        <p:spPr>
          <a:xfrm>
            <a:off x="1229063" y="1403996"/>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Weighting Value</a:t>
            </a:r>
          </a:p>
        </p:txBody>
      </p:sp>
      <p:sp>
        <p:nvSpPr>
          <p:cNvPr id="35" name="TextBox 34">
            <a:extLst>
              <a:ext uri="{FF2B5EF4-FFF2-40B4-BE49-F238E27FC236}">
                <a16:creationId xmlns:a16="http://schemas.microsoft.com/office/drawing/2014/main" id="{DA6F18E1-B20E-41E0-A1D7-98CF47734414}"/>
              </a:ext>
            </a:extLst>
          </p:cNvPr>
          <p:cNvSpPr txBox="1"/>
          <p:nvPr/>
        </p:nvSpPr>
        <p:spPr>
          <a:xfrm>
            <a:off x="3833311" y="1414481"/>
            <a:ext cx="942670"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60	</a:t>
            </a:r>
            <a:endParaRPr lang="en-US" b="0" i="0" dirty="0">
              <a:solidFill>
                <a:schemeClr val="bg2"/>
              </a:solidFill>
              <a:latin typeface="BentonSans Light" panose="02000503000000020004" pitchFamily="2" charset="0"/>
            </a:endParaRPr>
          </a:p>
        </p:txBody>
      </p:sp>
      <p:sp>
        <p:nvSpPr>
          <p:cNvPr id="38" name="Rectangle 37">
            <a:extLst>
              <a:ext uri="{FF2B5EF4-FFF2-40B4-BE49-F238E27FC236}">
                <a16:creationId xmlns:a16="http://schemas.microsoft.com/office/drawing/2014/main" id="{57FCC28C-77EE-4AB7-A94D-0AB034913573}"/>
              </a:ext>
            </a:extLst>
          </p:cNvPr>
          <p:cNvSpPr/>
          <p:nvPr/>
        </p:nvSpPr>
        <p:spPr>
          <a:xfrm>
            <a:off x="1229062" y="1036856"/>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Market Applicability</a:t>
            </a:r>
          </a:p>
        </p:txBody>
      </p:sp>
      <p:sp>
        <p:nvSpPr>
          <p:cNvPr id="48" name="TextBox 47">
            <a:extLst>
              <a:ext uri="{FF2B5EF4-FFF2-40B4-BE49-F238E27FC236}">
                <a16:creationId xmlns:a16="http://schemas.microsoft.com/office/drawing/2014/main" id="{30D4CD6A-112E-41C2-9D7D-E1E504D0F7BE}"/>
              </a:ext>
            </a:extLst>
          </p:cNvPr>
          <p:cNvSpPr txBox="1"/>
          <p:nvPr/>
        </p:nvSpPr>
        <p:spPr>
          <a:xfrm>
            <a:off x="3833310" y="1034882"/>
            <a:ext cx="1870815"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ALL</a:t>
            </a:r>
            <a:endParaRPr lang="en-US" b="0" i="0" dirty="0">
              <a:solidFill>
                <a:schemeClr val="bg2"/>
              </a:solidFill>
              <a:latin typeface="BentonSans Light" panose="02000503000000020004" pitchFamily="2" charset="0"/>
            </a:endParaRPr>
          </a:p>
        </p:txBody>
      </p:sp>
      <p:cxnSp>
        <p:nvCxnSpPr>
          <p:cNvPr id="14" name="Straight Connector 13">
            <a:extLst>
              <a:ext uri="{FF2B5EF4-FFF2-40B4-BE49-F238E27FC236}">
                <a16:creationId xmlns:a16="http://schemas.microsoft.com/office/drawing/2014/main" id="{118FC0A2-9ACA-44C0-8ADB-65DAB657F755}"/>
              </a:ext>
            </a:extLst>
          </p:cNvPr>
          <p:cNvCxnSpPr>
            <a:cxnSpLocks/>
          </p:cNvCxnSpPr>
          <p:nvPr/>
        </p:nvCxnSpPr>
        <p:spPr>
          <a:xfrm>
            <a:off x="1055077" y="1758462"/>
            <a:ext cx="7863840" cy="0"/>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8B595119-1574-4209-B5FD-6AE4DEFEAB48}"/>
              </a:ext>
            </a:extLst>
          </p:cNvPr>
          <p:cNvSpPr/>
          <p:nvPr/>
        </p:nvSpPr>
        <p:spPr>
          <a:xfrm>
            <a:off x="2500858" y="2887015"/>
            <a:ext cx="1760620" cy="286336"/>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Rule Set 2</a:t>
            </a:r>
          </a:p>
        </p:txBody>
      </p:sp>
      <p:cxnSp>
        <p:nvCxnSpPr>
          <p:cNvPr id="53" name="Straight Connector 52">
            <a:extLst>
              <a:ext uri="{FF2B5EF4-FFF2-40B4-BE49-F238E27FC236}">
                <a16:creationId xmlns:a16="http://schemas.microsoft.com/office/drawing/2014/main" id="{C4DDAC12-F3AD-4A1D-933C-577A2A12E6C1}"/>
              </a:ext>
            </a:extLst>
          </p:cNvPr>
          <p:cNvCxnSpPr>
            <a:cxnSpLocks/>
          </p:cNvCxnSpPr>
          <p:nvPr/>
        </p:nvCxnSpPr>
        <p:spPr>
          <a:xfrm>
            <a:off x="1037494" y="3760764"/>
            <a:ext cx="7863840" cy="0"/>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5BDF04D-BFA3-404A-891E-EC225F17711F}"/>
              </a:ext>
            </a:extLst>
          </p:cNvPr>
          <p:cNvSpPr txBox="1"/>
          <p:nvPr/>
        </p:nvSpPr>
        <p:spPr>
          <a:xfrm>
            <a:off x="5262333" y="2010759"/>
            <a:ext cx="605490"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Multiplier</a:t>
            </a:r>
          </a:p>
        </p:txBody>
      </p:sp>
      <p:sp>
        <p:nvSpPr>
          <p:cNvPr id="54" name="TextBox 53">
            <a:extLst>
              <a:ext uri="{FF2B5EF4-FFF2-40B4-BE49-F238E27FC236}">
                <a16:creationId xmlns:a16="http://schemas.microsoft.com/office/drawing/2014/main" id="{59667AF8-3C47-4652-82D0-4C7CCDD91199}"/>
              </a:ext>
            </a:extLst>
          </p:cNvPr>
          <p:cNvSpPr txBox="1"/>
          <p:nvPr/>
        </p:nvSpPr>
        <p:spPr>
          <a:xfrm>
            <a:off x="5281408" y="2782010"/>
            <a:ext cx="605490"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Multiplier</a:t>
            </a:r>
          </a:p>
        </p:txBody>
      </p:sp>
      <p:sp>
        <p:nvSpPr>
          <p:cNvPr id="59" name="Rectangle 58">
            <a:extLst>
              <a:ext uri="{FF2B5EF4-FFF2-40B4-BE49-F238E27FC236}">
                <a16:creationId xmlns:a16="http://schemas.microsoft.com/office/drawing/2014/main" id="{15F9BAF8-6027-4EC0-9E46-DCE5DE4F5115}"/>
              </a:ext>
            </a:extLst>
          </p:cNvPr>
          <p:cNvSpPr/>
          <p:nvPr/>
        </p:nvSpPr>
        <p:spPr>
          <a:xfrm>
            <a:off x="2387268" y="4529653"/>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Weighting Value</a:t>
            </a:r>
          </a:p>
        </p:txBody>
      </p:sp>
      <p:sp>
        <p:nvSpPr>
          <p:cNvPr id="60" name="TextBox 59">
            <a:extLst>
              <a:ext uri="{FF2B5EF4-FFF2-40B4-BE49-F238E27FC236}">
                <a16:creationId xmlns:a16="http://schemas.microsoft.com/office/drawing/2014/main" id="{47DC12D1-669C-4EC2-81F9-0C69EC686CE8}"/>
              </a:ext>
            </a:extLst>
          </p:cNvPr>
          <p:cNvSpPr txBox="1"/>
          <p:nvPr/>
        </p:nvSpPr>
        <p:spPr>
          <a:xfrm>
            <a:off x="4945887" y="4524236"/>
            <a:ext cx="632892"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60  *</a:t>
            </a:r>
            <a:endParaRPr lang="en-US" b="0" i="0" dirty="0">
              <a:solidFill>
                <a:schemeClr val="bg2"/>
              </a:solidFill>
              <a:latin typeface="BentonSans Light" panose="02000503000000020004" pitchFamily="2" charset="0"/>
            </a:endParaRPr>
          </a:p>
        </p:txBody>
      </p:sp>
      <p:sp>
        <p:nvSpPr>
          <p:cNvPr id="61" name="Rectangle 60">
            <a:extLst>
              <a:ext uri="{FF2B5EF4-FFF2-40B4-BE49-F238E27FC236}">
                <a16:creationId xmlns:a16="http://schemas.microsoft.com/office/drawing/2014/main" id="{F704183D-31B2-4A0F-9225-74B9DA098843}"/>
              </a:ext>
            </a:extLst>
          </p:cNvPr>
          <p:cNvSpPr/>
          <p:nvPr/>
        </p:nvSpPr>
        <p:spPr>
          <a:xfrm>
            <a:off x="5814157" y="4540138"/>
            <a:ext cx="587828" cy="261097"/>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2</a:t>
            </a:r>
          </a:p>
        </p:txBody>
      </p:sp>
      <p:sp>
        <p:nvSpPr>
          <p:cNvPr id="62" name="TextBox 61">
            <a:extLst>
              <a:ext uri="{FF2B5EF4-FFF2-40B4-BE49-F238E27FC236}">
                <a16:creationId xmlns:a16="http://schemas.microsoft.com/office/drawing/2014/main" id="{3FF7916A-479C-4344-8B64-E32AAF6C9231}"/>
              </a:ext>
            </a:extLst>
          </p:cNvPr>
          <p:cNvSpPr txBox="1"/>
          <p:nvPr/>
        </p:nvSpPr>
        <p:spPr>
          <a:xfrm>
            <a:off x="5831819" y="4339877"/>
            <a:ext cx="605490" cy="153888"/>
          </a:xfrm>
          <a:prstGeom prst="rect">
            <a:avLst/>
          </a:prstGeom>
          <a:noFill/>
        </p:spPr>
        <p:txBody>
          <a:bodyPr wrap="square" lIns="0" tIns="0" rIns="0" bIns="0" rtlCol="0">
            <a:spAutoFit/>
          </a:bodyPr>
          <a:lstStyle/>
          <a:p>
            <a:pPr algn="l"/>
            <a:r>
              <a:rPr lang="en-US" sz="1000" b="0" i="0" dirty="0">
                <a:solidFill>
                  <a:schemeClr val="bg2"/>
                </a:solidFill>
                <a:latin typeface="BentonSans Light" panose="02000503000000020004" pitchFamily="2" charset="0"/>
              </a:rPr>
              <a:t>Multiplier</a:t>
            </a:r>
          </a:p>
        </p:txBody>
      </p:sp>
      <p:sp>
        <p:nvSpPr>
          <p:cNvPr id="63" name="TextBox 62">
            <a:extLst>
              <a:ext uri="{FF2B5EF4-FFF2-40B4-BE49-F238E27FC236}">
                <a16:creationId xmlns:a16="http://schemas.microsoft.com/office/drawing/2014/main" id="{B616A895-0099-4183-9205-CD6A3986F39A}"/>
              </a:ext>
            </a:extLst>
          </p:cNvPr>
          <p:cNvSpPr txBox="1"/>
          <p:nvPr/>
        </p:nvSpPr>
        <p:spPr>
          <a:xfrm>
            <a:off x="6604056" y="4535935"/>
            <a:ext cx="931593"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a:t>
            </a:r>
            <a:r>
              <a:rPr lang="en-US" b="1" dirty="0">
                <a:solidFill>
                  <a:srgbClr val="C00000"/>
                </a:solidFill>
                <a:latin typeface="BentonSans Light" panose="02000503000000020004" pitchFamily="2" charset="0"/>
              </a:rPr>
              <a:t>120</a:t>
            </a:r>
            <a:endParaRPr lang="en-US" b="1" i="0" dirty="0">
              <a:solidFill>
                <a:srgbClr val="C00000"/>
              </a:solidFill>
              <a:latin typeface="BentonSans Light" panose="02000503000000020004" pitchFamily="2" charset="0"/>
            </a:endParaRPr>
          </a:p>
        </p:txBody>
      </p:sp>
      <p:sp>
        <p:nvSpPr>
          <p:cNvPr id="18" name="TextBox 17">
            <a:extLst>
              <a:ext uri="{FF2B5EF4-FFF2-40B4-BE49-F238E27FC236}">
                <a16:creationId xmlns:a16="http://schemas.microsoft.com/office/drawing/2014/main" id="{2D839199-CC84-468B-A95B-5B0B85274F1B}"/>
              </a:ext>
            </a:extLst>
          </p:cNvPr>
          <p:cNvSpPr txBox="1"/>
          <p:nvPr/>
        </p:nvSpPr>
        <p:spPr>
          <a:xfrm>
            <a:off x="1052888" y="3841962"/>
            <a:ext cx="1454146"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Element Score</a:t>
            </a:r>
          </a:p>
        </p:txBody>
      </p:sp>
      <p:sp>
        <p:nvSpPr>
          <p:cNvPr id="116" name="TextBox 115">
            <a:extLst>
              <a:ext uri="{FF2B5EF4-FFF2-40B4-BE49-F238E27FC236}">
                <a16:creationId xmlns:a16="http://schemas.microsoft.com/office/drawing/2014/main" id="{C21E63C5-574F-499C-90C5-CCAAA9F35926}"/>
              </a:ext>
            </a:extLst>
          </p:cNvPr>
          <p:cNvSpPr txBox="1"/>
          <p:nvPr/>
        </p:nvSpPr>
        <p:spPr>
          <a:xfrm>
            <a:off x="1052888" y="1806827"/>
            <a:ext cx="1454146"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Element Rule</a:t>
            </a:r>
          </a:p>
        </p:txBody>
      </p:sp>
      <p:sp>
        <p:nvSpPr>
          <p:cNvPr id="19" name="TextBox 18">
            <a:extLst>
              <a:ext uri="{FF2B5EF4-FFF2-40B4-BE49-F238E27FC236}">
                <a16:creationId xmlns:a16="http://schemas.microsoft.com/office/drawing/2014/main" id="{27BF085C-8ADE-475E-B67D-7288AF94B329}"/>
              </a:ext>
            </a:extLst>
          </p:cNvPr>
          <p:cNvSpPr txBox="1"/>
          <p:nvPr/>
        </p:nvSpPr>
        <p:spPr>
          <a:xfrm>
            <a:off x="2813538" y="3862170"/>
            <a:ext cx="4507544" cy="369332"/>
          </a:xfrm>
          <a:prstGeom prst="rect">
            <a:avLst/>
          </a:prstGeom>
          <a:noFill/>
        </p:spPr>
        <p:txBody>
          <a:bodyPr wrap="square" lIns="0" tIns="0" rIns="0" bIns="0" rtlCol="0">
            <a:spAutoFit/>
          </a:bodyPr>
          <a:lstStyle/>
          <a:p>
            <a:pPr algn="l"/>
            <a:r>
              <a:rPr lang="en-US" sz="1200" b="0" i="0" dirty="0">
                <a:solidFill>
                  <a:schemeClr val="bg2"/>
                </a:solidFill>
                <a:latin typeface="BentonSans Light" panose="02000503000000020004" pitchFamily="2" charset="0"/>
              </a:rPr>
              <a:t>The risk score for this element is the product of the Weighting Value multiplied by the Multiplier returned from the Rule Set</a:t>
            </a:r>
          </a:p>
        </p:txBody>
      </p:sp>
      <p:sp>
        <p:nvSpPr>
          <p:cNvPr id="20" name="TextBox 19">
            <a:extLst>
              <a:ext uri="{FF2B5EF4-FFF2-40B4-BE49-F238E27FC236}">
                <a16:creationId xmlns:a16="http://schemas.microsoft.com/office/drawing/2014/main" id="{3A0EA799-EF38-47FA-8871-706A805D9111}"/>
              </a:ext>
            </a:extLst>
          </p:cNvPr>
          <p:cNvSpPr txBox="1"/>
          <p:nvPr/>
        </p:nvSpPr>
        <p:spPr>
          <a:xfrm>
            <a:off x="1586530" y="2664882"/>
            <a:ext cx="386862"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OR</a:t>
            </a:r>
          </a:p>
        </p:txBody>
      </p:sp>
      <p:sp>
        <p:nvSpPr>
          <p:cNvPr id="117" name="Rectangle 116">
            <a:extLst>
              <a:ext uri="{FF2B5EF4-FFF2-40B4-BE49-F238E27FC236}">
                <a16:creationId xmlns:a16="http://schemas.microsoft.com/office/drawing/2014/main" id="{0A95579C-EA66-44E1-9D05-0321EB1CB507}"/>
              </a:ext>
            </a:extLst>
          </p:cNvPr>
          <p:cNvSpPr/>
          <p:nvPr/>
        </p:nvSpPr>
        <p:spPr>
          <a:xfrm>
            <a:off x="5132932" y="1022030"/>
            <a:ext cx="2309311" cy="273274"/>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High/Low Precedence</a:t>
            </a:r>
          </a:p>
        </p:txBody>
      </p:sp>
      <p:sp>
        <p:nvSpPr>
          <p:cNvPr id="118" name="TextBox 117">
            <a:extLst>
              <a:ext uri="{FF2B5EF4-FFF2-40B4-BE49-F238E27FC236}">
                <a16:creationId xmlns:a16="http://schemas.microsoft.com/office/drawing/2014/main" id="{D88DC590-1509-47BE-AA70-DAB372DE0079}"/>
              </a:ext>
            </a:extLst>
          </p:cNvPr>
          <p:cNvSpPr txBox="1"/>
          <p:nvPr/>
        </p:nvSpPr>
        <p:spPr>
          <a:xfrm>
            <a:off x="7761732" y="1029439"/>
            <a:ext cx="1022291"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HIGH</a:t>
            </a:r>
            <a:endParaRPr lang="en-US" b="0" i="0" dirty="0">
              <a:solidFill>
                <a:schemeClr val="bg2"/>
              </a:solidFill>
              <a:latin typeface="BentonSans Light" panose="02000503000000020004" pitchFamily="2" charset="0"/>
            </a:endParaRPr>
          </a:p>
        </p:txBody>
      </p:sp>
      <p:sp>
        <p:nvSpPr>
          <p:cNvPr id="26" name="Slide Number Placeholder 25">
            <a:extLst>
              <a:ext uri="{FF2B5EF4-FFF2-40B4-BE49-F238E27FC236}">
                <a16:creationId xmlns:a16="http://schemas.microsoft.com/office/drawing/2014/main" id="{64021B55-02C9-4D21-B631-004E3D20BB63}"/>
              </a:ext>
            </a:extLst>
          </p:cNvPr>
          <p:cNvSpPr>
            <a:spLocks noGrp="1"/>
          </p:cNvSpPr>
          <p:nvPr>
            <p:ph type="sldNum" sz="quarter" idx="10"/>
          </p:nvPr>
        </p:nvSpPr>
        <p:spPr/>
        <p:txBody>
          <a:bodyPr/>
          <a:lstStyle/>
          <a:p>
            <a:pPr>
              <a:defRPr/>
            </a:pPr>
            <a:fld id="{920384AA-0A71-E644-AEED-65CD2253F2C8}" type="slidenum">
              <a:rPr lang="en-US" smtClean="0"/>
              <a:pPr>
                <a:defRPr/>
              </a:pPr>
              <a:t>8</a:t>
            </a:fld>
            <a:endParaRPr lang="en-US" dirty="0"/>
          </a:p>
        </p:txBody>
      </p:sp>
    </p:spTree>
    <p:extLst>
      <p:ext uri="{BB962C8B-B14F-4D97-AF65-F5344CB8AC3E}">
        <p14:creationId xmlns:p14="http://schemas.microsoft.com/office/powerpoint/2010/main" val="206228159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3">
            <a:extLst>
              <a:ext uri="{FF2B5EF4-FFF2-40B4-BE49-F238E27FC236}">
                <a16:creationId xmlns:a16="http://schemas.microsoft.com/office/drawing/2014/main" id="{D0648009-C2CE-4504-88DB-CD84CF284489}"/>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solidFill>
                  <a:prstClr val="black">
                    <a:tint val="75000"/>
                  </a:prstClr>
                </a:solidFill>
                <a:latin typeface="Calibri" panose="020F0502020204030204"/>
              </a:rPr>
              <a:t>AXP Internal</a:t>
            </a:r>
          </a:p>
        </p:txBody>
      </p:sp>
      <p:sp>
        <p:nvSpPr>
          <p:cNvPr id="24" name="Date Placeholder 4">
            <a:extLst>
              <a:ext uri="{FF2B5EF4-FFF2-40B4-BE49-F238E27FC236}">
                <a16:creationId xmlns:a16="http://schemas.microsoft.com/office/drawing/2014/main" id="{1ED79B33-D9AF-441C-9B6C-F78D2D23BB1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A46D4F4E-B233-4BBE-8215-EE798DD53D74}" type="datetime5">
              <a:rPr lang="en-US" smtClean="0">
                <a:solidFill>
                  <a:prstClr val="black">
                    <a:tint val="75000"/>
                  </a:prstClr>
                </a:solidFill>
                <a:latin typeface="Calibri" panose="020F0502020204030204"/>
              </a:rPr>
              <a:pPr fontAlgn="auto">
                <a:spcBef>
                  <a:spcPts val="0"/>
                </a:spcBef>
                <a:spcAft>
                  <a:spcPts val="0"/>
                </a:spcAft>
              </a:pPr>
              <a:t>1-Apr-22</a:t>
            </a:fld>
            <a:endParaRPr lang="en-US">
              <a:solidFill>
                <a:prstClr val="black">
                  <a:tint val="75000"/>
                </a:prstClr>
              </a:solidFill>
              <a:latin typeface="Calibri" panose="020F0502020204030204"/>
            </a:endParaRPr>
          </a:p>
        </p:txBody>
      </p:sp>
      <p:sp>
        <p:nvSpPr>
          <p:cNvPr id="25" name="Slide Number Placeholder 5">
            <a:extLst>
              <a:ext uri="{FF2B5EF4-FFF2-40B4-BE49-F238E27FC236}">
                <a16:creationId xmlns:a16="http://schemas.microsoft.com/office/drawing/2014/main" id="{7A80D6DF-05C5-4927-B491-CC6D1C14BE3F}"/>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0842897F-5191-4E88-9CA8-D5AD207F07AB}" type="slidenum">
              <a:rPr lang="en-US" smtClean="0">
                <a:solidFill>
                  <a:prstClr val="black">
                    <a:tint val="75000"/>
                  </a:prstClr>
                </a:solidFill>
                <a:latin typeface="Calibri" panose="020F0502020204030204"/>
              </a:rPr>
              <a:pPr fontAlgn="auto">
                <a:spcBef>
                  <a:spcPts val="0"/>
                </a:spcBef>
                <a:spcAft>
                  <a:spcPts val="0"/>
                </a:spcAft>
              </a:pPr>
              <a:t>9</a:t>
            </a:fld>
            <a:endParaRPr lang="en-US">
              <a:solidFill>
                <a:prstClr val="black">
                  <a:tint val="75000"/>
                </a:prstClr>
              </a:solidFill>
              <a:latin typeface="Calibri" panose="020F0502020204030204"/>
            </a:endParaRPr>
          </a:p>
        </p:txBody>
      </p:sp>
      <p:sp>
        <p:nvSpPr>
          <p:cNvPr id="37" name="TextBox 36">
            <a:extLst>
              <a:ext uri="{FF2B5EF4-FFF2-40B4-BE49-F238E27FC236}">
                <a16:creationId xmlns:a16="http://schemas.microsoft.com/office/drawing/2014/main" id="{F405B3E8-739C-4C6B-B394-C3044A0F685D}"/>
              </a:ext>
            </a:extLst>
          </p:cNvPr>
          <p:cNvSpPr txBox="1"/>
          <p:nvPr/>
        </p:nvSpPr>
        <p:spPr>
          <a:xfrm>
            <a:off x="838200" y="125905"/>
            <a:ext cx="10263499" cy="458267"/>
          </a:xfrm>
          <a:prstGeom prst="rect">
            <a:avLst/>
          </a:prstGeom>
          <a:noFill/>
        </p:spPr>
        <p:txBody>
          <a:bodyPr wrap="square" rtlCol="0">
            <a:spAutoFit/>
          </a:bodyPr>
          <a:lstStyle/>
          <a:p>
            <a:pPr defTabSz="342900">
              <a:lnSpc>
                <a:spcPct val="82000"/>
              </a:lnSpc>
            </a:pPr>
            <a:r>
              <a:rPr lang="en-US" sz="2900" dirty="0">
                <a:latin typeface="Guardian Egyp Regular" panose="02060503050503060803" pitchFamily="18" charset="77"/>
              </a:rPr>
              <a:t>Risk Element example 2</a:t>
            </a:r>
          </a:p>
        </p:txBody>
      </p:sp>
      <p:sp>
        <p:nvSpPr>
          <p:cNvPr id="42" name="Rectangle 41">
            <a:extLst>
              <a:ext uri="{FF2B5EF4-FFF2-40B4-BE49-F238E27FC236}">
                <a16:creationId xmlns:a16="http://schemas.microsoft.com/office/drawing/2014/main" id="{A2D5A956-E74E-4F46-897C-5E44029E5612}"/>
              </a:ext>
            </a:extLst>
          </p:cNvPr>
          <p:cNvSpPr/>
          <p:nvPr/>
        </p:nvSpPr>
        <p:spPr>
          <a:xfrm>
            <a:off x="2507033" y="2588717"/>
            <a:ext cx="2747647"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EF0CA154-EBA0-4988-B83A-A8286762C64B}"/>
              </a:ext>
            </a:extLst>
          </p:cNvPr>
          <p:cNvSpPr/>
          <p:nvPr/>
        </p:nvSpPr>
        <p:spPr>
          <a:xfrm>
            <a:off x="2507034" y="2262071"/>
            <a:ext cx="2747646"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0F0073D2-FE6D-4879-B7E8-9A3C3A92BD2C}"/>
              </a:ext>
            </a:extLst>
          </p:cNvPr>
          <p:cNvSpPr txBox="1"/>
          <p:nvPr/>
        </p:nvSpPr>
        <p:spPr>
          <a:xfrm>
            <a:off x="2533477" y="2300162"/>
            <a:ext cx="2723073"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Number of foreign ATM transactions &gt; 5</a:t>
            </a:r>
          </a:p>
        </p:txBody>
      </p:sp>
      <p:sp>
        <p:nvSpPr>
          <p:cNvPr id="49" name="Arrow: Right 48">
            <a:extLst>
              <a:ext uri="{FF2B5EF4-FFF2-40B4-BE49-F238E27FC236}">
                <a16:creationId xmlns:a16="http://schemas.microsoft.com/office/drawing/2014/main" id="{E403F5A9-00F4-48C6-AB30-78379F845EDE}"/>
              </a:ext>
            </a:extLst>
          </p:cNvPr>
          <p:cNvSpPr/>
          <p:nvPr/>
        </p:nvSpPr>
        <p:spPr>
          <a:xfrm>
            <a:off x="4481958" y="1903668"/>
            <a:ext cx="587828" cy="289249"/>
          </a:xfrm>
          <a:prstGeom prst="rightArrow">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TextBox 49">
            <a:extLst>
              <a:ext uri="{FF2B5EF4-FFF2-40B4-BE49-F238E27FC236}">
                <a16:creationId xmlns:a16="http://schemas.microsoft.com/office/drawing/2014/main" id="{ED564F48-7681-49B8-AEDE-8259124D1E1B}"/>
              </a:ext>
            </a:extLst>
          </p:cNvPr>
          <p:cNvSpPr txBox="1"/>
          <p:nvPr/>
        </p:nvSpPr>
        <p:spPr>
          <a:xfrm>
            <a:off x="4526968" y="1984262"/>
            <a:ext cx="455661"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Result in</a:t>
            </a:r>
          </a:p>
        </p:txBody>
      </p:sp>
      <p:sp>
        <p:nvSpPr>
          <p:cNvPr id="51" name="Rectangle 50">
            <a:extLst>
              <a:ext uri="{FF2B5EF4-FFF2-40B4-BE49-F238E27FC236}">
                <a16:creationId xmlns:a16="http://schemas.microsoft.com/office/drawing/2014/main" id="{98BF5FA1-A863-4C4B-AA59-AAFD15FBF703}"/>
              </a:ext>
            </a:extLst>
          </p:cNvPr>
          <p:cNvSpPr/>
          <p:nvPr/>
        </p:nvSpPr>
        <p:spPr>
          <a:xfrm>
            <a:off x="5190040" y="1917887"/>
            <a:ext cx="587828" cy="265830"/>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1</a:t>
            </a:r>
          </a:p>
        </p:txBody>
      </p:sp>
      <p:sp>
        <p:nvSpPr>
          <p:cNvPr id="57" name="Rectangle 56">
            <a:extLst>
              <a:ext uri="{FF2B5EF4-FFF2-40B4-BE49-F238E27FC236}">
                <a16:creationId xmlns:a16="http://schemas.microsoft.com/office/drawing/2014/main" id="{BF66438E-403C-4F15-AB44-7A7DFB9947C4}"/>
              </a:ext>
            </a:extLst>
          </p:cNvPr>
          <p:cNvSpPr/>
          <p:nvPr/>
        </p:nvSpPr>
        <p:spPr>
          <a:xfrm>
            <a:off x="2507034" y="1895724"/>
            <a:ext cx="1760620" cy="286336"/>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Rule Set 1</a:t>
            </a:r>
          </a:p>
        </p:txBody>
      </p:sp>
      <p:sp>
        <p:nvSpPr>
          <p:cNvPr id="3" name="TextBox 2">
            <a:extLst>
              <a:ext uri="{FF2B5EF4-FFF2-40B4-BE49-F238E27FC236}">
                <a16:creationId xmlns:a16="http://schemas.microsoft.com/office/drawing/2014/main" id="{B1AF79BB-30F1-4B02-99CE-EF25E1FCCA43}"/>
              </a:ext>
            </a:extLst>
          </p:cNvPr>
          <p:cNvSpPr txBox="1"/>
          <p:nvPr/>
        </p:nvSpPr>
        <p:spPr>
          <a:xfrm>
            <a:off x="935500" y="695140"/>
            <a:ext cx="6970543" cy="276999"/>
          </a:xfrm>
          <a:prstGeom prst="rect">
            <a:avLst/>
          </a:prstGeom>
          <a:noFill/>
        </p:spPr>
        <p:txBody>
          <a:bodyPr wrap="square" lIns="0" tIns="0" rIns="0" bIns="0" rtlCol="0">
            <a:spAutoFit/>
          </a:bodyPr>
          <a:lstStyle/>
          <a:p>
            <a:pPr algn="l"/>
            <a:r>
              <a:rPr lang="en-US" b="1" i="0" dirty="0">
                <a:solidFill>
                  <a:schemeClr val="bg2"/>
                </a:solidFill>
                <a:latin typeface="BentonSans Light" panose="02000503000000020004" pitchFamily="2" charset="0"/>
              </a:rPr>
              <a:t>Element Name : </a:t>
            </a:r>
            <a:r>
              <a:rPr lang="en-US" b="0" i="0" dirty="0">
                <a:solidFill>
                  <a:schemeClr val="bg2"/>
                </a:solidFill>
                <a:latin typeface="BentonSans Light" panose="02000503000000020004" pitchFamily="2" charset="0"/>
              </a:rPr>
              <a:t>Foreign ATM transactions in the last 6 months</a:t>
            </a:r>
          </a:p>
        </p:txBody>
      </p:sp>
      <p:sp>
        <p:nvSpPr>
          <p:cNvPr id="34" name="Rectangle 33">
            <a:extLst>
              <a:ext uri="{FF2B5EF4-FFF2-40B4-BE49-F238E27FC236}">
                <a16:creationId xmlns:a16="http://schemas.microsoft.com/office/drawing/2014/main" id="{0207D5BF-74F5-4DCB-9AFE-689BE1C91E48}"/>
              </a:ext>
            </a:extLst>
          </p:cNvPr>
          <p:cNvSpPr/>
          <p:nvPr/>
        </p:nvSpPr>
        <p:spPr>
          <a:xfrm>
            <a:off x="1319349" y="1387418"/>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Weighting Value</a:t>
            </a:r>
          </a:p>
        </p:txBody>
      </p:sp>
      <p:sp>
        <p:nvSpPr>
          <p:cNvPr id="35" name="TextBox 34">
            <a:extLst>
              <a:ext uri="{FF2B5EF4-FFF2-40B4-BE49-F238E27FC236}">
                <a16:creationId xmlns:a16="http://schemas.microsoft.com/office/drawing/2014/main" id="{DA6F18E1-B20E-41E0-A1D7-98CF47734414}"/>
              </a:ext>
            </a:extLst>
          </p:cNvPr>
          <p:cNvSpPr txBox="1"/>
          <p:nvPr/>
        </p:nvSpPr>
        <p:spPr>
          <a:xfrm>
            <a:off x="3923597" y="1397903"/>
            <a:ext cx="1125550"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85	</a:t>
            </a:r>
            <a:endParaRPr lang="en-US" b="0" i="0" dirty="0">
              <a:solidFill>
                <a:schemeClr val="bg2"/>
              </a:solidFill>
              <a:latin typeface="BentonSans Light" panose="02000503000000020004" pitchFamily="2" charset="0"/>
            </a:endParaRPr>
          </a:p>
        </p:txBody>
      </p:sp>
      <p:sp>
        <p:nvSpPr>
          <p:cNvPr id="38" name="Rectangle 37">
            <a:extLst>
              <a:ext uri="{FF2B5EF4-FFF2-40B4-BE49-F238E27FC236}">
                <a16:creationId xmlns:a16="http://schemas.microsoft.com/office/drawing/2014/main" id="{57FCC28C-77EE-4AB7-A94D-0AB034913573}"/>
              </a:ext>
            </a:extLst>
          </p:cNvPr>
          <p:cNvSpPr/>
          <p:nvPr/>
        </p:nvSpPr>
        <p:spPr>
          <a:xfrm>
            <a:off x="1319348" y="1020278"/>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Market Applicability</a:t>
            </a:r>
          </a:p>
        </p:txBody>
      </p:sp>
      <p:sp>
        <p:nvSpPr>
          <p:cNvPr id="48" name="TextBox 47">
            <a:extLst>
              <a:ext uri="{FF2B5EF4-FFF2-40B4-BE49-F238E27FC236}">
                <a16:creationId xmlns:a16="http://schemas.microsoft.com/office/drawing/2014/main" id="{30D4CD6A-112E-41C2-9D7D-E1E504D0F7BE}"/>
              </a:ext>
            </a:extLst>
          </p:cNvPr>
          <p:cNvSpPr txBox="1"/>
          <p:nvPr/>
        </p:nvSpPr>
        <p:spPr>
          <a:xfrm>
            <a:off x="3923596" y="1018304"/>
            <a:ext cx="1022291"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ALL</a:t>
            </a:r>
            <a:endParaRPr lang="en-US" b="0" i="0" dirty="0">
              <a:solidFill>
                <a:schemeClr val="bg2"/>
              </a:solidFill>
              <a:latin typeface="BentonSans Light" panose="02000503000000020004" pitchFamily="2" charset="0"/>
            </a:endParaRPr>
          </a:p>
        </p:txBody>
      </p:sp>
      <p:cxnSp>
        <p:nvCxnSpPr>
          <p:cNvPr id="14" name="Straight Connector 13">
            <a:extLst>
              <a:ext uri="{FF2B5EF4-FFF2-40B4-BE49-F238E27FC236}">
                <a16:creationId xmlns:a16="http://schemas.microsoft.com/office/drawing/2014/main" id="{118FC0A2-9ACA-44C0-8ADB-65DAB657F755}"/>
              </a:ext>
            </a:extLst>
          </p:cNvPr>
          <p:cNvCxnSpPr>
            <a:cxnSpLocks/>
          </p:cNvCxnSpPr>
          <p:nvPr/>
        </p:nvCxnSpPr>
        <p:spPr>
          <a:xfrm>
            <a:off x="1055077" y="1758462"/>
            <a:ext cx="7863840"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C4DDAC12-F3AD-4A1D-933C-577A2A12E6C1}"/>
              </a:ext>
            </a:extLst>
          </p:cNvPr>
          <p:cNvCxnSpPr>
            <a:cxnSpLocks/>
          </p:cNvCxnSpPr>
          <p:nvPr/>
        </p:nvCxnSpPr>
        <p:spPr>
          <a:xfrm>
            <a:off x="1013967" y="3985847"/>
            <a:ext cx="7863840" cy="0"/>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5BDF04D-BFA3-404A-891E-EC225F17711F}"/>
              </a:ext>
            </a:extLst>
          </p:cNvPr>
          <p:cNvSpPr txBox="1"/>
          <p:nvPr/>
        </p:nvSpPr>
        <p:spPr>
          <a:xfrm>
            <a:off x="5254681" y="1785934"/>
            <a:ext cx="605490"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Multiplier</a:t>
            </a:r>
          </a:p>
        </p:txBody>
      </p:sp>
      <p:sp>
        <p:nvSpPr>
          <p:cNvPr id="59" name="Rectangle 58">
            <a:extLst>
              <a:ext uri="{FF2B5EF4-FFF2-40B4-BE49-F238E27FC236}">
                <a16:creationId xmlns:a16="http://schemas.microsoft.com/office/drawing/2014/main" id="{15F9BAF8-6027-4EC0-9E46-DCE5DE4F5115}"/>
              </a:ext>
            </a:extLst>
          </p:cNvPr>
          <p:cNvSpPr/>
          <p:nvPr/>
        </p:nvSpPr>
        <p:spPr>
          <a:xfrm>
            <a:off x="2387268" y="4529653"/>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Weighting Value</a:t>
            </a:r>
          </a:p>
        </p:txBody>
      </p:sp>
      <p:sp>
        <p:nvSpPr>
          <p:cNvPr id="60" name="TextBox 59">
            <a:extLst>
              <a:ext uri="{FF2B5EF4-FFF2-40B4-BE49-F238E27FC236}">
                <a16:creationId xmlns:a16="http://schemas.microsoft.com/office/drawing/2014/main" id="{47DC12D1-669C-4EC2-81F9-0C69EC686CE8}"/>
              </a:ext>
            </a:extLst>
          </p:cNvPr>
          <p:cNvSpPr txBox="1"/>
          <p:nvPr/>
        </p:nvSpPr>
        <p:spPr>
          <a:xfrm>
            <a:off x="4945887" y="4524236"/>
            <a:ext cx="632892"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85   *</a:t>
            </a:r>
            <a:endParaRPr lang="en-US" b="0" i="0" dirty="0">
              <a:solidFill>
                <a:schemeClr val="bg2"/>
              </a:solidFill>
              <a:latin typeface="BentonSans Light" panose="02000503000000020004" pitchFamily="2" charset="0"/>
            </a:endParaRPr>
          </a:p>
        </p:txBody>
      </p:sp>
      <p:sp>
        <p:nvSpPr>
          <p:cNvPr id="61" name="Rectangle 60">
            <a:extLst>
              <a:ext uri="{FF2B5EF4-FFF2-40B4-BE49-F238E27FC236}">
                <a16:creationId xmlns:a16="http://schemas.microsoft.com/office/drawing/2014/main" id="{F704183D-31B2-4A0F-9225-74B9DA098843}"/>
              </a:ext>
            </a:extLst>
          </p:cNvPr>
          <p:cNvSpPr/>
          <p:nvPr/>
        </p:nvSpPr>
        <p:spPr>
          <a:xfrm>
            <a:off x="5814157" y="4540138"/>
            <a:ext cx="587828" cy="261097"/>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3</a:t>
            </a:r>
          </a:p>
        </p:txBody>
      </p:sp>
      <p:sp>
        <p:nvSpPr>
          <p:cNvPr id="62" name="TextBox 61">
            <a:extLst>
              <a:ext uri="{FF2B5EF4-FFF2-40B4-BE49-F238E27FC236}">
                <a16:creationId xmlns:a16="http://schemas.microsoft.com/office/drawing/2014/main" id="{3FF7916A-479C-4344-8B64-E32AAF6C9231}"/>
              </a:ext>
            </a:extLst>
          </p:cNvPr>
          <p:cNvSpPr txBox="1"/>
          <p:nvPr/>
        </p:nvSpPr>
        <p:spPr>
          <a:xfrm>
            <a:off x="5873567" y="4396185"/>
            <a:ext cx="605490"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Multiplier</a:t>
            </a:r>
          </a:p>
        </p:txBody>
      </p:sp>
      <p:sp>
        <p:nvSpPr>
          <p:cNvPr id="63" name="TextBox 62">
            <a:extLst>
              <a:ext uri="{FF2B5EF4-FFF2-40B4-BE49-F238E27FC236}">
                <a16:creationId xmlns:a16="http://schemas.microsoft.com/office/drawing/2014/main" id="{B616A895-0099-4183-9205-CD6A3986F39A}"/>
              </a:ext>
            </a:extLst>
          </p:cNvPr>
          <p:cNvSpPr txBox="1"/>
          <p:nvPr/>
        </p:nvSpPr>
        <p:spPr>
          <a:xfrm>
            <a:off x="6604056" y="4535935"/>
            <a:ext cx="931593"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a:t>
            </a:r>
            <a:r>
              <a:rPr lang="en-US" b="1" dirty="0">
                <a:solidFill>
                  <a:srgbClr val="C00000"/>
                </a:solidFill>
                <a:latin typeface="BentonSans Light" panose="02000503000000020004" pitchFamily="2" charset="0"/>
              </a:rPr>
              <a:t>255</a:t>
            </a:r>
            <a:endParaRPr lang="en-US" b="1" i="0" dirty="0">
              <a:solidFill>
                <a:srgbClr val="C00000"/>
              </a:solidFill>
              <a:latin typeface="BentonSans Light" panose="02000503000000020004" pitchFamily="2" charset="0"/>
            </a:endParaRPr>
          </a:p>
        </p:txBody>
      </p:sp>
      <p:sp>
        <p:nvSpPr>
          <p:cNvPr id="18" name="TextBox 17">
            <a:extLst>
              <a:ext uri="{FF2B5EF4-FFF2-40B4-BE49-F238E27FC236}">
                <a16:creationId xmlns:a16="http://schemas.microsoft.com/office/drawing/2014/main" id="{2D839199-CC84-468B-A95B-5B0B85274F1B}"/>
              </a:ext>
            </a:extLst>
          </p:cNvPr>
          <p:cNvSpPr txBox="1"/>
          <p:nvPr/>
        </p:nvSpPr>
        <p:spPr>
          <a:xfrm>
            <a:off x="1052888" y="4037013"/>
            <a:ext cx="1454146"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Element Score</a:t>
            </a:r>
          </a:p>
        </p:txBody>
      </p:sp>
      <p:sp>
        <p:nvSpPr>
          <p:cNvPr id="116" name="TextBox 115">
            <a:extLst>
              <a:ext uri="{FF2B5EF4-FFF2-40B4-BE49-F238E27FC236}">
                <a16:creationId xmlns:a16="http://schemas.microsoft.com/office/drawing/2014/main" id="{C21E63C5-574F-499C-90C5-CCAAA9F35926}"/>
              </a:ext>
            </a:extLst>
          </p:cNvPr>
          <p:cNvSpPr txBox="1"/>
          <p:nvPr/>
        </p:nvSpPr>
        <p:spPr>
          <a:xfrm>
            <a:off x="1052888" y="1806827"/>
            <a:ext cx="1454146"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Element Rule</a:t>
            </a:r>
          </a:p>
        </p:txBody>
      </p:sp>
      <p:sp>
        <p:nvSpPr>
          <p:cNvPr id="19" name="TextBox 18">
            <a:extLst>
              <a:ext uri="{FF2B5EF4-FFF2-40B4-BE49-F238E27FC236}">
                <a16:creationId xmlns:a16="http://schemas.microsoft.com/office/drawing/2014/main" id="{27BF085C-8ADE-475E-B67D-7288AF94B329}"/>
              </a:ext>
            </a:extLst>
          </p:cNvPr>
          <p:cNvSpPr txBox="1"/>
          <p:nvPr/>
        </p:nvSpPr>
        <p:spPr>
          <a:xfrm>
            <a:off x="2816014" y="4031869"/>
            <a:ext cx="4507544" cy="369332"/>
          </a:xfrm>
          <a:prstGeom prst="rect">
            <a:avLst/>
          </a:prstGeom>
          <a:noFill/>
        </p:spPr>
        <p:txBody>
          <a:bodyPr wrap="square" lIns="0" tIns="0" rIns="0" bIns="0" rtlCol="0">
            <a:spAutoFit/>
          </a:bodyPr>
          <a:lstStyle/>
          <a:p>
            <a:pPr algn="l"/>
            <a:r>
              <a:rPr lang="en-US" sz="1200" b="0" i="0" dirty="0">
                <a:solidFill>
                  <a:schemeClr val="bg2"/>
                </a:solidFill>
                <a:latin typeface="BentonSans Light" panose="02000503000000020004" pitchFamily="2" charset="0"/>
              </a:rPr>
              <a:t>The risk score for this element is the product of the Weighting Value multiplied by the Multiplier returned from the Rule Set</a:t>
            </a:r>
          </a:p>
        </p:txBody>
      </p:sp>
      <p:sp>
        <p:nvSpPr>
          <p:cNvPr id="39" name="TextBox 38">
            <a:extLst>
              <a:ext uri="{FF2B5EF4-FFF2-40B4-BE49-F238E27FC236}">
                <a16:creationId xmlns:a16="http://schemas.microsoft.com/office/drawing/2014/main" id="{48F4C762-A8AC-45F3-B0AF-751ADF7FC618}"/>
              </a:ext>
            </a:extLst>
          </p:cNvPr>
          <p:cNvSpPr txBox="1"/>
          <p:nvPr/>
        </p:nvSpPr>
        <p:spPr>
          <a:xfrm>
            <a:off x="2531608" y="2621414"/>
            <a:ext cx="2723073"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Value of foreign ATM transactions &gt; $5000</a:t>
            </a:r>
          </a:p>
        </p:txBody>
      </p:sp>
      <p:sp>
        <p:nvSpPr>
          <p:cNvPr id="2" name="TextBox 1">
            <a:extLst>
              <a:ext uri="{FF2B5EF4-FFF2-40B4-BE49-F238E27FC236}">
                <a16:creationId xmlns:a16="http://schemas.microsoft.com/office/drawing/2014/main" id="{63E36B85-3A17-481E-BE03-ED7B2F7078E3}"/>
              </a:ext>
            </a:extLst>
          </p:cNvPr>
          <p:cNvSpPr txBox="1"/>
          <p:nvPr/>
        </p:nvSpPr>
        <p:spPr>
          <a:xfrm>
            <a:off x="1808013" y="2469439"/>
            <a:ext cx="457200"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AND</a:t>
            </a:r>
          </a:p>
        </p:txBody>
      </p:sp>
      <p:sp>
        <p:nvSpPr>
          <p:cNvPr id="41" name="Rectangle 40">
            <a:extLst>
              <a:ext uri="{FF2B5EF4-FFF2-40B4-BE49-F238E27FC236}">
                <a16:creationId xmlns:a16="http://schemas.microsoft.com/office/drawing/2014/main" id="{D4AA5A38-4B98-4DB6-99F5-A6C24B3AB865}"/>
              </a:ext>
            </a:extLst>
          </p:cNvPr>
          <p:cNvSpPr/>
          <p:nvPr/>
        </p:nvSpPr>
        <p:spPr>
          <a:xfrm>
            <a:off x="2495865" y="3663144"/>
            <a:ext cx="2758814"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90B2D3E4-A0F0-4334-B04F-CFFFC4C4C86B}"/>
              </a:ext>
            </a:extLst>
          </p:cNvPr>
          <p:cNvSpPr/>
          <p:nvPr/>
        </p:nvSpPr>
        <p:spPr>
          <a:xfrm>
            <a:off x="2495864" y="3336498"/>
            <a:ext cx="2758815"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5" name="TextBox 54">
            <a:extLst>
              <a:ext uri="{FF2B5EF4-FFF2-40B4-BE49-F238E27FC236}">
                <a16:creationId xmlns:a16="http://schemas.microsoft.com/office/drawing/2014/main" id="{51C079C9-A258-4BAC-B23C-D0D078DF4CCE}"/>
              </a:ext>
            </a:extLst>
          </p:cNvPr>
          <p:cNvSpPr txBox="1"/>
          <p:nvPr/>
        </p:nvSpPr>
        <p:spPr>
          <a:xfrm>
            <a:off x="2522308" y="3374589"/>
            <a:ext cx="2723073"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Number of foreign ATM transactions &gt; 8</a:t>
            </a:r>
          </a:p>
        </p:txBody>
      </p:sp>
      <p:sp>
        <p:nvSpPr>
          <p:cNvPr id="56" name="Arrow: Right 55">
            <a:extLst>
              <a:ext uri="{FF2B5EF4-FFF2-40B4-BE49-F238E27FC236}">
                <a16:creationId xmlns:a16="http://schemas.microsoft.com/office/drawing/2014/main" id="{F00D2E21-BA90-4D02-AAB7-AC24D8582366}"/>
              </a:ext>
            </a:extLst>
          </p:cNvPr>
          <p:cNvSpPr/>
          <p:nvPr/>
        </p:nvSpPr>
        <p:spPr>
          <a:xfrm>
            <a:off x="4470789" y="2978095"/>
            <a:ext cx="587828" cy="289249"/>
          </a:xfrm>
          <a:prstGeom prst="rightArrow">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TextBox 57">
            <a:extLst>
              <a:ext uri="{FF2B5EF4-FFF2-40B4-BE49-F238E27FC236}">
                <a16:creationId xmlns:a16="http://schemas.microsoft.com/office/drawing/2014/main" id="{742124F5-5EC2-4C97-AFD9-E507999DA3DC}"/>
              </a:ext>
            </a:extLst>
          </p:cNvPr>
          <p:cNvSpPr txBox="1"/>
          <p:nvPr/>
        </p:nvSpPr>
        <p:spPr>
          <a:xfrm>
            <a:off x="4515799" y="3058689"/>
            <a:ext cx="455661"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Result in</a:t>
            </a:r>
          </a:p>
        </p:txBody>
      </p:sp>
      <p:sp>
        <p:nvSpPr>
          <p:cNvPr id="64" name="Rectangle 63">
            <a:extLst>
              <a:ext uri="{FF2B5EF4-FFF2-40B4-BE49-F238E27FC236}">
                <a16:creationId xmlns:a16="http://schemas.microsoft.com/office/drawing/2014/main" id="{8412FC2E-8D87-470F-92C5-3A106496948F}"/>
              </a:ext>
            </a:extLst>
          </p:cNvPr>
          <p:cNvSpPr/>
          <p:nvPr/>
        </p:nvSpPr>
        <p:spPr>
          <a:xfrm>
            <a:off x="5178871" y="2992314"/>
            <a:ext cx="587828" cy="265830"/>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3</a:t>
            </a:r>
          </a:p>
        </p:txBody>
      </p:sp>
      <p:sp>
        <p:nvSpPr>
          <p:cNvPr id="65" name="Rectangle 64">
            <a:extLst>
              <a:ext uri="{FF2B5EF4-FFF2-40B4-BE49-F238E27FC236}">
                <a16:creationId xmlns:a16="http://schemas.microsoft.com/office/drawing/2014/main" id="{76F8662E-2B00-48C9-9827-D222D9E042A3}"/>
              </a:ext>
            </a:extLst>
          </p:cNvPr>
          <p:cNvSpPr/>
          <p:nvPr/>
        </p:nvSpPr>
        <p:spPr>
          <a:xfrm>
            <a:off x="2495865" y="2970151"/>
            <a:ext cx="1760620" cy="286336"/>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Rule Set 2</a:t>
            </a:r>
          </a:p>
        </p:txBody>
      </p:sp>
      <p:sp>
        <p:nvSpPr>
          <p:cNvPr id="66" name="TextBox 65">
            <a:extLst>
              <a:ext uri="{FF2B5EF4-FFF2-40B4-BE49-F238E27FC236}">
                <a16:creationId xmlns:a16="http://schemas.microsoft.com/office/drawing/2014/main" id="{0EF01802-2D24-45FC-95B8-926C226894F5}"/>
              </a:ext>
            </a:extLst>
          </p:cNvPr>
          <p:cNvSpPr txBox="1"/>
          <p:nvPr/>
        </p:nvSpPr>
        <p:spPr>
          <a:xfrm>
            <a:off x="5243512" y="2860361"/>
            <a:ext cx="605490"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Multiplier</a:t>
            </a:r>
          </a:p>
        </p:txBody>
      </p:sp>
      <p:sp>
        <p:nvSpPr>
          <p:cNvPr id="67" name="TextBox 66">
            <a:extLst>
              <a:ext uri="{FF2B5EF4-FFF2-40B4-BE49-F238E27FC236}">
                <a16:creationId xmlns:a16="http://schemas.microsoft.com/office/drawing/2014/main" id="{17DE0DB5-99DA-404B-B423-354713FAD2BC}"/>
              </a:ext>
            </a:extLst>
          </p:cNvPr>
          <p:cNvSpPr txBox="1"/>
          <p:nvPr/>
        </p:nvSpPr>
        <p:spPr>
          <a:xfrm>
            <a:off x="2520439" y="3695841"/>
            <a:ext cx="2723073"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Value of foreign ATM transactions &gt; $8000</a:t>
            </a:r>
          </a:p>
        </p:txBody>
      </p:sp>
      <p:sp>
        <p:nvSpPr>
          <p:cNvPr id="68" name="TextBox 67">
            <a:extLst>
              <a:ext uri="{FF2B5EF4-FFF2-40B4-BE49-F238E27FC236}">
                <a16:creationId xmlns:a16="http://schemas.microsoft.com/office/drawing/2014/main" id="{A1E030C7-09C2-455C-997E-1E558D58E73B}"/>
              </a:ext>
            </a:extLst>
          </p:cNvPr>
          <p:cNvSpPr txBox="1"/>
          <p:nvPr/>
        </p:nvSpPr>
        <p:spPr>
          <a:xfrm>
            <a:off x="1796844" y="3543866"/>
            <a:ext cx="457200"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AND</a:t>
            </a:r>
          </a:p>
        </p:txBody>
      </p:sp>
      <p:sp>
        <p:nvSpPr>
          <p:cNvPr id="69" name="TextBox 68">
            <a:extLst>
              <a:ext uri="{FF2B5EF4-FFF2-40B4-BE49-F238E27FC236}">
                <a16:creationId xmlns:a16="http://schemas.microsoft.com/office/drawing/2014/main" id="{0F428CE0-03D2-4A6A-8742-CC8A18113713}"/>
              </a:ext>
            </a:extLst>
          </p:cNvPr>
          <p:cNvSpPr txBox="1"/>
          <p:nvPr/>
        </p:nvSpPr>
        <p:spPr>
          <a:xfrm>
            <a:off x="1220770" y="2770705"/>
            <a:ext cx="386862"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OR</a:t>
            </a:r>
          </a:p>
        </p:txBody>
      </p:sp>
      <p:sp>
        <p:nvSpPr>
          <p:cNvPr id="4" name="TextBox 3">
            <a:extLst>
              <a:ext uri="{FF2B5EF4-FFF2-40B4-BE49-F238E27FC236}">
                <a16:creationId xmlns:a16="http://schemas.microsoft.com/office/drawing/2014/main" id="{4538EA9C-B4CC-46FC-99F3-9232EBE4F7C7}"/>
              </a:ext>
            </a:extLst>
          </p:cNvPr>
          <p:cNvSpPr txBox="1"/>
          <p:nvPr/>
        </p:nvSpPr>
        <p:spPr>
          <a:xfrm>
            <a:off x="6685657" y="1850793"/>
            <a:ext cx="2192150" cy="923330"/>
          </a:xfrm>
          <a:prstGeom prst="rect">
            <a:avLst/>
          </a:prstGeom>
          <a:noFill/>
        </p:spPr>
        <p:txBody>
          <a:bodyPr wrap="square" lIns="0" tIns="0" rIns="0" bIns="0" rtlCol="0">
            <a:spAutoFit/>
          </a:bodyPr>
          <a:lstStyle/>
          <a:p>
            <a:pPr algn="l"/>
            <a:r>
              <a:rPr lang="en-US" sz="1200" b="0" i="0" dirty="0">
                <a:solidFill>
                  <a:schemeClr val="bg2"/>
                </a:solidFill>
                <a:latin typeface="BentonSans Light" panose="02000503000000020004" pitchFamily="2" charset="0"/>
              </a:rPr>
              <a:t>The Customer has 9 ATM transactions in foreign jurisdictions for a total of $9500 across all the accounts owned.</a:t>
            </a:r>
          </a:p>
        </p:txBody>
      </p:sp>
      <p:sp>
        <p:nvSpPr>
          <p:cNvPr id="70" name="Rectangle: Rounded Corners 69">
            <a:extLst>
              <a:ext uri="{FF2B5EF4-FFF2-40B4-BE49-F238E27FC236}">
                <a16:creationId xmlns:a16="http://schemas.microsoft.com/office/drawing/2014/main" id="{0EB89CF7-7F9C-4FD5-A357-0AC0222A1939}"/>
              </a:ext>
            </a:extLst>
          </p:cNvPr>
          <p:cNvSpPr/>
          <p:nvPr/>
        </p:nvSpPr>
        <p:spPr>
          <a:xfrm>
            <a:off x="2353038" y="2880857"/>
            <a:ext cx="4170236" cy="1071001"/>
          </a:xfrm>
          <a:prstGeom prst="round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E85FE434-F566-4DE2-A024-E12FE80772F2}"/>
              </a:ext>
            </a:extLst>
          </p:cNvPr>
          <p:cNvSpPr txBox="1"/>
          <p:nvPr/>
        </p:nvSpPr>
        <p:spPr>
          <a:xfrm>
            <a:off x="5689557" y="3520906"/>
            <a:ext cx="833717" cy="276999"/>
          </a:xfrm>
          <a:prstGeom prst="rect">
            <a:avLst/>
          </a:prstGeom>
          <a:noFill/>
        </p:spPr>
        <p:txBody>
          <a:bodyPr wrap="square" lIns="0" tIns="0" rIns="0" bIns="0" rtlCol="0">
            <a:spAutoFit/>
          </a:bodyPr>
          <a:lstStyle/>
          <a:p>
            <a:pPr algn="l"/>
            <a:r>
              <a:rPr lang="en-US" b="0" i="0" dirty="0">
                <a:solidFill>
                  <a:schemeClr val="bg2"/>
                </a:solidFill>
                <a:latin typeface="BentonSans Light" panose="02000503000000020004" pitchFamily="2" charset="0"/>
              </a:rPr>
              <a:t>TRUE</a:t>
            </a:r>
          </a:p>
        </p:txBody>
      </p:sp>
      <p:sp>
        <p:nvSpPr>
          <p:cNvPr id="73" name="Rectangle 72">
            <a:extLst>
              <a:ext uri="{FF2B5EF4-FFF2-40B4-BE49-F238E27FC236}">
                <a16:creationId xmlns:a16="http://schemas.microsoft.com/office/drawing/2014/main" id="{0963F671-CCDE-47FF-BF50-552CE207BCBC}"/>
              </a:ext>
            </a:extLst>
          </p:cNvPr>
          <p:cNvSpPr/>
          <p:nvPr/>
        </p:nvSpPr>
        <p:spPr>
          <a:xfrm>
            <a:off x="5132932" y="1022030"/>
            <a:ext cx="2309311" cy="273274"/>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High/Low Precedence</a:t>
            </a:r>
          </a:p>
        </p:txBody>
      </p:sp>
      <p:sp>
        <p:nvSpPr>
          <p:cNvPr id="74" name="TextBox 73">
            <a:extLst>
              <a:ext uri="{FF2B5EF4-FFF2-40B4-BE49-F238E27FC236}">
                <a16:creationId xmlns:a16="http://schemas.microsoft.com/office/drawing/2014/main" id="{9CA16F9A-D428-44BE-A4B3-2B5A5E970734}"/>
              </a:ext>
            </a:extLst>
          </p:cNvPr>
          <p:cNvSpPr txBox="1"/>
          <p:nvPr/>
        </p:nvSpPr>
        <p:spPr>
          <a:xfrm>
            <a:off x="7761732" y="1029439"/>
            <a:ext cx="1022291"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HIGH</a:t>
            </a:r>
            <a:endParaRPr lang="en-US" b="0" i="0" dirty="0">
              <a:solidFill>
                <a:schemeClr val="bg2"/>
              </a:solidFill>
              <a:latin typeface="BentonSans Light" panose="02000503000000020004" pitchFamily="2" charset="0"/>
            </a:endParaRPr>
          </a:p>
        </p:txBody>
      </p:sp>
      <p:sp>
        <p:nvSpPr>
          <p:cNvPr id="75" name="Rectangle: Rounded Corners 74">
            <a:extLst>
              <a:ext uri="{FF2B5EF4-FFF2-40B4-BE49-F238E27FC236}">
                <a16:creationId xmlns:a16="http://schemas.microsoft.com/office/drawing/2014/main" id="{A55C1CD4-A4D0-47A6-9103-B816FBADE7D3}"/>
              </a:ext>
            </a:extLst>
          </p:cNvPr>
          <p:cNvSpPr/>
          <p:nvPr/>
        </p:nvSpPr>
        <p:spPr>
          <a:xfrm>
            <a:off x="2353038" y="1794180"/>
            <a:ext cx="4170236" cy="1058589"/>
          </a:xfrm>
          <a:prstGeom prst="round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A97893D5-1818-42F5-92EF-2853872CA479}"/>
              </a:ext>
            </a:extLst>
          </p:cNvPr>
          <p:cNvSpPr txBox="1"/>
          <p:nvPr/>
        </p:nvSpPr>
        <p:spPr>
          <a:xfrm>
            <a:off x="5690897" y="2442227"/>
            <a:ext cx="833717" cy="276999"/>
          </a:xfrm>
          <a:prstGeom prst="rect">
            <a:avLst/>
          </a:prstGeom>
          <a:noFill/>
        </p:spPr>
        <p:txBody>
          <a:bodyPr wrap="square" lIns="0" tIns="0" rIns="0" bIns="0" rtlCol="0">
            <a:spAutoFit/>
          </a:bodyPr>
          <a:lstStyle/>
          <a:p>
            <a:pPr algn="l"/>
            <a:r>
              <a:rPr lang="en-US" b="0" i="0" dirty="0">
                <a:solidFill>
                  <a:schemeClr val="bg2"/>
                </a:solidFill>
                <a:latin typeface="BentonSans Light" panose="02000503000000020004" pitchFamily="2" charset="0"/>
              </a:rPr>
              <a:t>TRUE</a:t>
            </a:r>
          </a:p>
        </p:txBody>
      </p:sp>
      <p:sp>
        <p:nvSpPr>
          <p:cNvPr id="8" name="TextBox 7">
            <a:extLst>
              <a:ext uri="{FF2B5EF4-FFF2-40B4-BE49-F238E27FC236}">
                <a16:creationId xmlns:a16="http://schemas.microsoft.com/office/drawing/2014/main" id="{5AC2A4DE-D74D-4517-BB62-9DC7B03CBA70}"/>
              </a:ext>
            </a:extLst>
          </p:cNvPr>
          <p:cNvSpPr txBox="1"/>
          <p:nvPr/>
        </p:nvSpPr>
        <p:spPr>
          <a:xfrm>
            <a:off x="6686814" y="2924400"/>
            <a:ext cx="2295408" cy="923330"/>
          </a:xfrm>
          <a:prstGeom prst="rect">
            <a:avLst/>
          </a:prstGeom>
          <a:noFill/>
        </p:spPr>
        <p:txBody>
          <a:bodyPr wrap="square" lIns="0" tIns="0" rIns="0" bIns="0" rtlCol="0">
            <a:spAutoFit/>
          </a:bodyPr>
          <a:lstStyle/>
          <a:p>
            <a:pPr algn="l"/>
            <a:r>
              <a:rPr lang="en-US" sz="1200" b="0" i="0" dirty="0">
                <a:solidFill>
                  <a:srgbClr val="C00000"/>
                </a:solidFill>
                <a:latin typeface="BentonSans Light" panose="02000503000000020004" pitchFamily="2" charset="0"/>
              </a:rPr>
              <a:t>Although both Rule Sets are TRUE, the High/Low Precedence will result in the higher Multiplier being used to calculate the Element Score</a:t>
            </a:r>
          </a:p>
        </p:txBody>
      </p:sp>
      <p:sp>
        <p:nvSpPr>
          <p:cNvPr id="11" name="Slide Number Placeholder 10">
            <a:extLst>
              <a:ext uri="{FF2B5EF4-FFF2-40B4-BE49-F238E27FC236}">
                <a16:creationId xmlns:a16="http://schemas.microsoft.com/office/drawing/2014/main" id="{BE6927B9-E3C6-4057-8B62-8E981F67125D}"/>
              </a:ext>
            </a:extLst>
          </p:cNvPr>
          <p:cNvSpPr>
            <a:spLocks noGrp="1"/>
          </p:cNvSpPr>
          <p:nvPr>
            <p:ph type="sldNum" sz="quarter" idx="10"/>
          </p:nvPr>
        </p:nvSpPr>
        <p:spPr/>
        <p:txBody>
          <a:bodyPr/>
          <a:lstStyle/>
          <a:p>
            <a:pPr>
              <a:defRPr/>
            </a:pPr>
            <a:fld id="{920384AA-0A71-E644-AEED-65CD2253F2C8}" type="slidenum">
              <a:rPr lang="en-US" smtClean="0"/>
              <a:pPr>
                <a:defRPr/>
              </a:pPr>
              <a:t>9</a:t>
            </a:fld>
            <a:endParaRPr lang="en-US" dirty="0"/>
          </a:p>
        </p:txBody>
      </p:sp>
    </p:spTree>
    <p:extLst>
      <p:ext uri="{BB962C8B-B14F-4D97-AF65-F5344CB8AC3E}">
        <p14:creationId xmlns:p14="http://schemas.microsoft.com/office/powerpoint/2010/main" val="228111218"/>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3">
            <a:extLst>
              <a:ext uri="{FF2B5EF4-FFF2-40B4-BE49-F238E27FC236}">
                <a16:creationId xmlns:a16="http://schemas.microsoft.com/office/drawing/2014/main" id="{D0648009-C2CE-4504-88DB-CD84CF284489}"/>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solidFill>
                  <a:prstClr val="black">
                    <a:tint val="75000"/>
                  </a:prstClr>
                </a:solidFill>
                <a:latin typeface="Calibri" panose="020F0502020204030204"/>
              </a:rPr>
              <a:t>AXP Internal</a:t>
            </a:r>
          </a:p>
        </p:txBody>
      </p:sp>
      <p:sp>
        <p:nvSpPr>
          <p:cNvPr id="24" name="Date Placeholder 4">
            <a:extLst>
              <a:ext uri="{FF2B5EF4-FFF2-40B4-BE49-F238E27FC236}">
                <a16:creationId xmlns:a16="http://schemas.microsoft.com/office/drawing/2014/main" id="{1ED79B33-D9AF-441C-9B6C-F78D2D23BB1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A46D4F4E-B233-4BBE-8215-EE798DD53D74}" type="datetime5">
              <a:rPr lang="en-US" smtClean="0">
                <a:solidFill>
                  <a:prstClr val="black">
                    <a:tint val="75000"/>
                  </a:prstClr>
                </a:solidFill>
                <a:latin typeface="Calibri" panose="020F0502020204030204"/>
              </a:rPr>
              <a:pPr fontAlgn="auto">
                <a:spcBef>
                  <a:spcPts val="0"/>
                </a:spcBef>
                <a:spcAft>
                  <a:spcPts val="0"/>
                </a:spcAft>
              </a:pPr>
              <a:t>1-Apr-22</a:t>
            </a:fld>
            <a:endParaRPr lang="en-US">
              <a:solidFill>
                <a:prstClr val="black">
                  <a:tint val="75000"/>
                </a:prstClr>
              </a:solidFill>
              <a:latin typeface="Calibri" panose="020F0502020204030204"/>
            </a:endParaRPr>
          </a:p>
        </p:txBody>
      </p:sp>
      <p:sp>
        <p:nvSpPr>
          <p:cNvPr id="25" name="Slide Number Placeholder 5">
            <a:extLst>
              <a:ext uri="{FF2B5EF4-FFF2-40B4-BE49-F238E27FC236}">
                <a16:creationId xmlns:a16="http://schemas.microsoft.com/office/drawing/2014/main" id="{7A80D6DF-05C5-4927-B491-CC6D1C14BE3F}"/>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0842897F-5191-4E88-9CA8-D5AD207F07AB}" type="slidenum">
              <a:rPr lang="en-US" smtClean="0">
                <a:solidFill>
                  <a:prstClr val="black">
                    <a:tint val="75000"/>
                  </a:prstClr>
                </a:solidFill>
                <a:latin typeface="Calibri" panose="020F0502020204030204"/>
              </a:rPr>
              <a:pPr fontAlgn="auto">
                <a:spcBef>
                  <a:spcPts val="0"/>
                </a:spcBef>
                <a:spcAft>
                  <a:spcPts val="0"/>
                </a:spcAft>
              </a:pPr>
              <a:t>10</a:t>
            </a:fld>
            <a:endParaRPr lang="en-US">
              <a:solidFill>
                <a:prstClr val="black">
                  <a:tint val="75000"/>
                </a:prstClr>
              </a:solidFill>
              <a:latin typeface="Calibri" panose="020F0502020204030204"/>
            </a:endParaRPr>
          </a:p>
        </p:txBody>
      </p:sp>
      <p:sp>
        <p:nvSpPr>
          <p:cNvPr id="37" name="TextBox 36">
            <a:extLst>
              <a:ext uri="{FF2B5EF4-FFF2-40B4-BE49-F238E27FC236}">
                <a16:creationId xmlns:a16="http://schemas.microsoft.com/office/drawing/2014/main" id="{F405B3E8-739C-4C6B-B394-C3044A0F685D}"/>
              </a:ext>
            </a:extLst>
          </p:cNvPr>
          <p:cNvSpPr txBox="1"/>
          <p:nvPr/>
        </p:nvSpPr>
        <p:spPr>
          <a:xfrm>
            <a:off x="838200" y="125905"/>
            <a:ext cx="10263499" cy="458267"/>
          </a:xfrm>
          <a:prstGeom prst="rect">
            <a:avLst/>
          </a:prstGeom>
          <a:noFill/>
        </p:spPr>
        <p:txBody>
          <a:bodyPr wrap="square" rtlCol="0">
            <a:spAutoFit/>
          </a:bodyPr>
          <a:lstStyle/>
          <a:p>
            <a:pPr defTabSz="342900">
              <a:lnSpc>
                <a:spcPct val="82000"/>
              </a:lnSpc>
            </a:pPr>
            <a:r>
              <a:rPr lang="en-US" sz="2900" dirty="0">
                <a:latin typeface="Guardian Egyp Regular" panose="02060503050503060803" pitchFamily="18" charset="77"/>
              </a:rPr>
              <a:t>Risk Element example 3</a:t>
            </a:r>
          </a:p>
        </p:txBody>
      </p:sp>
      <p:sp>
        <p:nvSpPr>
          <p:cNvPr id="42" name="Rectangle 41">
            <a:extLst>
              <a:ext uri="{FF2B5EF4-FFF2-40B4-BE49-F238E27FC236}">
                <a16:creationId xmlns:a16="http://schemas.microsoft.com/office/drawing/2014/main" id="{A2D5A956-E74E-4F46-897C-5E44029E5612}"/>
              </a:ext>
            </a:extLst>
          </p:cNvPr>
          <p:cNvSpPr/>
          <p:nvPr/>
        </p:nvSpPr>
        <p:spPr>
          <a:xfrm>
            <a:off x="2507033" y="2651836"/>
            <a:ext cx="2747647"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EF0CA154-EBA0-4988-B83A-A8286762C64B}"/>
              </a:ext>
            </a:extLst>
          </p:cNvPr>
          <p:cNvSpPr/>
          <p:nvPr/>
        </p:nvSpPr>
        <p:spPr>
          <a:xfrm>
            <a:off x="2507034" y="2325190"/>
            <a:ext cx="2747646"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0F0073D2-FE6D-4879-B7E8-9A3C3A92BD2C}"/>
              </a:ext>
            </a:extLst>
          </p:cNvPr>
          <p:cNvSpPr txBox="1"/>
          <p:nvPr/>
        </p:nvSpPr>
        <p:spPr>
          <a:xfrm>
            <a:off x="2533477" y="2363281"/>
            <a:ext cx="2723073"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Product = SE-DIR (direct Merchants)</a:t>
            </a:r>
          </a:p>
        </p:txBody>
      </p:sp>
      <p:sp>
        <p:nvSpPr>
          <p:cNvPr id="49" name="Arrow: Right 48">
            <a:extLst>
              <a:ext uri="{FF2B5EF4-FFF2-40B4-BE49-F238E27FC236}">
                <a16:creationId xmlns:a16="http://schemas.microsoft.com/office/drawing/2014/main" id="{E403F5A9-00F4-48C6-AB30-78379F845EDE}"/>
              </a:ext>
            </a:extLst>
          </p:cNvPr>
          <p:cNvSpPr/>
          <p:nvPr/>
        </p:nvSpPr>
        <p:spPr>
          <a:xfrm>
            <a:off x="4481958" y="1966787"/>
            <a:ext cx="587828" cy="289249"/>
          </a:xfrm>
          <a:prstGeom prst="rightArrow">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TextBox 49">
            <a:extLst>
              <a:ext uri="{FF2B5EF4-FFF2-40B4-BE49-F238E27FC236}">
                <a16:creationId xmlns:a16="http://schemas.microsoft.com/office/drawing/2014/main" id="{ED564F48-7681-49B8-AEDE-8259124D1E1B}"/>
              </a:ext>
            </a:extLst>
          </p:cNvPr>
          <p:cNvSpPr txBox="1"/>
          <p:nvPr/>
        </p:nvSpPr>
        <p:spPr>
          <a:xfrm>
            <a:off x="4526968" y="2047381"/>
            <a:ext cx="455661"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Result in</a:t>
            </a:r>
          </a:p>
        </p:txBody>
      </p:sp>
      <p:sp>
        <p:nvSpPr>
          <p:cNvPr id="51" name="Rectangle 50">
            <a:extLst>
              <a:ext uri="{FF2B5EF4-FFF2-40B4-BE49-F238E27FC236}">
                <a16:creationId xmlns:a16="http://schemas.microsoft.com/office/drawing/2014/main" id="{98BF5FA1-A863-4C4B-AA59-AAFD15FBF703}"/>
              </a:ext>
            </a:extLst>
          </p:cNvPr>
          <p:cNvSpPr/>
          <p:nvPr/>
        </p:nvSpPr>
        <p:spPr>
          <a:xfrm>
            <a:off x="5190040" y="1981006"/>
            <a:ext cx="587828" cy="265830"/>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prstClr val="white">
                    <a:lumMod val="50000"/>
                  </a:prstClr>
                </a:solidFill>
                <a:effectLst/>
                <a:uLnTx/>
                <a:uFillTx/>
                <a:latin typeface="Calibri" panose="020F0502020204030204"/>
                <a:ea typeface="+mn-ea"/>
                <a:cs typeface="+mn-cs"/>
              </a:rPr>
              <a:t>valueof</a:t>
            </a:r>
            <a:endParaRPr kumimoji="0" lang="en-US" sz="10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7" name="Rectangle 56">
            <a:extLst>
              <a:ext uri="{FF2B5EF4-FFF2-40B4-BE49-F238E27FC236}">
                <a16:creationId xmlns:a16="http://schemas.microsoft.com/office/drawing/2014/main" id="{BF66438E-403C-4F15-AB44-7A7DFB9947C4}"/>
              </a:ext>
            </a:extLst>
          </p:cNvPr>
          <p:cNvSpPr/>
          <p:nvPr/>
        </p:nvSpPr>
        <p:spPr>
          <a:xfrm>
            <a:off x="2507034" y="1958843"/>
            <a:ext cx="1760620" cy="286336"/>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Rule Set 1</a:t>
            </a:r>
          </a:p>
        </p:txBody>
      </p:sp>
      <p:sp>
        <p:nvSpPr>
          <p:cNvPr id="3" name="TextBox 2">
            <a:extLst>
              <a:ext uri="{FF2B5EF4-FFF2-40B4-BE49-F238E27FC236}">
                <a16:creationId xmlns:a16="http://schemas.microsoft.com/office/drawing/2014/main" id="{B1AF79BB-30F1-4B02-99CE-EF25E1FCCA43}"/>
              </a:ext>
            </a:extLst>
          </p:cNvPr>
          <p:cNvSpPr txBox="1"/>
          <p:nvPr/>
        </p:nvSpPr>
        <p:spPr>
          <a:xfrm>
            <a:off x="935500" y="695140"/>
            <a:ext cx="6970543" cy="276999"/>
          </a:xfrm>
          <a:prstGeom prst="rect">
            <a:avLst/>
          </a:prstGeom>
          <a:noFill/>
        </p:spPr>
        <p:txBody>
          <a:bodyPr wrap="square" lIns="0" tIns="0" rIns="0" bIns="0" rtlCol="0">
            <a:spAutoFit/>
          </a:bodyPr>
          <a:lstStyle/>
          <a:p>
            <a:pPr algn="l"/>
            <a:r>
              <a:rPr lang="en-US" b="1" i="0" dirty="0">
                <a:solidFill>
                  <a:schemeClr val="bg2"/>
                </a:solidFill>
                <a:latin typeface="BentonSans Light" panose="02000503000000020004" pitchFamily="2" charset="0"/>
              </a:rPr>
              <a:t>Element Name : </a:t>
            </a:r>
            <a:r>
              <a:rPr lang="en-US" b="0" i="0" dirty="0">
                <a:solidFill>
                  <a:schemeClr val="bg2"/>
                </a:solidFill>
                <a:latin typeface="BentonSans Light" panose="02000503000000020004" pitchFamily="2" charset="0"/>
              </a:rPr>
              <a:t>Beneficial Owner in High Risk Geography</a:t>
            </a:r>
          </a:p>
        </p:txBody>
      </p:sp>
      <p:sp>
        <p:nvSpPr>
          <p:cNvPr id="34" name="Rectangle 33">
            <a:extLst>
              <a:ext uri="{FF2B5EF4-FFF2-40B4-BE49-F238E27FC236}">
                <a16:creationId xmlns:a16="http://schemas.microsoft.com/office/drawing/2014/main" id="{0207D5BF-74F5-4DCB-9AFE-689BE1C91E48}"/>
              </a:ext>
            </a:extLst>
          </p:cNvPr>
          <p:cNvSpPr/>
          <p:nvPr/>
        </p:nvSpPr>
        <p:spPr>
          <a:xfrm>
            <a:off x="1319349" y="1387418"/>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Weighting Value</a:t>
            </a:r>
          </a:p>
        </p:txBody>
      </p:sp>
      <p:sp>
        <p:nvSpPr>
          <p:cNvPr id="35" name="TextBox 34">
            <a:extLst>
              <a:ext uri="{FF2B5EF4-FFF2-40B4-BE49-F238E27FC236}">
                <a16:creationId xmlns:a16="http://schemas.microsoft.com/office/drawing/2014/main" id="{DA6F18E1-B20E-41E0-A1D7-98CF47734414}"/>
              </a:ext>
            </a:extLst>
          </p:cNvPr>
          <p:cNvSpPr txBox="1"/>
          <p:nvPr/>
        </p:nvSpPr>
        <p:spPr>
          <a:xfrm>
            <a:off x="3923597" y="1397903"/>
            <a:ext cx="1125550"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30	</a:t>
            </a:r>
            <a:endParaRPr lang="en-US" b="0" i="0" dirty="0">
              <a:solidFill>
                <a:schemeClr val="bg2"/>
              </a:solidFill>
              <a:latin typeface="BentonSans Light" panose="02000503000000020004" pitchFamily="2" charset="0"/>
            </a:endParaRPr>
          </a:p>
        </p:txBody>
      </p:sp>
      <p:sp>
        <p:nvSpPr>
          <p:cNvPr id="38" name="Rectangle 37">
            <a:extLst>
              <a:ext uri="{FF2B5EF4-FFF2-40B4-BE49-F238E27FC236}">
                <a16:creationId xmlns:a16="http://schemas.microsoft.com/office/drawing/2014/main" id="{57FCC28C-77EE-4AB7-A94D-0AB034913573}"/>
              </a:ext>
            </a:extLst>
          </p:cNvPr>
          <p:cNvSpPr/>
          <p:nvPr/>
        </p:nvSpPr>
        <p:spPr>
          <a:xfrm>
            <a:off x="1319348" y="1020278"/>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Market Applicability</a:t>
            </a:r>
          </a:p>
        </p:txBody>
      </p:sp>
      <p:sp>
        <p:nvSpPr>
          <p:cNvPr id="48" name="TextBox 47">
            <a:extLst>
              <a:ext uri="{FF2B5EF4-FFF2-40B4-BE49-F238E27FC236}">
                <a16:creationId xmlns:a16="http://schemas.microsoft.com/office/drawing/2014/main" id="{30D4CD6A-112E-41C2-9D7D-E1E504D0F7BE}"/>
              </a:ext>
            </a:extLst>
          </p:cNvPr>
          <p:cNvSpPr txBox="1"/>
          <p:nvPr/>
        </p:nvSpPr>
        <p:spPr>
          <a:xfrm>
            <a:off x="3923596" y="1018304"/>
            <a:ext cx="1022291"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ALL</a:t>
            </a:r>
            <a:endParaRPr lang="en-US" b="0" i="0" dirty="0">
              <a:solidFill>
                <a:schemeClr val="bg2"/>
              </a:solidFill>
              <a:latin typeface="BentonSans Light" panose="02000503000000020004" pitchFamily="2" charset="0"/>
            </a:endParaRPr>
          </a:p>
        </p:txBody>
      </p:sp>
      <p:cxnSp>
        <p:nvCxnSpPr>
          <p:cNvPr id="14" name="Straight Connector 13">
            <a:extLst>
              <a:ext uri="{FF2B5EF4-FFF2-40B4-BE49-F238E27FC236}">
                <a16:creationId xmlns:a16="http://schemas.microsoft.com/office/drawing/2014/main" id="{118FC0A2-9ACA-44C0-8ADB-65DAB657F755}"/>
              </a:ext>
            </a:extLst>
          </p:cNvPr>
          <p:cNvCxnSpPr>
            <a:cxnSpLocks/>
          </p:cNvCxnSpPr>
          <p:nvPr/>
        </p:nvCxnSpPr>
        <p:spPr>
          <a:xfrm>
            <a:off x="1055077" y="1758462"/>
            <a:ext cx="7863840" cy="0"/>
          </a:xfrm>
          <a:prstGeom prst="line">
            <a:avLst/>
          </a:prstGeom>
          <a:ln w="12700"/>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C4DDAC12-F3AD-4A1D-933C-577A2A12E6C1}"/>
              </a:ext>
            </a:extLst>
          </p:cNvPr>
          <p:cNvCxnSpPr>
            <a:cxnSpLocks/>
          </p:cNvCxnSpPr>
          <p:nvPr/>
        </p:nvCxnSpPr>
        <p:spPr>
          <a:xfrm>
            <a:off x="1013967" y="3783913"/>
            <a:ext cx="7863840" cy="0"/>
          </a:xfrm>
          <a:prstGeom prst="line">
            <a:avLst/>
          </a:prstGeom>
          <a:ln w="12700"/>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5BDF04D-BFA3-404A-891E-EC225F17711F}"/>
              </a:ext>
            </a:extLst>
          </p:cNvPr>
          <p:cNvSpPr txBox="1"/>
          <p:nvPr/>
        </p:nvSpPr>
        <p:spPr>
          <a:xfrm>
            <a:off x="5254681" y="1849053"/>
            <a:ext cx="605490"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Multiplier</a:t>
            </a:r>
          </a:p>
        </p:txBody>
      </p:sp>
      <p:sp>
        <p:nvSpPr>
          <p:cNvPr id="59" name="Rectangle 58">
            <a:extLst>
              <a:ext uri="{FF2B5EF4-FFF2-40B4-BE49-F238E27FC236}">
                <a16:creationId xmlns:a16="http://schemas.microsoft.com/office/drawing/2014/main" id="{15F9BAF8-6027-4EC0-9E46-DCE5DE4F5115}"/>
              </a:ext>
            </a:extLst>
          </p:cNvPr>
          <p:cNvSpPr/>
          <p:nvPr/>
        </p:nvSpPr>
        <p:spPr>
          <a:xfrm>
            <a:off x="2387268" y="4529653"/>
            <a:ext cx="2309311" cy="276999"/>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Weighting Value</a:t>
            </a:r>
          </a:p>
        </p:txBody>
      </p:sp>
      <p:sp>
        <p:nvSpPr>
          <p:cNvPr id="60" name="TextBox 59">
            <a:extLst>
              <a:ext uri="{FF2B5EF4-FFF2-40B4-BE49-F238E27FC236}">
                <a16:creationId xmlns:a16="http://schemas.microsoft.com/office/drawing/2014/main" id="{47DC12D1-669C-4EC2-81F9-0C69EC686CE8}"/>
              </a:ext>
            </a:extLst>
          </p:cNvPr>
          <p:cNvSpPr txBox="1"/>
          <p:nvPr/>
        </p:nvSpPr>
        <p:spPr>
          <a:xfrm>
            <a:off x="4945887" y="4524236"/>
            <a:ext cx="632892"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30   *</a:t>
            </a:r>
            <a:endParaRPr lang="en-US" b="0" i="0" dirty="0">
              <a:solidFill>
                <a:schemeClr val="bg2"/>
              </a:solidFill>
              <a:latin typeface="BentonSans Light" panose="02000503000000020004" pitchFamily="2" charset="0"/>
            </a:endParaRPr>
          </a:p>
        </p:txBody>
      </p:sp>
      <p:sp>
        <p:nvSpPr>
          <p:cNvPr id="61" name="Rectangle 60">
            <a:extLst>
              <a:ext uri="{FF2B5EF4-FFF2-40B4-BE49-F238E27FC236}">
                <a16:creationId xmlns:a16="http://schemas.microsoft.com/office/drawing/2014/main" id="{F704183D-31B2-4A0F-9225-74B9DA098843}"/>
              </a:ext>
            </a:extLst>
          </p:cNvPr>
          <p:cNvSpPr/>
          <p:nvPr/>
        </p:nvSpPr>
        <p:spPr>
          <a:xfrm>
            <a:off x="5814157" y="4540138"/>
            <a:ext cx="587828" cy="261097"/>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7</a:t>
            </a:r>
          </a:p>
        </p:txBody>
      </p:sp>
      <p:sp>
        <p:nvSpPr>
          <p:cNvPr id="62" name="TextBox 61">
            <a:extLst>
              <a:ext uri="{FF2B5EF4-FFF2-40B4-BE49-F238E27FC236}">
                <a16:creationId xmlns:a16="http://schemas.microsoft.com/office/drawing/2014/main" id="{3FF7916A-479C-4344-8B64-E32AAF6C9231}"/>
              </a:ext>
            </a:extLst>
          </p:cNvPr>
          <p:cNvSpPr txBox="1"/>
          <p:nvPr/>
        </p:nvSpPr>
        <p:spPr>
          <a:xfrm>
            <a:off x="5873567" y="4396185"/>
            <a:ext cx="605490" cy="123111"/>
          </a:xfrm>
          <a:prstGeom prst="rect">
            <a:avLst/>
          </a:prstGeom>
          <a:noFill/>
        </p:spPr>
        <p:txBody>
          <a:bodyPr wrap="square" lIns="0" tIns="0" rIns="0" bIns="0" rtlCol="0">
            <a:spAutoFit/>
          </a:bodyPr>
          <a:lstStyle/>
          <a:p>
            <a:pPr algn="l"/>
            <a:r>
              <a:rPr lang="en-US" sz="800" b="0" i="0" dirty="0">
                <a:solidFill>
                  <a:schemeClr val="bg2"/>
                </a:solidFill>
                <a:latin typeface="BentonSans Light" panose="02000503000000020004" pitchFamily="2" charset="0"/>
              </a:rPr>
              <a:t>Multiplier</a:t>
            </a:r>
          </a:p>
        </p:txBody>
      </p:sp>
      <p:sp>
        <p:nvSpPr>
          <p:cNvPr id="63" name="TextBox 62">
            <a:extLst>
              <a:ext uri="{FF2B5EF4-FFF2-40B4-BE49-F238E27FC236}">
                <a16:creationId xmlns:a16="http://schemas.microsoft.com/office/drawing/2014/main" id="{B616A895-0099-4183-9205-CD6A3986F39A}"/>
              </a:ext>
            </a:extLst>
          </p:cNvPr>
          <p:cNvSpPr txBox="1"/>
          <p:nvPr/>
        </p:nvSpPr>
        <p:spPr>
          <a:xfrm>
            <a:off x="6604056" y="4535935"/>
            <a:ext cx="931593"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a:t>
            </a:r>
            <a:r>
              <a:rPr lang="en-US" b="1" dirty="0">
                <a:solidFill>
                  <a:srgbClr val="C00000"/>
                </a:solidFill>
                <a:latin typeface="BentonSans Light" panose="02000503000000020004" pitchFamily="2" charset="0"/>
              </a:rPr>
              <a:t>210</a:t>
            </a:r>
            <a:endParaRPr lang="en-US" b="1" i="0" dirty="0">
              <a:solidFill>
                <a:srgbClr val="C00000"/>
              </a:solidFill>
              <a:latin typeface="BentonSans Light" panose="02000503000000020004" pitchFamily="2" charset="0"/>
            </a:endParaRPr>
          </a:p>
        </p:txBody>
      </p:sp>
      <p:sp>
        <p:nvSpPr>
          <p:cNvPr id="18" name="TextBox 17">
            <a:extLst>
              <a:ext uri="{FF2B5EF4-FFF2-40B4-BE49-F238E27FC236}">
                <a16:creationId xmlns:a16="http://schemas.microsoft.com/office/drawing/2014/main" id="{2D839199-CC84-468B-A95B-5B0B85274F1B}"/>
              </a:ext>
            </a:extLst>
          </p:cNvPr>
          <p:cNvSpPr txBox="1"/>
          <p:nvPr/>
        </p:nvSpPr>
        <p:spPr>
          <a:xfrm>
            <a:off x="1052888" y="3835079"/>
            <a:ext cx="1454146"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Element Score</a:t>
            </a:r>
          </a:p>
        </p:txBody>
      </p:sp>
      <p:sp>
        <p:nvSpPr>
          <p:cNvPr id="116" name="TextBox 115">
            <a:extLst>
              <a:ext uri="{FF2B5EF4-FFF2-40B4-BE49-F238E27FC236}">
                <a16:creationId xmlns:a16="http://schemas.microsoft.com/office/drawing/2014/main" id="{C21E63C5-574F-499C-90C5-CCAAA9F35926}"/>
              </a:ext>
            </a:extLst>
          </p:cNvPr>
          <p:cNvSpPr txBox="1"/>
          <p:nvPr/>
        </p:nvSpPr>
        <p:spPr>
          <a:xfrm>
            <a:off x="1052888" y="1869946"/>
            <a:ext cx="1454146"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Element Rule</a:t>
            </a:r>
          </a:p>
        </p:txBody>
      </p:sp>
      <p:sp>
        <p:nvSpPr>
          <p:cNvPr id="19" name="TextBox 18">
            <a:extLst>
              <a:ext uri="{FF2B5EF4-FFF2-40B4-BE49-F238E27FC236}">
                <a16:creationId xmlns:a16="http://schemas.microsoft.com/office/drawing/2014/main" id="{27BF085C-8ADE-475E-B67D-7288AF94B329}"/>
              </a:ext>
            </a:extLst>
          </p:cNvPr>
          <p:cNvSpPr txBox="1"/>
          <p:nvPr/>
        </p:nvSpPr>
        <p:spPr>
          <a:xfrm>
            <a:off x="2816014" y="3829935"/>
            <a:ext cx="4507544" cy="553998"/>
          </a:xfrm>
          <a:prstGeom prst="rect">
            <a:avLst/>
          </a:prstGeom>
          <a:noFill/>
        </p:spPr>
        <p:txBody>
          <a:bodyPr wrap="square" lIns="0" tIns="0" rIns="0" bIns="0" rtlCol="0">
            <a:spAutoFit/>
          </a:bodyPr>
          <a:lstStyle/>
          <a:p>
            <a:pPr algn="l"/>
            <a:r>
              <a:rPr lang="en-US" sz="1200" b="0" i="0" dirty="0">
                <a:solidFill>
                  <a:schemeClr val="bg2"/>
                </a:solidFill>
                <a:latin typeface="BentonSans Light" panose="02000503000000020004" pitchFamily="2" charset="0"/>
              </a:rPr>
              <a:t>The risk score for this element is the product of the Weighting Value multiplied by the Multiplier returned from the Rule Set, which in this rule is the value of the inherent risk of the country</a:t>
            </a:r>
          </a:p>
        </p:txBody>
      </p:sp>
      <p:sp>
        <p:nvSpPr>
          <p:cNvPr id="39" name="TextBox 38">
            <a:extLst>
              <a:ext uri="{FF2B5EF4-FFF2-40B4-BE49-F238E27FC236}">
                <a16:creationId xmlns:a16="http://schemas.microsoft.com/office/drawing/2014/main" id="{48F4C762-A8AC-45F3-B0AF-751ADF7FC618}"/>
              </a:ext>
            </a:extLst>
          </p:cNvPr>
          <p:cNvSpPr txBox="1"/>
          <p:nvPr/>
        </p:nvSpPr>
        <p:spPr>
          <a:xfrm>
            <a:off x="2531608" y="2684533"/>
            <a:ext cx="2723073"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Role = Beneficial Owner</a:t>
            </a:r>
          </a:p>
        </p:txBody>
      </p:sp>
      <p:sp>
        <p:nvSpPr>
          <p:cNvPr id="2" name="TextBox 1">
            <a:extLst>
              <a:ext uri="{FF2B5EF4-FFF2-40B4-BE49-F238E27FC236}">
                <a16:creationId xmlns:a16="http://schemas.microsoft.com/office/drawing/2014/main" id="{63E36B85-3A17-481E-BE03-ED7B2F7078E3}"/>
              </a:ext>
            </a:extLst>
          </p:cNvPr>
          <p:cNvSpPr txBox="1"/>
          <p:nvPr/>
        </p:nvSpPr>
        <p:spPr>
          <a:xfrm>
            <a:off x="1810925" y="2515361"/>
            <a:ext cx="457200"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AND</a:t>
            </a:r>
          </a:p>
        </p:txBody>
      </p:sp>
      <p:sp>
        <p:nvSpPr>
          <p:cNvPr id="4" name="TextBox 3">
            <a:extLst>
              <a:ext uri="{FF2B5EF4-FFF2-40B4-BE49-F238E27FC236}">
                <a16:creationId xmlns:a16="http://schemas.microsoft.com/office/drawing/2014/main" id="{4538EA9C-B4CC-46FC-99F3-9232EBE4F7C7}"/>
              </a:ext>
            </a:extLst>
          </p:cNvPr>
          <p:cNvSpPr txBox="1"/>
          <p:nvPr/>
        </p:nvSpPr>
        <p:spPr>
          <a:xfrm>
            <a:off x="6685657" y="1850793"/>
            <a:ext cx="2110285" cy="923330"/>
          </a:xfrm>
          <a:prstGeom prst="rect">
            <a:avLst/>
          </a:prstGeom>
          <a:noFill/>
        </p:spPr>
        <p:txBody>
          <a:bodyPr wrap="square" lIns="0" tIns="0" rIns="0" bIns="0" rtlCol="0">
            <a:spAutoFit/>
          </a:bodyPr>
          <a:lstStyle/>
          <a:p>
            <a:pPr algn="l"/>
            <a:r>
              <a:rPr lang="en-US" sz="1200" b="0" i="0" dirty="0">
                <a:solidFill>
                  <a:schemeClr val="bg2"/>
                </a:solidFill>
                <a:latin typeface="BentonSans Light" panose="02000503000000020004" pitchFamily="2" charset="0"/>
              </a:rPr>
              <a:t>The Account is a merchant with a beneficial owner who has a home address in the Philippines which has an inherent risk of 7-High</a:t>
            </a:r>
          </a:p>
        </p:txBody>
      </p:sp>
      <p:sp>
        <p:nvSpPr>
          <p:cNvPr id="73" name="Rectangle 72">
            <a:extLst>
              <a:ext uri="{FF2B5EF4-FFF2-40B4-BE49-F238E27FC236}">
                <a16:creationId xmlns:a16="http://schemas.microsoft.com/office/drawing/2014/main" id="{0963F671-CCDE-47FF-BF50-552CE207BCBC}"/>
              </a:ext>
            </a:extLst>
          </p:cNvPr>
          <p:cNvSpPr/>
          <p:nvPr/>
        </p:nvSpPr>
        <p:spPr>
          <a:xfrm>
            <a:off x="5132932" y="1022030"/>
            <a:ext cx="2309311" cy="273274"/>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rPr>
              <a:t>High/Low Precedence</a:t>
            </a:r>
          </a:p>
        </p:txBody>
      </p:sp>
      <p:sp>
        <p:nvSpPr>
          <p:cNvPr id="74" name="TextBox 73">
            <a:extLst>
              <a:ext uri="{FF2B5EF4-FFF2-40B4-BE49-F238E27FC236}">
                <a16:creationId xmlns:a16="http://schemas.microsoft.com/office/drawing/2014/main" id="{9CA16F9A-D428-44BE-A4B3-2B5A5E970734}"/>
              </a:ext>
            </a:extLst>
          </p:cNvPr>
          <p:cNvSpPr txBox="1"/>
          <p:nvPr/>
        </p:nvSpPr>
        <p:spPr>
          <a:xfrm>
            <a:off x="7761732" y="1029439"/>
            <a:ext cx="1022291" cy="276999"/>
          </a:xfrm>
          <a:prstGeom prst="rect">
            <a:avLst/>
          </a:prstGeom>
          <a:noFill/>
        </p:spPr>
        <p:txBody>
          <a:bodyPr wrap="square" lIns="0" tIns="0" rIns="0" bIns="0" rtlCol="0">
            <a:spAutoFit/>
          </a:bodyPr>
          <a:lstStyle/>
          <a:p>
            <a:pPr algn="l"/>
            <a:r>
              <a:rPr lang="en-US" dirty="0">
                <a:solidFill>
                  <a:schemeClr val="bg2"/>
                </a:solidFill>
                <a:latin typeface="BentonSans Light" panose="02000503000000020004" pitchFamily="2" charset="0"/>
              </a:rPr>
              <a:t>=	HIGH</a:t>
            </a:r>
            <a:endParaRPr lang="en-US" b="0" i="0" dirty="0">
              <a:solidFill>
                <a:schemeClr val="bg2"/>
              </a:solidFill>
              <a:latin typeface="BentonSans Light" panose="02000503000000020004" pitchFamily="2" charset="0"/>
            </a:endParaRPr>
          </a:p>
        </p:txBody>
      </p:sp>
      <p:sp>
        <p:nvSpPr>
          <p:cNvPr id="75" name="Rectangle: Rounded Corners 74">
            <a:extLst>
              <a:ext uri="{FF2B5EF4-FFF2-40B4-BE49-F238E27FC236}">
                <a16:creationId xmlns:a16="http://schemas.microsoft.com/office/drawing/2014/main" id="{A55C1CD4-A4D0-47A6-9103-B816FBADE7D3}"/>
              </a:ext>
            </a:extLst>
          </p:cNvPr>
          <p:cNvSpPr/>
          <p:nvPr/>
        </p:nvSpPr>
        <p:spPr>
          <a:xfrm>
            <a:off x="2353038" y="1857299"/>
            <a:ext cx="4170236" cy="1825386"/>
          </a:xfrm>
          <a:prstGeom prst="round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A97893D5-1818-42F5-92EF-2853872CA479}"/>
              </a:ext>
            </a:extLst>
          </p:cNvPr>
          <p:cNvSpPr txBox="1"/>
          <p:nvPr/>
        </p:nvSpPr>
        <p:spPr>
          <a:xfrm>
            <a:off x="5690897" y="2505346"/>
            <a:ext cx="833717" cy="276999"/>
          </a:xfrm>
          <a:prstGeom prst="rect">
            <a:avLst/>
          </a:prstGeom>
          <a:noFill/>
        </p:spPr>
        <p:txBody>
          <a:bodyPr wrap="square" lIns="0" tIns="0" rIns="0" bIns="0" rtlCol="0">
            <a:spAutoFit/>
          </a:bodyPr>
          <a:lstStyle/>
          <a:p>
            <a:pPr algn="l"/>
            <a:r>
              <a:rPr lang="en-US" b="0" i="0" dirty="0">
                <a:solidFill>
                  <a:schemeClr val="bg2"/>
                </a:solidFill>
                <a:latin typeface="BentonSans Light" panose="02000503000000020004" pitchFamily="2" charset="0"/>
              </a:rPr>
              <a:t>TRUE</a:t>
            </a:r>
          </a:p>
        </p:txBody>
      </p:sp>
      <p:sp>
        <p:nvSpPr>
          <p:cNvPr id="11" name="Slide Number Placeholder 10">
            <a:extLst>
              <a:ext uri="{FF2B5EF4-FFF2-40B4-BE49-F238E27FC236}">
                <a16:creationId xmlns:a16="http://schemas.microsoft.com/office/drawing/2014/main" id="{BE6927B9-E3C6-4057-8B62-8E981F67125D}"/>
              </a:ext>
            </a:extLst>
          </p:cNvPr>
          <p:cNvSpPr>
            <a:spLocks noGrp="1"/>
          </p:cNvSpPr>
          <p:nvPr>
            <p:ph type="sldNum" sz="quarter" idx="10"/>
          </p:nvPr>
        </p:nvSpPr>
        <p:spPr/>
        <p:txBody>
          <a:bodyPr/>
          <a:lstStyle/>
          <a:p>
            <a:pPr>
              <a:defRPr/>
            </a:pPr>
            <a:fld id="{920384AA-0A71-E644-AEED-65CD2253F2C8}" type="slidenum">
              <a:rPr lang="en-US" smtClean="0"/>
              <a:pPr>
                <a:defRPr/>
              </a:pPr>
              <a:t>10</a:t>
            </a:fld>
            <a:endParaRPr lang="en-US" dirty="0"/>
          </a:p>
        </p:txBody>
      </p:sp>
      <p:sp>
        <p:nvSpPr>
          <p:cNvPr id="52" name="Rectangle 51">
            <a:extLst>
              <a:ext uri="{FF2B5EF4-FFF2-40B4-BE49-F238E27FC236}">
                <a16:creationId xmlns:a16="http://schemas.microsoft.com/office/drawing/2014/main" id="{F1D70214-FBA8-4657-9461-793AD8D8E311}"/>
              </a:ext>
            </a:extLst>
          </p:cNvPr>
          <p:cNvSpPr/>
          <p:nvPr/>
        </p:nvSpPr>
        <p:spPr>
          <a:xfrm>
            <a:off x="2506765" y="2988149"/>
            <a:ext cx="2747647"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53882C10-72F9-47B7-B3F8-B983AF85C7F6}"/>
              </a:ext>
            </a:extLst>
          </p:cNvPr>
          <p:cNvSpPr txBox="1"/>
          <p:nvPr/>
        </p:nvSpPr>
        <p:spPr>
          <a:xfrm>
            <a:off x="2531339" y="3022152"/>
            <a:ext cx="2723073"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Address usage = Home or Business</a:t>
            </a:r>
          </a:p>
        </p:txBody>
      </p:sp>
      <p:sp>
        <p:nvSpPr>
          <p:cNvPr id="76" name="Rectangle 75">
            <a:extLst>
              <a:ext uri="{FF2B5EF4-FFF2-40B4-BE49-F238E27FC236}">
                <a16:creationId xmlns:a16="http://schemas.microsoft.com/office/drawing/2014/main" id="{BE7A46AA-60BE-4C77-8A5E-B039E7D8CC48}"/>
              </a:ext>
            </a:extLst>
          </p:cNvPr>
          <p:cNvSpPr/>
          <p:nvPr/>
        </p:nvSpPr>
        <p:spPr>
          <a:xfrm>
            <a:off x="2506765" y="3328059"/>
            <a:ext cx="2747647" cy="245461"/>
          </a:xfrm>
          <a:prstGeom prst="rect">
            <a:avLst/>
          </a:prstGeom>
          <a:solidFill>
            <a:sysClr val="window" lastClr="FFFFFF">
              <a:lumMod val="85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78" name="TextBox 77">
            <a:extLst>
              <a:ext uri="{FF2B5EF4-FFF2-40B4-BE49-F238E27FC236}">
                <a16:creationId xmlns:a16="http://schemas.microsoft.com/office/drawing/2014/main" id="{71BA4F6D-6FE0-4AB0-8BB3-B06EDA7B0883}"/>
              </a:ext>
            </a:extLst>
          </p:cNvPr>
          <p:cNvSpPr txBox="1"/>
          <p:nvPr/>
        </p:nvSpPr>
        <p:spPr>
          <a:xfrm>
            <a:off x="2531339" y="3362062"/>
            <a:ext cx="2723073" cy="169277"/>
          </a:xfrm>
          <a:prstGeom prst="rect">
            <a:avLst/>
          </a:prstGeom>
          <a:noFill/>
        </p:spPr>
        <p:txBody>
          <a:bodyPr wrap="square" lIns="0" tIns="0" rIns="0" bIns="0" rtlCol="0">
            <a:spAutoFit/>
          </a:bodyPr>
          <a:lstStyle/>
          <a:p>
            <a:r>
              <a:rPr lang="en-US" sz="1100" dirty="0">
                <a:solidFill>
                  <a:schemeClr val="bg2"/>
                </a:solidFill>
                <a:latin typeface="BentonSans Light" panose="02000503000000020004" pitchFamily="2" charset="0"/>
              </a:rPr>
              <a:t>Country of Address risk = 7 or 8 or 9</a:t>
            </a:r>
          </a:p>
        </p:txBody>
      </p:sp>
      <p:cxnSp>
        <p:nvCxnSpPr>
          <p:cNvPr id="7" name="Connector: Elbow 6">
            <a:extLst>
              <a:ext uri="{FF2B5EF4-FFF2-40B4-BE49-F238E27FC236}">
                <a16:creationId xmlns:a16="http://schemas.microsoft.com/office/drawing/2014/main" id="{1E1066D4-3D9A-4CB9-A799-0FF375F840A7}"/>
              </a:ext>
            </a:extLst>
          </p:cNvPr>
          <p:cNvCxnSpPr>
            <a:cxnSpLocks/>
            <a:stCxn id="78" idx="3"/>
            <a:endCxn id="51" idx="2"/>
          </p:cNvCxnSpPr>
          <p:nvPr/>
        </p:nvCxnSpPr>
        <p:spPr>
          <a:xfrm flipV="1">
            <a:off x="5254412" y="2246836"/>
            <a:ext cx="229542" cy="1199865"/>
          </a:xfrm>
          <a:prstGeom prst="bentConnector2">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E5E2DA01-E62A-4AE0-9AFD-577B50228C5C}"/>
              </a:ext>
            </a:extLst>
          </p:cNvPr>
          <p:cNvSpPr txBox="1"/>
          <p:nvPr/>
        </p:nvSpPr>
        <p:spPr>
          <a:xfrm>
            <a:off x="1803525" y="2846768"/>
            <a:ext cx="457200"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AND</a:t>
            </a:r>
          </a:p>
        </p:txBody>
      </p:sp>
      <p:sp>
        <p:nvSpPr>
          <p:cNvPr id="80" name="TextBox 79">
            <a:extLst>
              <a:ext uri="{FF2B5EF4-FFF2-40B4-BE49-F238E27FC236}">
                <a16:creationId xmlns:a16="http://schemas.microsoft.com/office/drawing/2014/main" id="{A98079A0-5978-4F06-B47B-60EDCBB9957F}"/>
              </a:ext>
            </a:extLst>
          </p:cNvPr>
          <p:cNvSpPr txBox="1"/>
          <p:nvPr/>
        </p:nvSpPr>
        <p:spPr>
          <a:xfrm>
            <a:off x="1779961" y="3166943"/>
            <a:ext cx="457200" cy="215444"/>
          </a:xfrm>
          <a:prstGeom prst="rect">
            <a:avLst/>
          </a:prstGeom>
          <a:noFill/>
        </p:spPr>
        <p:txBody>
          <a:bodyPr wrap="square" lIns="0" tIns="0" rIns="0" bIns="0" rtlCol="0">
            <a:spAutoFit/>
          </a:bodyPr>
          <a:lstStyle/>
          <a:p>
            <a:pPr algn="l"/>
            <a:r>
              <a:rPr lang="en-US" sz="1400" b="0" i="0" dirty="0">
                <a:solidFill>
                  <a:schemeClr val="bg2"/>
                </a:solidFill>
                <a:latin typeface="BentonSans Light" panose="02000503000000020004" pitchFamily="2" charset="0"/>
              </a:rPr>
              <a:t>AND</a:t>
            </a:r>
          </a:p>
        </p:txBody>
      </p:sp>
    </p:spTree>
    <p:extLst>
      <p:ext uri="{BB962C8B-B14F-4D97-AF65-F5344CB8AC3E}">
        <p14:creationId xmlns:p14="http://schemas.microsoft.com/office/powerpoint/2010/main" val="105988879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3">
            <a:extLst>
              <a:ext uri="{FF2B5EF4-FFF2-40B4-BE49-F238E27FC236}">
                <a16:creationId xmlns:a16="http://schemas.microsoft.com/office/drawing/2014/main" id="{D0648009-C2CE-4504-88DB-CD84CF284489}"/>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solidFill>
                  <a:prstClr val="black">
                    <a:tint val="75000"/>
                  </a:prstClr>
                </a:solidFill>
                <a:latin typeface="Calibri" panose="020F0502020204030204"/>
              </a:rPr>
              <a:t>AXP Internal</a:t>
            </a:r>
          </a:p>
        </p:txBody>
      </p:sp>
      <p:sp>
        <p:nvSpPr>
          <p:cNvPr id="24" name="Date Placeholder 4">
            <a:extLst>
              <a:ext uri="{FF2B5EF4-FFF2-40B4-BE49-F238E27FC236}">
                <a16:creationId xmlns:a16="http://schemas.microsoft.com/office/drawing/2014/main" id="{1ED79B33-D9AF-441C-9B6C-F78D2D23BB1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A46D4F4E-B233-4BBE-8215-EE798DD53D74}" type="datetime5">
              <a:rPr lang="en-US" smtClean="0">
                <a:solidFill>
                  <a:prstClr val="black">
                    <a:tint val="75000"/>
                  </a:prstClr>
                </a:solidFill>
                <a:latin typeface="Calibri" panose="020F0502020204030204"/>
              </a:rPr>
              <a:pPr fontAlgn="auto">
                <a:spcBef>
                  <a:spcPts val="0"/>
                </a:spcBef>
                <a:spcAft>
                  <a:spcPts val="0"/>
                </a:spcAft>
              </a:pPr>
              <a:t>1-Apr-22</a:t>
            </a:fld>
            <a:endParaRPr lang="en-US">
              <a:solidFill>
                <a:prstClr val="black">
                  <a:tint val="75000"/>
                </a:prstClr>
              </a:solidFill>
              <a:latin typeface="Calibri" panose="020F0502020204030204"/>
            </a:endParaRPr>
          </a:p>
        </p:txBody>
      </p:sp>
      <p:sp>
        <p:nvSpPr>
          <p:cNvPr id="25" name="Slide Number Placeholder 5">
            <a:extLst>
              <a:ext uri="{FF2B5EF4-FFF2-40B4-BE49-F238E27FC236}">
                <a16:creationId xmlns:a16="http://schemas.microsoft.com/office/drawing/2014/main" id="{7A80D6DF-05C5-4927-B491-CC6D1C14BE3F}"/>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fld id="{0842897F-5191-4E88-9CA8-D5AD207F07AB}" type="slidenum">
              <a:rPr lang="en-US" smtClean="0">
                <a:solidFill>
                  <a:prstClr val="black">
                    <a:tint val="75000"/>
                  </a:prstClr>
                </a:solidFill>
                <a:latin typeface="Calibri" panose="020F0502020204030204"/>
              </a:rPr>
              <a:pPr fontAlgn="auto">
                <a:spcBef>
                  <a:spcPts val="0"/>
                </a:spcBef>
                <a:spcAft>
                  <a:spcPts val="0"/>
                </a:spcAft>
              </a:pPr>
              <a:t>11</a:t>
            </a:fld>
            <a:endParaRPr lang="en-US">
              <a:solidFill>
                <a:prstClr val="black">
                  <a:tint val="75000"/>
                </a:prstClr>
              </a:solidFill>
              <a:latin typeface="Calibri" panose="020F0502020204030204"/>
            </a:endParaRPr>
          </a:p>
        </p:txBody>
      </p:sp>
      <p:sp>
        <p:nvSpPr>
          <p:cNvPr id="175" name="Rectangle 174">
            <a:extLst>
              <a:ext uri="{FF2B5EF4-FFF2-40B4-BE49-F238E27FC236}">
                <a16:creationId xmlns:a16="http://schemas.microsoft.com/office/drawing/2014/main" id="{981DB4CC-1419-4366-883C-7AD1C917B496}"/>
              </a:ext>
            </a:extLst>
          </p:cNvPr>
          <p:cNvSpPr/>
          <p:nvPr/>
        </p:nvSpPr>
        <p:spPr>
          <a:xfrm>
            <a:off x="723438" y="59962"/>
            <a:ext cx="4122475" cy="538609"/>
          </a:xfrm>
          <a:prstGeom prst="rect">
            <a:avLst/>
          </a:prstGeom>
        </p:spPr>
        <p:txBody>
          <a:bodyPr wrap="none">
            <a:spAutoFit/>
          </a:bodyPr>
          <a:lstStyle/>
          <a:p>
            <a:pPr defTabSz="914400" fontAlgn="auto">
              <a:spcBef>
                <a:spcPts val="0"/>
              </a:spcBef>
              <a:spcAft>
                <a:spcPts val="0"/>
              </a:spcAft>
            </a:pPr>
            <a:r>
              <a:rPr lang="en-US" sz="2900" dirty="0">
                <a:latin typeface="Guardian Egyp Regular" panose="02060503050503060803" pitchFamily="18" charset="77"/>
              </a:rPr>
              <a:t>Final CRR determination</a:t>
            </a:r>
          </a:p>
        </p:txBody>
      </p:sp>
      <p:grpSp>
        <p:nvGrpSpPr>
          <p:cNvPr id="12" name="Group 11">
            <a:extLst>
              <a:ext uri="{FF2B5EF4-FFF2-40B4-BE49-F238E27FC236}">
                <a16:creationId xmlns:a16="http://schemas.microsoft.com/office/drawing/2014/main" id="{499A3073-A4DE-4ED8-8078-D346B5CFEC71}"/>
              </a:ext>
            </a:extLst>
          </p:cNvPr>
          <p:cNvGrpSpPr/>
          <p:nvPr/>
        </p:nvGrpSpPr>
        <p:grpSpPr>
          <a:xfrm>
            <a:off x="927951" y="1885352"/>
            <a:ext cx="1530709" cy="623397"/>
            <a:chOff x="867865" y="1821065"/>
            <a:chExt cx="1530709" cy="623397"/>
          </a:xfrm>
        </p:grpSpPr>
        <p:sp>
          <p:nvSpPr>
            <p:cNvPr id="177" name="Rectangle 176">
              <a:extLst>
                <a:ext uri="{FF2B5EF4-FFF2-40B4-BE49-F238E27FC236}">
                  <a16:creationId xmlns:a16="http://schemas.microsoft.com/office/drawing/2014/main" id="{4CD1BAB0-4EA5-4574-9C74-D260C31E2A09}"/>
                </a:ext>
              </a:extLst>
            </p:cNvPr>
            <p:cNvSpPr/>
            <p:nvPr/>
          </p:nvSpPr>
          <p:spPr>
            <a:xfrm>
              <a:off x="867868" y="1821065"/>
              <a:ext cx="1139828" cy="153879"/>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PEP</a:t>
              </a:r>
            </a:p>
          </p:txBody>
        </p:sp>
        <p:sp>
          <p:nvSpPr>
            <p:cNvPr id="178" name="Rectangle 177">
              <a:extLst>
                <a:ext uri="{FF2B5EF4-FFF2-40B4-BE49-F238E27FC236}">
                  <a16:creationId xmlns:a16="http://schemas.microsoft.com/office/drawing/2014/main" id="{2E7A59C6-32C9-47A6-8D5A-EB6AEC2C705B}"/>
                </a:ext>
              </a:extLst>
            </p:cNvPr>
            <p:cNvSpPr/>
            <p:nvPr/>
          </p:nvSpPr>
          <p:spPr>
            <a:xfrm>
              <a:off x="867867" y="1976330"/>
              <a:ext cx="1139828" cy="162004"/>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179" name="Rectangle 178">
              <a:extLst>
                <a:ext uri="{FF2B5EF4-FFF2-40B4-BE49-F238E27FC236}">
                  <a16:creationId xmlns:a16="http://schemas.microsoft.com/office/drawing/2014/main" id="{CB239428-CA3D-4380-AB24-3C0549204BEB}"/>
                </a:ext>
              </a:extLst>
            </p:cNvPr>
            <p:cNvSpPr/>
            <p:nvPr/>
          </p:nvSpPr>
          <p:spPr>
            <a:xfrm>
              <a:off x="2004429" y="1821296"/>
              <a:ext cx="394145" cy="155264"/>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Y</a:t>
              </a:r>
            </a:p>
          </p:txBody>
        </p:sp>
        <p:sp>
          <p:nvSpPr>
            <p:cNvPr id="180" name="Rectangle 179">
              <a:extLst>
                <a:ext uri="{FF2B5EF4-FFF2-40B4-BE49-F238E27FC236}">
                  <a16:creationId xmlns:a16="http://schemas.microsoft.com/office/drawing/2014/main" id="{13F99FDA-5D4D-4686-A339-E51CA354AC62}"/>
                </a:ext>
              </a:extLst>
            </p:cNvPr>
            <p:cNvSpPr/>
            <p:nvPr/>
          </p:nvSpPr>
          <p:spPr>
            <a:xfrm>
              <a:off x="2004427" y="1976136"/>
              <a:ext cx="394145" cy="163704"/>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400</a:t>
              </a:r>
            </a:p>
          </p:txBody>
        </p:sp>
        <p:sp>
          <p:nvSpPr>
            <p:cNvPr id="181" name="Rectangle 180">
              <a:extLst>
                <a:ext uri="{FF2B5EF4-FFF2-40B4-BE49-F238E27FC236}">
                  <a16:creationId xmlns:a16="http://schemas.microsoft.com/office/drawing/2014/main" id="{37403B05-AC0A-432C-B25A-FBB96377EA13}"/>
                </a:ext>
              </a:extLst>
            </p:cNvPr>
            <p:cNvSpPr/>
            <p:nvPr/>
          </p:nvSpPr>
          <p:spPr>
            <a:xfrm>
              <a:off x="2004426" y="2138564"/>
              <a:ext cx="394145" cy="15235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1</a:t>
              </a:r>
            </a:p>
          </p:txBody>
        </p:sp>
        <p:sp>
          <p:nvSpPr>
            <p:cNvPr id="182" name="Rectangle 181">
              <a:extLst>
                <a:ext uri="{FF2B5EF4-FFF2-40B4-BE49-F238E27FC236}">
                  <a16:creationId xmlns:a16="http://schemas.microsoft.com/office/drawing/2014/main" id="{91FCD6C7-DFE2-4691-B113-81AA3054ABB9}"/>
                </a:ext>
              </a:extLst>
            </p:cNvPr>
            <p:cNvSpPr/>
            <p:nvPr/>
          </p:nvSpPr>
          <p:spPr>
            <a:xfrm>
              <a:off x="867865" y="2135165"/>
              <a:ext cx="1139828" cy="158347"/>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183" name="Rectangle 182">
              <a:extLst>
                <a:ext uri="{FF2B5EF4-FFF2-40B4-BE49-F238E27FC236}">
                  <a16:creationId xmlns:a16="http://schemas.microsoft.com/office/drawing/2014/main" id="{3B577D74-E076-4A78-AB2F-AA6971CAC6EB}"/>
                </a:ext>
              </a:extLst>
            </p:cNvPr>
            <p:cNvSpPr/>
            <p:nvPr/>
          </p:nvSpPr>
          <p:spPr>
            <a:xfrm>
              <a:off x="2004426" y="2292109"/>
              <a:ext cx="394145" cy="15235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400</a:t>
              </a:r>
            </a:p>
          </p:txBody>
        </p:sp>
        <p:sp>
          <p:nvSpPr>
            <p:cNvPr id="184" name="Rectangle 183">
              <a:extLst>
                <a:ext uri="{FF2B5EF4-FFF2-40B4-BE49-F238E27FC236}">
                  <a16:creationId xmlns:a16="http://schemas.microsoft.com/office/drawing/2014/main" id="{6BD8A977-673A-4428-9E10-049802CEACD2}"/>
                </a:ext>
              </a:extLst>
            </p:cNvPr>
            <p:cNvSpPr/>
            <p:nvPr/>
          </p:nvSpPr>
          <p:spPr>
            <a:xfrm>
              <a:off x="867865" y="2292321"/>
              <a:ext cx="1139828" cy="150993"/>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14" name="Group 13">
            <a:extLst>
              <a:ext uri="{FF2B5EF4-FFF2-40B4-BE49-F238E27FC236}">
                <a16:creationId xmlns:a16="http://schemas.microsoft.com/office/drawing/2014/main" id="{D3ECF490-14DC-4DDF-AB6D-EE8339F7035F}"/>
              </a:ext>
            </a:extLst>
          </p:cNvPr>
          <p:cNvGrpSpPr/>
          <p:nvPr/>
        </p:nvGrpSpPr>
        <p:grpSpPr>
          <a:xfrm>
            <a:off x="933704" y="2633347"/>
            <a:ext cx="1517377" cy="614057"/>
            <a:chOff x="873618" y="2569060"/>
            <a:chExt cx="1517377" cy="614057"/>
          </a:xfrm>
        </p:grpSpPr>
        <p:sp>
          <p:nvSpPr>
            <p:cNvPr id="186" name="Rectangle 185">
              <a:extLst>
                <a:ext uri="{FF2B5EF4-FFF2-40B4-BE49-F238E27FC236}">
                  <a16:creationId xmlns:a16="http://schemas.microsoft.com/office/drawing/2014/main" id="{8E31CB71-D187-470F-9B76-E5D8D90E5D2B}"/>
                </a:ext>
              </a:extLst>
            </p:cNvPr>
            <p:cNvSpPr/>
            <p:nvPr/>
          </p:nvSpPr>
          <p:spPr>
            <a:xfrm>
              <a:off x="873618" y="2570379"/>
              <a:ext cx="1123232" cy="151519"/>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Length of Relationship</a:t>
              </a:r>
            </a:p>
          </p:txBody>
        </p:sp>
        <p:sp>
          <p:nvSpPr>
            <p:cNvPr id="187" name="Rectangle 186">
              <a:extLst>
                <a:ext uri="{FF2B5EF4-FFF2-40B4-BE49-F238E27FC236}">
                  <a16:creationId xmlns:a16="http://schemas.microsoft.com/office/drawing/2014/main" id="{E83AEEAB-F3F4-41A2-A3DB-9637003BA036}"/>
                </a:ext>
              </a:extLst>
            </p:cNvPr>
            <p:cNvSpPr/>
            <p:nvPr/>
          </p:nvSpPr>
          <p:spPr>
            <a:xfrm>
              <a:off x="873618" y="2721898"/>
              <a:ext cx="1121771" cy="162521"/>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188" name="Rectangle 187">
              <a:extLst>
                <a:ext uri="{FF2B5EF4-FFF2-40B4-BE49-F238E27FC236}">
                  <a16:creationId xmlns:a16="http://schemas.microsoft.com/office/drawing/2014/main" id="{C360112D-45B3-4057-8059-222D882B546F}"/>
                </a:ext>
              </a:extLst>
            </p:cNvPr>
            <p:cNvSpPr/>
            <p:nvPr/>
          </p:nvSpPr>
          <p:spPr>
            <a:xfrm>
              <a:off x="1996363" y="2569060"/>
              <a:ext cx="394145" cy="153679"/>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1 </a:t>
              </a:r>
              <a:r>
                <a:rPr kumimoji="0" lang="en-US" sz="800" b="0" i="0" u="none" strike="noStrike" kern="0" cap="none" spc="0" normalizeH="0" baseline="0" noProof="0" dirty="0" err="1">
                  <a:ln>
                    <a:noFill/>
                  </a:ln>
                  <a:solidFill>
                    <a:srgbClr val="ED7D31">
                      <a:lumMod val="75000"/>
                    </a:srgbClr>
                  </a:solidFill>
                  <a:effectLst/>
                  <a:uLnTx/>
                  <a:uFillTx/>
                  <a:latin typeface="Calibri" panose="020F0502020204030204"/>
                  <a:ea typeface="+mn-ea"/>
                  <a:cs typeface="+mn-cs"/>
                </a:rPr>
                <a:t>yr</a:t>
              </a:r>
              <a:endPar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189" name="Rectangle 188">
              <a:extLst>
                <a:ext uri="{FF2B5EF4-FFF2-40B4-BE49-F238E27FC236}">
                  <a16:creationId xmlns:a16="http://schemas.microsoft.com/office/drawing/2014/main" id="{E13C981C-CDB6-4027-9A3C-60AF8E42F42C}"/>
                </a:ext>
              </a:extLst>
            </p:cNvPr>
            <p:cNvSpPr/>
            <p:nvPr/>
          </p:nvSpPr>
          <p:spPr>
            <a:xfrm>
              <a:off x="1996117" y="2721457"/>
              <a:ext cx="394148" cy="161770"/>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25</a:t>
              </a:r>
            </a:p>
          </p:txBody>
        </p:sp>
        <p:sp>
          <p:nvSpPr>
            <p:cNvPr id="190" name="Rectangle 189">
              <a:extLst>
                <a:ext uri="{FF2B5EF4-FFF2-40B4-BE49-F238E27FC236}">
                  <a16:creationId xmlns:a16="http://schemas.microsoft.com/office/drawing/2014/main" id="{A6B92C2A-CC0D-4EAD-AAB5-45ED0AB38486}"/>
                </a:ext>
              </a:extLst>
            </p:cNvPr>
            <p:cNvSpPr/>
            <p:nvPr/>
          </p:nvSpPr>
          <p:spPr>
            <a:xfrm>
              <a:off x="1996848" y="2876928"/>
              <a:ext cx="394145" cy="161790"/>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3</a:t>
              </a:r>
            </a:p>
          </p:txBody>
        </p:sp>
        <p:sp>
          <p:nvSpPr>
            <p:cNvPr id="191" name="Rectangle 190">
              <a:extLst>
                <a:ext uri="{FF2B5EF4-FFF2-40B4-BE49-F238E27FC236}">
                  <a16:creationId xmlns:a16="http://schemas.microsoft.com/office/drawing/2014/main" id="{9B05D6AB-042E-434F-9992-5A0DF2394861}"/>
                </a:ext>
              </a:extLst>
            </p:cNvPr>
            <p:cNvSpPr/>
            <p:nvPr/>
          </p:nvSpPr>
          <p:spPr>
            <a:xfrm>
              <a:off x="874594" y="2877562"/>
              <a:ext cx="1123231" cy="155754"/>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192" name="Rectangle 191">
              <a:extLst>
                <a:ext uri="{FF2B5EF4-FFF2-40B4-BE49-F238E27FC236}">
                  <a16:creationId xmlns:a16="http://schemas.microsoft.com/office/drawing/2014/main" id="{CB03FEEB-80CD-4F7F-A04C-2B973B621ED2}"/>
                </a:ext>
              </a:extLst>
            </p:cNvPr>
            <p:cNvSpPr/>
            <p:nvPr/>
          </p:nvSpPr>
          <p:spPr>
            <a:xfrm>
              <a:off x="1996850" y="3030521"/>
              <a:ext cx="394145" cy="15235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75</a:t>
              </a:r>
            </a:p>
          </p:txBody>
        </p:sp>
        <p:sp>
          <p:nvSpPr>
            <p:cNvPr id="193" name="Rectangle 192">
              <a:extLst>
                <a:ext uri="{FF2B5EF4-FFF2-40B4-BE49-F238E27FC236}">
                  <a16:creationId xmlns:a16="http://schemas.microsoft.com/office/drawing/2014/main" id="{0675BFAF-2940-4B19-BAF0-E5D99CD2626B}"/>
                </a:ext>
              </a:extLst>
            </p:cNvPr>
            <p:cNvSpPr/>
            <p:nvPr/>
          </p:nvSpPr>
          <p:spPr>
            <a:xfrm>
              <a:off x="874592" y="3032124"/>
              <a:ext cx="1123233" cy="150993"/>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16" name="Group 15">
            <a:extLst>
              <a:ext uri="{FF2B5EF4-FFF2-40B4-BE49-F238E27FC236}">
                <a16:creationId xmlns:a16="http://schemas.microsoft.com/office/drawing/2014/main" id="{A109001A-FA35-40E5-BDCA-F7FBA4F32D35}"/>
              </a:ext>
            </a:extLst>
          </p:cNvPr>
          <p:cNvGrpSpPr/>
          <p:nvPr/>
        </p:nvGrpSpPr>
        <p:grpSpPr>
          <a:xfrm>
            <a:off x="921054" y="3361519"/>
            <a:ext cx="1532988" cy="616421"/>
            <a:chOff x="860968" y="3297232"/>
            <a:chExt cx="1532988" cy="616421"/>
          </a:xfrm>
        </p:grpSpPr>
        <p:sp>
          <p:nvSpPr>
            <p:cNvPr id="195" name="Rectangle 194">
              <a:extLst>
                <a:ext uri="{FF2B5EF4-FFF2-40B4-BE49-F238E27FC236}">
                  <a16:creationId xmlns:a16="http://schemas.microsoft.com/office/drawing/2014/main" id="{49098CEE-ED3B-4CB7-93B5-D407A7545266}"/>
                </a:ext>
              </a:extLst>
            </p:cNvPr>
            <p:cNvSpPr/>
            <p:nvPr/>
          </p:nvSpPr>
          <p:spPr>
            <a:xfrm>
              <a:off x="861462" y="3298875"/>
              <a:ext cx="1139828" cy="153879"/>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Number of Accounts</a:t>
              </a:r>
            </a:p>
          </p:txBody>
        </p:sp>
        <p:sp>
          <p:nvSpPr>
            <p:cNvPr id="196" name="Rectangle 195">
              <a:extLst>
                <a:ext uri="{FF2B5EF4-FFF2-40B4-BE49-F238E27FC236}">
                  <a16:creationId xmlns:a16="http://schemas.microsoft.com/office/drawing/2014/main" id="{730FD680-61AD-413A-8961-138380410859}"/>
                </a:ext>
              </a:extLst>
            </p:cNvPr>
            <p:cNvSpPr/>
            <p:nvPr/>
          </p:nvSpPr>
          <p:spPr>
            <a:xfrm>
              <a:off x="860968" y="3446824"/>
              <a:ext cx="1139828" cy="162004"/>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197" name="Rectangle 196">
              <a:extLst>
                <a:ext uri="{FF2B5EF4-FFF2-40B4-BE49-F238E27FC236}">
                  <a16:creationId xmlns:a16="http://schemas.microsoft.com/office/drawing/2014/main" id="{A3D98500-802D-4F48-9456-53FE42D230BD}"/>
                </a:ext>
              </a:extLst>
            </p:cNvPr>
            <p:cNvSpPr/>
            <p:nvPr/>
          </p:nvSpPr>
          <p:spPr>
            <a:xfrm>
              <a:off x="1999317" y="3297232"/>
              <a:ext cx="394145" cy="155264"/>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4</a:t>
              </a:r>
            </a:p>
          </p:txBody>
        </p:sp>
        <p:sp>
          <p:nvSpPr>
            <p:cNvPr id="198" name="Rectangle 197">
              <a:extLst>
                <a:ext uri="{FF2B5EF4-FFF2-40B4-BE49-F238E27FC236}">
                  <a16:creationId xmlns:a16="http://schemas.microsoft.com/office/drawing/2014/main" id="{C0334955-90B3-4AB7-859A-915BE9D62297}"/>
                </a:ext>
              </a:extLst>
            </p:cNvPr>
            <p:cNvSpPr/>
            <p:nvPr/>
          </p:nvSpPr>
          <p:spPr>
            <a:xfrm>
              <a:off x="1999811" y="3450515"/>
              <a:ext cx="394145" cy="157815"/>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50</a:t>
              </a:r>
            </a:p>
          </p:txBody>
        </p:sp>
        <p:sp>
          <p:nvSpPr>
            <p:cNvPr id="199" name="Rectangle 198">
              <a:extLst>
                <a:ext uri="{FF2B5EF4-FFF2-40B4-BE49-F238E27FC236}">
                  <a16:creationId xmlns:a16="http://schemas.microsoft.com/office/drawing/2014/main" id="{7CD48E4A-410D-4826-815E-F1104F2151E9}"/>
                </a:ext>
              </a:extLst>
            </p:cNvPr>
            <p:cNvSpPr/>
            <p:nvPr/>
          </p:nvSpPr>
          <p:spPr>
            <a:xfrm>
              <a:off x="1999810" y="3607055"/>
              <a:ext cx="394145" cy="15235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4</a:t>
              </a:r>
            </a:p>
          </p:txBody>
        </p:sp>
        <p:sp>
          <p:nvSpPr>
            <p:cNvPr id="200" name="Rectangle 199">
              <a:extLst>
                <a:ext uri="{FF2B5EF4-FFF2-40B4-BE49-F238E27FC236}">
                  <a16:creationId xmlns:a16="http://schemas.microsoft.com/office/drawing/2014/main" id="{C88C9672-D5AD-4285-A965-6061C9107EA4}"/>
                </a:ext>
              </a:extLst>
            </p:cNvPr>
            <p:cNvSpPr/>
            <p:nvPr/>
          </p:nvSpPr>
          <p:spPr>
            <a:xfrm>
              <a:off x="861955" y="3608330"/>
              <a:ext cx="1139828" cy="15552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01" name="Rectangle 200">
              <a:extLst>
                <a:ext uri="{FF2B5EF4-FFF2-40B4-BE49-F238E27FC236}">
                  <a16:creationId xmlns:a16="http://schemas.microsoft.com/office/drawing/2014/main" id="{0AA515C0-B6D2-4F4F-9292-A3A986DF4A1E}"/>
                </a:ext>
              </a:extLst>
            </p:cNvPr>
            <p:cNvSpPr/>
            <p:nvPr/>
          </p:nvSpPr>
          <p:spPr>
            <a:xfrm>
              <a:off x="1999810" y="3760600"/>
              <a:ext cx="394145" cy="15235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200</a:t>
              </a:r>
            </a:p>
          </p:txBody>
        </p:sp>
        <p:sp>
          <p:nvSpPr>
            <p:cNvPr id="202" name="Rectangle 201">
              <a:extLst>
                <a:ext uri="{FF2B5EF4-FFF2-40B4-BE49-F238E27FC236}">
                  <a16:creationId xmlns:a16="http://schemas.microsoft.com/office/drawing/2014/main" id="{FB0505B9-2565-4877-A717-BAFF8C006E95}"/>
                </a:ext>
              </a:extLst>
            </p:cNvPr>
            <p:cNvSpPr/>
            <p:nvPr/>
          </p:nvSpPr>
          <p:spPr>
            <a:xfrm>
              <a:off x="861955" y="3762660"/>
              <a:ext cx="1139828" cy="150993"/>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17" name="Group 16">
            <a:extLst>
              <a:ext uri="{FF2B5EF4-FFF2-40B4-BE49-F238E27FC236}">
                <a16:creationId xmlns:a16="http://schemas.microsoft.com/office/drawing/2014/main" id="{E2EC721C-5FC1-4958-9DF3-E63708897AC2}"/>
              </a:ext>
            </a:extLst>
          </p:cNvPr>
          <p:cNvGrpSpPr/>
          <p:nvPr/>
        </p:nvGrpSpPr>
        <p:grpSpPr>
          <a:xfrm>
            <a:off x="922040" y="4089720"/>
            <a:ext cx="1528309" cy="621806"/>
            <a:chOff x="861954" y="4025433"/>
            <a:chExt cx="1528309" cy="621806"/>
          </a:xfrm>
        </p:grpSpPr>
        <p:sp>
          <p:nvSpPr>
            <p:cNvPr id="204" name="Rectangle 203">
              <a:extLst>
                <a:ext uri="{FF2B5EF4-FFF2-40B4-BE49-F238E27FC236}">
                  <a16:creationId xmlns:a16="http://schemas.microsoft.com/office/drawing/2014/main" id="{152A970C-B7E8-4191-A5A8-D7A8779D0DFB}"/>
                </a:ext>
              </a:extLst>
            </p:cNvPr>
            <p:cNvSpPr/>
            <p:nvPr/>
          </p:nvSpPr>
          <p:spPr>
            <a:xfrm>
              <a:off x="861957" y="4025433"/>
              <a:ext cx="1134164" cy="156424"/>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Nationality</a:t>
              </a:r>
            </a:p>
          </p:txBody>
        </p:sp>
        <p:sp>
          <p:nvSpPr>
            <p:cNvPr id="205" name="Rectangle 204">
              <a:extLst>
                <a:ext uri="{FF2B5EF4-FFF2-40B4-BE49-F238E27FC236}">
                  <a16:creationId xmlns:a16="http://schemas.microsoft.com/office/drawing/2014/main" id="{D9A277CE-1EF1-4888-A1A3-3437A7C7FCEA}"/>
                </a:ext>
              </a:extLst>
            </p:cNvPr>
            <p:cNvSpPr/>
            <p:nvPr/>
          </p:nvSpPr>
          <p:spPr>
            <a:xfrm>
              <a:off x="861956" y="4180792"/>
              <a:ext cx="1134164" cy="161565"/>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206" name="Rectangle 205">
              <a:extLst>
                <a:ext uri="{FF2B5EF4-FFF2-40B4-BE49-F238E27FC236}">
                  <a16:creationId xmlns:a16="http://schemas.microsoft.com/office/drawing/2014/main" id="{9D5F4535-CEF6-4404-B8EC-F89718B62E6F}"/>
                </a:ext>
              </a:extLst>
            </p:cNvPr>
            <p:cNvSpPr/>
            <p:nvPr/>
          </p:nvSpPr>
          <p:spPr>
            <a:xfrm>
              <a:off x="1996119" y="4027220"/>
              <a:ext cx="394143" cy="154637"/>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India</a:t>
              </a:r>
            </a:p>
          </p:txBody>
        </p:sp>
        <p:sp>
          <p:nvSpPr>
            <p:cNvPr id="207" name="Rectangle 206">
              <a:extLst>
                <a:ext uri="{FF2B5EF4-FFF2-40B4-BE49-F238E27FC236}">
                  <a16:creationId xmlns:a16="http://schemas.microsoft.com/office/drawing/2014/main" id="{600702D4-56E1-4DE8-9ABB-A7102D6964FB}"/>
                </a:ext>
              </a:extLst>
            </p:cNvPr>
            <p:cNvSpPr/>
            <p:nvPr/>
          </p:nvSpPr>
          <p:spPr>
            <a:xfrm>
              <a:off x="1996117" y="4180529"/>
              <a:ext cx="394145" cy="162885"/>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60</a:t>
              </a:r>
            </a:p>
          </p:txBody>
        </p:sp>
        <p:sp>
          <p:nvSpPr>
            <p:cNvPr id="208" name="Rectangle 207">
              <a:extLst>
                <a:ext uri="{FF2B5EF4-FFF2-40B4-BE49-F238E27FC236}">
                  <a16:creationId xmlns:a16="http://schemas.microsoft.com/office/drawing/2014/main" id="{CFC8AADC-9E71-4A0D-93F3-1D21E4634B17}"/>
                </a:ext>
              </a:extLst>
            </p:cNvPr>
            <p:cNvSpPr/>
            <p:nvPr/>
          </p:nvSpPr>
          <p:spPr>
            <a:xfrm>
              <a:off x="1996118" y="4341339"/>
              <a:ext cx="394145" cy="15235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2</a:t>
              </a:r>
            </a:p>
          </p:txBody>
        </p:sp>
        <p:sp>
          <p:nvSpPr>
            <p:cNvPr id="209" name="Rectangle 208">
              <a:extLst>
                <a:ext uri="{FF2B5EF4-FFF2-40B4-BE49-F238E27FC236}">
                  <a16:creationId xmlns:a16="http://schemas.microsoft.com/office/drawing/2014/main" id="{1998BEE4-92FE-477A-8590-6D945F2B248B}"/>
                </a:ext>
              </a:extLst>
            </p:cNvPr>
            <p:cNvSpPr/>
            <p:nvPr/>
          </p:nvSpPr>
          <p:spPr>
            <a:xfrm>
              <a:off x="861954" y="4341013"/>
              <a:ext cx="1134164" cy="156424"/>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10" name="Rectangle 209">
              <a:extLst>
                <a:ext uri="{FF2B5EF4-FFF2-40B4-BE49-F238E27FC236}">
                  <a16:creationId xmlns:a16="http://schemas.microsoft.com/office/drawing/2014/main" id="{CD72CECA-07B5-4725-930B-B85EF511FCD3}"/>
                </a:ext>
              </a:extLst>
            </p:cNvPr>
            <p:cNvSpPr/>
            <p:nvPr/>
          </p:nvSpPr>
          <p:spPr>
            <a:xfrm>
              <a:off x="1996118" y="4494884"/>
              <a:ext cx="394145" cy="15235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120</a:t>
              </a:r>
            </a:p>
          </p:txBody>
        </p:sp>
        <p:sp>
          <p:nvSpPr>
            <p:cNvPr id="211" name="Rectangle 210">
              <a:extLst>
                <a:ext uri="{FF2B5EF4-FFF2-40B4-BE49-F238E27FC236}">
                  <a16:creationId xmlns:a16="http://schemas.microsoft.com/office/drawing/2014/main" id="{66EF9F83-0405-41DF-B49D-88B8A5158F23}"/>
                </a:ext>
              </a:extLst>
            </p:cNvPr>
            <p:cNvSpPr/>
            <p:nvPr/>
          </p:nvSpPr>
          <p:spPr>
            <a:xfrm>
              <a:off x="861954" y="4496655"/>
              <a:ext cx="1134164" cy="150584"/>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15" name="Group 14">
            <a:extLst>
              <a:ext uri="{FF2B5EF4-FFF2-40B4-BE49-F238E27FC236}">
                <a16:creationId xmlns:a16="http://schemas.microsoft.com/office/drawing/2014/main" id="{19E3624D-3E05-4470-A2E0-1028223F8B22}"/>
              </a:ext>
            </a:extLst>
          </p:cNvPr>
          <p:cNvGrpSpPr/>
          <p:nvPr/>
        </p:nvGrpSpPr>
        <p:grpSpPr>
          <a:xfrm>
            <a:off x="933718" y="1367208"/>
            <a:ext cx="1524108" cy="365126"/>
            <a:chOff x="873632" y="1302921"/>
            <a:chExt cx="1524108" cy="365126"/>
          </a:xfrm>
        </p:grpSpPr>
        <p:sp>
          <p:nvSpPr>
            <p:cNvPr id="213" name="Rectangle 212">
              <a:extLst>
                <a:ext uri="{FF2B5EF4-FFF2-40B4-BE49-F238E27FC236}">
                  <a16:creationId xmlns:a16="http://schemas.microsoft.com/office/drawing/2014/main" id="{71EF5CCF-1E4D-419E-96F1-B47937631766}"/>
                </a:ext>
              </a:extLst>
            </p:cNvPr>
            <p:cNvSpPr/>
            <p:nvPr/>
          </p:nvSpPr>
          <p:spPr>
            <a:xfrm>
              <a:off x="873632" y="1302924"/>
              <a:ext cx="1129963" cy="365123"/>
            </a:xfrm>
            <a:prstGeom prst="rect">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Customer</a:t>
              </a:r>
            </a:p>
          </p:txBody>
        </p:sp>
        <p:sp>
          <p:nvSpPr>
            <p:cNvPr id="214" name="Rectangle 213">
              <a:extLst>
                <a:ext uri="{FF2B5EF4-FFF2-40B4-BE49-F238E27FC236}">
                  <a16:creationId xmlns:a16="http://schemas.microsoft.com/office/drawing/2014/main" id="{6D65B685-9D52-4A01-B332-C5D9CAFF21B0}"/>
                </a:ext>
              </a:extLst>
            </p:cNvPr>
            <p:cNvSpPr/>
            <p:nvPr/>
          </p:nvSpPr>
          <p:spPr>
            <a:xfrm>
              <a:off x="2003595" y="1302921"/>
              <a:ext cx="394145" cy="36512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795</a:t>
              </a:r>
            </a:p>
          </p:txBody>
        </p:sp>
      </p:grpSp>
      <p:grpSp>
        <p:nvGrpSpPr>
          <p:cNvPr id="215" name="Group 214">
            <a:extLst>
              <a:ext uri="{FF2B5EF4-FFF2-40B4-BE49-F238E27FC236}">
                <a16:creationId xmlns:a16="http://schemas.microsoft.com/office/drawing/2014/main" id="{CB2F8F71-EEBB-453C-8EE4-E231F3CCD3CE}"/>
              </a:ext>
            </a:extLst>
          </p:cNvPr>
          <p:cNvGrpSpPr/>
          <p:nvPr/>
        </p:nvGrpSpPr>
        <p:grpSpPr>
          <a:xfrm>
            <a:off x="2506348" y="1367208"/>
            <a:ext cx="1522521" cy="364628"/>
            <a:chOff x="233545" y="1582103"/>
            <a:chExt cx="1877420" cy="427839"/>
          </a:xfrm>
        </p:grpSpPr>
        <p:sp>
          <p:nvSpPr>
            <p:cNvPr id="216" name="Rectangle 215">
              <a:extLst>
                <a:ext uri="{FF2B5EF4-FFF2-40B4-BE49-F238E27FC236}">
                  <a16:creationId xmlns:a16="http://schemas.microsoft.com/office/drawing/2014/main" id="{8355223F-31F5-46AE-9684-BD0893BAF425}"/>
                </a:ext>
              </a:extLst>
            </p:cNvPr>
            <p:cNvSpPr/>
            <p:nvPr/>
          </p:nvSpPr>
          <p:spPr>
            <a:xfrm>
              <a:off x="233545" y="1582104"/>
              <a:ext cx="1391400" cy="427838"/>
            </a:xfrm>
            <a:prstGeom prst="rect">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Product</a:t>
              </a:r>
            </a:p>
          </p:txBody>
        </p:sp>
        <p:sp>
          <p:nvSpPr>
            <p:cNvPr id="217" name="Rectangle 216">
              <a:extLst>
                <a:ext uri="{FF2B5EF4-FFF2-40B4-BE49-F238E27FC236}">
                  <a16:creationId xmlns:a16="http://schemas.microsoft.com/office/drawing/2014/main" id="{86276770-1A36-4931-AE3D-F4FCC14D44E5}"/>
                </a:ext>
              </a:extLst>
            </p:cNvPr>
            <p:cNvSpPr/>
            <p:nvPr/>
          </p:nvSpPr>
          <p:spPr>
            <a:xfrm>
              <a:off x="1624945" y="1582103"/>
              <a:ext cx="486020" cy="427839"/>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400</a:t>
              </a:r>
            </a:p>
          </p:txBody>
        </p:sp>
      </p:grpSp>
      <p:grpSp>
        <p:nvGrpSpPr>
          <p:cNvPr id="218" name="Group 217">
            <a:extLst>
              <a:ext uri="{FF2B5EF4-FFF2-40B4-BE49-F238E27FC236}">
                <a16:creationId xmlns:a16="http://schemas.microsoft.com/office/drawing/2014/main" id="{B983F30C-93AE-4C1B-892F-7E1A13702886}"/>
              </a:ext>
            </a:extLst>
          </p:cNvPr>
          <p:cNvGrpSpPr/>
          <p:nvPr/>
        </p:nvGrpSpPr>
        <p:grpSpPr>
          <a:xfrm>
            <a:off x="4077376" y="1366711"/>
            <a:ext cx="1620338" cy="365125"/>
            <a:chOff x="-256627" y="1573572"/>
            <a:chExt cx="1680033" cy="427839"/>
          </a:xfrm>
        </p:grpSpPr>
        <p:sp>
          <p:nvSpPr>
            <p:cNvPr id="219" name="Rectangle 218">
              <a:extLst>
                <a:ext uri="{FF2B5EF4-FFF2-40B4-BE49-F238E27FC236}">
                  <a16:creationId xmlns:a16="http://schemas.microsoft.com/office/drawing/2014/main" id="{7719D92F-29E5-450F-A5C8-EF2A34564768}"/>
                </a:ext>
              </a:extLst>
            </p:cNvPr>
            <p:cNvSpPr/>
            <p:nvPr/>
          </p:nvSpPr>
          <p:spPr>
            <a:xfrm>
              <a:off x="-256627" y="1573572"/>
              <a:ext cx="1165931" cy="427839"/>
            </a:xfrm>
            <a:prstGeom prst="rect">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Geography</a:t>
              </a:r>
            </a:p>
          </p:txBody>
        </p:sp>
        <p:sp>
          <p:nvSpPr>
            <p:cNvPr id="220" name="Rectangle 219">
              <a:extLst>
                <a:ext uri="{FF2B5EF4-FFF2-40B4-BE49-F238E27FC236}">
                  <a16:creationId xmlns:a16="http://schemas.microsoft.com/office/drawing/2014/main" id="{CE5F3ED3-7137-4BC8-BD7F-9379F140F1AE}"/>
                </a:ext>
              </a:extLst>
            </p:cNvPr>
            <p:cNvSpPr/>
            <p:nvPr/>
          </p:nvSpPr>
          <p:spPr>
            <a:xfrm>
              <a:off x="909304" y="1573572"/>
              <a:ext cx="514102" cy="427839"/>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395</a:t>
              </a:r>
            </a:p>
          </p:txBody>
        </p:sp>
      </p:grpSp>
      <p:grpSp>
        <p:nvGrpSpPr>
          <p:cNvPr id="221" name="Group 220">
            <a:extLst>
              <a:ext uri="{FF2B5EF4-FFF2-40B4-BE49-F238E27FC236}">
                <a16:creationId xmlns:a16="http://schemas.microsoft.com/office/drawing/2014/main" id="{CF3343C9-4B38-4489-9D2B-A1579D4DA86F}"/>
              </a:ext>
            </a:extLst>
          </p:cNvPr>
          <p:cNvGrpSpPr/>
          <p:nvPr/>
        </p:nvGrpSpPr>
        <p:grpSpPr>
          <a:xfrm>
            <a:off x="5735764" y="1366715"/>
            <a:ext cx="1604484" cy="361307"/>
            <a:chOff x="-925127" y="992495"/>
            <a:chExt cx="1604484" cy="493762"/>
          </a:xfrm>
        </p:grpSpPr>
        <p:sp>
          <p:nvSpPr>
            <p:cNvPr id="222" name="Rectangle 221">
              <a:extLst>
                <a:ext uri="{FF2B5EF4-FFF2-40B4-BE49-F238E27FC236}">
                  <a16:creationId xmlns:a16="http://schemas.microsoft.com/office/drawing/2014/main" id="{4617E5A3-666E-48E4-B9EC-4E2993DADF3C}"/>
                </a:ext>
              </a:extLst>
            </p:cNvPr>
            <p:cNvSpPr/>
            <p:nvPr/>
          </p:nvSpPr>
          <p:spPr>
            <a:xfrm>
              <a:off x="-925127" y="992495"/>
              <a:ext cx="1125925" cy="493762"/>
            </a:xfrm>
            <a:prstGeom prst="rect">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Transactions</a:t>
              </a:r>
            </a:p>
          </p:txBody>
        </p:sp>
        <p:sp>
          <p:nvSpPr>
            <p:cNvPr id="223" name="Rectangle 222">
              <a:extLst>
                <a:ext uri="{FF2B5EF4-FFF2-40B4-BE49-F238E27FC236}">
                  <a16:creationId xmlns:a16="http://schemas.microsoft.com/office/drawing/2014/main" id="{14B29C3C-742E-4555-B0EE-7EB848E73720}"/>
                </a:ext>
              </a:extLst>
            </p:cNvPr>
            <p:cNvSpPr/>
            <p:nvPr/>
          </p:nvSpPr>
          <p:spPr>
            <a:xfrm>
              <a:off x="200793" y="995765"/>
              <a:ext cx="478564" cy="490492"/>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555</a:t>
              </a:r>
            </a:p>
          </p:txBody>
        </p:sp>
      </p:grpSp>
      <p:grpSp>
        <p:nvGrpSpPr>
          <p:cNvPr id="224" name="Group 223">
            <a:extLst>
              <a:ext uri="{FF2B5EF4-FFF2-40B4-BE49-F238E27FC236}">
                <a16:creationId xmlns:a16="http://schemas.microsoft.com/office/drawing/2014/main" id="{D1AC4C9A-8341-467B-A78F-78F0B0A82BB5}"/>
              </a:ext>
            </a:extLst>
          </p:cNvPr>
          <p:cNvGrpSpPr/>
          <p:nvPr/>
        </p:nvGrpSpPr>
        <p:grpSpPr>
          <a:xfrm>
            <a:off x="7379487" y="1365943"/>
            <a:ext cx="1538993" cy="361978"/>
            <a:chOff x="-1928918" y="1003984"/>
            <a:chExt cx="1538993" cy="353936"/>
          </a:xfrm>
        </p:grpSpPr>
        <p:sp>
          <p:nvSpPr>
            <p:cNvPr id="225" name="Rectangle 224">
              <a:extLst>
                <a:ext uri="{FF2B5EF4-FFF2-40B4-BE49-F238E27FC236}">
                  <a16:creationId xmlns:a16="http://schemas.microsoft.com/office/drawing/2014/main" id="{438788CA-2502-42E1-B07D-834A0EC37809}"/>
                </a:ext>
              </a:extLst>
            </p:cNvPr>
            <p:cNvSpPr/>
            <p:nvPr/>
          </p:nvSpPr>
          <p:spPr>
            <a:xfrm>
              <a:off x="-1928918" y="1003984"/>
              <a:ext cx="1124503" cy="353936"/>
            </a:xfrm>
            <a:prstGeom prst="rect">
              <a:avLst/>
            </a:prstGeom>
            <a:solidFill>
              <a:srgbClr val="FFC000">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C000">
                      <a:lumMod val="50000"/>
                    </a:srgbClr>
                  </a:solidFill>
                  <a:effectLst/>
                  <a:uLnTx/>
                  <a:uFillTx/>
                  <a:latin typeface="Calibri" panose="020F0502020204030204"/>
                  <a:ea typeface="+mn-ea"/>
                  <a:cs typeface="+mn-cs"/>
                </a:rPr>
                <a:t>Events</a:t>
              </a:r>
            </a:p>
          </p:txBody>
        </p:sp>
        <p:sp>
          <p:nvSpPr>
            <p:cNvPr id="226" name="Rectangle 225">
              <a:extLst>
                <a:ext uri="{FF2B5EF4-FFF2-40B4-BE49-F238E27FC236}">
                  <a16:creationId xmlns:a16="http://schemas.microsoft.com/office/drawing/2014/main" id="{10802DF9-6FD7-4239-BD07-E09F27A10962}"/>
                </a:ext>
              </a:extLst>
            </p:cNvPr>
            <p:cNvSpPr/>
            <p:nvPr/>
          </p:nvSpPr>
          <p:spPr>
            <a:xfrm>
              <a:off x="-804421" y="1003984"/>
              <a:ext cx="414496" cy="353936"/>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90</a:t>
              </a:r>
            </a:p>
          </p:txBody>
        </p:sp>
      </p:grpSp>
      <p:grpSp>
        <p:nvGrpSpPr>
          <p:cNvPr id="28" name="Group 27">
            <a:extLst>
              <a:ext uri="{FF2B5EF4-FFF2-40B4-BE49-F238E27FC236}">
                <a16:creationId xmlns:a16="http://schemas.microsoft.com/office/drawing/2014/main" id="{394EF582-A910-4665-B86B-D11D6A73068B}"/>
              </a:ext>
            </a:extLst>
          </p:cNvPr>
          <p:cNvGrpSpPr/>
          <p:nvPr/>
        </p:nvGrpSpPr>
        <p:grpSpPr>
          <a:xfrm>
            <a:off x="4076573" y="1884816"/>
            <a:ext cx="1619541" cy="623460"/>
            <a:chOff x="4119768" y="1821781"/>
            <a:chExt cx="1619541" cy="623460"/>
          </a:xfrm>
        </p:grpSpPr>
        <p:sp>
          <p:nvSpPr>
            <p:cNvPr id="237" name="Rectangle 236">
              <a:extLst>
                <a:ext uri="{FF2B5EF4-FFF2-40B4-BE49-F238E27FC236}">
                  <a16:creationId xmlns:a16="http://schemas.microsoft.com/office/drawing/2014/main" id="{2E3438E9-665E-484D-B9F4-155AA9C0C124}"/>
                </a:ext>
              </a:extLst>
            </p:cNvPr>
            <p:cNvSpPr/>
            <p:nvPr/>
          </p:nvSpPr>
          <p:spPr>
            <a:xfrm>
              <a:off x="4119772" y="1821781"/>
              <a:ext cx="1124499" cy="154183"/>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Domicile of Customer</a:t>
              </a:r>
            </a:p>
          </p:txBody>
        </p:sp>
        <p:sp>
          <p:nvSpPr>
            <p:cNvPr id="238" name="Rectangle 237">
              <a:extLst>
                <a:ext uri="{FF2B5EF4-FFF2-40B4-BE49-F238E27FC236}">
                  <a16:creationId xmlns:a16="http://schemas.microsoft.com/office/drawing/2014/main" id="{E4F41902-706F-418B-9B43-BB9E6103116C}"/>
                </a:ext>
              </a:extLst>
            </p:cNvPr>
            <p:cNvSpPr/>
            <p:nvPr/>
          </p:nvSpPr>
          <p:spPr>
            <a:xfrm>
              <a:off x="4119770" y="1970724"/>
              <a:ext cx="1124499" cy="177268"/>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239" name="Rectangle 238">
              <a:extLst>
                <a:ext uri="{FF2B5EF4-FFF2-40B4-BE49-F238E27FC236}">
                  <a16:creationId xmlns:a16="http://schemas.microsoft.com/office/drawing/2014/main" id="{1F7A3173-589B-4B38-AB2E-0D16C3CF83FA}"/>
                </a:ext>
              </a:extLst>
            </p:cNvPr>
            <p:cNvSpPr/>
            <p:nvPr/>
          </p:nvSpPr>
          <p:spPr>
            <a:xfrm>
              <a:off x="5244269" y="1824902"/>
              <a:ext cx="495040" cy="15153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US</a:t>
              </a:r>
            </a:p>
          </p:txBody>
        </p:sp>
        <p:sp>
          <p:nvSpPr>
            <p:cNvPr id="240" name="Rectangle 239">
              <a:extLst>
                <a:ext uri="{FF2B5EF4-FFF2-40B4-BE49-F238E27FC236}">
                  <a16:creationId xmlns:a16="http://schemas.microsoft.com/office/drawing/2014/main" id="{2C15096F-60F4-4945-9660-DBB727EED581}"/>
                </a:ext>
              </a:extLst>
            </p:cNvPr>
            <p:cNvSpPr/>
            <p:nvPr/>
          </p:nvSpPr>
          <p:spPr>
            <a:xfrm>
              <a:off x="5244267" y="1970724"/>
              <a:ext cx="495040" cy="173994"/>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70</a:t>
              </a:r>
            </a:p>
          </p:txBody>
        </p:sp>
        <p:sp>
          <p:nvSpPr>
            <p:cNvPr id="241" name="Rectangle 240">
              <a:extLst>
                <a:ext uri="{FF2B5EF4-FFF2-40B4-BE49-F238E27FC236}">
                  <a16:creationId xmlns:a16="http://schemas.microsoft.com/office/drawing/2014/main" id="{C097FEB1-1AE7-49BF-BB87-6BE58401C84A}"/>
                </a:ext>
              </a:extLst>
            </p:cNvPr>
            <p:cNvSpPr/>
            <p:nvPr/>
          </p:nvSpPr>
          <p:spPr>
            <a:xfrm>
              <a:off x="5244266" y="2142229"/>
              <a:ext cx="495040" cy="148097"/>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3</a:t>
              </a:r>
            </a:p>
          </p:txBody>
        </p:sp>
        <p:sp>
          <p:nvSpPr>
            <p:cNvPr id="242" name="Rectangle 241">
              <a:extLst>
                <a:ext uri="{FF2B5EF4-FFF2-40B4-BE49-F238E27FC236}">
                  <a16:creationId xmlns:a16="http://schemas.microsoft.com/office/drawing/2014/main" id="{3CD8F99F-59A9-4356-8292-1E02530B7322}"/>
                </a:ext>
              </a:extLst>
            </p:cNvPr>
            <p:cNvSpPr/>
            <p:nvPr/>
          </p:nvSpPr>
          <p:spPr>
            <a:xfrm>
              <a:off x="4119768" y="2145190"/>
              <a:ext cx="1124499" cy="148411"/>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43" name="Rectangle 242">
              <a:extLst>
                <a:ext uri="{FF2B5EF4-FFF2-40B4-BE49-F238E27FC236}">
                  <a16:creationId xmlns:a16="http://schemas.microsoft.com/office/drawing/2014/main" id="{0DA7061A-2D9F-45B6-926A-779CB2C56788}"/>
                </a:ext>
              </a:extLst>
            </p:cNvPr>
            <p:cNvSpPr/>
            <p:nvPr/>
          </p:nvSpPr>
          <p:spPr>
            <a:xfrm>
              <a:off x="5244266" y="2291529"/>
              <a:ext cx="495040" cy="153712"/>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210</a:t>
              </a:r>
            </a:p>
          </p:txBody>
        </p:sp>
        <p:sp>
          <p:nvSpPr>
            <p:cNvPr id="244" name="Rectangle 243">
              <a:extLst>
                <a:ext uri="{FF2B5EF4-FFF2-40B4-BE49-F238E27FC236}">
                  <a16:creationId xmlns:a16="http://schemas.microsoft.com/office/drawing/2014/main" id="{10F2470F-2CA0-4F01-AB2A-15C69EB223EB}"/>
                </a:ext>
              </a:extLst>
            </p:cNvPr>
            <p:cNvSpPr/>
            <p:nvPr/>
          </p:nvSpPr>
          <p:spPr>
            <a:xfrm>
              <a:off x="4119768" y="2296329"/>
              <a:ext cx="1124499" cy="148411"/>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27" name="Group 26">
            <a:extLst>
              <a:ext uri="{FF2B5EF4-FFF2-40B4-BE49-F238E27FC236}">
                <a16:creationId xmlns:a16="http://schemas.microsoft.com/office/drawing/2014/main" id="{22A3C79F-CB0D-46BA-B2F4-F0A2B74B1A2B}"/>
              </a:ext>
            </a:extLst>
          </p:cNvPr>
          <p:cNvGrpSpPr/>
          <p:nvPr/>
        </p:nvGrpSpPr>
        <p:grpSpPr>
          <a:xfrm>
            <a:off x="4072782" y="2641011"/>
            <a:ext cx="1618742" cy="613005"/>
            <a:chOff x="4119768" y="2572324"/>
            <a:chExt cx="1618742" cy="613005"/>
          </a:xfrm>
        </p:grpSpPr>
        <p:sp>
          <p:nvSpPr>
            <p:cNvPr id="246" name="Rectangle 245">
              <a:extLst>
                <a:ext uri="{FF2B5EF4-FFF2-40B4-BE49-F238E27FC236}">
                  <a16:creationId xmlns:a16="http://schemas.microsoft.com/office/drawing/2014/main" id="{DC4F7180-F0D4-4E2F-8986-0F66B00AD4B7}"/>
                </a:ext>
              </a:extLst>
            </p:cNvPr>
            <p:cNvSpPr/>
            <p:nvPr/>
          </p:nvSpPr>
          <p:spPr>
            <a:xfrm>
              <a:off x="4119772" y="2573420"/>
              <a:ext cx="1124499" cy="161993"/>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High Crime Area</a:t>
              </a:r>
            </a:p>
          </p:txBody>
        </p:sp>
        <p:sp>
          <p:nvSpPr>
            <p:cNvPr id="247" name="Rectangle 246">
              <a:extLst>
                <a:ext uri="{FF2B5EF4-FFF2-40B4-BE49-F238E27FC236}">
                  <a16:creationId xmlns:a16="http://schemas.microsoft.com/office/drawing/2014/main" id="{8CB45AFD-757A-4E27-8D81-65FAF2746628}"/>
                </a:ext>
              </a:extLst>
            </p:cNvPr>
            <p:cNvSpPr/>
            <p:nvPr/>
          </p:nvSpPr>
          <p:spPr>
            <a:xfrm>
              <a:off x="4119770" y="2732036"/>
              <a:ext cx="1124499" cy="165831"/>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248" name="Rectangle 247">
              <a:extLst>
                <a:ext uri="{FF2B5EF4-FFF2-40B4-BE49-F238E27FC236}">
                  <a16:creationId xmlns:a16="http://schemas.microsoft.com/office/drawing/2014/main" id="{3AB92E3B-2550-4BEF-91CB-0FE73D7CFB99}"/>
                </a:ext>
              </a:extLst>
            </p:cNvPr>
            <p:cNvSpPr/>
            <p:nvPr/>
          </p:nvSpPr>
          <p:spPr>
            <a:xfrm>
              <a:off x="5243470" y="2572324"/>
              <a:ext cx="495040" cy="167776"/>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Y</a:t>
              </a:r>
            </a:p>
          </p:txBody>
        </p:sp>
        <p:sp>
          <p:nvSpPr>
            <p:cNvPr id="249" name="Rectangle 248">
              <a:extLst>
                <a:ext uri="{FF2B5EF4-FFF2-40B4-BE49-F238E27FC236}">
                  <a16:creationId xmlns:a16="http://schemas.microsoft.com/office/drawing/2014/main" id="{892FA1A5-65FC-4931-BC63-4B4FD10A39F9}"/>
                </a:ext>
              </a:extLst>
            </p:cNvPr>
            <p:cNvSpPr/>
            <p:nvPr/>
          </p:nvSpPr>
          <p:spPr>
            <a:xfrm>
              <a:off x="5243468" y="2730179"/>
              <a:ext cx="495040" cy="167777"/>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85</a:t>
              </a:r>
            </a:p>
          </p:txBody>
        </p:sp>
        <p:sp>
          <p:nvSpPr>
            <p:cNvPr id="250" name="Rectangle 249">
              <a:extLst>
                <a:ext uri="{FF2B5EF4-FFF2-40B4-BE49-F238E27FC236}">
                  <a16:creationId xmlns:a16="http://schemas.microsoft.com/office/drawing/2014/main" id="{B3C86B9E-92D8-4E00-BC5D-C87B80E9845C}"/>
                </a:ext>
              </a:extLst>
            </p:cNvPr>
            <p:cNvSpPr/>
            <p:nvPr/>
          </p:nvSpPr>
          <p:spPr>
            <a:xfrm>
              <a:off x="5243467" y="2896201"/>
              <a:ext cx="495040" cy="149936"/>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1</a:t>
              </a:r>
            </a:p>
          </p:txBody>
        </p:sp>
        <p:sp>
          <p:nvSpPr>
            <p:cNvPr id="251" name="Rectangle 250">
              <a:extLst>
                <a:ext uri="{FF2B5EF4-FFF2-40B4-BE49-F238E27FC236}">
                  <a16:creationId xmlns:a16="http://schemas.microsoft.com/office/drawing/2014/main" id="{C522BCAD-A0FC-4580-8F5D-6DAC8DFF9174}"/>
                </a:ext>
              </a:extLst>
            </p:cNvPr>
            <p:cNvSpPr/>
            <p:nvPr/>
          </p:nvSpPr>
          <p:spPr>
            <a:xfrm>
              <a:off x="4119768" y="2897369"/>
              <a:ext cx="1124499" cy="148800"/>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52" name="Rectangle 251">
              <a:extLst>
                <a:ext uri="{FF2B5EF4-FFF2-40B4-BE49-F238E27FC236}">
                  <a16:creationId xmlns:a16="http://schemas.microsoft.com/office/drawing/2014/main" id="{B186FD95-4BE6-4A0A-AF1A-B00200987015}"/>
                </a:ext>
              </a:extLst>
            </p:cNvPr>
            <p:cNvSpPr/>
            <p:nvPr/>
          </p:nvSpPr>
          <p:spPr>
            <a:xfrm>
              <a:off x="5243467" y="3047341"/>
              <a:ext cx="495040" cy="137988"/>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85</a:t>
              </a:r>
            </a:p>
          </p:txBody>
        </p:sp>
        <p:sp>
          <p:nvSpPr>
            <p:cNvPr id="253" name="Rectangle 252">
              <a:extLst>
                <a:ext uri="{FF2B5EF4-FFF2-40B4-BE49-F238E27FC236}">
                  <a16:creationId xmlns:a16="http://schemas.microsoft.com/office/drawing/2014/main" id="{92549422-EF3E-463E-86D9-D063EEA3750B}"/>
                </a:ext>
              </a:extLst>
            </p:cNvPr>
            <p:cNvSpPr/>
            <p:nvPr/>
          </p:nvSpPr>
          <p:spPr>
            <a:xfrm>
              <a:off x="4119768" y="3048133"/>
              <a:ext cx="1124499" cy="134701"/>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26" name="Group 25">
            <a:extLst>
              <a:ext uri="{FF2B5EF4-FFF2-40B4-BE49-F238E27FC236}">
                <a16:creationId xmlns:a16="http://schemas.microsoft.com/office/drawing/2014/main" id="{6909AC68-8A6E-481C-94F4-AF497ED4E110}"/>
              </a:ext>
            </a:extLst>
          </p:cNvPr>
          <p:cNvGrpSpPr/>
          <p:nvPr/>
        </p:nvGrpSpPr>
        <p:grpSpPr>
          <a:xfrm>
            <a:off x="4072782" y="3372476"/>
            <a:ext cx="1618741" cy="631454"/>
            <a:chOff x="4119768" y="3303789"/>
            <a:chExt cx="1618741" cy="631454"/>
          </a:xfrm>
        </p:grpSpPr>
        <p:sp>
          <p:nvSpPr>
            <p:cNvPr id="255" name="Rectangle 254">
              <a:extLst>
                <a:ext uri="{FF2B5EF4-FFF2-40B4-BE49-F238E27FC236}">
                  <a16:creationId xmlns:a16="http://schemas.microsoft.com/office/drawing/2014/main" id="{F8876BC5-F7C2-437A-AAAE-C83461C3F3CF}"/>
                </a:ext>
              </a:extLst>
            </p:cNvPr>
            <p:cNvSpPr/>
            <p:nvPr/>
          </p:nvSpPr>
          <p:spPr>
            <a:xfrm>
              <a:off x="4119772" y="3303789"/>
              <a:ext cx="1124499" cy="161867"/>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Additional Party Geo</a:t>
              </a:r>
            </a:p>
          </p:txBody>
        </p:sp>
        <p:sp>
          <p:nvSpPr>
            <p:cNvPr id="256" name="Rectangle 255">
              <a:extLst>
                <a:ext uri="{FF2B5EF4-FFF2-40B4-BE49-F238E27FC236}">
                  <a16:creationId xmlns:a16="http://schemas.microsoft.com/office/drawing/2014/main" id="{F95971F4-A7AF-4BD8-9543-55D4F22846F0}"/>
                </a:ext>
              </a:extLst>
            </p:cNvPr>
            <p:cNvSpPr/>
            <p:nvPr/>
          </p:nvSpPr>
          <p:spPr>
            <a:xfrm>
              <a:off x="4119770" y="3466859"/>
              <a:ext cx="1124499" cy="163975"/>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257" name="Rectangle 256">
              <a:extLst>
                <a:ext uri="{FF2B5EF4-FFF2-40B4-BE49-F238E27FC236}">
                  <a16:creationId xmlns:a16="http://schemas.microsoft.com/office/drawing/2014/main" id="{BE191644-C45C-4D48-8941-24B19E1B9363}"/>
                </a:ext>
              </a:extLst>
            </p:cNvPr>
            <p:cNvSpPr/>
            <p:nvPr/>
          </p:nvSpPr>
          <p:spPr>
            <a:xfrm>
              <a:off x="5243469" y="3303790"/>
              <a:ext cx="495040" cy="164596"/>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UK</a:t>
              </a:r>
            </a:p>
          </p:txBody>
        </p:sp>
        <p:sp>
          <p:nvSpPr>
            <p:cNvPr id="258" name="Rectangle 257">
              <a:extLst>
                <a:ext uri="{FF2B5EF4-FFF2-40B4-BE49-F238E27FC236}">
                  <a16:creationId xmlns:a16="http://schemas.microsoft.com/office/drawing/2014/main" id="{3CE5BE45-B591-4F4E-B119-37C247B6333C}"/>
                </a:ext>
              </a:extLst>
            </p:cNvPr>
            <p:cNvSpPr/>
            <p:nvPr/>
          </p:nvSpPr>
          <p:spPr>
            <a:xfrm>
              <a:off x="5243467" y="3464283"/>
              <a:ext cx="495040" cy="170436"/>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50</a:t>
              </a:r>
            </a:p>
          </p:txBody>
        </p:sp>
        <p:sp>
          <p:nvSpPr>
            <p:cNvPr id="259" name="Rectangle 258">
              <a:extLst>
                <a:ext uri="{FF2B5EF4-FFF2-40B4-BE49-F238E27FC236}">
                  <a16:creationId xmlns:a16="http://schemas.microsoft.com/office/drawing/2014/main" id="{9DDF7DE5-AB63-42D7-831D-914FEDB909EA}"/>
                </a:ext>
              </a:extLst>
            </p:cNvPr>
            <p:cNvSpPr/>
            <p:nvPr/>
          </p:nvSpPr>
          <p:spPr>
            <a:xfrm>
              <a:off x="5243466" y="3632231"/>
              <a:ext cx="495040" cy="148097"/>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2.</a:t>
              </a:r>
            </a:p>
          </p:txBody>
        </p:sp>
        <p:sp>
          <p:nvSpPr>
            <p:cNvPr id="260" name="Rectangle 259">
              <a:extLst>
                <a:ext uri="{FF2B5EF4-FFF2-40B4-BE49-F238E27FC236}">
                  <a16:creationId xmlns:a16="http://schemas.microsoft.com/office/drawing/2014/main" id="{C564E7E5-8625-46DF-B644-70F5518F6237}"/>
                </a:ext>
              </a:extLst>
            </p:cNvPr>
            <p:cNvSpPr/>
            <p:nvPr/>
          </p:nvSpPr>
          <p:spPr>
            <a:xfrm>
              <a:off x="4119768" y="3631474"/>
              <a:ext cx="1124499" cy="151680"/>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61" name="Rectangle 260">
              <a:extLst>
                <a:ext uri="{FF2B5EF4-FFF2-40B4-BE49-F238E27FC236}">
                  <a16:creationId xmlns:a16="http://schemas.microsoft.com/office/drawing/2014/main" id="{0719BF5B-0C90-4961-8F1D-05465EAD2192}"/>
                </a:ext>
              </a:extLst>
            </p:cNvPr>
            <p:cNvSpPr/>
            <p:nvPr/>
          </p:nvSpPr>
          <p:spPr>
            <a:xfrm>
              <a:off x="5243466" y="3781531"/>
              <a:ext cx="495040" cy="153712"/>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100</a:t>
              </a:r>
            </a:p>
          </p:txBody>
        </p:sp>
        <p:sp>
          <p:nvSpPr>
            <p:cNvPr id="262" name="Rectangle 261">
              <a:extLst>
                <a:ext uri="{FF2B5EF4-FFF2-40B4-BE49-F238E27FC236}">
                  <a16:creationId xmlns:a16="http://schemas.microsoft.com/office/drawing/2014/main" id="{C1BF2EAF-0F07-4830-BB14-09F0F921E8D1}"/>
                </a:ext>
              </a:extLst>
            </p:cNvPr>
            <p:cNvSpPr/>
            <p:nvPr/>
          </p:nvSpPr>
          <p:spPr>
            <a:xfrm>
              <a:off x="4119768" y="3785881"/>
              <a:ext cx="1124499" cy="148411"/>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263" name="Group 262">
            <a:extLst>
              <a:ext uri="{FF2B5EF4-FFF2-40B4-BE49-F238E27FC236}">
                <a16:creationId xmlns:a16="http://schemas.microsoft.com/office/drawing/2014/main" id="{7D07522D-1E47-4376-803D-F1B50F8881B5}"/>
              </a:ext>
            </a:extLst>
          </p:cNvPr>
          <p:cNvGrpSpPr/>
          <p:nvPr/>
        </p:nvGrpSpPr>
        <p:grpSpPr>
          <a:xfrm>
            <a:off x="5735764" y="1892570"/>
            <a:ext cx="1604493" cy="627293"/>
            <a:chOff x="337167" y="2386612"/>
            <a:chExt cx="1604493" cy="731062"/>
          </a:xfrm>
        </p:grpSpPr>
        <p:sp>
          <p:nvSpPr>
            <p:cNvPr id="264" name="Rectangle 263">
              <a:extLst>
                <a:ext uri="{FF2B5EF4-FFF2-40B4-BE49-F238E27FC236}">
                  <a16:creationId xmlns:a16="http://schemas.microsoft.com/office/drawing/2014/main" id="{206BF95F-6E7A-4FD2-90A2-E99F055A3DA3}"/>
                </a:ext>
              </a:extLst>
            </p:cNvPr>
            <p:cNvSpPr/>
            <p:nvPr/>
          </p:nvSpPr>
          <p:spPr>
            <a:xfrm>
              <a:off x="337171" y="2386612"/>
              <a:ext cx="1125923" cy="181934"/>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Foreign Wire payments</a:t>
              </a:r>
            </a:p>
          </p:txBody>
        </p:sp>
        <p:sp>
          <p:nvSpPr>
            <p:cNvPr id="265" name="Rectangle 264">
              <a:extLst>
                <a:ext uri="{FF2B5EF4-FFF2-40B4-BE49-F238E27FC236}">
                  <a16:creationId xmlns:a16="http://schemas.microsoft.com/office/drawing/2014/main" id="{5D88B4BA-457D-45C6-A17E-DB818E6E3255}"/>
                </a:ext>
              </a:extLst>
            </p:cNvPr>
            <p:cNvSpPr/>
            <p:nvPr/>
          </p:nvSpPr>
          <p:spPr>
            <a:xfrm>
              <a:off x="337169" y="2568547"/>
              <a:ext cx="1125923" cy="194858"/>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266" name="Rectangle 265">
              <a:extLst>
                <a:ext uri="{FF2B5EF4-FFF2-40B4-BE49-F238E27FC236}">
                  <a16:creationId xmlns:a16="http://schemas.microsoft.com/office/drawing/2014/main" id="{06CCC215-E768-4C3F-A4D3-8A0482664C0A}"/>
                </a:ext>
              </a:extLst>
            </p:cNvPr>
            <p:cNvSpPr/>
            <p:nvPr/>
          </p:nvSpPr>
          <p:spPr>
            <a:xfrm>
              <a:off x="1463093" y="2387468"/>
              <a:ext cx="478567" cy="18193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3</a:t>
              </a:r>
            </a:p>
          </p:txBody>
        </p:sp>
        <p:sp>
          <p:nvSpPr>
            <p:cNvPr id="267" name="Rectangle 266">
              <a:extLst>
                <a:ext uri="{FF2B5EF4-FFF2-40B4-BE49-F238E27FC236}">
                  <a16:creationId xmlns:a16="http://schemas.microsoft.com/office/drawing/2014/main" id="{82772B58-82C0-4585-9050-3836859D8DEF}"/>
                </a:ext>
              </a:extLst>
            </p:cNvPr>
            <p:cNvSpPr/>
            <p:nvPr/>
          </p:nvSpPr>
          <p:spPr>
            <a:xfrm>
              <a:off x="1463091" y="2565868"/>
              <a:ext cx="478567" cy="202777"/>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100</a:t>
              </a:r>
            </a:p>
          </p:txBody>
        </p:sp>
        <p:sp>
          <p:nvSpPr>
            <p:cNvPr id="268" name="Rectangle 267">
              <a:extLst>
                <a:ext uri="{FF2B5EF4-FFF2-40B4-BE49-F238E27FC236}">
                  <a16:creationId xmlns:a16="http://schemas.microsoft.com/office/drawing/2014/main" id="{981F5CB1-32F3-4769-9D4D-2C242ACB9B6A}"/>
                </a:ext>
              </a:extLst>
            </p:cNvPr>
            <p:cNvSpPr/>
            <p:nvPr/>
          </p:nvSpPr>
          <p:spPr>
            <a:xfrm>
              <a:off x="1463090" y="2765754"/>
              <a:ext cx="478567" cy="172000"/>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3</a:t>
              </a:r>
            </a:p>
          </p:txBody>
        </p:sp>
        <p:sp>
          <p:nvSpPr>
            <p:cNvPr id="269" name="Rectangle 268">
              <a:extLst>
                <a:ext uri="{FF2B5EF4-FFF2-40B4-BE49-F238E27FC236}">
                  <a16:creationId xmlns:a16="http://schemas.microsoft.com/office/drawing/2014/main" id="{DA9751DE-CB70-4001-9B23-61AB225103D8}"/>
                </a:ext>
              </a:extLst>
            </p:cNvPr>
            <p:cNvSpPr/>
            <p:nvPr/>
          </p:nvSpPr>
          <p:spPr>
            <a:xfrm>
              <a:off x="337167" y="2763284"/>
              <a:ext cx="1125923" cy="17852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70" name="Rectangle 269">
              <a:extLst>
                <a:ext uri="{FF2B5EF4-FFF2-40B4-BE49-F238E27FC236}">
                  <a16:creationId xmlns:a16="http://schemas.microsoft.com/office/drawing/2014/main" id="{5D99B2EE-92FE-43EA-8FD5-B72D743CD2D8}"/>
                </a:ext>
              </a:extLst>
            </p:cNvPr>
            <p:cNvSpPr/>
            <p:nvPr/>
          </p:nvSpPr>
          <p:spPr>
            <a:xfrm>
              <a:off x="1463090" y="2939152"/>
              <a:ext cx="478567" cy="178522"/>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800" kern="0" dirty="0">
                  <a:solidFill>
                    <a:srgbClr val="ED7D31">
                      <a:lumMod val="75000"/>
                    </a:srgbClr>
                  </a:solidFill>
                  <a:latin typeface="Calibri" panose="020F0502020204030204"/>
                </a:rPr>
                <a:t>3</a:t>
              </a: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00</a:t>
              </a:r>
            </a:p>
          </p:txBody>
        </p:sp>
        <p:sp>
          <p:nvSpPr>
            <p:cNvPr id="271" name="Rectangle 270">
              <a:extLst>
                <a:ext uri="{FF2B5EF4-FFF2-40B4-BE49-F238E27FC236}">
                  <a16:creationId xmlns:a16="http://schemas.microsoft.com/office/drawing/2014/main" id="{81114A2A-4984-47A9-B2A8-442E6D95D744}"/>
                </a:ext>
              </a:extLst>
            </p:cNvPr>
            <p:cNvSpPr/>
            <p:nvPr/>
          </p:nvSpPr>
          <p:spPr>
            <a:xfrm>
              <a:off x="337167" y="2938816"/>
              <a:ext cx="1125923" cy="17852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272" name="Group 271">
            <a:extLst>
              <a:ext uri="{FF2B5EF4-FFF2-40B4-BE49-F238E27FC236}">
                <a16:creationId xmlns:a16="http://schemas.microsoft.com/office/drawing/2014/main" id="{23B090B6-9F65-4DD5-9C2B-79FF85C965A7}"/>
              </a:ext>
            </a:extLst>
          </p:cNvPr>
          <p:cNvGrpSpPr/>
          <p:nvPr/>
        </p:nvGrpSpPr>
        <p:grpSpPr>
          <a:xfrm>
            <a:off x="5728375" y="2641633"/>
            <a:ext cx="1607282" cy="612669"/>
            <a:chOff x="334368" y="2297302"/>
            <a:chExt cx="1607282" cy="730724"/>
          </a:xfrm>
        </p:grpSpPr>
        <p:sp>
          <p:nvSpPr>
            <p:cNvPr id="273" name="Rectangle 272">
              <a:extLst>
                <a:ext uri="{FF2B5EF4-FFF2-40B4-BE49-F238E27FC236}">
                  <a16:creationId xmlns:a16="http://schemas.microsoft.com/office/drawing/2014/main" id="{8668B59E-0653-4C96-B38F-A8F79848A8EF}"/>
                </a:ext>
              </a:extLst>
            </p:cNvPr>
            <p:cNvSpPr/>
            <p:nvPr/>
          </p:nvSpPr>
          <p:spPr>
            <a:xfrm>
              <a:off x="334372" y="2297302"/>
              <a:ext cx="1128718" cy="181934"/>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Foreign ATM Trans.</a:t>
              </a:r>
            </a:p>
          </p:txBody>
        </p:sp>
        <p:sp>
          <p:nvSpPr>
            <p:cNvPr id="274" name="Rectangle 273">
              <a:extLst>
                <a:ext uri="{FF2B5EF4-FFF2-40B4-BE49-F238E27FC236}">
                  <a16:creationId xmlns:a16="http://schemas.microsoft.com/office/drawing/2014/main" id="{FC6EDB2B-D313-43EF-BBD7-E8F20BF793F2}"/>
                </a:ext>
              </a:extLst>
            </p:cNvPr>
            <p:cNvSpPr/>
            <p:nvPr/>
          </p:nvSpPr>
          <p:spPr>
            <a:xfrm>
              <a:off x="334370" y="2479235"/>
              <a:ext cx="1128718" cy="194858"/>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275" name="Rectangle 274">
              <a:extLst>
                <a:ext uri="{FF2B5EF4-FFF2-40B4-BE49-F238E27FC236}">
                  <a16:creationId xmlns:a16="http://schemas.microsoft.com/office/drawing/2014/main" id="{80B30962-9C3F-4444-A7E6-CF853FFDE865}"/>
                </a:ext>
              </a:extLst>
            </p:cNvPr>
            <p:cNvSpPr/>
            <p:nvPr/>
          </p:nvSpPr>
          <p:spPr>
            <a:xfrm>
              <a:off x="1463083" y="2297302"/>
              <a:ext cx="478567" cy="18193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9/$9500</a:t>
              </a:r>
            </a:p>
          </p:txBody>
        </p:sp>
        <p:sp>
          <p:nvSpPr>
            <p:cNvPr id="276" name="Rectangle 275">
              <a:extLst>
                <a:ext uri="{FF2B5EF4-FFF2-40B4-BE49-F238E27FC236}">
                  <a16:creationId xmlns:a16="http://schemas.microsoft.com/office/drawing/2014/main" id="{3A8CF86B-638C-4211-8665-0DE1F562BDF2}"/>
                </a:ext>
              </a:extLst>
            </p:cNvPr>
            <p:cNvSpPr/>
            <p:nvPr/>
          </p:nvSpPr>
          <p:spPr>
            <a:xfrm>
              <a:off x="1463081" y="2479235"/>
              <a:ext cx="478567" cy="196255"/>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800" kern="0" dirty="0">
                  <a:solidFill>
                    <a:srgbClr val="ED7D31">
                      <a:lumMod val="75000"/>
                    </a:srgbClr>
                  </a:solidFill>
                  <a:latin typeface="Calibri" panose="020F0502020204030204"/>
                </a:rPr>
                <a:t>8</a:t>
              </a: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5</a:t>
              </a:r>
            </a:p>
          </p:txBody>
        </p:sp>
        <p:sp>
          <p:nvSpPr>
            <p:cNvPr id="277" name="Rectangle 276">
              <a:extLst>
                <a:ext uri="{FF2B5EF4-FFF2-40B4-BE49-F238E27FC236}">
                  <a16:creationId xmlns:a16="http://schemas.microsoft.com/office/drawing/2014/main" id="{6D09E83D-BB80-45CB-BC32-0E7914E42276}"/>
                </a:ext>
              </a:extLst>
            </p:cNvPr>
            <p:cNvSpPr/>
            <p:nvPr/>
          </p:nvSpPr>
          <p:spPr>
            <a:xfrm>
              <a:off x="1463080" y="2673452"/>
              <a:ext cx="478567" cy="174136"/>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3</a:t>
              </a:r>
            </a:p>
          </p:txBody>
        </p:sp>
        <p:sp>
          <p:nvSpPr>
            <p:cNvPr id="278" name="Rectangle 277">
              <a:extLst>
                <a:ext uri="{FF2B5EF4-FFF2-40B4-BE49-F238E27FC236}">
                  <a16:creationId xmlns:a16="http://schemas.microsoft.com/office/drawing/2014/main" id="{10A617A9-E9DD-43FF-8396-E51A364281C2}"/>
                </a:ext>
              </a:extLst>
            </p:cNvPr>
            <p:cNvSpPr/>
            <p:nvPr/>
          </p:nvSpPr>
          <p:spPr>
            <a:xfrm>
              <a:off x="334368" y="2673971"/>
              <a:ext cx="1128718" cy="17852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79" name="Rectangle 278">
              <a:extLst>
                <a:ext uri="{FF2B5EF4-FFF2-40B4-BE49-F238E27FC236}">
                  <a16:creationId xmlns:a16="http://schemas.microsoft.com/office/drawing/2014/main" id="{F24618B5-05D9-4C7F-9AC3-6D39BF5DC6A8}"/>
                </a:ext>
              </a:extLst>
            </p:cNvPr>
            <p:cNvSpPr/>
            <p:nvPr/>
          </p:nvSpPr>
          <p:spPr>
            <a:xfrm>
              <a:off x="1463080" y="2848985"/>
              <a:ext cx="478567" cy="178522"/>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255</a:t>
              </a:r>
            </a:p>
          </p:txBody>
        </p:sp>
        <p:sp>
          <p:nvSpPr>
            <p:cNvPr id="280" name="Rectangle 279">
              <a:extLst>
                <a:ext uri="{FF2B5EF4-FFF2-40B4-BE49-F238E27FC236}">
                  <a16:creationId xmlns:a16="http://schemas.microsoft.com/office/drawing/2014/main" id="{2CC88D23-719E-40D1-8DE6-F2F5A0297B7D}"/>
                </a:ext>
              </a:extLst>
            </p:cNvPr>
            <p:cNvSpPr/>
            <p:nvPr/>
          </p:nvSpPr>
          <p:spPr>
            <a:xfrm>
              <a:off x="334368" y="2849504"/>
              <a:ext cx="1128718" cy="17852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281" name="Group 280">
            <a:extLst>
              <a:ext uri="{FF2B5EF4-FFF2-40B4-BE49-F238E27FC236}">
                <a16:creationId xmlns:a16="http://schemas.microsoft.com/office/drawing/2014/main" id="{ADC9FAEE-6136-439A-8B3C-83B9FF6A88C2}"/>
              </a:ext>
            </a:extLst>
          </p:cNvPr>
          <p:cNvGrpSpPr/>
          <p:nvPr/>
        </p:nvGrpSpPr>
        <p:grpSpPr>
          <a:xfrm>
            <a:off x="7379487" y="1893529"/>
            <a:ext cx="1538996" cy="623726"/>
            <a:chOff x="337167" y="2386614"/>
            <a:chExt cx="1538996" cy="730847"/>
          </a:xfrm>
        </p:grpSpPr>
        <p:sp>
          <p:nvSpPr>
            <p:cNvPr id="282" name="Rectangle 281">
              <a:extLst>
                <a:ext uri="{FF2B5EF4-FFF2-40B4-BE49-F238E27FC236}">
                  <a16:creationId xmlns:a16="http://schemas.microsoft.com/office/drawing/2014/main" id="{01D51258-C292-402F-B030-DCED77B00D58}"/>
                </a:ext>
              </a:extLst>
            </p:cNvPr>
            <p:cNvSpPr/>
            <p:nvPr/>
          </p:nvSpPr>
          <p:spPr>
            <a:xfrm>
              <a:off x="337171" y="2386614"/>
              <a:ext cx="1124499" cy="181934"/>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Time since SAR Filed</a:t>
              </a:r>
            </a:p>
          </p:txBody>
        </p:sp>
        <p:sp>
          <p:nvSpPr>
            <p:cNvPr id="283" name="Rectangle 282">
              <a:extLst>
                <a:ext uri="{FF2B5EF4-FFF2-40B4-BE49-F238E27FC236}">
                  <a16:creationId xmlns:a16="http://schemas.microsoft.com/office/drawing/2014/main" id="{1E25D0B2-B35E-4A86-923E-FC71B09BE4DB}"/>
                </a:ext>
              </a:extLst>
            </p:cNvPr>
            <p:cNvSpPr/>
            <p:nvPr/>
          </p:nvSpPr>
          <p:spPr>
            <a:xfrm>
              <a:off x="337169" y="2568547"/>
              <a:ext cx="1124499" cy="194858"/>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284" name="Rectangle 283">
              <a:extLst>
                <a:ext uri="{FF2B5EF4-FFF2-40B4-BE49-F238E27FC236}">
                  <a16:creationId xmlns:a16="http://schemas.microsoft.com/office/drawing/2014/main" id="{B1BF2EDB-F90F-427A-AB51-9EF644487EE1}"/>
                </a:ext>
              </a:extLst>
            </p:cNvPr>
            <p:cNvSpPr/>
            <p:nvPr/>
          </p:nvSpPr>
          <p:spPr>
            <a:xfrm>
              <a:off x="1461667" y="2388819"/>
              <a:ext cx="414496" cy="179729"/>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5 </a:t>
              </a:r>
              <a:r>
                <a:rPr kumimoji="0" lang="en-US" sz="800" b="0" i="0" u="none" strike="noStrike" kern="0" cap="none" spc="0" normalizeH="0" baseline="0" noProof="0" dirty="0" err="1">
                  <a:ln>
                    <a:noFill/>
                  </a:ln>
                  <a:solidFill>
                    <a:srgbClr val="ED7D31">
                      <a:lumMod val="75000"/>
                    </a:srgbClr>
                  </a:solidFill>
                  <a:effectLst/>
                  <a:uLnTx/>
                  <a:uFillTx/>
                  <a:latin typeface="Calibri" panose="020F0502020204030204"/>
                  <a:ea typeface="+mn-ea"/>
                  <a:cs typeface="+mn-cs"/>
                </a:rPr>
                <a:t>yr</a:t>
              </a:r>
              <a:endPar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285" name="Rectangle 284">
              <a:extLst>
                <a:ext uri="{FF2B5EF4-FFF2-40B4-BE49-F238E27FC236}">
                  <a16:creationId xmlns:a16="http://schemas.microsoft.com/office/drawing/2014/main" id="{030CCFC7-CC49-40F8-8399-7C0F2509DABE}"/>
                </a:ext>
              </a:extLst>
            </p:cNvPr>
            <p:cNvSpPr/>
            <p:nvPr/>
          </p:nvSpPr>
          <p:spPr>
            <a:xfrm>
              <a:off x="1461665" y="2567152"/>
              <a:ext cx="414496" cy="198294"/>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45</a:t>
              </a:r>
            </a:p>
          </p:txBody>
        </p:sp>
        <p:sp>
          <p:nvSpPr>
            <p:cNvPr id="286" name="Rectangle 285">
              <a:extLst>
                <a:ext uri="{FF2B5EF4-FFF2-40B4-BE49-F238E27FC236}">
                  <a16:creationId xmlns:a16="http://schemas.microsoft.com/office/drawing/2014/main" id="{15333440-E79D-4134-AD7D-E452E0DD9674}"/>
                </a:ext>
              </a:extLst>
            </p:cNvPr>
            <p:cNvSpPr/>
            <p:nvPr/>
          </p:nvSpPr>
          <p:spPr>
            <a:xfrm>
              <a:off x="1461664" y="2763406"/>
              <a:ext cx="414496" cy="174136"/>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0</a:t>
              </a:r>
            </a:p>
          </p:txBody>
        </p:sp>
        <p:sp>
          <p:nvSpPr>
            <p:cNvPr id="287" name="Rectangle 286">
              <a:extLst>
                <a:ext uri="{FF2B5EF4-FFF2-40B4-BE49-F238E27FC236}">
                  <a16:creationId xmlns:a16="http://schemas.microsoft.com/office/drawing/2014/main" id="{0CA08A8F-2E5A-4F28-9642-F477AB9659CA}"/>
                </a:ext>
              </a:extLst>
            </p:cNvPr>
            <p:cNvSpPr/>
            <p:nvPr/>
          </p:nvSpPr>
          <p:spPr>
            <a:xfrm>
              <a:off x="337167" y="2763283"/>
              <a:ext cx="1124499" cy="17852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88" name="Rectangle 287">
              <a:extLst>
                <a:ext uri="{FF2B5EF4-FFF2-40B4-BE49-F238E27FC236}">
                  <a16:creationId xmlns:a16="http://schemas.microsoft.com/office/drawing/2014/main" id="{A5B913E0-56AC-4649-852C-AB0DF4E8743E}"/>
                </a:ext>
              </a:extLst>
            </p:cNvPr>
            <p:cNvSpPr/>
            <p:nvPr/>
          </p:nvSpPr>
          <p:spPr>
            <a:xfrm>
              <a:off x="1461664" y="2938939"/>
              <a:ext cx="414496" cy="178522"/>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0</a:t>
              </a:r>
            </a:p>
          </p:txBody>
        </p:sp>
        <p:sp>
          <p:nvSpPr>
            <p:cNvPr id="289" name="Rectangle 288">
              <a:extLst>
                <a:ext uri="{FF2B5EF4-FFF2-40B4-BE49-F238E27FC236}">
                  <a16:creationId xmlns:a16="http://schemas.microsoft.com/office/drawing/2014/main" id="{4EF1E96E-F433-461C-A28C-5C758813B50C}"/>
                </a:ext>
              </a:extLst>
            </p:cNvPr>
            <p:cNvSpPr/>
            <p:nvPr/>
          </p:nvSpPr>
          <p:spPr>
            <a:xfrm>
              <a:off x="337167" y="2938816"/>
              <a:ext cx="1124499" cy="17852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grpSp>
        <p:nvGrpSpPr>
          <p:cNvPr id="290" name="Group 289">
            <a:extLst>
              <a:ext uri="{FF2B5EF4-FFF2-40B4-BE49-F238E27FC236}">
                <a16:creationId xmlns:a16="http://schemas.microsoft.com/office/drawing/2014/main" id="{429BD790-98F3-4787-95D5-96D51E74517F}"/>
              </a:ext>
            </a:extLst>
          </p:cNvPr>
          <p:cNvGrpSpPr/>
          <p:nvPr/>
        </p:nvGrpSpPr>
        <p:grpSpPr>
          <a:xfrm>
            <a:off x="7374893" y="2641012"/>
            <a:ext cx="1543587" cy="610510"/>
            <a:chOff x="337167" y="2386509"/>
            <a:chExt cx="1543587" cy="730829"/>
          </a:xfrm>
        </p:grpSpPr>
        <p:sp>
          <p:nvSpPr>
            <p:cNvPr id="291" name="Rectangle 290">
              <a:extLst>
                <a:ext uri="{FF2B5EF4-FFF2-40B4-BE49-F238E27FC236}">
                  <a16:creationId xmlns:a16="http://schemas.microsoft.com/office/drawing/2014/main" id="{78D629CC-E6EB-4279-89E0-0E0C45016FCA}"/>
                </a:ext>
              </a:extLst>
            </p:cNvPr>
            <p:cNvSpPr/>
            <p:nvPr/>
          </p:nvSpPr>
          <p:spPr>
            <a:xfrm>
              <a:off x="337171" y="2386614"/>
              <a:ext cx="1124495" cy="181934"/>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Law Enforcement Inq.</a:t>
              </a:r>
            </a:p>
          </p:txBody>
        </p:sp>
        <p:sp>
          <p:nvSpPr>
            <p:cNvPr id="292" name="Rectangle 291">
              <a:extLst>
                <a:ext uri="{FF2B5EF4-FFF2-40B4-BE49-F238E27FC236}">
                  <a16:creationId xmlns:a16="http://schemas.microsoft.com/office/drawing/2014/main" id="{DA3FC937-7B16-421E-AAB4-7B22660E9050}"/>
                </a:ext>
              </a:extLst>
            </p:cNvPr>
            <p:cNvSpPr/>
            <p:nvPr/>
          </p:nvSpPr>
          <p:spPr>
            <a:xfrm>
              <a:off x="337169" y="2568547"/>
              <a:ext cx="1124495" cy="194858"/>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293" name="Rectangle 292">
              <a:extLst>
                <a:ext uri="{FF2B5EF4-FFF2-40B4-BE49-F238E27FC236}">
                  <a16:creationId xmlns:a16="http://schemas.microsoft.com/office/drawing/2014/main" id="{D78AFB19-7A44-4672-AE33-0F83434FCB37}"/>
                </a:ext>
              </a:extLst>
            </p:cNvPr>
            <p:cNvSpPr/>
            <p:nvPr/>
          </p:nvSpPr>
          <p:spPr>
            <a:xfrm>
              <a:off x="1461665" y="2386509"/>
              <a:ext cx="419089" cy="200019"/>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Y</a:t>
              </a:r>
            </a:p>
          </p:txBody>
        </p:sp>
        <p:sp>
          <p:nvSpPr>
            <p:cNvPr id="294" name="Rectangle 293">
              <a:extLst>
                <a:ext uri="{FF2B5EF4-FFF2-40B4-BE49-F238E27FC236}">
                  <a16:creationId xmlns:a16="http://schemas.microsoft.com/office/drawing/2014/main" id="{5C07FE12-A368-4765-A512-712EF2461219}"/>
                </a:ext>
              </a:extLst>
            </p:cNvPr>
            <p:cNvSpPr/>
            <p:nvPr/>
          </p:nvSpPr>
          <p:spPr>
            <a:xfrm>
              <a:off x="1461663" y="2568320"/>
              <a:ext cx="419089" cy="196377"/>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90</a:t>
              </a:r>
            </a:p>
          </p:txBody>
        </p:sp>
        <p:sp>
          <p:nvSpPr>
            <p:cNvPr id="295" name="Rectangle 294">
              <a:extLst>
                <a:ext uri="{FF2B5EF4-FFF2-40B4-BE49-F238E27FC236}">
                  <a16:creationId xmlns:a16="http://schemas.microsoft.com/office/drawing/2014/main" id="{8C25D357-F82D-452C-BD76-CA40DFFAFB86}"/>
                </a:ext>
              </a:extLst>
            </p:cNvPr>
            <p:cNvSpPr/>
            <p:nvPr/>
          </p:nvSpPr>
          <p:spPr>
            <a:xfrm>
              <a:off x="1461662" y="2762659"/>
              <a:ext cx="419089" cy="174136"/>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1</a:t>
              </a:r>
            </a:p>
          </p:txBody>
        </p:sp>
        <p:sp>
          <p:nvSpPr>
            <p:cNvPr id="296" name="Rectangle 295">
              <a:extLst>
                <a:ext uri="{FF2B5EF4-FFF2-40B4-BE49-F238E27FC236}">
                  <a16:creationId xmlns:a16="http://schemas.microsoft.com/office/drawing/2014/main" id="{19BE9166-3916-48C8-8E27-8178883B866A}"/>
                </a:ext>
              </a:extLst>
            </p:cNvPr>
            <p:cNvSpPr/>
            <p:nvPr/>
          </p:nvSpPr>
          <p:spPr>
            <a:xfrm>
              <a:off x="337167" y="2763283"/>
              <a:ext cx="1124495" cy="17852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97" name="Rectangle 296">
              <a:extLst>
                <a:ext uri="{FF2B5EF4-FFF2-40B4-BE49-F238E27FC236}">
                  <a16:creationId xmlns:a16="http://schemas.microsoft.com/office/drawing/2014/main" id="{6DD6F14D-4810-4803-9C18-8F3567248F3A}"/>
                </a:ext>
              </a:extLst>
            </p:cNvPr>
            <p:cNvSpPr/>
            <p:nvPr/>
          </p:nvSpPr>
          <p:spPr>
            <a:xfrm>
              <a:off x="1461662" y="2938191"/>
              <a:ext cx="419089" cy="179041"/>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90</a:t>
              </a:r>
            </a:p>
          </p:txBody>
        </p:sp>
        <p:sp>
          <p:nvSpPr>
            <p:cNvPr id="298" name="Rectangle 297">
              <a:extLst>
                <a:ext uri="{FF2B5EF4-FFF2-40B4-BE49-F238E27FC236}">
                  <a16:creationId xmlns:a16="http://schemas.microsoft.com/office/drawing/2014/main" id="{A710ABF0-42F4-4191-ADA7-913CBE4C4E2A}"/>
                </a:ext>
              </a:extLst>
            </p:cNvPr>
            <p:cNvSpPr/>
            <p:nvPr/>
          </p:nvSpPr>
          <p:spPr>
            <a:xfrm>
              <a:off x="337167" y="2938816"/>
              <a:ext cx="1124495" cy="17852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grpSp>
      <p:sp>
        <p:nvSpPr>
          <p:cNvPr id="299" name="Rectangle 298">
            <a:extLst>
              <a:ext uri="{FF2B5EF4-FFF2-40B4-BE49-F238E27FC236}">
                <a16:creationId xmlns:a16="http://schemas.microsoft.com/office/drawing/2014/main" id="{039F1360-2215-4FAD-BE61-BCD3E914EEE3}"/>
              </a:ext>
            </a:extLst>
          </p:cNvPr>
          <p:cNvSpPr/>
          <p:nvPr/>
        </p:nvSpPr>
        <p:spPr>
          <a:xfrm>
            <a:off x="873618" y="602129"/>
            <a:ext cx="6691627" cy="629174"/>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Customer Risk Rating Score</a:t>
            </a:r>
          </a:p>
        </p:txBody>
      </p:sp>
      <p:sp>
        <p:nvSpPr>
          <p:cNvPr id="300" name="Rectangle 299">
            <a:extLst>
              <a:ext uri="{FF2B5EF4-FFF2-40B4-BE49-F238E27FC236}">
                <a16:creationId xmlns:a16="http://schemas.microsoft.com/office/drawing/2014/main" id="{FF18BBEB-5B39-4E40-A1C0-ED318AEEEDA4}"/>
              </a:ext>
            </a:extLst>
          </p:cNvPr>
          <p:cNvSpPr/>
          <p:nvPr/>
        </p:nvSpPr>
        <p:spPr>
          <a:xfrm>
            <a:off x="7565245" y="604454"/>
            <a:ext cx="1418341" cy="626850"/>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2235</a:t>
            </a:r>
          </a:p>
        </p:txBody>
      </p:sp>
      <p:grpSp>
        <p:nvGrpSpPr>
          <p:cNvPr id="3" name="Group 2">
            <a:extLst>
              <a:ext uri="{FF2B5EF4-FFF2-40B4-BE49-F238E27FC236}">
                <a16:creationId xmlns:a16="http://schemas.microsoft.com/office/drawing/2014/main" id="{A10876D3-9600-40BF-8C56-A5814140B35A}"/>
              </a:ext>
            </a:extLst>
          </p:cNvPr>
          <p:cNvGrpSpPr/>
          <p:nvPr/>
        </p:nvGrpSpPr>
        <p:grpSpPr>
          <a:xfrm>
            <a:off x="2506345" y="1888197"/>
            <a:ext cx="1521010" cy="625691"/>
            <a:chOff x="2495554" y="1819588"/>
            <a:chExt cx="1521010" cy="625691"/>
          </a:xfrm>
        </p:grpSpPr>
        <p:sp>
          <p:nvSpPr>
            <p:cNvPr id="228" name="Rectangle 227">
              <a:extLst>
                <a:ext uri="{FF2B5EF4-FFF2-40B4-BE49-F238E27FC236}">
                  <a16:creationId xmlns:a16="http://schemas.microsoft.com/office/drawing/2014/main" id="{CFC81DB7-8210-45D2-B1CF-103048C8B8F6}"/>
                </a:ext>
              </a:extLst>
            </p:cNvPr>
            <p:cNvSpPr/>
            <p:nvPr/>
          </p:nvSpPr>
          <p:spPr>
            <a:xfrm>
              <a:off x="2495557" y="1819588"/>
              <a:ext cx="1128376" cy="156548"/>
            </a:xfrm>
            <a:prstGeom prst="rect">
              <a:avLst/>
            </a:prstGeom>
            <a:solidFill>
              <a:srgbClr val="70AD47">
                <a:lumMod val="40000"/>
                <a:lumOff val="60000"/>
              </a:srgbClr>
            </a:solidFill>
            <a:ln w="12700" cap="flat" cmpd="sng" algn="ctr">
              <a:solidFill>
                <a:srgbClr val="4472C4">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Product Inherent Risk</a:t>
              </a:r>
            </a:p>
          </p:txBody>
        </p:sp>
        <p:sp>
          <p:nvSpPr>
            <p:cNvPr id="229" name="Rectangle 228">
              <a:extLst>
                <a:ext uri="{FF2B5EF4-FFF2-40B4-BE49-F238E27FC236}">
                  <a16:creationId xmlns:a16="http://schemas.microsoft.com/office/drawing/2014/main" id="{3FC485ED-0EDF-4DCD-9E39-1B7F9B33A7FD}"/>
                </a:ext>
              </a:extLst>
            </p:cNvPr>
            <p:cNvSpPr/>
            <p:nvPr/>
          </p:nvSpPr>
          <p:spPr>
            <a:xfrm>
              <a:off x="2495556" y="1976136"/>
              <a:ext cx="1128376" cy="162004"/>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Weighting</a:t>
              </a:r>
            </a:p>
          </p:txBody>
        </p:sp>
        <p:sp>
          <p:nvSpPr>
            <p:cNvPr id="233" name="Rectangle 232">
              <a:extLst>
                <a:ext uri="{FF2B5EF4-FFF2-40B4-BE49-F238E27FC236}">
                  <a16:creationId xmlns:a16="http://schemas.microsoft.com/office/drawing/2014/main" id="{D8226911-B6DF-4A8C-BA08-A6A60F533B11}"/>
                </a:ext>
              </a:extLst>
            </p:cNvPr>
            <p:cNvSpPr/>
            <p:nvPr/>
          </p:nvSpPr>
          <p:spPr>
            <a:xfrm>
              <a:off x="2495554" y="2137538"/>
              <a:ext cx="1128376" cy="156830"/>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Multiplier</a:t>
              </a:r>
            </a:p>
          </p:txBody>
        </p:sp>
        <p:sp>
          <p:nvSpPr>
            <p:cNvPr id="235" name="Rectangle 234">
              <a:extLst>
                <a:ext uri="{FF2B5EF4-FFF2-40B4-BE49-F238E27FC236}">
                  <a16:creationId xmlns:a16="http://schemas.microsoft.com/office/drawing/2014/main" id="{3D60DFAB-0822-4CEA-9346-DA802F05788F}"/>
                </a:ext>
              </a:extLst>
            </p:cNvPr>
            <p:cNvSpPr/>
            <p:nvPr/>
          </p:nvSpPr>
          <p:spPr>
            <a:xfrm>
              <a:off x="2495554" y="2294287"/>
              <a:ext cx="1128376" cy="150992"/>
            </a:xfrm>
            <a:prstGeom prst="rect">
              <a:avLst/>
            </a:prstGeom>
            <a:solidFill>
              <a:srgbClr val="70AD47">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70AD47">
                      <a:lumMod val="75000"/>
                    </a:srgbClr>
                  </a:solidFill>
                  <a:effectLst/>
                  <a:uLnTx/>
                  <a:uFillTx/>
                  <a:latin typeface="Calibri" panose="020F0502020204030204"/>
                  <a:ea typeface="+mn-ea"/>
                  <a:cs typeface="+mn-cs"/>
                </a:rPr>
                <a:t>Score</a:t>
              </a:r>
            </a:p>
          </p:txBody>
        </p:sp>
        <p:sp>
          <p:nvSpPr>
            <p:cNvPr id="230" name="Rectangle 229">
              <a:extLst>
                <a:ext uri="{FF2B5EF4-FFF2-40B4-BE49-F238E27FC236}">
                  <a16:creationId xmlns:a16="http://schemas.microsoft.com/office/drawing/2014/main" id="{43D6F4B4-6639-4B4C-94B9-E2DB53806C78}"/>
                </a:ext>
              </a:extLst>
            </p:cNvPr>
            <p:cNvSpPr/>
            <p:nvPr/>
          </p:nvSpPr>
          <p:spPr>
            <a:xfrm>
              <a:off x="3622274" y="1821066"/>
              <a:ext cx="394145" cy="154899"/>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Med</a:t>
              </a:r>
            </a:p>
          </p:txBody>
        </p:sp>
        <p:sp>
          <p:nvSpPr>
            <p:cNvPr id="231" name="Rectangle 230">
              <a:extLst>
                <a:ext uri="{FF2B5EF4-FFF2-40B4-BE49-F238E27FC236}">
                  <a16:creationId xmlns:a16="http://schemas.microsoft.com/office/drawing/2014/main" id="{EFA0B02A-E4F6-469C-8F53-73B127D04E0B}"/>
                </a:ext>
              </a:extLst>
            </p:cNvPr>
            <p:cNvSpPr/>
            <p:nvPr/>
          </p:nvSpPr>
          <p:spPr>
            <a:xfrm>
              <a:off x="3622271" y="1975965"/>
              <a:ext cx="394293" cy="161654"/>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200</a:t>
              </a:r>
            </a:p>
          </p:txBody>
        </p:sp>
        <p:sp>
          <p:nvSpPr>
            <p:cNvPr id="232" name="Rectangle 231">
              <a:extLst>
                <a:ext uri="{FF2B5EF4-FFF2-40B4-BE49-F238E27FC236}">
                  <a16:creationId xmlns:a16="http://schemas.microsoft.com/office/drawing/2014/main" id="{752E8B22-9449-4DA2-948D-DA42EA64AF20}"/>
                </a:ext>
              </a:extLst>
            </p:cNvPr>
            <p:cNvSpPr/>
            <p:nvPr/>
          </p:nvSpPr>
          <p:spPr>
            <a:xfrm>
              <a:off x="3622270" y="2137537"/>
              <a:ext cx="394293" cy="159613"/>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2</a:t>
              </a:r>
            </a:p>
          </p:txBody>
        </p:sp>
        <p:sp>
          <p:nvSpPr>
            <p:cNvPr id="234" name="Rectangle 233">
              <a:extLst>
                <a:ext uri="{FF2B5EF4-FFF2-40B4-BE49-F238E27FC236}">
                  <a16:creationId xmlns:a16="http://schemas.microsoft.com/office/drawing/2014/main" id="{7D06119D-7A35-4421-BD6C-245A106AEAF4}"/>
                </a:ext>
              </a:extLst>
            </p:cNvPr>
            <p:cNvSpPr/>
            <p:nvPr/>
          </p:nvSpPr>
          <p:spPr>
            <a:xfrm>
              <a:off x="3622270" y="2295004"/>
              <a:ext cx="394293" cy="149495"/>
            </a:xfrm>
            <a:prstGeom prst="rect">
              <a:avLst/>
            </a:prstGeom>
            <a:solidFill>
              <a:srgbClr val="ED7D31">
                <a:lumMod val="20000"/>
                <a:lumOff val="8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ED7D31">
                      <a:lumMod val="75000"/>
                    </a:srgbClr>
                  </a:solidFill>
                  <a:effectLst/>
                  <a:uLnTx/>
                  <a:uFillTx/>
                  <a:latin typeface="Calibri" panose="020F0502020204030204"/>
                  <a:ea typeface="+mn-ea"/>
                  <a:cs typeface="+mn-cs"/>
                </a:rPr>
                <a:t>400</a:t>
              </a:r>
            </a:p>
          </p:txBody>
        </p:sp>
      </p:grpSp>
      <p:sp>
        <p:nvSpPr>
          <p:cNvPr id="29" name="Slide Number Placeholder 28">
            <a:extLst>
              <a:ext uri="{FF2B5EF4-FFF2-40B4-BE49-F238E27FC236}">
                <a16:creationId xmlns:a16="http://schemas.microsoft.com/office/drawing/2014/main" id="{36DDBCDC-B928-434A-84BA-76ADBF39A85F}"/>
              </a:ext>
            </a:extLst>
          </p:cNvPr>
          <p:cNvSpPr>
            <a:spLocks noGrp="1"/>
          </p:cNvSpPr>
          <p:nvPr>
            <p:ph type="sldNum" sz="quarter" idx="10"/>
          </p:nvPr>
        </p:nvSpPr>
        <p:spPr/>
        <p:txBody>
          <a:bodyPr/>
          <a:lstStyle/>
          <a:p>
            <a:pPr>
              <a:defRPr/>
            </a:pPr>
            <a:fld id="{920384AA-0A71-E644-AEED-65CD2253F2C8}" type="slidenum">
              <a:rPr lang="en-US" smtClean="0"/>
              <a:pPr>
                <a:defRPr/>
              </a:pPr>
              <a:t>11</a:t>
            </a:fld>
            <a:endParaRPr lang="en-US" dirty="0"/>
          </a:p>
        </p:txBody>
      </p:sp>
    </p:spTree>
    <p:extLst>
      <p:ext uri="{BB962C8B-B14F-4D97-AF65-F5344CB8AC3E}">
        <p14:creationId xmlns:p14="http://schemas.microsoft.com/office/powerpoint/2010/main" val="3451926506"/>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E5B7048-A3DC-467B-9240-6322A41A3CB1}"/>
              </a:ext>
            </a:extLst>
          </p:cNvPr>
          <p:cNvSpPr/>
          <p:nvPr/>
        </p:nvSpPr>
        <p:spPr>
          <a:xfrm>
            <a:off x="2950799" y="905045"/>
            <a:ext cx="211949" cy="3875677"/>
          </a:xfrm>
          <a:prstGeom prst="rect">
            <a:avLst/>
          </a:prstGeom>
          <a:gradFill flip="none" rotWithShape="1">
            <a:gsLst>
              <a:gs pos="0">
                <a:srgbClr val="FF0000"/>
              </a:gs>
              <a:gs pos="46000">
                <a:srgbClr val="FFC000"/>
              </a:gs>
              <a:gs pos="100000">
                <a:srgbClr val="92D050"/>
              </a:gs>
              <a:gs pos="100000">
                <a:schemeClr val="accent1">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F3F1BAA-7708-410A-A817-75BC41E4E0FA}"/>
              </a:ext>
            </a:extLst>
          </p:cNvPr>
          <p:cNvSpPr txBox="1"/>
          <p:nvPr/>
        </p:nvSpPr>
        <p:spPr>
          <a:xfrm>
            <a:off x="825135" y="128334"/>
            <a:ext cx="9000946" cy="538609"/>
          </a:xfrm>
          <a:prstGeom prst="rect">
            <a:avLst/>
          </a:prstGeom>
          <a:noFill/>
        </p:spPr>
        <p:txBody>
          <a:bodyPr wrap="square" rtlCol="0">
            <a:spAutoFit/>
          </a:bodyPr>
          <a:lstStyle/>
          <a:p>
            <a:r>
              <a:rPr lang="en-US" sz="2900" dirty="0">
                <a:latin typeface="Guardian Egyp Regular" panose="02060503050503060803" pitchFamily="18" charset="77"/>
              </a:rPr>
              <a:t>Risk Class Determination</a:t>
            </a:r>
          </a:p>
        </p:txBody>
      </p:sp>
      <p:sp>
        <p:nvSpPr>
          <p:cNvPr id="28" name="TextBox 27">
            <a:extLst>
              <a:ext uri="{FF2B5EF4-FFF2-40B4-BE49-F238E27FC236}">
                <a16:creationId xmlns:a16="http://schemas.microsoft.com/office/drawing/2014/main" id="{0CCC8930-FB09-4746-9F48-E34A25914455}"/>
              </a:ext>
            </a:extLst>
          </p:cNvPr>
          <p:cNvSpPr txBox="1"/>
          <p:nvPr/>
        </p:nvSpPr>
        <p:spPr>
          <a:xfrm>
            <a:off x="3359238" y="834640"/>
            <a:ext cx="344245" cy="4016484"/>
          </a:xfrm>
          <a:prstGeom prst="rect">
            <a:avLst/>
          </a:prstGeom>
          <a:noFill/>
        </p:spPr>
        <p:txBody>
          <a:bodyPr wrap="square" rtlCol="0">
            <a:spAutoFit/>
          </a:bodyPr>
          <a:lstStyle/>
          <a:p>
            <a:r>
              <a:rPr lang="en-US" sz="1500" dirty="0"/>
              <a:t>9</a:t>
            </a:r>
          </a:p>
          <a:p>
            <a:endParaRPr lang="en-US" sz="1500" dirty="0"/>
          </a:p>
          <a:p>
            <a:r>
              <a:rPr lang="en-US" sz="1500" dirty="0"/>
              <a:t>8</a:t>
            </a:r>
          </a:p>
          <a:p>
            <a:endParaRPr lang="en-US" sz="1500" dirty="0"/>
          </a:p>
          <a:p>
            <a:r>
              <a:rPr lang="en-US" sz="1500" dirty="0"/>
              <a:t>7</a:t>
            </a:r>
          </a:p>
          <a:p>
            <a:endParaRPr lang="en-US" sz="1500" dirty="0"/>
          </a:p>
          <a:p>
            <a:r>
              <a:rPr lang="en-US" sz="1500" dirty="0"/>
              <a:t>6</a:t>
            </a:r>
          </a:p>
          <a:p>
            <a:endParaRPr lang="en-US" sz="1500" dirty="0"/>
          </a:p>
          <a:p>
            <a:r>
              <a:rPr lang="en-US" sz="1500" dirty="0"/>
              <a:t>5</a:t>
            </a:r>
          </a:p>
          <a:p>
            <a:endParaRPr lang="en-US" sz="1500" dirty="0"/>
          </a:p>
          <a:p>
            <a:r>
              <a:rPr lang="en-US" sz="1500" dirty="0"/>
              <a:t>4</a:t>
            </a:r>
          </a:p>
          <a:p>
            <a:endParaRPr lang="en-US" sz="1500" dirty="0"/>
          </a:p>
          <a:p>
            <a:r>
              <a:rPr lang="en-US" sz="1500" dirty="0"/>
              <a:t>3</a:t>
            </a:r>
          </a:p>
          <a:p>
            <a:endParaRPr lang="en-US" sz="1500" dirty="0"/>
          </a:p>
          <a:p>
            <a:r>
              <a:rPr lang="en-US" sz="1500" dirty="0"/>
              <a:t>2</a:t>
            </a:r>
          </a:p>
          <a:p>
            <a:endParaRPr lang="en-US" sz="1500" dirty="0"/>
          </a:p>
          <a:p>
            <a:r>
              <a:rPr lang="en-US" sz="1500" dirty="0"/>
              <a:t>1</a:t>
            </a:r>
          </a:p>
        </p:txBody>
      </p:sp>
      <p:sp>
        <p:nvSpPr>
          <p:cNvPr id="29" name="TextBox 28">
            <a:extLst>
              <a:ext uri="{FF2B5EF4-FFF2-40B4-BE49-F238E27FC236}">
                <a16:creationId xmlns:a16="http://schemas.microsoft.com/office/drawing/2014/main" id="{677E6D48-E6C0-4F06-BDB4-A029A2A37010}"/>
              </a:ext>
            </a:extLst>
          </p:cNvPr>
          <p:cNvSpPr txBox="1"/>
          <p:nvPr/>
        </p:nvSpPr>
        <p:spPr>
          <a:xfrm>
            <a:off x="1613279" y="2024352"/>
            <a:ext cx="699247" cy="276999"/>
          </a:xfrm>
          <a:prstGeom prst="rect">
            <a:avLst/>
          </a:prstGeom>
          <a:noFill/>
        </p:spPr>
        <p:txBody>
          <a:bodyPr wrap="square" rtlCol="0">
            <a:spAutoFit/>
          </a:bodyPr>
          <a:lstStyle/>
          <a:p>
            <a:r>
              <a:rPr lang="en-US" sz="1200" dirty="0"/>
              <a:t>3000</a:t>
            </a:r>
          </a:p>
        </p:txBody>
      </p:sp>
      <p:sp>
        <p:nvSpPr>
          <p:cNvPr id="30" name="TextBox 29">
            <a:extLst>
              <a:ext uri="{FF2B5EF4-FFF2-40B4-BE49-F238E27FC236}">
                <a16:creationId xmlns:a16="http://schemas.microsoft.com/office/drawing/2014/main" id="{21B38B3A-309A-4BDF-A43E-342944FC293C}"/>
              </a:ext>
            </a:extLst>
          </p:cNvPr>
          <p:cNvSpPr txBox="1"/>
          <p:nvPr/>
        </p:nvSpPr>
        <p:spPr>
          <a:xfrm>
            <a:off x="1585315" y="3379422"/>
            <a:ext cx="699247" cy="276999"/>
          </a:xfrm>
          <a:prstGeom prst="rect">
            <a:avLst/>
          </a:prstGeom>
          <a:noFill/>
        </p:spPr>
        <p:txBody>
          <a:bodyPr wrap="square" rtlCol="0">
            <a:spAutoFit/>
          </a:bodyPr>
          <a:lstStyle/>
          <a:p>
            <a:r>
              <a:rPr lang="en-US" sz="1200" dirty="0"/>
              <a:t>1500</a:t>
            </a:r>
          </a:p>
        </p:txBody>
      </p:sp>
      <p:sp>
        <p:nvSpPr>
          <p:cNvPr id="31" name="Arrow: Right 30">
            <a:extLst>
              <a:ext uri="{FF2B5EF4-FFF2-40B4-BE49-F238E27FC236}">
                <a16:creationId xmlns:a16="http://schemas.microsoft.com/office/drawing/2014/main" id="{7D4785A6-DD6C-4AB6-AEE0-91A7EF68780B}"/>
              </a:ext>
            </a:extLst>
          </p:cNvPr>
          <p:cNvSpPr/>
          <p:nvPr/>
        </p:nvSpPr>
        <p:spPr>
          <a:xfrm>
            <a:off x="2193561" y="2077415"/>
            <a:ext cx="639904" cy="170874"/>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200059F4-261E-4AF6-8E6B-B61A4C5918AE}"/>
              </a:ext>
            </a:extLst>
          </p:cNvPr>
          <p:cNvSpPr/>
          <p:nvPr/>
        </p:nvSpPr>
        <p:spPr>
          <a:xfrm>
            <a:off x="2193561" y="3432486"/>
            <a:ext cx="639904" cy="170873"/>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B3BE0692-CF8A-4B9C-BA49-FE9068822238}"/>
              </a:ext>
            </a:extLst>
          </p:cNvPr>
          <p:cNvSpPr txBox="1"/>
          <p:nvPr/>
        </p:nvSpPr>
        <p:spPr>
          <a:xfrm>
            <a:off x="825135" y="1010269"/>
            <a:ext cx="2337613" cy="307777"/>
          </a:xfrm>
          <a:prstGeom prst="rect">
            <a:avLst/>
          </a:prstGeom>
          <a:noFill/>
        </p:spPr>
        <p:txBody>
          <a:bodyPr wrap="square" rtlCol="0">
            <a:spAutoFit/>
          </a:bodyPr>
          <a:lstStyle/>
          <a:p>
            <a:r>
              <a:rPr lang="en-US" sz="1400" dirty="0"/>
              <a:t>Enterprise Thresholds</a:t>
            </a:r>
          </a:p>
        </p:txBody>
      </p:sp>
      <p:sp>
        <p:nvSpPr>
          <p:cNvPr id="34" name="TextBox 33">
            <a:extLst>
              <a:ext uri="{FF2B5EF4-FFF2-40B4-BE49-F238E27FC236}">
                <a16:creationId xmlns:a16="http://schemas.microsoft.com/office/drawing/2014/main" id="{1DB331D5-0479-49AF-B219-90E19CFE5A1D}"/>
              </a:ext>
            </a:extLst>
          </p:cNvPr>
          <p:cNvSpPr txBox="1"/>
          <p:nvPr/>
        </p:nvSpPr>
        <p:spPr>
          <a:xfrm>
            <a:off x="4283765" y="1168470"/>
            <a:ext cx="4722607" cy="1323439"/>
          </a:xfrm>
          <a:prstGeom prst="rect">
            <a:avLst/>
          </a:prstGeom>
          <a:noFill/>
        </p:spPr>
        <p:txBody>
          <a:bodyPr wrap="square" rtlCol="0">
            <a:spAutoFit/>
          </a:bodyPr>
          <a:lstStyle/>
          <a:p>
            <a:r>
              <a:rPr lang="en-US" sz="1600" dirty="0">
                <a:solidFill>
                  <a:schemeClr val="accent2">
                    <a:lumMod val="75000"/>
                  </a:schemeClr>
                </a:solidFill>
              </a:rPr>
              <a:t>2235 </a:t>
            </a:r>
            <a:r>
              <a:rPr lang="en-US" sz="1600" dirty="0"/>
              <a:t>is the calculated score that is then normalized back to the 1 through 9 score, using a threshold scale, as you can see it points to about 4.9 on the 1 through 9 scale, so it is rounded up to </a:t>
            </a:r>
            <a:r>
              <a:rPr lang="en-US" sz="1600" dirty="0">
                <a:solidFill>
                  <a:srgbClr val="FFC000"/>
                </a:solidFill>
              </a:rPr>
              <a:t>5 Medium</a:t>
            </a:r>
          </a:p>
        </p:txBody>
      </p:sp>
      <p:sp>
        <p:nvSpPr>
          <p:cNvPr id="35" name="TextBox 34">
            <a:extLst>
              <a:ext uri="{FF2B5EF4-FFF2-40B4-BE49-F238E27FC236}">
                <a16:creationId xmlns:a16="http://schemas.microsoft.com/office/drawing/2014/main" id="{31759639-EFF5-4EC3-A25B-4A287B082CD5}"/>
              </a:ext>
            </a:extLst>
          </p:cNvPr>
          <p:cNvSpPr txBox="1"/>
          <p:nvPr/>
        </p:nvSpPr>
        <p:spPr>
          <a:xfrm>
            <a:off x="1309154" y="2704898"/>
            <a:ext cx="1255440" cy="553998"/>
          </a:xfrm>
          <a:prstGeom prst="rect">
            <a:avLst/>
          </a:prstGeom>
          <a:noFill/>
        </p:spPr>
        <p:txBody>
          <a:bodyPr wrap="square" rtlCol="0">
            <a:spAutoFit/>
          </a:bodyPr>
          <a:lstStyle/>
          <a:p>
            <a:r>
              <a:rPr lang="en-US" sz="1200" dirty="0">
                <a:solidFill>
                  <a:schemeClr val="accent2">
                    <a:lumMod val="75000"/>
                  </a:schemeClr>
                </a:solidFill>
              </a:rPr>
              <a:t>2235</a:t>
            </a:r>
          </a:p>
          <a:p>
            <a:endParaRPr lang="en-US" dirty="0"/>
          </a:p>
        </p:txBody>
      </p:sp>
      <p:sp>
        <p:nvSpPr>
          <p:cNvPr id="36" name="Arrow: Right 35">
            <a:extLst>
              <a:ext uri="{FF2B5EF4-FFF2-40B4-BE49-F238E27FC236}">
                <a16:creationId xmlns:a16="http://schemas.microsoft.com/office/drawing/2014/main" id="{5A31BC87-11F8-400B-AB8B-BA7E86B11CF3}"/>
              </a:ext>
            </a:extLst>
          </p:cNvPr>
          <p:cNvSpPr/>
          <p:nvPr/>
        </p:nvSpPr>
        <p:spPr>
          <a:xfrm>
            <a:off x="2017233" y="2757446"/>
            <a:ext cx="900439" cy="170873"/>
          </a:xfrm>
          <a:prstGeom prst="rightArrow">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F1613FC-35FA-4791-9A18-D97624D37AB5}"/>
              </a:ext>
            </a:extLst>
          </p:cNvPr>
          <p:cNvSpPr txBox="1"/>
          <p:nvPr/>
        </p:nvSpPr>
        <p:spPr>
          <a:xfrm>
            <a:off x="4283765" y="2757446"/>
            <a:ext cx="4722606" cy="1323439"/>
          </a:xfrm>
          <a:prstGeom prst="rect">
            <a:avLst/>
          </a:prstGeom>
          <a:noFill/>
        </p:spPr>
        <p:txBody>
          <a:bodyPr wrap="square" rtlCol="0">
            <a:spAutoFit/>
          </a:bodyPr>
          <a:lstStyle/>
          <a:p>
            <a:r>
              <a:rPr lang="en-US" sz="1600" dirty="0"/>
              <a:t>These thresholds are initially defined at the enterprise level. </a:t>
            </a:r>
            <a:r>
              <a:rPr lang="en-US" sz="1600" u="sng" dirty="0"/>
              <a:t>However where required local compliance have the ability to create different thresholds for their market.</a:t>
            </a:r>
          </a:p>
          <a:p>
            <a:endParaRPr lang="en-US" sz="1600" dirty="0"/>
          </a:p>
        </p:txBody>
      </p:sp>
      <p:sp>
        <p:nvSpPr>
          <p:cNvPr id="2" name="TextBox 1">
            <a:extLst>
              <a:ext uri="{FF2B5EF4-FFF2-40B4-BE49-F238E27FC236}">
                <a16:creationId xmlns:a16="http://schemas.microsoft.com/office/drawing/2014/main" id="{9EE410EB-E846-4A15-B455-0F24213EFC63}"/>
              </a:ext>
            </a:extLst>
          </p:cNvPr>
          <p:cNvSpPr txBox="1"/>
          <p:nvPr/>
        </p:nvSpPr>
        <p:spPr>
          <a:xfrm>
            <a:off x="943474" y="3410199"/>
            <a:ext cx="660976" cy="215444"/>
          </a:xfrm>
          <a:prstGeom prst="rect">
            <a:avLst/>
          </a:prstGeom>
          <a:noFill/>
        </p:spPr>
        <p:txBody>
          <a:bodyPr wrap="square" lIns="0" tIns="0" rIns="0" bIns="0" rtlCol="0">
            <a:spAutoFit/>
          </a:bodyPr>
          <a:lstStyle/>
          <a:p>
            <a:pPr algn="l"/>
            <a:r>
              <a:rPr lang="en-US" sz="1400" dirty="0">
                <a:solidFill>
                  <a:srgbClr val="FFC000"/>
                </a:solidFill>
              </a:rPr>
              <a:t>Medium</a:t>
            </a:r>
          </a:p>
        </p:txBody>
      </p:sp>
      <p:sp>
        <p:nvSpPr>
          <p:cNvPr id="38" name="TextBox 37">
            <a:extLst>
              <a:ext uri="{FF2B5EF4-FFF2-40B4-BE49-F238E27FC236}">
                <a16:creationId xmlns:a16="http://schemas.microsoft.com/office/drawing/2014/main" id="{7FAFF689-66CD-477A-954C-BFA428536B1A}"/>
              </a:ext>
            </a:extLst>
          </p:cNvPr>
          <p:cNvSpPr txBox="1"/>
          <p:nvPr/>
        </p:nvSpPr>
        <p:spPr>
          <a:xfrm>
            <a:off x="924339" y="2055129"/>
            <a:ext cx="660976" cy="215444"/>
          </a:xfrm>
          <a:prstGeom prst="rect">
            <a:avLst/>
          </a:prstGeom>
          <a:noFill/>
        </p:spPr>
        <p:txBody>
          <a:bodyPr wrap="square" lIns="0" tIns="0" rIns="0" bIns="0" rtlCol="0">
            <a:spAutoFit/>
          </a:bodyPr>
          <a:lstStyle/>
          <a:p>
            <a:pPr algn="l"/>
            <a:r>
              <a:rPr lang="en-US" sz="1400" dirty="0">
                <a:solidFill>
                  <a:srgbClr val="C00000"/>
                </a:solidFill>
              </a:rPr>
              <a:t>High</a:t>
            </a:r>
          </a:p>
        </p:txBody>
      </p:sp>
      <p:sp>
        <p:nvSpPr>
          <p:cNvPr id="3" name="Rectangle 2">
            <a:extLst>
              <a:ext uri="{FF2B5EF4-FFF2-40B4-BE49-F238E27FC236}">
                <a16:creationId xmlns:a16="http://schemas.microsoft.com/office/drawing/2014/main" id="{F920287F-D1A4-4D3C-885D-4D0AB4D14B83}"/>
              </a:ext>
            </a:extLst>
          </p:cNvPr>
          <p:cNvSpPr/>
          <p:nvPr/>
        </p:nvSpPr>
        <p:spPr>
          <a:xfrm>
            <a:off x="4283765" y="4023256"/>
            <a:ext cx="4572000" cy="646331"/>
          </a:xfrm>
          <a:prstGeom prst="rect">
            <a:avLst/>
          </a:prstGeom>
        </p:spPr>
        <p:txBody>
          <a:bodyPr>
            <a:spAutoFit/>
          </a:bodyPr>
          <a:lstStyle/>
          <a:p>
            <a:pPr marL="0"/>
            <a:r>
              <a:rPr lang="en-US" sz="1200" dirty="0">
                <a:solidFill>
                  <a:srgbClr val="00B050"/>
                </a:solidFill>
              </a:rPr>
              <a:t>Note : The initial thresholds between Low, Medium and High will be determined through testing of the scoring methodology in the sandbox.</a:t>
            </a:r>
          </a:p>
        </p:txBody>
      </p:sp>
      <p:sp>
        <p:nvSpPr>
          <p:cNvPr id="4" name="Slide Number Placeholder 3">
            <a:extLst>
              <a:ext uri="{FF2B5EF4-FFF2-40B4-BE49-F238E27FC236}">
                <a16:creationId xmlns:a16="http://schemas.microsoft.com/office/drawing/2014/main" id="{7A2BB07B-8E40-4158-8B22-C025B9FC5403}"/>
              </a:ext>
            </a:extLst>
          </p:cNvPr>
          <p:cNvSpPr>
            <a:spLocks noGrp="1"/>
          </p:cNvSpPr>
          <p:nvPr>
            <p:ph type="sldNum" sz="quarter" idx="10"/>
          </p:nvPr>
        </p:nvSpPr>
        <p:spPr/>
        <p:txBody>
          <a:bodyPr/>
          <a:lstStyle/>
          <a:p>
            <a:pPr>
              <a:defRPr/>
            </a:pPr>
            <a:fld id="{920384AA-0A71-E644-AEED-65CD2253F2C8}" type="slidenum">
              <a:rPr lang="en-US" smtClean="0"/>
              <a:pPr>
                <a:defRPr/>
              </a:pPr>
              <a:t>12</a:t>
            </a:fld>
            <a:endParaRPr lang="en-US" dirty="0"/>
          </a:p>
        </p:txBody>
      </p:sp>
    </p:spTree>
    <p:extLst>
      <p:ext uri="{BB962C8B-B14F-4D97-AF65-F5344CB8AC3E}">
        <p14:creationId xmlns:p14="http://schemas.microsoft.com/office/powerpoint/2010/main" val="2232838806"/>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1618A-B9B7-4656-93A0-5F3FB63331A2}"/>
              </a:ext>
            </a:extLst>
          </p:cNvPr>
          <p:cNvSpPr>
            <a:spLocks noGrp="1"/>
          </p:cNvSpPr>
          <p:nvPr>
            <p:ph type="title"/>
          </p:nvPr>
        </p:nvSpPr>
        <p:spPr>
          <a:xfrm>
            <a:off x="1146876" y="283110"/>
            <a:ext cx="7739565" cy="406797"/>
          </a:xfrm>
        </p:spPr>
        <p:txBody>
          <a:bodyPr/>
          <a:lstStyle/>
          <a:p>
            <a:r>
              <a:rPr lang="en-US" dirty="0"/>
              <a:t>Other Important points</a:t>
            </a:r>
          </a:p>
        </p:txBody>
      </p:sp>
      <p:sp>
        <p:nvSpPr>
          <p:cNvPr id="3" name="Slide Number Placeholder 2">
            <a:extLst>
              <a:ext uri="{FF2B5EF4-FFF2-40B4-BE49-F238E27FC236}">
                <a16:creationId xmlns:a16="http://schemas.microsoft.com/office/drawing/2014/main" id="{FA42AA58-6F66-42B3-BFF2-9E04510C7842}"/>
              </a:ext>
            </a:extLst>
          </p:cNvPr>
          <p:cNvSpPr>
            <a:spLocks noGrp="1"/>
          </p:cNvSpPr>
          <p:nvPr>
            <p:ph type="sldNum" sz="quarter" idx="10"/>
          </p:nvPr>
        </p:nvSpPr>
        <p:spPr/>
        <p:txBody>
          <a:bodyPr/>
          <a:lstStyle/>
          <a:p>
            <a:pPr>
              <a:defRPr/>
            </a:pPr>
            <a:fld id="{920384AA-0A71-E644-AEED-65CD2253F2C8}" type="slidenum">
              <a:rPr lang="en-US" smtClean="0"/>
              <a:pPr>
                <a:defRPr/>
              </a:pPr>
              <a:t>13</a:t>
            </a:fld>
            <a:endParaRPr lang="en-US" dirty="0"/>
          </a:p>
        </p:txBody>
      </p:sp>
      <p:sp>
        <p:nvSpPr>
          <p:cNvPr id="4" name="Text Placeholder 3">
            <a:extLst>
              <a:ext uri="{FF2B5EF4-FFF2-40B4-BE49-F238E27FC236}">
                <a16:creationId xmlns:a16="http://schemas.microsoft.com/office/drawing/2014/main" id="{177FF860-C766-4BA2-B5FC-A85F263D9CEE}"/>
              </a:ext>
            </a:extLst>
          </p:cNvPr>
          <p:cNvSpPr>
            <a:spLocks noGrp="1"/>
          </p:cNvSpPr>
          <p:nvPr>
            <p:ph type="body" sz="quarter" idx="11"/>
          </p:nvPr>
        </p:nvSpPr>
        <p:spPr>
          <a:xfrm>
            <a:off x="1146875" y="748782"/>
            <a:ext cx="7586465" cy="2487216"/>
          </a:xfrm>
        </p:spPr>
        <p:txBody>
          <a:bodyPr/>
          <a:lstStyle/>
          <a:p>
            <a:r>
              <a:rPr lang="en-US" dirty="0"/>
              <a:t>Additional Risk Factors (ARF) and High-Risk Overrides(HRO)</a:t>
            </a:r>
          </a:p>
          <a:p>
            <a:endParaRPr lang="en-US" sz="800" dirty="0"/>
          </a:p>
          <a:p>
            <a:pPr marL="0"/>
            <a:r>
              <a:rPr lang="en-US" sz="1200" dirty="0"/>
              <a:t>ARFs exist today externally from the core of the risk assessment and apply overrides to the score once it is calculated. Either +1 +2 or +3, but these are not cumulative. In the new methodology, these additional rules can be created as risk elements in the relevant risk category and can now carry any weight based on the value assigned and now will be cumulative.</a:t>
            </a:r>
          </a:p>
          <a:p>
            <a:pPr marL="0"/>
            <a:endParaRPr lang="en-US" sz="800" dirty="0"/>
          </a:p>
          <a:p>
            <a:pPr marL="0"/>
            <a:r>
              <a:rPr lang="en-US" sz="1200" dirty="0"/>
              <a:t>HROs always set the risk score to 9-High. They are also external rules, The new methodology will continue to create these externally in the same way, but has the ability to include them in the single scoring scheme by assigning a large enough value to cross the threshold for High Risk.</a:t>
            </a:r>
          </a:p>
          <a:p>
            <a:pPr marL="0"/>
            <a:endParaRPr lang="en-US" sz="800" dirty="0"/>
          </a:p>
          <a:p>
            <a:pPr marL="0"/>
            <a:r>
              <a:rPr lang="en-US" sz="800" dirty="0"/>
              <a:t> </a:t>
            </a:r>
            <a:endParaRPr lang="en-US" sz="1400" dirty="0"/>
          </a:p>
          <a:p>
            <a:pPr marL="0"/>
            <a:r>
              <a:rPr lang="en-US" dirty="0"/>
              <a:t>Customer based view of the data</a:t>
            </a:r>
          </a:p>
          <a:p>
            <a:pPr marL="0"/>
            <a:endParaRPr lang="en-US" sz="1200" dirty="0"/>
          </a:p>
          <a:p>
            <a:pPr marL="0"/>
            <a:r>
              <a:rPr lang="en-US" sz="1200" dirty="0"/>
              <a:t>The risk scoring methodology will consider the customers relationships holistically during the risk calculation. Today each account owned by the customer is score independently and then the highest of those risk scores is assigned to the customer. The new approach would be to use all the data from all the customer accounts to calculate the score.</a:t>
            </a:r>
          </a:p>
          <a:p>
            <a:pPr marL="0"/>
            <a:endParaRPr lang="en-US" sz="800" dirty="0"/>
          </a:p>
          <a:p>
            <a:pPr marL="0"/>
            <a:r>
              <a:rPr lang="en-US" dirty="0"/>
              <a:t>Prohibited Geographies</a:t>
            </a:r>
          </a:p>
          <a:p>
            <a:pPr marL="0"/>
            <a:r>
              <a:rPr lang="en-US" sz="1200" dirty="0"/>
              <a:t>Where a prohibited Geography exists on an account, the customer score will still be calculated, but it will be normalized to a risk rating of </a:t>
            </a:r>
            <a:r>
              <a:rPr lang="en-US" sz="1200" b="1" dirty="0">
                <a:solidFill>
                  <a:schemeClr val="bg1"/>
                </a:solidFill>
                <a:highlight>
                  <a:srgbClr val="000000"/>
                </a:highlight>
              </a:rPr>
              <a:t> 10 – Prohibited    </a:t>
            </a:r>
          </a:p>
        </p:txBody>
      </p:sp>
    </p:spTree>
    <p:extLst>
      <p:ext uri="{BB962C8B-B14F-4D97-AF65-F5344CB8AC3E}">
        <p14:creationId xmlns:p14="http://schemas.microsoft.com/office/powerpoint/2010/main" val="3714384632"/>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5CCBA6-D6FD-42DF-97AE-4146EE9D2E12}"/>
              </a:ext>
            </a:extLst>
          </p:cNvPr>
          <p:cNvSpPr>
            <a:spLocks noGrp="1"/>
          </p:cNvSpPr>
          <p:nvPr>
            <p:ph type="sldNum" sz="quarter" idx="10"/>
          </p:nvPr>
        </p:nvSpPr>
        <p:spPr/>
        <p:txBody>
          <a:bodyPr/>
          <a:lstStyle/>
          <a:p>
            <a:pPr>
              <a:defRPr/>
            </a:pPr>
            <a:fld id="{920384AA-0A71-E644-AEED-65CD2253F2C8}" type="slidenum">
              <a:rPr lang="en-US" smtClean="0"/>
              <a:pPr>
                <a:defRPr/>
              </a:pPr>
              <a:t>14</a:t>
            </a:fld>
            <a:endParaRPr lang="en-US" dirty="0"/>
          </a:p>
        </p:txBody>
      </p:sp>
      <p:sp>
        <p:nvSpPr>
          <p:cNvPr id="6" name="Rectangle 5">
            <a:extLst>
              <a:ext uri="{FF2B5EF4-FFF2-40B4-BE49-F238E27FC236}">
                <a16:creationId xmlns:a16="http://schemas.microsoft.com/office/drawing/2014/main" id="{E06C33CE-FEE5-4EE3-B86A-63D2B2983318}"/>
              </a:ext>
            </a:extLst>
          </p:cNvPr>
          <p:cNvSpPr/>
          <p:nvPr/>
        </p:nvSpPr>
        <p:spPr>
          <a:xfrm>
            <a:off x="924922" y="66360"/>
            <a:ext cx="3131627" cy="369332"/>
          </a:xfrm>
          <a:prstGeom prst="rect">
            <a:avLst/>
          </a:prstGeom>
        </p:spPr>
        <p:txBody>
          <a:bodyPr wrap="none">
            <a:spAutoFit/>
          </a:bodyPr>
          <a:lstStyle/>
          <a:p>
            <a:r>
              <a:rPr lang="en-US" spc="-40" dirty="0"/>
              <a:t>Data elements as of Feb 2022</a:t>
            </a:r>
            <a:endParaRPr lang="en-US" dirty="0"/>
          </a:p>
        </p:txBody>
      </p:sp>
      <p:pic>
        <p:nvPicPr>
          <p:cNvPr id="4" name="Picture 3">
            <a:extLst>
              <a:ext uri="{FF2B5EF4-FFF2-40B4-BE49-F238E27FC236}">
                <a16:creationId xmlns:a16="http://schemas.microsoft.com/office/drawing/2014/main" id="{8F7B2D44-ECB2-478D-83B3-0BD490CDF465}"/>
              </a:ext>
            </a:extLst>
          </p:cNvPr>
          <p:cNvPicPr>
            <a:picLocks noChangeAspect="1"/>
          </p:cNvPicPr>
          <p:nvPr/>
        </p:nvPicPr>
        <p:blipFill>
          <a:blip r:embed="rId2"/>
          <a:stretch>
            <a:fillRect/>
          </a:stretch>
        </p:blipFill>
        <p:spPr>
          <a:xfrm>
            <a:off x="924922" y="435692"/>
            <a:ext cx="7696200" cy="4584777"/>
          </a:xfrm>
          <a:prstGeom prst="rect">
            <a:avLst/>
          </a:prstGeom>
        </p:spPr>
      </p:pic>
    </p:spTree>
    <p:extLst>
      <p:ext uri="{BB962C8B-B14F-4D97-AF65-F5344CB8AC3E}">
        <p14:creationId xmlns:p14="http://schemas.microsoft.com/office/powerpoint/2010/main" val="4261286712"/>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328782"/>
          </a:xfrm>
        </p:spPr>
        <p:txBody>
          <a:bodyPr/>
          <a:lstStyle/>
          <a:p>
            <a:r>
              <a:rPr lang="en-US" sz="2400" dirty="0"/>
              <a:t>User Access Control</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15</a:t>
            </a:fld>
            <a:endParaRPr lang="en-US" dirty="0"/>
          </a:p>
        </p:txBody>
      </p:sp>
      <p:pic>
        <p:nvPicPr>
          <p:cNvPr id="5" name="Picture 4"/>
          <p:cNvPicPr>
            <a:picLocks noChangeAspect="1"/>
          </p:cNvPicPr>
          <p:nvPr/>
        </p:nvPicPr>
        <p:blipFill>
          <a:blip r:embed="rId2"/>
          <a:stretch>
            <a:fillRect/>
          </a:stretch>
        </p:blipFill>
        <p:spPr>
          <a:xfrm>
            <a:off x="1852612" y="1428750"/>
            <a:ext cx="5438775" cy="2286000"/>
          </a:xfrm>
          <a:prstGeom prst="rect">
            <a:avLst/>
          </a:prstGeom>
        </p:spPr>
      </p:pic>
      <p:sp>
        <p:nvSpPr>
          <p:cNvPr id="4" name="TextBox 3"/>
          <p:cNvSpPr txBox="1"/>
          <p:nvPr/>
        </p:nvSpPr>
        <p:spPr>
          <a:xfrm>
            <a:off x="1739424" y="3714750"/>
            <a:ext cx="6531428" cy="553998"/>
          </a:xfrm>
          <a:prstGeom prst="rect">
            <a:avLst/>
          </a:prstGeom>
          <a:noFill/>
        </p:spPr>
        <p:txBody>
          <a:bodyPr wrap="square" lIns="0" tIns="0" rIns="0" bIns="0" rtlCol="0">
            <a:spAutoFit/>
          </a:bodyPr>
          <a:lstStyle/>
          <a:p>
            <a:pPr algn="l"/>
            <a:r>
              <a:rPr lang="en-US" b="0" i="0" dirty="0">
                <a:solidFill>
                  <a:schemeClr val="bg2"/>
                </a:solidFill>
                <a:latin typeface="BentonSans Light" panose="02000503000000020004" pitchFamily="2" charset="0"/>
              </a:rPr>
              <a:t>User access as depicted above is driven by Market, product type &amp; issuing Ame</a:t>
            </a:r>
            <a:r>
              <a:rPr lang="en-US" dirty="0">
                <a:solidFill>
                  <a:schemeClr val="bg2"/>
                </a:solidFill>
                <a:latin typeface="BentonSans Light" panose="02000503000000020004" pitchFamily="2" charset="0"/>
              </a:rPr>
              <a:t>x legal entity and requires leader’s approval.</a:t>
            </a:r>
            <a:endParaRPr lang="en-US" b="0" i="0" dirty="0">
              <a:solidFill>
                <a:schemeClr val="bg2"/>
              </a:solidFill>
              <a:latin typeface="BentonSans Light" panose="02000503000000020004" pitchFamily="2" charset="0"/>
            </a:endParaRPr>
          </a:p>
        </p:txBody>
      </p:sp>
    </p:spTree>
    <p:extLst>
      <p:ext uri="{BB962C8B-B14F-4D97-AF65-F5344CB8AC3E}">
        <p14:creationId xmlns:p14="http://schemas.microsoft.com/office/powerpoint/2010/main" val="3575406086"/>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315031"/>
          </a:xfrm>
        </p:spPr>
        <p:txBody>
          <a:bodyPr/>
          <a:lstStyle/>
          <a:p>
            <a:r>
              <a:rPr lang="en-US" sz="2400" dirty="0"/>
              <a:t>CADENCE Purge Architecture</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16</a:t>
            </a:fld>
            <a:endParaRPr lang="en-US" dirty="0"/>
          </a:p>
        </p:txBody>
      </p:sp>
      <p:pic>
        <p:nvPicPr>
          <p:cNvPr id="5" name="Picture 4"/>
          <p:cNvPicPr>
            <a:picLocks noChangeAspect="1"/>
          </p:cNvPicPr>
          <p:nvPr/>
        </p:nvPicPr>
        <p:blipFill>
          <a:blip r:embed="rId2"/>
          <a:stretch>
            <a:fillRect/>
          </a:stretch>
        </p:blipFill>
        <p:spPr>
          <a:xfrm>
            <a:off x="1505666" y="1615113"/>
            <a:ext cx="6689558" cy="1588626"/>
          </a:xfrm>
          <a:prstGeom prst="rect">
            <a:avLst/>
          </a:prstGeom>
        </p:spPr>
      </p:pic>
      <p:sp>
        <p:nvSpPr>
          <p:cNvPr id="4" name="TextBox 3"/>
          <p:cNvSpPr txBox="1"/>
          <p:nvPr/>
        </p:nvSpPr>
        <p:spPr>
          <a:xfrm>
            <a:off x="1588168" y="3686518"/>
            <a:ext cx="6558930" cy="1107996"/>
          </a:xfrm>
          <a:prstGeom prst="rect">
            <a:avLst/>
          </a:prstGeom>
          <a:noFill/>
        </p:spPr>
        <p:txBody>
          <a:bodyPr wrap="square" lIns="0" tIns="0" rIns="0" bIns="0" rtlCol="0">
            <a:spAutoFit/>
          </a:bodyPr>
          <a:lstStyle/>
          <a:p>
            <a:r>
              <a:rPr lang="en-US" dirty="0">
                <a:solidFill>
                  <a:schemeClr val="bg2"/>
                </a:solidFill>
                <a:latin typeface="BentonSans Light" panose="02000503000000020004" pitchFamily="2" charset="0"/>
              </a:rPr>
              <a:t>Facilitate the retention, protection, and proper disposition of all records to comply with legal and regulatory requirements for local market record retention.</a:t>
            </a:r>
          </a:p>
          <a:p>
            <a:pPr algn="l"/>
            <a:endParaRPr lang="en-US" b="0" i="0" dirty="0">
              <a:solidFill>
                <a:schemeClr val="bg2"/>
              </a:solidFill>
              <a:latin typeface="BentonSans Light" panose="02000503000000020004" pitchFamily="2" charset="0"/>
            </a:endParaRPr>
          </a:p>
        </p:txBody>
      </p:sp>
      <p:sp>
        <p:nvSpPr>
          <p:cNvPr id="6" name="TextBox 5"/>
          <p:cNvSpPr txBox="1"/>
          <p:nvPr/>
        </p:nvSpPr>
        <p:spPr>
          <a:xfrm>
            <a:off x="1921329" y="936171"/>
            <a:ext cx="4691742" cy="276999"/>
          </a:xfrm>
          <a:prstGeom prst="rect">
            <a:avLst/>
          </a:prstGeom>
          <a:noFill/>
        </p:spPr>
        <p:txBody>
          <a:bodyPr wrap="square" lIns="0" tIns="0" rIns="0" bIns="0" rtlCol="0">
            <a:spAutoFit/>
          </a:bodyPr>
          <a:lstStyle/>
          <a:p>
            <a:r>
              <a:rPr lang="en-US" sz="900" dirty="0">
                <a:solidFill>
                  <a:srgbClr val="FF0000"/>
                </a:solidFill>
              </a:rPr>
              <a:t>LEG1180 is internal Government Compliance and Reporting - Anti-Money Laundering platform data retention policy.</a:t>
            </a:r>
            <a:endParaRPr lang="en-US" sz="900" b="0" i="0" dirty="0">
              <a:solidFill>
                <a:srgbClr val="FF0000"/>
              </a:solidFill>
              <a:latin typeface="BentonSans Light" panose="02000503000000020004" pitchFamily="2" charset="0"/>
            </a:endParaRPr>
          </a:p>
        </p:txBody>
      </p:sp>
      <p:cxnSp>
        <p:nvCxnSpPr>
          <p:cNvPr id="8" name="Straight Arrow Connector 7"/>
          <p:cNvCxnSpPr/>
          <p:nvPr/>
        </p:nvCxnSpPr>
        <p:spPr>
          <a:xfrm flipV="1">
            <a:off x="1834243" y="1268186"/>
            <a:ext cx="457200" cy="1017814"/>
          </a:xfrm>
          <a:prstGeom prst="straightConnector1">
            <a:avLst/>
          </a:prstGeom>
          <a:ln w="9525">
            <a:tailEnd type="triangle" w="sm" len="sm"/>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4867213"/>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746" y="283110"/>
            <a:ext cx="8229600" cy="348094"/>
          </a:xfrm>
        </p:spPr>
        <p:txBody>
          <a:bodyPr/>
          <a:lstStyle/>
          <a:p>
            <a:r>
              <a:rPr lang="en-US" sz="2400" dirty="0"/>
              <a:t>KYCC-GKRC-CADENCE Architecture - POA</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17</a:t>
            </a:fld>
            <a:endParaRPr lang="en-US" dirty="0"/>
          </a:p>
        </p:txBody>
      </p:sp>
      <p:pic>
        <p:nvPicPr>
          <p:cNvPr id="5" name="Picture 4"/>
          <p:cNvPicPr>
            <a:picLocks noChangeAspect="1"/>
          </p:cNvPicPr>
          <p:nvPr/>
        </p:nvPicPr>
        <p:blipFill>
          <a:blip r:embed="rId3"/>
          <a:stretch>
            <a:fillRect/>
          </a:stretch>
        </p:blipFill>
        <p:spPr>
          <a:xfrm>
            <a:off x="0" y="698926"/>
            <a:ext cx="7378357" cy="4389265"/>
          </a:xfrm>
          <a:prstGeom prst="rect">
            <a:avLst/>
          </a:prstGeom>
        </p:spPr>
      </p:pic>
      <p:sp>
        <p:nvSpPr>
          <p:cNvPr id="4" name="Oval 3"/>
          <p:cNvSpPr/>
          <p:nvPr/>
        </p:nvSpPr>
        <p:spPr>
          <a:xfrm>
            <a:off x="76200" y="1281656"/>
            <a:ext cx="1913323" cy="3738813"/>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a:off x="1240739" y="949876"/>
            <a:ext cx="1164771" cy="184666"/>
          </a:xfrm>
          <a:prstGeom prst="rect">
            <a:avLst/>
          </a:prstGeom>
          <a:noFill/>
          <a:ln>
            <a:solidFill>
              <a:srgbClr val="FF0000"/>
            </a:solidFill>
          </a:ln>
        </p:spPr>
        <p:txBody>
          <a:bodyPr wrap="square" lIns="0" tIns="0" rIns="0" bIns="0" rtlCol="0">
            <a:spAutoFit/>
          </a:bodyPr>
          <a:lstStyle/>
          <a:p>
            <a:pPr algn="l"/>
            <a:r>
              <a:rPr lang="en-US" sz="1200" i="0" dirty="0">
                <a:solidFill>
                  <a:schemeClr val="bg2"/>
                </a:solidFill>
                <a:latin typeface="+mj-lt"/>
              </a:rPr>
              <a:t>GFCC owned</a:t>
            </a:r>
          </a:p>
        </p:txBody>
      </p:sp>
      <p:cxnSp>
        <p:nvCxnSpPr>
          <p:cNvPr id="9" name="Straight Arrow Connector 8"/>
          <p:cNvCxnSpPr>
            <a:endCxn id="4" idx="0"/>
          </p:cNvCxnSpPr>
          <p:nvPr/>
        </p:nvCxnSpPr>
        <p:spPr>
          <a:xfrm flipH="1">
            <a:off x="1032862" y="1134542"/>
            <a:ext cx="308962" cy="147114"/>
          </a:xfrm>
          <a:prstGeom prst="straightConnector1">
            <a:avLst/>
          </a:prstGeom>
          <a:ln w="6350">
            <a:solidFill>
              <a:srgbClr val="FF0000"/>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03688" y="1945442"/>
            <a:ext cx="765152" cy="91759"/>
          </a:xfrm>
          <a:prstGeom prst="rect">
            <a:avLst/>
          </a:prstGeom>
          <a:noFill/>
        </p:spPr>
        <p:txBody>
          <a:bodyPr wrap="square" lIns="0" tIns="0" rIns="0" bIns="0" rtlCol="0">
            <a:spAutoFit/>
          </a:bodyPr>
          <a:lstStyle/>
          <a:p>
            <a:pPr algn="l"/>
            <a:r>
              <a:rPr lang="en-US" sz="600" b="1" i="0" dirty="0">
                <a:solidFill>
                  <a:schemeClr val="bg2"/>
                </a:solidFill>
                <a:latin typeface="BentonSans Light" panose="02000503000000020004" pitchFamily="2" charset="0"/>
              </a:rPr>
              <a:t>Distributed</a:t>
            </a:r>
          </a:p>
        </p:txBody>
      </p:sp>
      <p:sp>
        <p:nvSpPr>
          <p:cNvPr id="12" name="TextBox 11"/>
          <p:cNvSpPr txBox="1"/>
          <p:nvPr/>
        </p:nvSpPr>
        <p:spPr>
          <a:xfrm>
            <a:off x="703688" y="4562504"/>
            <a:ext cx="653143" cy="92333"/>
          </a:xfrm>
          <a:prstGeom prst="rect">
            <a:avLst/>
          </a:prstGeom>
          <a:noFill/>
        </p:spPr>
        <p:txBody>
          <a:bodyPr wrap="square" lIns="0" tIns="0" rIns="0" bIns="0" rtlCol="0">
            <a:spAutoFit/>
          </a:bodyPr>
          <a:lstStyle/>
          <a:p>
            <a:r>
              <a:rPr lang="en-US" sz="600" b="1" dirty="0">
                <a:solidFill>
                  <a:schemeClr val="bg2"/>
                </a:solidFill>
                <a:latin typeface="BentonSans Light" panose="02000503000000020004" pitchFamily="2" charset="0"/>
              </a:rPr>
              <a:t>Mainframe</a:t>
            </a:r>
          </a:p>
        </p:txBody>
      </p:sp>
      <p:sp>
        <p:nvSpPr>
          <p:cNvPr id="8" name="TextBox 7"/>
          <p:cNvSpPr txBox="1"/>
          <p:nvPr/>
        </p:nvSpPr>
        <p:spPr>
          <a:xfrm>
            <a:off x="5623560" y="698926"/>
            <a:ext cx="3467099" cy="1862048"/>
          </a:xfrm>
          <a:prstGeom prst="rect">
            <a:avLst/>
          </a:prstGeom>
          <a:solidFill>
            <a:schemeClr val="bg1"/>
          </a:solidFill>
          <a:ln>
            <a:solidFill>
              <a:schemeClr val="tx1"/>
            </a:solidFill>
          </a:ln>
        </p:spPr>
        <p:txBody>
          <a:bodyPr wrap="square" lIns="0" tIns="0" rIns="0" bIns="0" rtlCol="0">
            <a:spAutoFit/>
          </a:bodyPr>
          <a:lstStyle/>
          <a:p>
            <a:pPr algn="l"/>
            <a:r>
              <a:rPr lang="en-US" sz="1100" b="0" i="0" dirty="0">
                <a:solidFill>
                  <a:schemeClr val="bg2"/>
                </a:solidFill>
                <a:latin typeface="Calibri" panose="020F0502020204030204" pitchFamily="34" charset="0"/>
                <a:cs typeface="Calibri" panose="020F0502020204030204" pitchFamily="34" charset="0"/>
              </a:rPr>
              <a:t>1)CADENCE schedules &amp; stores the reviews.</a:t>
            </a:r>
          </a:p>
          <a:p>
            <a:pPr algn="l"/>
            <a:endParaRPr lang="en-US" sz="1100" b="0" i="0" dirty="0">
              <a:solidFill>
                <a:schemeClr val="bg2"/>
              </a:solidFill>
              <a:latin typeface="Calibri" panose="020F0502020204030204" pitchFamily="34" charset="0"/>
              <a:cs typeface="Calibri" panose="020F0502020204030204" pitchFamily="34" charset="0"/>
            </a:endParaRPr>
          </a:p>
          <a:p>
            <a:pPr algn="l"/>
            <a:r>
              <a:rPr lang="en-US" sz="1100" dirty="0">
                <a:solidFill>
                  <a:schemeClr val="bg2"/>
                </a:solidFill>
                <a:latin typeface="Calibri" panose="020F0502020204030204" pitchFamily="34" charset="0"/>
                <a:cs typeface="Calibri" panose="020F0502020204030204" pitchFamily="34" charset="0"/>
              </a:rPr>
              <a:t>2)GKRC distributes the reviews and calculates the KYC refresh score by using weighing of the verified KYC  fields. The weightage of fields and thresholds may vary by market.</a:t>
            </a:r>
          </a:p>
          <a:p>
            <a:pPr algn="l"/>
            <a:r>
              <a:rPr lang="en-US" sz="1100" dirty="0">
                <a:solidFill>
                  <a:schemeClr val="bg2"/>
                </a:solidFill>
                <a:latin typeface="Calibri" panose="020F0502020204030204" pitchFamily="34" charset="0"/>
                <a:cs typeface="Calibri" panose="020F0502020204030204" pitchFamily="34" charset="0"/>
              </a:rPr>
              <a:t>In the US there are 4 fields included in the KYC refresh score </a:t>
            </a:r>
          </a:p>
          <a:p>
            <a:pPr algn="l"/>
            <a:r>
              <a:rPr lang="en-US" sz="1100" dirty="0">
                <a:solidFill>
                  <a:schemeClr val="bg2"/>
                </a:solidFill>
                <a:latin typeface="Calibri" panose="020F0502020204030204" pitchFamily="34" charset="0"/>
                <a:cs typeface="Calibri" panose="020F0502020204030204" pitchFamily="34" charset="0"/>
              </a:rPr>
              <a:t>Name   		30 points, if verified.</a:t>
            </a:r>
          </a:p>
          <a:p>
            <a:pPr algn="l"/>
            <a:r>
              <a:rPr lang="en-US" sz="1100" dirty="0">
                <a:solidFill>
                  <a:schemeClr val="bg2"/>
                </a:solidFill>
                <a:latin typeface="Calibri" panose="020F0502020204030204" pitchFamily="34" charset="0"/>
                <a:cs typeface="Calibri" panose="020F0502020204030204" pitchFamily="34" charset="0"/>
              </a:rPr>
              <a:t>Address 	30 points, if verified.</a:t>
            </a:r>
          </a:p>
          <a:p>
            <a:pPr algn="l"/>
            <a:r>
              <a:rPr lang="en-US" sz="1100" dirty="0">
                <a:solidFill>
                  <a:schemeClr val="bg2"/>
                </a:solidFill>
                <a:latin typeface="Calibri" panose="020F0502020204030204" pitchFamily="34" charset="0"/>
                <a:cs typeface="Calibri" panose="020F0502020204030204" pitchFamily="34" charset="0"/>
              </a:rPr>
              <a:t>DOB 		20 points, if verified.</a:t>
            </a:r>
          </a:p>
          <a:p>
            <a:pPr algn="l"/>
            <a:r>
              <a:rPr lang="en-US" sz="1100" dirty="0">
                <a:solidFill>
                  <a:schemeClr val="bg2"/>
                </a:solidFill>
                <a:latin typeface="Calibri" panose="020F0502020204030204" pitchFamily="34" charset="0"/>
                <a:cs typeface="Calibri" panose="020F0502020204030204" pitchFamily="34" charset="0"/>
              </a:rPr>
              <a:t>SSN 		20 points, if verified.</a:t>
            </a:r>
          </a:p>
          <a:p>
            <a:pPr algn="l"/>
            <a:r>
              <a:rPr lang="en-US" sz="1100" dirty="0">
                <a:solidFill>
                  <a:schemeClr val="bg2"/>
                </a:solidFill>
                <a:latin typeface="Calibri" panose="020F0502020204030204" pitchFamily="34" charset="0"/>
                <a:cs typeface="Calibri" panose="020F0502020204030204" pitchFamily="34" charset="0"/>
              </a:rPr>
              <a:t>To pass KYC refresh, total of verified fields must exceed 79.             </a:t>
            </a:r>
          </a:p>
        </p:txBody>
      </p:sp>
      <p:sp>
        <p:nvSpPr>
          <p:cNvPr id="15" name="Oval 14"/>
          <p:cNvSpPr/>
          <p:nvPr/>
        </p:nvSpPr>
        <p:spPr>
          <a:xfrm>
            <a:off x="497615" y="4035297"/>
            <a:ext cx="161132" cy="14808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t>1</a:t>
            </a:r>
          </a:p>
        </p:txBody>
      </p:sp>
      <p:sp>
        <p:nvSpPr>
          <p:cNvPr id="16" name="Oval 15"/>
          <p:cNvSpPr/>
          <p:nvPr/>
        </p:nvSpPr>
        <p:spPr>
          <a:xfrm>
            <a:off x="497615" y="2211759"/>
            <a:ext cx="163447" cy="14630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t>2</a:t>
            </a:r>
          </a:p>
        </p:txBody>
      </p:sp>
    </p:spTree>
    <p:extLst>
      <p:ext uri="{BB962C8B-B14F-4D97-AF65-F5344CB8AC3E}">
        <p14:creationId xmlns:p14="http://schemas.microsoft.com/office/powerpoint/2010/main" val="3043371667"/>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2400" dirty="0"/>
              <a:t>Appendix</a:t>
            </a:r>
          </a:p>
        </p:txBody>
      </p:sp>
      <p:sp>
        <p:nvSpPr>
          <p:cNvPr id="3" name="Slide Number Placeholder 2"/>
          <p:cNvSpPr>
            <a:spLocks noGrp="1"/>
          </p:cNvSpPr>
          <p:nvPr>
            <p:ph type="sldNum" sz="quarter" idx="4294967295"/>
          </p:nvPr>
        </p:nvSpPr>
        <p:spPr>
          <a:xfrm>
            <a:off x="8355013" y="4794250"/>
            <a:ext cx="788987" cy="227013"/>
          </a:xfrm>
        </p:spPr>
        <p:txBody>
          <a:bodyPr/>
          <a:lstStyle/>
          <a:p>
            <a:pPr>
              <a:defRPr/>
            </a:pPr>
            <a:fld id="{920384AA-0A71-E644-AEED-65CD2253F2C8}" type="slidenum">
              <a:rPr lang="en-US" smtClean="0"/>
              <a:pPr>
                <a:defRPr/>
              </a:pPr>
              <a:t>18</a:t>
            </a:fld>
            <a:endParaRPr lang="en-US" dirty="0"/>
          </a:p>
        </p:txBody>
      </p:sp>
    </p:spTree>
    <p:extLst>
      <p:ext uri="{BB962C8B-B14F-4D97-AF65-F5344CB8AC3E}">
        <p14:creationId xmlns:p14="http://schemas.microsoft.com/office/powerpoint/2010/main" val="1233601355"/>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CADENCE Capabilities</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19</a:t>
            </a:fld>
            <a:endParaRPr lang="en-US" dirty="0"/>
          </a:p>
        </p:txBody>
      </p:sp>
      <p:pic>
        <p:nvPicPr>
          <p:cNvPr id="5" name="Picture 4"/>
          <p:cNvPicPr>
            <a:picLocks noChangeAspect="1"/>
          </p:cNvPicPr>
          <p:nvPr/>
        </p:nvPicPr>
        <p:blipFill>
          <a:blip r:embed="rId2"/>
          <a:stretch>
            <a:fillRect/>
          </a:stretch>
        </p:blipFill>
        <p:spPr>
          <a:xfrm>
            <a:off x="1146876" y="1127531"/>
            <a:ext cx="7566112" cy="3649536"/>
          </a:xfrm>
          <a:prstGeom prst="rect">
            <a:avLst/>
          </a:prstGeom>
        </p:spPr>
      </p:pic>
    </p:spTree>
    <p:extLst>
      <p:ext uri="{BB962C8B-B14F-4D97-AF65-F5344CB8AC3E}">
        <p14:creationId xmlns:p14="http://schemas.microsoft.com/office/powerpoint/2010/main" val="2256867894"/>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239404"/>
          </a:xfrm>
        </p:spPr>
        <p:txBody>
          <a:bodyPr/>
          <a:lstStyle/>
          <a:p>
            <a:r>
              <a:rPr lang="en-US" sz="2400" dirty="0"/>
              <a:t>CADENCE Capabilities (cont.)</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20</a:t>
            </a:fld>
            <a:endParaRPr lang="en-US" dirty="0"/>
          </a:p>
        </p:txBody>
      </p:sp>
      <p:pic>
        <p:nvPicPr>
          <p:cNvPr id="4" name="Picture 3"/>
          <p:cNvPicPr>
            <a:picLocks noChangeAspect="1"/>
          </p:cNvPicPr>
          <p:nvPr/>
        </p:nvPicPr>
        <p:blipFill>
          <a:blip r:embed="rId2"/>
          <a:stretch>
            <a:fillRect/>
          </a:stretch>
        </p:blipFill>
        <p:spPr>
          <a:xfrm>
            <a:off x="1037155" y="801485"/>
            <a:ext cx="7364186" cy="3778921"/>
          </a:xfrm>
          <a:prstGeom prst="rect">
            <a:avLst/>
          </a:prstGeom>
        </p:spPr>
      </p:pic>
    </p:spTree>
    <p:extLst>
      <p:ext uri="{BB962C8B-B14F-4D97-AF65-F5344CB8AC3E}">
        <p14:creationId xmlns:p14="http://schemas.microsoft.com/office/powerpoint/2010/main" val="3140485185"/>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876" y="283110"/>
            <a:ext cx="7739565" cy="335657"/>
          </a:xfrm>
        </p:spPr>
        <p:txBody>
          <a:bodyPr/>
          <a:lstStyle/>
          <a:p>
            <a:r>
              <a:rPr lang="en-US" sz="2400" dirty="0"/>
              <a:t>CADENCE Solution Architecture</a:t>
            </a:r>
          </a:p>
        </p:txBody>
      </p:sp>
      <p:sp>
        <p:nvSpPr>
          <p:cNvPr id="3" name="Slide Number Placeholder 2"/>
          <p:cNvSpPr>
            <a:spLocks noGrp="1"/>
          </p:cNvSpPr>
          <p:nvPr>
            <p:ph type="sldNum" sz="quarter" idx="10"/>
          </p:nvPr>
        </p:nvSpPr>
        <p:spPr/>
        <p:txBody>
          <a:bodyPr/>
          <a:lstStyle/>
          <a:p>
            <a:pPr>
              <a:defRPr/>
            </a:pPr>
            <a:fld id="{920384AA-0A71-E644-AEED-65CD2253F2C8}" type="slidenum">
              <a:rPr lang="en-US" smtClean="0"/>
              <a:pPr>
                <a:defRPr/>
              </a:pPr>
              <a:t>21</a:t>
            </a:fld>
            <a:endParaRPr lang="en-US" dirty="0"/>
          </a:p>
        </p:txBody>
      </p:sp>
      <p:pic>
        <p:nvPicPr>
          <p:cNvPr id="6" name="Picture 5"/>
          <p:cNvPicPr>
            <a:picLocks noChangeAspect="1"/>
          </p:cNvPicPr>
          <p:nvPr/>
        </p:nvPicPr>
        <p:blipFill>
          <a:blip r:embed="rId2"/>
          <a:stretch>
            <a:fillRect/>
          </a:stretch>
        </p:blipFill>
        <p:spPr>
          <a:xfrm>
            <a:off x="1001486" y="713014"/>
            <a:ext cx="7719938" cy="3904273"/>
          </a:xfrm>
          <a:prstGeom prst="rect">
            <a:avLst/>
          </a:prstGeom>
        </p:spPr>
      </p:pic>
    </p:spTree>
    <p:extLst>
      <p:ext uri="{BB962C8B-B14F-4D97-AF65-F5344CB8AC3E}">
        <p14:creationId xmlns:p14="http://schemas.microsoft.com/office/powerpoint/2010/main" val="3581585376"/>
      </p:ext>
    </p:extLst>
  </p:cSld>
  <p:clrMapOvr>
    <a:masterClrMapping/>
  </p:clrMapOvr>
  <p:transition spd="slow"/>
</p:sld>
</file>

<file path=ppt/theme/theme1.xml><?xml version="1.0" encoding="utf-8"?>
<a:theme xmlns:a="http://schemas.openxmlformats.org/drawingml/2006/main" name="Enterprise CorpID version 2">
  <a:themeElements>
    <a:clrScheme name="Custom 124">
      <a:dk1>
        <a:srgbClr val="002663"/>
      </a:dk1>
      <a:lt1>
        <a:srgbClr val="FFFFFF"/>
      </a:lt1>
      <a:dk2>
        <a:srgbClr val="006AD2"/>
      </a:dk2>
      <a:lt2>
        <a:srgbClr val="162B73"/>
      </a:lt2>
      <a:accent1>
        <a:srgbClr val="0968CE"/>
      </a:accent1>
      <a:accent2>
        <a:srgbClr val="6F7879"/>
      </a:accent2>
      <a:accent3>
        <a:srgbClr val="13276E"/>
      </a:accent3>
      <a:accent4>
        <a:srgbClr val="D6E6FE"/>
      </a:accent4>
      <a:accent5>
        <a:srgbClr val="BECAF1"/>
      </a:accent5>
      <a:accent6>
        <a:srgbClr val="C7C8C7"/>
      </a:accent6>
      <a:hlink>
        <a:srgbClr val="0069D0"/>
      </a:hlink>
      <a:folHlink>
        <a:srgbClr val="00266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b="0" i="0" dirty="0" smtClean="0">
            <a:solidFill>
              <a:schemeClr val="bg2"/>
            </a:solidFill>
            <a:latin typeface="BentonSans Light" panose="02000503000000020004" pitchFamily="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EnterpriseCorpID_PPT_PRINTtemplate_v1</Template>
  <TotalTime>5823</TotalTime>
  <Words>1773</Words>
  <Application>Microsoft Office PowerPoint</Application>
  <PresentationFormat>On-screen Show (16:9)</PresentationFormat>
  <Paragraphs>361</Paragraphs>
  <Slides>21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BentonSans Light</vt:lpstr>
      <vt:lpstr>BentonSans Medium</vt:lpstr>
      <vt:lpstr>BentonSans Regular</vt:lpstr>
      <vt:lpstr>Calibri</vt:lpstr>
      <vt:lpstr>Guardian Egyp</vt:lpstr>
      <vt:lpstr>Guardian Egyp Regular</vt:lpstr>
      <vt:lpstr>Verdana</vt:lpstr>
      <vt:lpstr>Wingdings</vt:lpstr>
      <vt:lpstr>Enterprise CorpID version 2</vt:lpstr>
      <vt:lpstr>Business Unit Review-CADENCE</vt:lpstr>
      <vt:lpstr>What is CADENCE?</vt:lpstr>
      <vt:lpstr>CADENCE Data Sources</vt:lpstr>
      <vt:lpstr>CADENCE (cont.)</vt:lpstr>
      <vt:lpstr>Types of Risk Scores</vt:lpstr>
      <vt:lpstr>Customer Risk Score Calculation Example</vt:lpstr>
      <vt:lpstr>Score Calculation </vt:lpstr>
      <vt:lpstr>PowerPoint Presentation</vt:lpstr>
      <vt:lpstr>PowerPoint Presentation</vt:lpstr>
      <vt:lpstr>PowerPoint Presentation</vt:lpstr>
      <vt:lpstr>PowerPoint Presentation</vt:lpstr>
      <vt:lpstr>PowerPoint Presentation</vt:lpstr>
      <vt:lpstr>Other Important points</vt:lpstr>
      <vt:lpstr>PowerPoint Presentation</vt:lpstr>
      <vt:lpstr>User Access Control</vt:lpstr>
      <vt:lpstr>CADENCE Purge Architecture</vt:lpstr>
      <vt:lpstr>KYCC-GKRC-CADENCE Architecture - POA</vt:lpstr>
      <vt:lpstr>Appendix</vt:lpstr>
      <vt:lpstr>CADENCE Capabilities</vt:lpstr>
      <vt:lpstr>CADENCE Capabilities (cont.)</vt:lpstr>
      <vt:lpstr>CADENCE Solution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Title—Do not alter this design template</dc:title>
  <dc:creator>Jared Weinberger</dc:creator>
  <cp:lastModifiedBy>Lalith</cp:lastModifiedBy>
  <cp:revision>149</cp:revision>
  <cp:lastPrinted>2019-04-22T21:36:30Z</cp:lastPrinted>
  <dcterms:created xsi:type="dcterms:W3CDTF">2017-11-20T16:47:07Z</dcterms:created>
  <dcterms:modified xsi:type="dcterms:W3CDTF">2022-04-01T20:44:01Z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XPAuthor">
    <vt:lpwstr>Jeff Lathery</vt:lpwstr>
  </property>
  <property fmtid="{D5CDD505-2E9C-101B-9397-08002B2CF9AE}" pid="3" name="AXPDataClassification">
    <vt:lpwstr>AXP Internal</vt:lpwstr>
  </property>
  <property fmtid="{D5CDD505-2E9C-101B-9397-08002B2CF9AE}" pid="4" name="AXPDataClassificationForSearch">
    <vt:lpwstr>AXPInternal_UniqueSearchString</vt:lpwstr>
  </property>
  <property fmtid="{D5CDD505-2E9C-101B-9397-08002B2CF9AE}" pid="5" name="Jive_LatestUserAccountName">
    <vt:lpwstr>pkim10</vt:lpwstr>
  </property>
  <property fmtid="{D5CDD505-2E9C-101B-9397-08002B2CF9AE}" pid="6" name="Offisync_ProviderInitializationData">
    <vt:lpwstr>https://square.americanexpress.com</vt:lpwstr>
  </property>
  <property fmtid="{D5CDD505-2E9C-101B-9397-08002B2CF9AE}" pid="7" name="Offisync_UniqueId">
    <vt:lpwstr>17731</vt:lpwstr>
  </property>
  <property fmtid="{D5CDD505-2E9C-101B-9397-08002B2CF9AE}" pid="8" name="Offisync_UpdateToken">
    <vt:lpwstr>1</vt:lpwstr>
  </property>
  <property fmtid="{D5CDD505-2E9C-101B-9397-08002B2CF9AE}" pid="9" name="Offisync_ServerID">
    <vt:lpwstr>1705d9cf-de7c-4d04-92a9-b248fa970c4a</vt:lpwstr>
  </property>
  <property fmtid="{D5CDD505-2E9C-101B-9397-08002B2CF9AE}" pid="10" name="Jive_VersionGuid">
    <vt:lpwstr>1276b33b-867d-47ae-bacd-946e40fa2ed6</vt:lpwstr>
  </property>
</Properties>
</file>