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9"/>
  </p:notesMasterIdLst>
  <p:handoutMasterIdLst>
    <p:handoutMasterId r:id="rId20"/>
  </p:handoutMasterIdLst>
  <p:sldIdLst>
    <p:sldId id="271" r:id="rId2"/>
    <p:sldId id="266" r:id="rId3"/>
    <p:sldId id="366" r:id="rId4"/>
    <p:sldId id="377" r:id="rId5"/>
    <p:sldId id="373" r:id="rId6"/>
    <p:sldId id="382" r:id="rId7"/>
    <p:sldId id="383" r:id="rId8"/>
    <p:sldId id="384" r:id="rId9"/>
    <p:sldId id="375" r:id="rId10"/>
    <p:sldId id="389" r:id="rId11"/>
    <p:sldId id="392" r:id="rId12"/>
    <p:sldId id="390" r:id="rId13"/>
    <p:sldId id="385" r:id="rId14"/>
    <p:sldId id="386" r:id="rId15"/>
    <p:sldId id="387" r:id="rId16"/>
    <p:sldId id="388" r:id="rId17"/>
    <p:sldId id="391" r:id="rId18"/>
  </p:sldIdLst>
  <p:sldSz cx="9144000" cy="5143500" type="screen16x9"/>
  <p:notesSz cx="7010400" cy="9296400"/>
  <p:defaultTextStyle>
    <a:defPPr>
      <a:defRPr lang="en-US"/>
    </a:defPPr>
    <a:lvl1pPr algn="l" defTabSz="457200" rtl="0" fontAlgn="base">
      <a:spcBef>
        <a:spcPct val="0"/>
      </a:spcBef>
      <a:spcAft>
        <a:spcPct val="0"/>
      </a:spcAft>
      <a:defRPr kern="1200">
        <a:solidFill>
          <a:schemeClr val="tx1"/>
        </a:solidFill>
        <a:latin typeface="Arial" charset="0"/>
        <a:ea typeface="+mn-ea"/>
        <a:cs typeface="+mn-cs"/>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805" userDrawn="1">
          <p15:clr>
            <a:srgbClr val="A4A3A4"/>
          </p15:clr>
        </p15:guide>
        <p15:guide id="2" orient="horz" pos="204" userDrawn="1">
          <p15:clr>
            <a:srgbClr val="A4A3A4"/>
          </p15:clr>
        </p15:guide>
        <p15:guide id="3" orient="horz" pos="3116" userDrawn="1">
          <p15:clr>
            <a:srgbClr val="A4A3A4"/>
          </p15:clr>
        </p15:guide>
        <p15:guide id="4" pos="302" userDrawn="1">
          <p15:clr>
            <a:srgbClr val="A4A3A4"/>
          </p15:clr>
        </p15:guide>
        <p15:guide id="5" pos="5478" userDrawn="1">
          <p15:clr>
            <a:srgbClr val="A4A3A4"/>
          </p15:clr>
        </p15:guide>
        <p15:guide id="6" pos="400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8795"/>
    <a:srgbClr val="002663"/>
    <a:srgbClr val="00A3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01"/>
    <p:restoredTop sz="94638"/>
  </p:normalViewPr>
  <p:slideViewPr>
    <p:cSldViewPr snapToGrid="0" showGuides="1">
      <p:cViewPr varScale="1">
        <p:scale>
          <a:sx n="129" d="100"/>
          <a:sy n="129" d="100"/>
        </p:scale>
        <p:origin x="90" y="126"/>
      </p:cViewPr>
      <p:guideLst>
        <p:guide orient="horz" pos="805"/>
        <p:guide orient="horz" pos="204"/>
        <p:guide orient="horz" pos="3116"/>
        <p:guide pos="302"/>
        <p:guide pos="5478"/>
        <p:guide pos="4002"/>
      </p:guideLst>
    </p:cSldViewPr>
  </p:slideViewPr>
  <p:notesTextViewPr>
    <p:cViewPr>
      <p:scale>
        <a:sx n="100" d="100"/>
        <a:sy n="100" d="100"/>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my Colbert" userId="b2071f7d-7a09-456d-9577-2c2aacbcd4cf" providerId="ADAL" clId="{0CD928C9-A42B-498E-B35C-2764053E348F}"/>
    <pc:docChg chg="undo custSel modSld">
      <pc:chgData name="Tommy Colbert" userId="b2071f7d-7a09-456d-9577-2c2aacbcd4cf" providerId="ADAL" clId="{0CD928C9-A42B-498E-B35C-2764053E348F}" dt="2021-08-09T19:53:24.085" v="152" actId="20577"/>
      <pc:docMkLst>
        <pc:docMk/>
      </pc:docMkLst>
      <pc:sldChg chg="delSp modSp mod">
        <pc:chgData name="Tommy Colbert" userId="b2071f7d-7a09-456d-9577-2c2aacbcd4cf" providerId="ADAL" clId="{0CD928C9-A42B-498E-B35C-2764053E348F}" dt="2021-08-09T19:53:24.085" v="152" actId="20577"/>
        <pc:sldMkLst>
          <pc:docMk/>
          <pc:sldMk cId="380783897" sldId="392"/>
        </pc:sldMkLst>
        <pc:spChg chg="mod">
          <ac:chgData name="Tommy Colbert" userId="b2071f7d-7a09-456d-9577-2c2aacbcd4cf" providerId="ADAL" clId="{0CD928C9-A42B-498E-B35C-2764053E348F}" dt="2021-08-09T19:53:24.085" v="152" actId="20577"/>
          <ac:spMkLst>
            <pc:docMk/>
            <pc:sldMk cId="380783897" sldId="392"/>
            <ac:spMk id="9" creationId="{79F9C4C9-CFD1-4900-90F6-B33F51233B94}"/>
          </ac:spMkLst>
        </pc:spChg>
        <pc:spChg chg="del">
          <ac:chgData name="Tommy Colbert" userId="b2071f7d-7a09-456d-9577-2c2aacbcd4cf" providerId="ADAL" clId="{0CD928C9-A42B-498E-B35C-2764053E348F}" dt="2021-08-09T19:45:49.505" v="0" actId="478"/>
          <ac:spMkLst>
            <pc:docMk/>
            <pc:sldMk cId="380783897" sldId="392"/>
            <ac:spMk id="26" creationId="{5EF8D8C7-960D-455D-A1BE-C5BF80919465}"/>
          </ac:spMkLst>
        </pc:spChg>
        <pc:spChg chg="del mod">
          <ac:chgData name="Tommy Colbert" userId="b2071f7d-7a09-456d-9577-2c2aacbcd4cf" providerId="ADAL" clId="{0CD928C9-A42B-498E-B35C-2764053E348F}" dt="2021-08-09T19:45:52.547" v="3" actId="478"/>
          <ac:spMkLst>
            <pc:docMk/>
            <pc:sldMk cId="380783897" sldId="392"/>
            <ac:spMk id="28" creationId="{BBF64462-2BE3-4501-A4E7-0D77CC23CBCE}"/>
          </ac:spMkLst>
        </pc:spChg>
        <pc:spChg chg="mod">
          <ac:chgData name="Tommy Colbert" userId="b2071f7d-7a09-456d-9577-2c2aacbcd4cf" providerId="ADAL" clId="{0CD928C9-A42B-498E-B35C-2764053E348F}" dt="2021-08-09T19:49:55.991" v="114" actId="1076"/>
          <ac:spMkLst>
            <pc:docMk/>
            <pc:sldMk cId="380783897" sldId="392"/>
            <ac:spMk id="29" creationId="{CB548859-DD79-4056-84C4-1E625A3C1A79}"/>
          </ac:spMkLst>
        </pc:spChg>
        <pc:spChg chg="mod">
          <ac:chgData name="Tommy Colbert" userId="b2071f7d-7a09-456d-9577-2c2aacbcd4cf" providerId="ADAL" clId="{0CD928C9-A42B-498E-B35C-2764053E348F}" dt="2021-08-09T19:49:55.991" v="114" actId="1076"/>
          <ac:spMkLst>
            <pc:docMk/>
            <pc:sldMk cId="380783897" sldId="392"/>
            <ac:spMk id="30" creationId="{4D1E1B18-D919-4D5C-9A9D-95EBDCEC8893}"/>
          </ac:spMkLst>
        </pc:spChg>
        <pc:spChg chg="mod">
          <ac:chgData name="Tommy Colbert" userId="b2071f7d-7a09-456d-9577-2c2aacbcd4cf" providerId="ADAL" clId="{0CD928C9-A42B-498E-B35C-2764053E348F}" dt="2021-08-09T19:49:55.991" v="114" actId="1076"/>
          <ac:spMkLst>
            <pc:docMk/>
            <pc:sldMk cId="380783897" sldId="392"/>
            <ac:spMk id="31" creationId="{9BD39182-CD6C-4143-90C2-C68EC958FA89}"/>
          </ac:spMkLst>
        </pc:spChg>
        <pc:spChg chg="mod">
          <ac:chgData name="Tommy Colbert" userId="b2071f7d-7a09-456d-9577-2c2aacbcd4cf" providerId="ADAL" clId="{0CD928C9-A42B-498E-B35C-2764053E348F}" dt="2021-08-09T19:49:55.991" v="114" actId="1076"/>
          <ac:spMkLst>
            <pc:docMk/>
            <pc:sldMk cId="380783897" sldId="392"/>
            <ac:spMk id="32" creationId="{5CF38D23-C1C1-4DE9-B9E1-21F1EDE168FC}"/>
          </ac:spMkLst>
        </pc:spChg>
        <pc:spChg chg="del">
          <ac:chgData name="Tommy Colbert" userId="b2071f7d-7a09-456d-9577-2c2aacbcd4cf" providerId="ADAL" clId="{0CD928C9-A42B-498E-B35C-2764053E348F}" dt="2021-08-09T19:45:55.650" v="4" actId="478"/>
          <ac:spMkLst>
            <pc:docMk/>
            <pc:sldMk cId="380783897" sldId="392"/>
            <ac:spMk id="33" creationId="{746AFCD4-AB82-416A-9718-497D194FF2A6}"/>
          </ac:spMkLst>
        </pc:spChg>
        <pc:spChg chg="del">
          <ac:chgData name="Tommy Colbert" userId="b2071f7d-7a09-456d-9577-2c2aacbcd4cf" providerId="ADAL" clId="{0CD928C9-A42B-498E-B35C-2764053E348F}" dt="2021-08-09T19:45:55.650" v="4" actId="478"/>
          <ac:spMkLst>
            <pc:docMk/>
            <pc:sldMk cId="380783897" sldId="392"/>
            <ac:spMk id="34" creationId="{239382DE-58B6-4D05-AD8D-564DA2C19A4C}"/>
          </ac:spMkLst>
        </pc:spChg>
        <pc:spChg chg="del">
          <ac:chgData name="Tommy Colbert" userId="b2071f7d-7a09-456d-9577-2c2aacbcd4cf" providerId="ADAL" clId="{0CD928C9-A42B-498E-B35C-2764053E348F}" dt="2021-08-09T19:45:55.650" v="4" actId="478"/>
          <ac:spMkLst>
            <pc:docMk/>
            <pc:sldMk cId="380783897" sldId="392"/>
            <ac:spMk id="35" creationId="{6C8A5802-4397-4A66-B469-A05B5CFB2B6A}"/>
          </ac:spMkLst>
        </pc:spChg>
        <pc:spChg chg="del">
          <ac:chgData name="Tommy Colbert" userId="b2071f7d-7a09-456d-9577-2c2aacbcd4cf" providerId="ADAL" clId="{0CD928C9-A42B-498E-B35C-2764053E348F}" dt="2021-08-09T19:45:55.650" v="4" actId="478"/>
          <ac:spMkLst>
            <pc:docMk/>
            <pc:sldMk cId="380783897" sldId="392"/>
            <ac:spMk id="36" creationId="{9FE36D97-299D-42AA-AEAA-84240B9C4623}"/>
          </ac:spMkLst>
        </pc:spChg>
        <pc:spChg chg="mod">
          <ac:chgData name="Tommy Colbert" userId="b2071f7d-7a09-456d-9577-2c2aacbcd4cf" providerId="ADAL" clId="{0CD928C9-A42B-498E-B35C-2764053E348F}" dt="2021-08-09T19:49:55.991" v="114" actId="1076"/>
          <ac:spMkLst>
            <pc:docMk/>
            <pc:sldMk cId="380783897" sldId="392"/>
            <ac:spMk id="41" creationId="{073A6CC9-C536-4D0C-95B0-15BE52FE9167}"/>
          </ac:spMkLst>
        </pc:spChg>
        <pc:spChg chg="mod">
          <ac:chgData name="Tommy Colbert" userId="b2071f7d-7a09-456d-9577-2c2aacbcd4cf" providerId="ADAL" clId="{0CD928C9-A42B-498E-B35C-2764053E348F}" dt="2021-08-09T19:49:55.991" v="114" actId="1076"/>
          <ac:spMkLst>
            <pc:docMk/>
            <pc:sldMk cId="380783897" sldId="392"/>
            <ac:spMk id="42" creationId="{E2CA9424-0793-4480-8B7F-C85F537B270A}"/>
          </ac:spMkLst>
        </pc:spChg>
        <pc:spChg chg="mod">
          <ac:chgData name="Tommy Colbert" userId="b2071f7d-7a09-456d-9577-2c2aacbcd4cf" providerId="ADAL" clId="{0CD928C9-A42B-498E-B35C-2764053E348F}" dt="2021-08-09T19:49:59.471" v="115" actId="14100"/>
          <ac:spMkLst>
            <pc:docMk/>
            <pc:sldMk cId="380783897" sldId="392"/>
            <ac:spMk id="76" creationId="{375558C3-B440-4BA7-AD64-6750EDC234B3}"/>
          </ac:spMkLst>
        </pc:spChg>
        <pc:spChg chg="del">
          <ac:chgData name="Tommy Colbert" userId="b2071f7d-7a09-456d-9577-2c2aacbcd4cf" providerId="ADAL" clId="{0CD928C9-A42B-498E-B35C-2764053E348F}" dt="2021-08-09T19:49:33.921" v="111" actId="478"/>
          <ac:spMkLst>
            <pc:docMk/>
            <pc:sldMk cId="380783897" sldId="392"/>
            <ac:spMk id="77" creationId="{00069E56-5677-46BE-991B-1AE2697E497F}"/>
          </ac:spMkLst>
        </pc:spChg>
        <pc:cxnChg chg="mod">
          <ac:chgData name="Tommy Colbert" userId="b2071f7d-7a09-456d-9577-2c2aacbcd4cf" providerId="ADAL" clId="{0CD928C9-A42B-498E-B35C-2764053E348F}" dt="2021-08-09T19:49:55.991" v="114" actId="1076"/>
          <ac:cxnSpMkLst>
            <pc:docMk/>
            <pc:sldMk cId="380783897" sldId="392"/>
            <ac:cxnSpMk id="3" creationId="{8DF6E805-1E7A-4517-9679-41C417C0F5E4}"/>
          </ac:cxnSpMkLst>
        </pc:cxnChg>
        <pc:cxnChg chg="mod">
          <ac:chgData name="Tommy Colbert" userId="b2071f7d-7a09-456d-9577-2c2aacbcd4cf" providerId="ADAL" clId="{0CD928C9-A42B-498E-B35C-2764053E348F}" dt="2021-08-09T19:49:55.991" v="114" actId="1076"/>
          <ac:cxnSpMkLst>
            <pc:docMk/>
            <pc:sldMk cId="380783897" sldId="392"/>
            <ac:cxnSpMk id="43" creationId="{CB53FDAD-1CF3-4843-8A57-3EB72E1C1B54}"/>
          </ac:cxnSpMkLst>
        </pc:cxnChg>
        <pc:cxnChg chg="del mod">
          <ac:chgData name="Tommy Colbert" userId="b2071f7d-7a09-456d-9577-2c2aacbcd4cf" providerId="ADAL" clId="{0CD928C9-A42B-498E-B35C-2764053E348F}" dt="2021-08-09T19:45:50.714" v="1" actId="478"/>
          <ac:cxnSpMkLst>
            <pc:docMk/>
            <pc:sldMk cId="380783897" sldId="392"/>
            <ac:cxnSpMk id="55" creationId="{60F20345-3FC0-4FB1-9B63-E781F39EF00C}"/>
          </ac:cxnSpMkLst>
        </pc:cxnChg>
        <pc:cxnChg chg="del mod">
          <ac:chgData name="Tommy Colbert" userId="b2071f7d-7a09-456d-9577-2c2aacbcd4cf" providerId="ADAL" clId="{0CD928C9-A42B-498E-B35C-2764053E348F}" dt="2021-08-09T19:45:55.650" v="4" actId="478"/>
          <ac:cxnSpMkLst>
            <pc:docMk/>
            <pc:sldMk cId="380783897" sldId="392"/>
            <ac:cxnSpMk id="56" creationId="{E8F46F9E-AEAB-4906-A166-3BD7FE322505}"/>
          </ac:cxnSpMkLst>
        </pc:cxnChg>
        <pc:cxnChg chg="del mod">
          <ac:chgData name="Tommy Colbert" userId="b2071f7d-7a09-456d-9577-2c2aacbcd4cf" providerId="ADAL" clId="{0CD928C9-A42B-498E-B35C-2764053E348F}" dt="2021-08-09T19:45:55.650" v="4" actId="478"/>
          <ac:cxnSpMkLst>
            <pc:docMk/>
            <pc:sldMk cId="380783897" sldId="392"/>
            <ac:cxnSpMk id="57" creationId="{32DC7134-BA71-4D00-B708-B2800A32235F}"/>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wrap="square" lIns="93177" tIns="46589" rIns="93177" bIns="46589" numCol="1" anchor="t" anchorCtr="0" compatLnSpc="1">
            <a:prstTxWarp prst="textNoShape">
              <a:avLst/>
            </a:prstTxWarp>
          </a:bodyPr>
          <a:lstStyle>
            <a:lvl1pPr algn="r">
              <a:defRPr sz="1200">
                <a:latin typeface="Calibri" charset="0"/>
              </a:defRPr>
            </a:lvl1pPr>
          </a:lstStyle>
          <a:p>
            <a:pPr>
              <a:defRPr/>
            </a:pPr>
            <a:fld id="{5B5A1699-07DC-6341-A542-EDE38A062D5D}" type="datetime1">
              <a:rPr lang="en-US"/>
              <a:pPr>
                <a:defRPr/>
              </a:pPr>
              <a:t>8/9/2021</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wrap="square" lIns="93177" tIns="46589" rIns="93177" bIns="46589" numCol="1" anchor="b" anchorCtr="0" compatLnSpc="1">
            <a:prstTxWarp prst="textNoShape">
              <a:avLst/>
            </a:prstTxWarp>
          </a:bodyPr>
          <a:lstStyle>
            <a:lvl1pPr algn="r">
              <a:defRPr sz="1200">
                <a:latin typeface="Calibri" charset="0"/>
              </a:defRPr>
            </a:lvl1pPr>
          </a:lstStyle>
          <a:p>
            <a:pPr>
              <a:defRPr/>
            </a:pPr>
            <a:fld id="{AB584260-858E-7D42-9572-289239DD66D7}" type="slidenum">
              <a:rPr lang="en-US"/>
              <a:pPr>
                <a:defRPr/>
              </a:pPr>
              <a:t>‹#›</a:t>
            </a:fld>
            <a:endParaRPr lang="en-US" dirty="0"/>
          </a:p>
        </p:txBody>
      </p:sp>
    </p:spTree>
    <p:extLst>
      <p:ext uri="{BB962C8B-B14F-4D97-AF65-F5344CB8AC3E}">
        <p14:creationId xmlns:p14="http://schemas.microsoft.com/office/powerpoint/2010/main" val="24511719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970938" y="0"/>
            <a:ext cx="3037840" cy="464820"/>
          </a:xfrm>
          <a:prstGeom prst="rect">
            <a:avLst/>
          </a:prstGeom>
        </p:spPr>
        <p:txBody>
          <a:bodyPr vert="horz" wrap="square" lIns="93177" tIns="46589" rIns="93177" bIns="46589" numCol="1" anchor="t" anchorCtr="0" compatLnSpc="1">
            <a:prstTxWarp prst="textNoShape">
              <a:avLst/>
            </a:prstTxWarp>
          </a:bodyPr>
          <a:lstStyle>
            <a:lvl1pPr algn="r">
              <a:defRPr sz="1200">
                <a:latin typeface="Calibri" charset="0"/>
              </a:defRPr>
            </a:lvl1pPr>
          </a:lstStyle>
          <a:p>
            <a:pPr>
              <a:defRPr/>
            </a:pPr>
            <a:fld id="{E7882F77-E135-8344-9837-CD6552BB96D3}" type="datetime1">
              <a:rPr lang="en-US"/>
              <a:pPr>
                <a:defRPr/>
              </a:pPr>
              <a:t>8/9/2021</a:t>
            </a:fld>
            <a:endParaRPr lang="en-US" dirty="0"/>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wrap="square" lIns="93177" tIns="46589" rIns="93177" bIns="46589" numCol="1" anchor="b" anchorCtr="0" compatLnSpc="1">
            <a:prstTxWarp prst="textNoShape">
              <a:avLst/>
            </a:prstTxWarp>
          </a:bodyPr>
          <a:lstStyle>
            <a:lvl1pPr algn="r">
              <a:defRPr sz="1200">
                <a:latin typeface="Calibri" charset="0"/>
              </a:defRPr>
            </a:lvl1pPr>
          </a:lstStyle>
          <a:p>
            <a:pPr>
              <a:defRPr/>
            </a:pPr>
            <a:fld id="{95172E71-CA9A-5B48-9FDB-7CE7372289BC}" type="slidenum">
              <a:rPr lang="en-US"/>
              <a:pPr>
                <a:defRPr/>
              </a:pPr>
              <a:t>‹#›</a:t>
            </a:fld>
            <a:endParaRPr lang="en-US" dirty="0"/>
          </a:p>
        </p:txBody>
      </p:sp>
    </p:spTree>
    <p:extLst>
      <p:ext uri="{BB962C8B-B14F-4D97-AF65-F5344CB8AC3E}">
        <p14:creationId xmlns:p14="http://schemas.microsoft.com/office/powerpoint/2010/main" val="3974790486"/>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5172E71-CA9A-5B48-9FDB-7CE7372289BC}" type="slidenum">
              <a:rPr lang="en-US" smtClean="0"/>
              <a:pPr>
                <a:defRPr/>
              </a:pPr>
              <a:t>1</a:t>
            </a:fld>
            <a:endParaRPr lang="en-US" dirty="0"/>
          </a:p>
        </p:txBody>
      </p:sp>
    </p:spTree>
    <p:extLst>
      <p:ext uri="{BB962C8B-B14F-4D97-AF65-F5344CB8AC3E}">
        <p14:creationId xmlns:p14="http://schemas.microsoft.com/office/powerpoint/2010/main" val="3360327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5172E71-CA9A-5B48-9FDB-7CE7372289BC}" type="slidenum">
              <a:rPr lang="en-US" smtClean="0"/>
              <a:pPr>
                <a:defRPr/>
              </a:pPr>
              <a:t>2</a:t>
            </a:fld>
            <a:endParaRPr lang="en-US" dirty="0"/>
          </a:p>
        </p:txBody>
      </p:sp>
    </p:spTree>
    <p:extLst>
      <p:ext uri="{BB962C8B-B14F-4D97-AF65-F5344CB8AC3E}">
        <p14:creationId xmlns:p14="http://schemas.microsoft.com/office/powerpoint/2010/main" val="17736775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2_Title Slide w/o Co-brand">
    <p:spTree>
      <p:nvGrpSpPr>
        <p:cNvPr id="1" name=""/>
        <p:cNvGrpSpPr/>
        <p:nvPr/>
      </p:nvGrpSpPr>
      <p:grpSpPr>
        <a:xfrm>
          <a:off x="0" y="0"/>
          <a:ext cx="0" cy="0"/>
          <a:chOff x="0" y="0"/>
          <a:chExt cx="0" cy="0"/>
        </a:xfrm>
      </p:grpSpPr>
      <p:sp>
        <p:nvSpPr>
          <p:cNvPr id="2" name="Title 1"/>
          <p:cNvSpPr>
            <a:spLocks noGrp="1"/>
          </p:cNvSpPr>
          <p:nvPr>
            <p:ph type="ctrTitle"/>
          </p:nvPr>
        </p:nvSpPr>
        <p:spPr bwMode="white">
          <a:xfrm>
            <a:off x="680748" y="2871758"/>
            <a:ext cx="7949296" cy="449332"/>
          </a:xfrm>
        </p:spPr>
        <p:txBody>
          <a:bodyPr>
            <a:noAutofit/>
          </a:bodyPr>
          <a:lstStyle>
            <a:lvl1pPr algn="r">
              <a:defRPr sz="2250" b="0" i="0" cap="none">
                <a:solidFill>
                  <a:schemeClr val="accent2"/>
                </a:solidFill>
                <a:latin typeface="Guardian Egyp Regular" panose="02060503050503060803" pitchFamily="18" charset="77"/>
                <a:ea typeface="Guardian Egyp Regular" panose="02060503050503060803" pitchFamily="18" charset="77"/>
                <a:cs typeface="Guardian Egyp Regular" panose="02060503050503060803" pitchFamily="18" charset="77"/>
              </a:defRPr>
            </a:lvl1pPr>
          </a:lstStyle>
          <a:p>
            <a:r>
              <a:rPr lang="en-US" dirty="0"/>
              <a:t>Click to edit Master title style</a:t>
            </a:r>
          </a:p>
        </p:txBody>
      </p:sp>
      <p:sp>
        <p:nvSpPr>
          <p:cNvPr id="3" name="Subtitle 2"/>
          <p:cNvSpPr>
            <a:spLocks noGrp="1"/>
          </p:cNvSpPr>
          <p:nvPr>
            <p:ph type="subTitle" idx="1" hasCustomPrompt="1"/>
          </p:nvPr>
        </p:nvSpPr>
        <p:spPr bwMode="white">
          <a:xfrm>
            <a:off x="672282" y="3449367"/>
            <a:ext cx="7957762" cy="139981"/>
          </a:xfrm>
        </p:spPr>
        <p:txBody>
          <a:bodyPr>
            <a:normAutofit/>
          </a:bodyPr>
          <a:lstStyle>
            <a:lvl1pPr marL="0" indent="0" algn="r">
              <a:spcBef>
                <a:spcPts val="0"/>
              </a:spcBef>
              <a:spcAft>
                <a:spcPts val="0"/>
              </a:spcAft>
              <a:buNone/>
              <a:defRPr sz="750" b="0" i="0" spc="75" baseline="0">
                <a:solidFill>
                  <a:schemeClr val="tx1"/>
                </a:solidFill>
                <a:latin typeface="BentonSans Medium" charset="0"/>
                <a:ea typeface="BentonSans Medium" charset="0"/>
                <a:cs typeface="BentonSans Medium"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TEAM/BUSINESS UNIT HERE |  DATE HERE  |  PRESENTED BY HERE</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1782" y="372482"/>
            <a:ext cx="8222212" cy="2228219"/>
          </a:xfrm>
          <a:prstGeom prst="rect">
            <a:avLst/>
          </a:prstGeom>
        </p:spPr>
      </p:pic>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3_Title Slide w/o Co-bran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white">
          <a:xfrm>
            <a:off x="680748" y="2871758"/>
            <a:ext cx="7949296" cy="449332"/>
          </a:xfrm>
        </p:spPr>
        <p:txBody>
          <a:bodyPr>
            <a:noAutofit/>
          </a:bodyPr>
          <a:lstStyle>
            <a:lvl1pPr algn="r">
              <a:defRPr sz="2250" b="0" i="0" cap="none">
                <a:solidFill>
                  <a:schemeClr val="bg1"/>
                </a:solidFill>
                <a:latin typeface="Guardian Egyp Regular" panose="02060503050503060803" pitchFamily="18" charset="77"/>
                <a:ea typeface="Guardian Egyp Regular" panose="02060503050503060803" pitchFamily="18" charset="77"/>
                <a:cs typeface="Guardian Egyp Regular" panose="02060503050503060803" pitchFamily="18" charset="77"/>
              </a:defRPr>
            </a:lvl1pPr>
          </a:lstStyle>
          <a:p>
            <a:r>
              <a:rPr lang="en-US" dirty="0"/>
              <a:t>Click to edit Master title style</a:t>
            </a:r>
          </a:p>
        </p:txBody>
      </p:sp>
      <p:sp>
        <p:nvSpPr>
          <p:cNvPr id="3" name="Subtitle 2"/>
          <p:cNvSpPr>
            <a:spLocks noGrp="1"/>
          </p:cNvSpPr>
          <p:nvPr>
            <p:ph type="subTitle" idx="1" hasCustomPrompt="1"/>
          </p:nvPr>
        </p:nvSpPr>
        <p:spPr bwMode="white">
          <a:xfrm>
            <a:off x="672282" y="3449367"/>
            <a:ext cx="7957762" cy="139981"/>
          </a:xfrm>
        </p:spPr>
        <p:txBody>
          <a:bodyPr>
            <a:normAutofit/>
          </a:bodyPr>
          <a:lstStyle>
            <a:lvl1pPr marL="0" indent="0" algn="r">
              <a:spcBef>
                <a:spcPts val="0"/>
              </a:spcBef>
              <a:spcAft>
                <a:spcPts val="0"/>
              </a:spcAft>
              <a:buNone/>
              <a:defRPr sz="750" b="0" i="0" spc="75" baseline="0">
                <a:solidFill>
                  <a:schemeClr val="bg1"/>
                </a:solidFill>
                <a:latin typeface="BentonSans Medium" charset="0"/>
                <a:ea typeface="BentonSans Medium" charset="0"/>
                <a:cs typeface="BentonSans Medium"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  |  DATE HERE  |  PRESENTED BY HERE</a:t>
            </a:r>
          </a:p>
        </p:txBody>
      </p:sp>
      <p:pic>
        <p:nvPicPr>
          <p:cNvPr id="6" name="Picture 5"/>
          <p:cNvPicPr>
            <a:picLocks noChangeAspect="1"/>
          </p:cNvPicPr>
          <p:nvPr userDrawn="1"/>
        </p:nvPicPr>
        <p:blipFill>
          <a:blip r:embed="rId2">
            <a:biLevel thresh="25000"/>
            <a:extLst>
              <a:ext uri="{28A0092B-C50C-407E-A947-70E740481C1C}">
                <a14:useLocalDpi xmlns:a14="http://schemas.microsoft.com/office/drawing/2010/main"/>
              </a:ext>
            </a:extLst>
          </a:blip>
          <a:stretch>
            <a:fillRect/>
          </a:stretch>
        </p:blipFill>
        <p:spPr>
          <a:xfrm>
            <a:off x="481782" y="372482"/>
            <a:ext cx="8222212" cy="2229864"/>
          </a:xfrm>
          <a:prstGeom prst="rect">
            <a:avLst/>
          </a:prstGeom>
        </p:spPr>
      </p:pic>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900"/>
            </a:lvl1p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920384AA-0A71-E644-AEED-65CD2253F2C8}" type="slidenum">
              <a:rPr lang="en-US" smtClean="0"/>
              <a:pPr>
                <a:defRPr/>
              </a:pPr>
              <a:t>‹#›</a:t>
            </a:fld>
            <a:endParaRPr lang="en-US" dirty="0"/>
          </a:p>
        </p:txBody>
      </p:sp>
      <p:sp>
        <p:nvSpPr>
          <p:cNvPr id="5" name="Text Placeholder 4"/>
          <p:cNvSpPr>
            <a:spLocks noGrp="1"/>
          </p:cNvSpPr>
          <p:nvPr>
            <p:ph type="body" sz="quarter" idx="11"/>
          </p:nvPr>
        </p:nvSpPr>
        <p:spPr>
          <a:xfrm>
            <a:off x="387350" y="1197769"/>
            <a:ext cx="6508750" cy="2487216"/>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46876" y="283110"/>
            <a:ext cx="7739565" cy="747596"/>
          </a:xfrm>
        </p:spPr>
        <p:txBody>
          <a:bodyPr/>
          <a:lstStyle>
            <a:lvl1pPr>
              <a:defRPr sz="2900"/>
            </a:lvl1pPr>
          </a:lstStyle>
          <a:p>
            <a:r>
              <a:rPr lang="en-US" dirty="0"/>
              <a:t>Click to edit Master title style</a:t>
            </a:r>
          </a:p>
        </p:txBody>
      </p:sp>
      <p:sp>
        <p:nvSpPr>
          <p:cNvPr id="3" name="Slide Number Placeholder 2"/>
          <p:cNvSpPr>
            <a:spLocks noGrp="1"/>
          </p:cNvSpPr>
          <p:nvPr>
            <p:ph type="sldNum" sz="quarter" idx="10"/>
          </p:nvPr>
        </p:nvSpPr>
        <p:spPr/>
        <p:txBody>
          <a:bodyPr/>
          <a:lstStyle/>
          <a:p>
            <a:pPr>
              <a:defRPr/>
            </a:pPr>
            <a:fld id="{920384AA-0A71-E644-AEED-65CD2253F2C8}" type="slidenum">
              <a:rPr lang="en-US" smtClean="0"/>
              <a:pPr>
                <a:defRPr/>
              </a:pPr>
              <a:t>‹#›</a:t>
            </a:fld>
            <a:endParaRPr lang="en-US" dirty="0"/>
          </a:p>
        </p:txBody>
      </p:sp>
      <p:sp>
        <p:nvSpPr>
          <p:cNvPr id="5" name="Text Placeholder 4"/>
          <p:cNvSpPr>
            <a:spLocks noGrp="1"/>
          </p:cNvSpPr>
          <p:nvPr>
            <p:ph type="body" sz="quarter" idx="11"/>
          </p:nvPr>
        </p:nvSpPr>
        <p:spPr>
          <a:xfrm>
            <a:off x="1146875" y="1197769"/>
            <a:ext cx="6121184" cy="2487216"/>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rotWithShape="1">
          <a:blip r:embed="rId2">
            <a:alphaModFix amt="89000"/>
            <a:extLst>
              <a:ext uri="{28A0092B-C50C-407E-A947-70E740481C1C}">
                <a14:useLocalDpi xmlns:a14="http://schemas.microsoft.com/office/drawing/2010/main"/>
              </a:ext>
            </a:extLst>
          </a:blip>
          <a:srcRect/>
          <a:stretch/>
        </p:blipFill>
        <p:spPr>
          <a:xfrm>
            <a:off x="0" y="0"/>
            <a:ext cx="759308" cy="5143500"/>
          </a:xfrm>
          <a:prstGeom prst="rect">
            <a:avLst/>
          </a:prstGeom>
        </p:spPr>
      </p:pic>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46876" y="283110"/>
            <a:ext cx="7739565" cy="747596"/>
          </a:xfrm>
        </p:spPr>
        <p:txBody>
          <a:bodyPr/>
          <a:lstStyle>
            <a:lvl1pPr>
              <a:defRPr sz="2900"/>
            </a:lvl1pPr>
          </a:lstStyle>
          <a:p>
            <a:r>
              <a:rPr lang="en-US" dirty="0"/>
              <a:t>Click to edit Master title style</a:t>
            </a:r>
          </a:p>
        </p:txBody>
      </p:sp>
      <p:sp>
        <p:nvSpPr>
          <p:cNvPr id="3" name="Slide Number Placeholder 2"/>
          <p:cNvSpPr>
            <a:spLocks noGrp="1"/>
          </p:cNvSpPr>
          <p:nvPr>
            <p:ph type="sldNum" sz="quarter" idx="10"/>
          </p:nvPr>
        </p:nvSpPr>
        <p:spPr/>
        <p:txBody>
          <a:bodyPr/>
          <a:lstStyle/>
          <a:p>
            <a:pPr>
              <a:defRPr/>
            </a:pPr>
            <a:fld id="{920384AA-0A71-E644-AEED-65CD2253F2C8}" type="slidenum">
              <a:rPr lang="en-US" smtClean="0"/>
              <a:pPr>
                <a:defRPr/>
              </a:pPr>
              <a:t>‹#›</a:t>
            </a:fld>
            <a:endParaRPr lang="en-US" dirty="0"/>
          </a:p>
        </p:txBody>
      </p:sp>
      <p:sp>
        <p:nvSpPr>
          <p:cNvPr id="5" name="Text Placeholder 4"/>
          <p:cNvSpPr>
            <a:spLocks noGrp="1"/>
          </p:cNvSpPr>
          <p:nvPr>
            <p:ph type="body" sz="quarter" idx="11"/>
          </p:nvPr>
        </p:nvSpPr>
        <p:spPr>
          <a:xfrm>
            <a:off x="1146875" y="1197769"/>
            <a:ext cx="6121184" cy="2487216"/>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p:nvPr userDrawn="1"/>
        </p:nvSpPr>
        <p:spPr>
          <a:xfrm>
            <a:off x="-1" y="0"/>
            <a:ext cx="759309" cy="51435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Picture 6"/>
          <p:cNvPicPr>
            <a:picLocks noChangeAspect="1"/>
          </p:cNvPicPr>
          <p:nvPr userDrawn="1"/>
        </p:nvPicPr>
        <p:blipFill rotWithShape="1">
          <a:blip r:embed="rId2">
            <a:alphaModFix amt="89000"/>
            <a:extLst>
              <a:ext uri="{28A0092B-C50C-407E-A947-70E740481C1C}">
                <a14:useLocalDpi xmlns:a14="http://schemas.microsoft.com/office/drawing/2010/main"/>
              </a:ext>
            </a:extLst>
          </a:blip>
          <a:srcRect/>
          <a:stretch/>
        </p:blipFill>
        <p:spPr>
          <a:xfrm>
            <a:off x="0" y="0"/>
            <a:ext cx="759308" cy="5143500"/>
          </a:xfrm>
          <a:prstGeom prst="rect">
            <a:avLst/>
          </a:prstGeom>
        </p:spPr>
      </p:pic>
    </p:spTree>
    <p:extLst>
      <p:ext uri="{BB962C8B-B14F-4D97-AF65-F5344CB8AC3E}">
        <p14:creationId xmlns:p14="http://schemas.microsoft.com/office/powerpoint/2010/main" val="1557399730"/>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Divider Slide">
    <p:bg>
      <p:bgPr>
        <a:solidFill>
          <a:schemeClr val="accent5"/>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bwMode="black">
          <a:xfrm>
            <a:off x="1143000" y="0"/>
            <a:ext cx="8001000" cy="5143500"/>
          </a:xfrm>
        </p:spPr>
        <p:txBody>
          <a:bodyPr anchor="ctr">
            <a:noAutofit/>
          </a:bodyPr>
          <a:lstStyle>
            <a:lvl1pPr algn="l">
              <a:defRPr sz="3150" cap="none">
                <a:solidFill>
                  <a:schemeClr val="bg1"/>
                </a:solidFill>
              </a:defRPr>
            </a:lvl1pPr>
          </a:lstStyle>
          <a:p>
            <a:r>
              <a:rPr lang="en-US" dirty="0"/>
              <a:t>Click to edit Master title style</a:t>
            </a:r>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2_Divider Slide">
    <p:bg>
      <p:bgPr>
        <a:solidFill>
          <a:schemeClr val="accent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bwMode="black">
          <a:xfrm>
            <a:off x="1143000" y="0"/>
            <a:ext cx="8001000" cy="5143500"/>
          </a:xfrm>
        </p:spPr>
        <p:txBody>
          <a:bodyPr anchor="ctr">
            <a:noAutofit/>
          </a:bodyPr>
          <a:lstStyle>
            <a:lvl1pPr algn="l">
              <a:defRPr sz="3150" cap="none">
                <a:solidFill>
                  <a:schemeClr val="bg1"/>
                </a:solidFill>
              </a:defRPr>
            </a:lvl1pPr>
          </a:lstStyle>
          <a:p>
            <a:r>
              <a:rPr lang="en-US" dirty="0"/>
              <a:t>Click to edit Master title style</a:t>
            </a:r>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_Divider Slide">
    <p:bg>
      <p:bgPr>
        <a:solidFill>
          <a:schemeClr val="tx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bwMode="black">
          <a:xfrm>
            <a:off x="1143000" y="0"/>
            <a:ext cx="8001000" cy="5143500"/>
          </a:xfrm>
        </p:spPr>
        <p:txBody>
          <a:bodyPr anchor="ctr">
            <a:noAutofit/>
          </a:bodyPr>
          <a:lstStyle>
            <a:lvl1pPr algn="l">
              <a:defRPr sz="3150" cap="none">
                <a:solidFill>
                  <a:schemeClr val="bg1"/>
                </a:solidFill>
              </a:defRPr>
            </a:lvl1pPr>
          </a:lstStyle>
          <a:p>
            <a:r>
              <a:rPr lang="en-US" dirty="0"/>
              <a:t>Click to edit Master title style</a:t>
            </a:r>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3_Divider Slide">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bwMode="black">
          <a:xfrm>
            <a:off x="1143000" y="0"/>
            <a:ext cx="8001000" cy="5143500"/>
          </a:xfrm>
        </p:spPr>
        <p:txBody>
          <a:bodyPr anchor="ctr">
            <a:noAutofit/>
          </a:bodyPr>
          <a:lstStyle>
            <a:lvl1pPr algn="l">
              <a:defRPr sz="3150" cap="none">
                <a:solidFill>
                  <a:schemeClr val="bg2"/>
                </a:solidFill>
              </a:defRPr>
            </a:lvl1pPr>
          </a:lstStyle>
          <a:p>
            <a:r>
              <a:rPr lang="en-US" dirty="0"/>
              <a:t>Click to edit Master title style</a:t>
            </a:r>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white">
          <a:xfrm>
            <a:off x="387746" y="283110"/>
            <a:ext cx="8229600" cy="747596"/>
          </a:xfrm>
          <a:prstGeom prst="rect">
            <a:avLst/>
          </a:prstGeom>
        </p:spPr>
        <p:txBody>
          <a:bodyPr vert="horz" lIns="0" tIns="0" rIns="0" bIns="0" rtlCol="0" anchor="t">
            <a:noAutofit/>
          </a:bodyPr>
          <a:lstStyle/>
          <a:p>
            <a:r>
              <a:rPr lang="en-US" dirty="0"/>
              <a:t>Click to edit Master title style</a:t>
            </a:r>
          </a:p>
        </p:txBody>
      </p:sp>
      <p:sp>
        <p:nvSpPr>
          <p:cNvPr id="1027" name="Text Placeholder 2"/>
          <p:cNvSpPr>
            <a:spLocks noGrp="1"/>
          </p:cNvSpPr>
          <p:nvPr>
            <p:ph type="body" idx="1"/>
          </p:nvPr>
        </p:nvSpPr>
        <p:spPr bwMode="gray">
          <a:xfrm>
            <a:off x="387746" y="1030707"/>
            <a:ext cx="8229600" cy="366361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bwMode="gray">
          <a:xfrm>
            <a:off x="8006740" y="4794514"/>
            <a:ext cx="789202" cy="225955"/>
          </a:xfrm>
          <a:prstGeom prst="rect">
            <a:avLst/>
          </a:prstGeom>
        </p:spPr>
        <p:txBody>
          <a:bodyPr vert="horz" wrap="square" lIns="91440" tIns="45720" rIns="91440" bIns="45720" numCol="1" anchor="ctr" anchorCtr="0" compatLnSpc="1">
            <a:prstTxWarp prst="textNoShape">
              <a:avLst/>
            </a:prstTxWarp>
          </a:bodyPr>
          <a:lstStyle>
            <a:lvl1pPr algn="r">
              <a:defRPr sz="750">
                <a:solidFill>
                  <a:schemeClr val="tx2"/>
                </a:solidFill>
                <a:latin typeface="Guardian Egyp" charset="0"/>
                <a:ea typeface="Guardian Egyp" charset="0"/>
                <a:cs typeface="Guardian Egyp" charset="0"/>
              </a:defRPr>
            </a:lvl1pPr>
          </a:lstStyle>
          <a:p>
            <a:pPr>
              <a:defRPr/>
            </a:pPr>
            <a:fld id="{920384AA-0A71-E644-AEED-65CD2253F2C8}"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759" r:id="rId1"/>
    <p:sldLayoutId id="2147483766" r:id="rId2"/>
    <p:sldLayoutId id="2147483758" r:id="rId3"/>
    <p:sldLayoutId id="2147483764" r:id="rId4"/>
    <p:sldLayoutId id="2147483757" r:id="rId5"/>
    <p:sldLayoutId id="2147483752" r:id="rId6"/>
    <p:sldLayoutId id="2147483761" r:id="rId7"/>
    <p:sldLayoutId id="2147483760" r:id="rId8"/>
    <p:sldLayoutId id="2147483765" r:id="rId9"/>
  </p:sldLayoutIdLst>
  <p:transition spd="slow"/>
  <p:hf hdr="0"/>
  <p:txStyles>
    <p:titleStyle>
      <a:lvl1pPr algn="l" defTabSz="342900" rtl="0" eaLnBrk="1" fontAlgn="base" hangingPunct="1">
        <a:lnSpc>
          <a:spcPct val="82000"/>
        </a:lnSpc>
        <a:spcBef>
          <a:spcPct val="0"/>
        </a:spcBef>
        <a:spcAft>
          <a:spcPct val="0"/>
        </a:spcAft>
        <a:defRPr sz="2175" b="0" i="0" kern="1200" cap="none" baseline="0">
          <a:solidFill>
            <a:schemeClr val="tx1"/>
          </a:solidFill>
          <a:latin typeface="Guardian Egyp Regular" panose="02060503050503060803" pitchFamily="18" charset="77"/>
          <a:ea typeface="Guardian Egyp Regular" panose="02060503050503060803" pitchFamily="18" charset="77"/>
          <a:cs typeface="Guardian Egyp Regular" panose="02060503050503060803" pitchFamily="18" charset="77"/>
        </a:defRPr>
      </a:lvl1pPr>
      <a:lvl2pPr algn="l" defTabSz="342900" rtl="0" eaLnBrk="1" fontAlgn="base" hangingPunct="1">
        <a:spcBef>
          <a:spcPct val="0"/>
        </a:spcBef>
        <a:spcAft>
          <a:spcPct val="0"/>
        </a:spcAft>
        <a:defRPr sz="1050">
          <a:solidFill>
            <a:schemeClr val="tx1"/>
          </a:solidFill>
          <a:latin typeface="Arial" charset="0"/>
          <a:ea typeface="Arial" charset="0"/>
          <a:cs typeface="Arial" charset="0"/>
        </a:defRPr>
      </a:lvl2pPr>
      <a:lvl3pPr algn="l" defTabSz="342900" rtl="0" eaLnBrk="1" fontAlgn="base" hangingPunct="1">
        <a:spcBef>
          <a:spcPct val="0"/>
        </a:spcBef>
        <a:spcAft>
          <a:spcPct val="0"/>
        </a:spcAft>
        <a:defRPr sz="1050">
          <a:solidFill>
            <a:schemeClr val="tx1"/>
          </a:solidFill>
          <a:latin typeface="Arial" charset="0"/>
          <a:ea typeface="Arial" charset="0"/>
          <a:cs typeface="Arial" charset="0"/>
        </a:defRPr>
      </a:lvl3pPr>
      <a:lvl4pPr algn="l" defTabSz="342900" rtl="0" eaLnBrk="1" fontAlgn="base" hangingPunct="1">
        <a:spcBef>
          <a:spcPct val="0"/>
        </a:spcBef>
        <a:spcAft>
          <a:spcPct val="0"/>
        </a:spcAft>
        <a:defRPr sz="1050">
          <a:solidFill>
            <a:schemeClr val="tx1"/>
          </a:solidFill>
          <a:latin typeface="Arial" charset="0"/>
          <a:ea typeface="Arial" charset="0"/>
          <a:cs typeface="Arial" charset="0"/>
        </a:defRPr>
      </a:lvl4pPr>
      <a:lvl5pPr algn="l" defTabSz="342900" rtl="0" eaLnBrk="1" fontAlgn="base" hangingPunct="1">
        <a:spcBef>
          <a:spcPct val="0"/>
        </a:spcBef>
        <a:spcAft>
          <a:spcPct val="0"/>
        </a:spcAft>
        <a:defRPr sz="1050">
          <a:solidFill>
            <a:schemeClr val="tx1"/>
          </a:solidFill>
          <a:latin typeface="Arial" charset="0"/>
          <a:ea typeface="Arial" charset="0"/>
          <a:cs typeface="Arial" charset="0"/>
        </a:defRPr>
      </a:lvl5pPr>
      <a:lvl6pPr marL="342900" algn="l" defTabSz="342900" rtl="0" eaLnBrk="1" fontAlgn="base" hangingPunct="1">
        <a:spcBef>
          <a:spcPct val="0"/>
        </a:spcBef>
        <a:spcAft>
          <a:spcPct val="0"/>
        </a:spcAft>
        <a:defRPr sz="1050">
          <a:solidFill>
            <a:schemeClr val="tx1"/>
          </a:solidFill>
          <a:latin typeface="Arial" charset="0"/>
          <a:ea typeface="Arial" charset="0"/>
          <a:cs typeface="Arial" charset="0"/>
        </a:defRPr>
      </a:lvl6pPr>
      <a:lvl7pPr marL="685800" algn="l" defTabSz="342900" rtl="0" eaLnBrk="1" fontAlgn="base" hangingPunct="1">
        <a:spcBef>
          <a:spcPct val="0"/>
        </a:spcBef>
        <a:spcAft>
          <a:spcPct val="0"/>
        </a:spcAft>
        <a:defRPr sz="1050">
          <a:solidFill>
            <a:schemeClr val="tx1"/>
          </a:solidFill>
          <a:latin typeface="Arial" charset="0"/>
          <a:ea typeface="Arial" charset="0"/>
          <a:cs typeface="Arial" charset="0"/>
        </a:defRPr>
      </a:lvl7pPr>
      <a:lvl8pPr marL="1028700" algn="l" defTabSz="342900" rtl="0" eaLnBrk="1" fontAlgn="base" hangingPunct="1">
        <a:spcBef>
          <a:spcPct val="0"/>
        </a:spcBef>
        <a:spcAft>
          <a:spcPct val="0"/>
        </a:spcAft>
        <a:defRPr sz="1050">
          <a:solidFill>
            <a:schemeClr val="tx1"/>
          </a:solidFill>
          <a:latin typeface="Arial" charset="0"/>
          <a:ea typeface="Arial" charset="0"/>
          <a:cs typeface="Arial" charset="0"/>
        </a:defRPr>
      </a:lvl8pPr>
      <a:lvl9pPr marL="1371600" algn="l" defTabSz="342900" rtl="0" eaLnBrk="1" fontAlgn="base" hangingPunct="1">
        <a:spcBef>
          <a:spcPct val="0"/>
        </a:spcBef>
        <a:spcAft>
          <a:spcPct val="0"/>
        </a:spcAft>
        <a:defRPr sz="1050">
          <a:solidFill>
            <a:schemeClr val="tx1"/>
          </a:solidFill>
          <a:latin typeface="Arial" charset="0"/>
          <a:ea typeface="Arial" charset="0"/>
          <a:cs typeface="Arial" charset="0"/>
        </a:defRPr>
      </a:lvl9pPr>
    </p:titleStyle>
    <p:bodyStyle>
      <a:lvl1pPr marL="257175" indent="-257175" algn="l" defTabSz="342900" rtl="0" eaLnBrk="1" fontAlgn="base" hangingPunct="1">
        <a:lnSpc>
          <a:spcPct val="100000"/>
        </a:lnSpc>
        <a:spcBef>
          <a:spcPts val="0"/>
        </a:spcBef>
        <a:spcAft>
          <a:spcPts val="0"/>
        </a:spcAft>
        <a:buFont typeface="Arial" charset="0"/>
        <a:buNone/>
        <a:defRPr b="0" i="0" kern="1200">
          <a:solidFill>
            <a:schemeClr val="bg2"/>
          </a:solidFill>
          <a:latin typeface="BentonSans Light" charset="0"/>
          <a:ea typeface="BentonSans Light" charset="0"/>
          <a:cs typeface="BentonSans Light" charset="0"/>
        </a:defRPr>
      </a:lvl1pPr>
      <a:lvl2pPr marL="170260" indent="-170260" algn="l" defTabSz="342900" rtl="0" eaLnBrk="1" fontAlgn="base" hangingPunct="1">
        <a:lnSpc>
          <a:spcPct val="100000"/>
        </a:lnSpc>
        <a:spcBef>
          <a:spcPts val="0"/>
        </a:spcBef>
        <a:spcAft>
          <a:spcPts val="0"/>
        </a:spcAft>
        <a:buFont typeface="Arial" charset="0"/>
        <a:buChar char="•"/>
        <a:defRPr sz="1350" b="0" i="0" kern="1200">
          <a:solidFill>
            <a:schemeClr val="bg2"/>
          </a:solidFill>
          <a:latin typeface="BentonSans Light" charset="0"/>
          <a:ea typeface="BentonSans Light" charset="0"/>
          <a:cs typeface="BentonSans Light" charset="0"/>
        </a:defRPr>
      </a:lvl2pPr>
      <a:lvl3pPr marL="558404" indent="-216694" algn="l" defTabSz="342900" rtl="0" eaLnBrk="1" fontAlgn="base" hangingPunct="1">
        <a:lnSpc>
          <a:spcPct val="100000"/>
        </a:lnSpc>
        <a:spcBef>
          <a:spcPts val="0"/>
        </a:spcBef>
        <a:spcAft>
          <a:spcPts val="0"/>
        </a:spcAft>
        <a:buFont typeface="Arial" pitchFamily="34" charset="0"/>
        <a:buChar char="–"/>
        <a:defRPr b="0" i="0" kern="1200">
          <a:solidFill>
            <a:schemeClr val="bg2"/>
          </a:solidFill>
          <a:latin typeface="BentonSans Light" charset="0"/>
          <a:ea typeface="BentonSans Light" charset="0"/>
          <a:cs typeface="BentonSans Light" charset="0"/>
        </a:defRPr>
      </a:lvl3pPr>
      <a:lvl4pPr marL="862013" indent="-171450" algn="l" defTabSz="342900" rtl="0" eaLnBrk="1" fontAlgn="base" hangingPunct="1">
        <a:lnSpc>
          <a:spcPct val="100000"/>
        </a:lnSpc>
        <a:spcBef>
          <a:spcPts val="0"/>
        </a:spcBef>
        <a:spcAft>
          <a:spcPts val="0"/>
        </a:spcAft>
        <a:buFont typeface="Arial"/>
        <a:buChar char="•"/>
        <a:defRPr sz="1200" b="0" i="0" kern="1200">
          <a:solidFill>
            <a:schemeClr val="bg2"/>
          </a:solidFill>
          <a:latin typeface="BentonSans Light" charset="0"/>
          <a:ea typeface="BentonSans Light" charset="0"/>
          <a:cs typeface="BentonSans Light" charset="0"/>
        </a:defRPr>
      </a:lvl4pPr>
      <a:lvl5pPr marL="1197769" indent="-169069" algn="l" defTabSz="342900" rtl="0" eaLnBrk="1" fontAlgn="base" hangingPunct="1">
        <a:lnSpc>
          <a:spcPct val="100000"/>
        </a:lnSpc>
        <a:spcBef>
          <a:spcPts val="0"/>
        </a:spcBef>
        <a:spcAft>
          <a:spcPts val="0"/>
        </a:spcAft>
        <a:buFont typeface="Arial"/>
        <a:buChar char="−"/>
        <a:defRPr sz="1200" b="0" i="0" kern="1200">
          <a:solidFill>
            <a:schemeClr val="bg2"/>
          </a:solidFill>
          <a:latin typeface="BentonSans Light" charset="0"/>
          <a:ea typeface="BentonSans Light" charset="0"/>
          <a:cs typeface="BentonSans Light"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emf"/><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hyperlink" Target="https://spaces.aexp.com/teams/gce_dept/AML/SitePages/Home.aspx"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New Customer Risk Methodology</a:t>
            </a:r>
            <a:br>
              <a:rPr lang="en-US" dirty="0"/>
            </a:br>
            <a:br>
              <a:rPr lang="en-US" dirty="0"/>
            </a:br>
            <a:br>
              <a:rPr lang="en-US" dirty="0"/>
            </a:br>
            <a:br>
              <a:rPr lang="en-US" dirty="0"/>
            </a:br>
            <a:endParaRPr lang="en-US" dirty="0"/>
          </a:p>
        </p:txBody>
      </p:sp>
      <p:sp>
        <p:nvSpPr>
          <p:cNvPr id="3" name="Subtitle 2"/>
          <p:cNvSpPr>
            <a:spLocks noGrp="1"/>
          </p:cNvSpPr>
          <p:nvPr>
            <p:ph type="subTitle" idx="1"/>
          </p:nvPr>
        </p:nvSpPr>
        <p:spPr>
          <a:xfrm>
            <a:off x="672282" y="3538025"/>
            <a:ext cx="7957762" cy="604910"/>
          </a:xfrm>
        </p:spPr>
        <p:txBody>
          <a:bodyPr>
            <a:noAutofit/>
          </a:bodyPr>
          <a:lstStyle/>
          <a:p>
            <a:r>
              <a:rPr lang="en-US" sz="800" dirty="0"/>
              <a:t>May 2021</a:t>
            </a:r>
          </a:p>
          <a:p>
            <a:endParaRPr lang="en-US" sz="800" dirty="0"/>
          </a:p>
          <a:p>
            <a:r>
              <a:rPr lang="en-US" sz="800" dirty="0"/>
              <a:t> </a:t>
            </a:r>
          </a:p>
          <a:p>
            <a:endParaRPr lang="en-US" sz="800" dirty="0"/>
          </a:p>
        </p:txBody>
      </p:sp>
    </p:spTree>
    <p:extLst>
      <p:ext uri="{BB962C8B-B14F-4D97-AF65-F5344CB8AC3E}">
        <p14:creationId xmlns:p14="http://schemas.microsoft.com/office/powerpoint/2010/main" val="3802248313"/>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6876" y="255896"/>
            <a:ext cx="7739565" cy="747596"/>
          </a:xfrm>
        </p:spPr>
        <p:txBody>
          <a:bodyPr/>
          <a:lstStyle/>
          <a:p>
            <a:r>
              <a:rPr lang="en-US" dirty="0"/>
              <a:t>New Customer Risk Rating Philosophy </a:t>
            </a:r>
            <a:br>
              <a:rPr lang="en-US" dirty="0"/>
            </a:br>
            <a:r>
              <a:rPr lang="en-US" sz="800" dirty="0"/>
              <a:t> </a:t>
            </a:r>
            <a:br>
              <a:rPr lang="en-US" dirty="0"/>
            </a:br>
            <a:r>
              <a:rPr lang="en-US" sz="1200" dirty="0">
                <a:solidFill>
                  <a:srgbClr val="002060"/>
                </a:solidFill>
                <a:latin typeface="Arial" charset="0"/>
                <a:ea typeface="+mn-ea"/>
                <a:cs typeface="+mn-cs"/>
              </a:rPr>
              <a:t>The new approach divides the CRR into </a:t>
            </a:r>
            <a:r>
              <a:rPr lang="en-US" sz="1200" dirty="0">
                <a:solidFill>
                  <a:srgbClr val="00A3C9"/>
                </a:solidFill>
                <a:latin typeface="Arial" charset="0"/>
                <a:ea typeface="+mn-ea"/>
                <a:cs typeface="+mn-cs"/>
              </a:rPr>
              <a:t>Risk Categories</a:t>
            </a:r>
            <a:br>
              <a:rPr lang="en-US" sz="1200" dirty="0">
                <a:solidFill>
                  <a:srgbClr val="00A3C9"/>
                </a:solidFill>
                <a:latin typeface="Arial" charset="0"/>
                <a:ea typeface="+mn-ea"/>
                <a:cs typeface="+mn-cs"/>
              </a:rPr>
            </a:br>
            <a:r>
              <a:rPr lang="en-US" sz="1200" dirty="0">
                <a:solidFill>
                  <a:srgbClr val="002663"/>
                </a:solidFill>
                <a:latin typeface="Arial" charset="0"/>
                <a:ea typeface="+mn-ea"/>
                <a:cs typeface="+mn-cs"/>
              </a:rPr>
              <a:t>Each Risk Category is divided into </a:t>
            </a:r>
            <a:r>
              <a:rPr lang="en-US" sz="1200" dirty="0">
                <a:solidFill>
                  <a:srgbClr val="00B050"/>
                </a:solidFill>
                <a:latin typeface="Arial" charset="0"/>
                <a:ea typeface="+mn-ea"/>
                <a:cs typeface="+mn-cs"/>
              </a:rPr>
              <a:t>Risk Elements</a:t>
            </a:r>
            <a:br>
              <a:rPr lang="en-US" dirty="0"/>
            </a:br>
            <a:endParaRPr lang="en-US" dirty="0"/>
          </a:p>
        </p:txBody>
      </p:sp>
      <p:sp>
        <p:nvSpPr>
          <p:cNvPr id="3" name="Slide Number Placeholder 2"/>
          <p:cNvSpPr>
            <a:spLocks noGrp="1"/>
          </p:cNvSpPr>
          <p:nvPr>
            <p:ph type="sldNum" sz="quarter" idx="10"/>
          </p:nvPr>
        </p:nvSpPr>
        <p:spPr>
          <a:xfrm>
            <a:off x="8236585" y="4816517"/>
            <a:ext cx="789202" cy="225955"/>
          </a:xfrm>
        </p:spPr>
        <p:txBody>
          <a:bodyPr/>
          <a:lstStyle/>
          <a:p>
            <a:pPr>
              <a:defRPr/>
            </a:pPr>
            <a:fld id="{920384AA-0A71-E644-AEED-65CD2253F2C8}" type="slidenum">
              <a:rPr lang="en-US" smtClean="0"/>
              <a:pPr>
                <a:defRPr/>
              </a:pPr>
              <a:t>2</a:t>
            </a:fld>
            <a:endParaRPr lang="en-US" dirty="0"/>
          </a:p>
        </p:txBody>
      </p:sp>
      <p:grpSp>
        <p:nvGrpSpPr>
          <p:cNvPr id="19" name="Group 18">
            <a:extLst>
              <a:ext uri="{FF2B5EF4-FFF2-40B4-BE49-F238E27FC236}">
                <a16:creationId xmlns:a16="http://schemas.microsoft.com/office/drawing/2014/main" id="{E526ABF1-BE3B-499E-8AB3-37FFA9996736}"/>
              </a:ext>
            </a:extLst>
          </p:cNvPr>
          <p:cNvGrpSpPr>
            <a:grpSpLocks noChangeAspect="1"/>
          </p:cNvGrpSpPr>
          <p:nvPr/>
        </p:nvGrpSpPr>
        <p:grpSpPr>
          <a:xfrm>
            <a:off x="2591727" y="654362"/>
            <a:ext cx="4022139" cy="4076906"/>
            <a:chOff x="1833187" y="1180212"/>
            <a:chExt cx="5477626" cy="5474503"/>
          </a:xfrm>
        </p:grpSpPr>
        <p:sp>
          <p:nvSpPr>
            <p:cNvPr id="20" name="Oval 19">
              <a:extLst>
                <a:ext uri="{FF2B5EF4-FFF2-40B4-BE49-F238E27FC236}">
                  <a16:creationId xmlns:a16="http://schemas.microsoft.com/office/drawing/2014/main" id="{D8330512-BF1D-4BAF-9877-6BEA2E879280}"/>
                </a:ext>
              </a:extLst>
            </p:cNvPr>
            <p:cNvSpPr/>
            <p:nvPr/>
          </p:nvSpPr>
          <p:spPr>
            <a:xfrm>
              <a:off x="2759800" y="2482761"/>
              <a:ext cx="3709493" cy="3626290"/>
            </a:xfrm>
            <a:prstGeom prst="ellipse">
              <a:avLst/>
            </a:prstGeom>
            <a:solidFill>
              <a:schemeClr val="bg1">
                <a:lumMod val="75000"/>
              </a:schemeClr>
            </a:solidFill>
            <a:ln w="12700" cap="flat" cmpd="sng" algn="ctr">
              <a:solidFill>
                <a:srgbClr val="002776"/>
              </a:solid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313131"/>
                </a:solidFill>
                <a:effectLst/>
                <a:uLnTx/>
                <a:uFillTx/>
              </a:endParaRPr>
            </a:p>
          </p:txBody>
        </p:sp>
        <p:sp>
          <p:nvSpPr>
            <p:cNvPr id="21" name="Rectangle 20">
              <a:extLst>
                <a:ext uri="{FF2B5EF4-FFF2-40B4-BE49-F238E27FC236}">
                  <a16:creationId xmlns:a16="http://schemas.microsoft.com/office/drawing/2014/main" id="{D3DD06C6-8376-4919-A29C-6AC9746888BB}"/>
                </a:ext>
              </a:extLst>
            </p:cNvPr>
            <p:cNvSpPr/>
            <p:nvPr/>
          </p:nvSpPr>
          <p:spPr>
            <a:xfrm>
              <a:off x="3906479" y="3602003"/>
              <a:ext cx="1556427" cy="661257"/>
            </a:xfrm>
            <a:prstGeom prst="rect">
              <a:avLst/>
            </a:prstGeom>
          </p:spPr>
          <p:txBody>
            <a:bodyPr wrap="square" lIns="0" tIns="0" rIns="0" bIns="0">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dirty="0">
                  <a:ln>
                    <a:noFill/>
                  </a:ln>
                  <a:solidFill>
                    <a:srgbClr val="FFFFFF"/>
                  </a:solidFill>
                  <a:effectLst/>
                  <a:uLnTx/>
                  <a:uFillTx/>
                </a:rPr>
                <a:t>Customer Risk Rating</a:t>
              </a:r>
              <a:endParaRPr kumimoji="0" lang="en-US" sz="1600" b="0" i="0" u="none" strike="noStrike" kern="0" cap="none" spc="0" normalizeH="0" baseline="0" noProof="0" dirty="0">
                <a:ln>
                  <a:noFill/>
                </a:ln>
                <a:solidFill>
                  <a:srgbClr val="FFFFFF"/>
                </a:solidFill>
                <a:effectLst/>
                <a:uLnTx/>
                <a:uFillTx/>
              </a:endParaRPr>
            </a:p>
          </p:txBody>
        </p:sp>
        <p:grpSp>
          <p:nvGrpSpPr>
            <p:cNvPr id="22" name="Group 21">
              <a:extLst>
                <a:ext uri="{FF2B5EF4-FFF2-40B4-BE49-F238E27FC236}">
                  <a16:creationId xmlns:a16="http://schemas.microsoft.com/office/drawing/2014/main" id="{C9DD2051-34D0-4B0F-91A9-A8AA5AB23AC6}"/>
                </a:ext>
              </a:extLst>
            </p:cNvPr>
            <p:cNvGrpSpPr/>
            <p:nvPr/>
          </p:nvGrpSpPr>
          <p:grpSpPr>
            <a:xfrm>
              <a:off x="4107039" y="1180212"/>
              <a:ext cx="2267539" cy="3098619"/>
              <a:chOff x="4107039" y="1180212"/>
              <a:chExt cx="2267539" cy="3098619"/>
            </a:xfrm>
          </p:grpSpPr>
          <p:sp>
            <p:nvSpPr>
              <p:cNvPr id="38" name="Freeform 105">
                <a:extLst>
                  <a:ext uri="{FF2B5EF4-FFF2-40B4-BE49-F238E27FC236}">
                    <a16:creationId xmlns:a16="http://schemas.microsoft.com/office/drawing/2014/main" id="{98E339DB-674F-41CC-A019-CEF31214127D}"/>
                  </a:ext>
                </a:extLst>
              </p:cNvPr>
              <p:cNvSpPr/>
              <p:nvPr/>
            </p:nvSpPr>
            <p:spPr>
              <a:xfrm rot="8681779">
                <a:off x="4107039" y="1180212"/>
                <a:ext cx="2216981" cy="3098619"/>
              </a:xfrm>
              <a:custGeom>
                <a:avLst/>
                <a:gdLst>
                  <a:gd name="connsiteX0" fmla="*/ 1134533 w 1828800"/>
                  <a:gd name="connsiteY0" fmla="*/ 0 h 2607734"/>
                  <a:gd name="connsiteX1" fmla="*/ 0 w 1828800"/>
                  <a:gd name="connsiteY1" fmla="*/ 1007534 h 2607734"/>
                  <a:gd name="connsiteX2" fmla="*/ 1828800 w 1828800"/>
                  <a:gd name="connsiteY2" fmla="*/ 2607734 h 2607734"/>
                  <a:gd name="connsiteX3" fmla="*/ 1117600 w 1828800"/>
                  <a:gd name="connsiteY3" fmla="*/ 1498600 h 2607734"/>
                  <a:gd name="connsiteX4" fmla="*/ 1337733 w 1828800"/>
                  <a:gd name="connsiteY4" fmla="*/ 567267 h 2607734"/>
                  <a:gd name="connsiteX5" fmla="*/ 1134533 w 1828800"/>
                  <a:gd name="connsiteY5" fmla="*/ 0 h 2607734"/>
                  <a:gd name="connsiteX0" fmla="*/ 1134533 w 1828800"/>
                  <a:gd name="connsiteY0" fmla="*/ 0 h 2607734"/>
                  <a:gd name="connsiteX1" fmla="*/ 0 w 1828800"/>
                  <a:gd name="connsiteY1" fmla="*/ 1007534 h 2607734"/>
                  <a:gd name="connsiteX2" fmla="*/ 1828800 w 1828800"/>
                  <a:gd name="connsiteY2" fmla="*/ 2607734 h 2607734"/>
                  <a:gd name="connsiteX3" fmla="*/ 1117600 w 1828800"/>
                  <a:gd name="connsiteY3" fmla="*/ 1498600 h 2607734"/>
                  <a:gd name="connsiteX4" fmla="*/ 1337733 w 1828800"/>
                  <a:gd name="connsiteY4" fmla="*/ 567267 h 2607734"/>
                  <a:gd name="connsiteX5" fmla="*/ 1134533 w 1828800"/>
                  <a:gd name="connsiteY5" fmla="*/ 0 h 2607734"/>
                  <a:gd name="connsiteX0" fmla="*/ 1135617 w 1829884"/>
                  <a:gd name="connsiteY0" fmla="*/ 0 h 2607734"/>
                  <a:gd name="connsiteX1" fmla="*/ 1084 w 1829884"/>
                  <a:gd name="connsiteY1" fmla="*/ 1007534 h 2607734"/>
                  <a:gd name="connsiteX2" fmla="*/ 1829884 w 1829884"/>
                  <a:gd name="connsiteY2" fmla="*/ 2607734 h 2607734"/>
                  <a:gd name="connsiteX3" fmla="*/ 1118684 w 1829884"/>
                  <a:gd name="connsiteY3" fmla="*/ 1498600 h 2607734"/>
                  <a:gd name="connsiteX4" fmla="*/ 1338817 w 1829884"/>
                  <a:gd name="connsiteY4" fmla="*/ 567267 h 2607734"/>
                  <a:gd name="connsiteX5" fmla="*/ 1135617 w 1829884"/>
                  <a:gd name="connsiteY5" fmla="*/ 0 h 2607734"/>
                  <a:gd name="connsiteX0" fmla="*/ 1154609 w 1848876"/>
                  <a:gd name="connsiteY0" fmla="*/ 0 h 2607734"/>
                  <a:gd name="connsiteX1" fmla="*/ 1026 w 1848876"/>
                  <a:gd name="connsiteY1" fmla="*/ 1012296 h 2607734"/>
                  <a:gd name="connsiteX2" fmla="*/ 1848876 w 1848876"/>
                  <a:gd name="connsiteY2" fmla="*/ 2607734 h 2607734"/>
                  <a:gd name="connsiteX3" fmla="*/ 1137676 w 1848876"/>
                  <a:gd name="connsiteY3" fmla="*/ 1498600 h 2607734"/>
                  <a:gd name="connsiteX4" fmla="*/ 1357809 w 1848876"/>
                  <a:gd name="connsiteY4" fmla="*/ 567267 h 2607734"/>
                  <a:gd name="connsiteX5" fmla="*/ 1154609 w 1848876"/>
                  <a:gd name="connsiteY5" fmla="*/ 0 h 2607734"/>
                  <a:gd name="connsiteX0" fmla="*/ 1154450 w 1848717"/>
                  <a:gd name="connsiteY0" fmla="*/ 0 h 2607734"/>
                  <a:gd name="connsiteX1" fmla="*/ 867 w 1848717"/>
                  <a:gd name="connsiteY1" fmla="*/ 1012296 h 2607734"/>
                  <a:gd name="connsiteX2" fmla="*/ 1848717 w 1848717"/>
                  <a:gd name="connsiteY2" fmla="*/ 2607734 h 2607734"/>
                  <a:gd name="connsiteX3" fmla="*/ 1137517 w 1848717"/>
                  <a:gd name="connsiteY3" fmla="*/ 1498600 h 2607734"/>
                  <a:gd name="connsiteX4" fmla="*/ 1357650 w 1848717"/>
                  <a:gd name="connsiteY4" fmla="*/ 567267 h 2607734"/>
                  <a:gd name="connsiteX5" fmla="*/ 1154450 w 1848717"/>
                  <a:gd name="connsiteY5" fmla="*/ 0 h 2607734"/>
                  <a:gd name="connsiteX0" fmla="*/ 1154450 w 1848717"/>
                  <a:gd name="connsiteY0" fmla="*/ 0 h 2607734"/>
                  <a:gd name="connsiteX1" fmla="*/ 867 w 1848717"/>
                  <a:gd name="connsiteY1" fmla="*/ 1012296 h 2607734"/>
                  <a:gd name="connsiteX2" fmla="*/ 1848717 w 1848717"/>
                  <a:gd name="connsiteY2" fmla="*/ 2607734 h 2607734"/>
                  <a:gd name="connsiteX3" fmla="*/ 1137517 w 1848717"/>
                  <a:gd name="connsiteY3" fmla="*/ 1498600 h 2607734"/>
                  <a:gd name="connsiteX4" fmla="*/ 1357650 w 1848717"/>
                  <a:gd name="connsiteY4" fmla="*/ 567267 h 2607734"/>
                  <a:gd name="connsiteX5" fmla="*/ 1154450 w 1848717"/>
                  <a:gd name="connsiteY5" fmla="*/ 0 h 2607734"/>
                  <a:gd name="connsiteX0" fmla="*/ 1154450 w 1848717"/>
                  <a:gd name="connsiteY0" fmla="*/ 0 h 2607734"/>
                  <a:gd name="connsiteX1" fmla="*/ 867 w 1848717"/>
                  <a:gd name="connsiteY1" fmla="*/ 1012296 h 2607734"/>
                  <a:gd name="connsiteX2" fmla="*/ 1848717 w 1848717"/>
                  <a:gd name="connsiteY2" fmla="*/ 2607734 h 2607734"/>
                  <a:gd name="connsiteX3" fmla="*/ 1137517 w 1848717"/>
                  <a:gd name="connsiteY3" fmla="*/ 1498600 h 2607734"/>
                  <a:gd name="connsiteX4" fmla="*/ 1357650 w 1848717"/>
                  <a:gd name="connsiteY4" fmla="*/ 567267 h 2607734"/>
                  <a:gd name="connsiteX5" fmla="*/ 1154450 w 1848717"/>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208 w 1834537"/>
                  <a:gd name="connsiteY0" fmla="*/ 0 h 2622920"/>
                  <a:gd name="connsiteX1" fmla="*/ 975 w 1834537"/>
                  <a:gd name="connsiteY1" fmla="*/ 1041770 h 2622920"/>
                  <a:gd name="connsiteX2" fmla="*/ 1834537 w 1834537"/>
                  <a:gd name="connsiteY2" fmla="*/ 2622920 h 2622920"/>
                  <a:gd name="connsiteX3" fmla="*/ 1123337 w 1834537"/>
                  <a:gd name="connsiteY3" fmla="*/ 1513786 h 2622920"/>
                  <a:gd name="connsiteX4" fmla="*/ 1148208 w 1834537"/>
                  <a:gd name="connsiteY4" fmla="*/ 858678 h 2622920"/>
                  <a:gd name="connsiteX5" fmla="*/ 1140208 w 1834537"/>
                  <a:gd name="connsiteY5" fmla="*/ 0 h 2622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4537" h="2622920">
                    <a:moveTo>
                      <a:pt x="1140208" y="0"/>
                    </a:moveTo>
                    <a:cubicBezTo>
                      <a:pt x="323879" y="11995"/>
                      <a:pt x="-20897" y="496375"/>
                      <a:pt x="975" y="1041770"/>
                    </a:cubicBezTo>
                    <a:cubicBezTo>
                      <a:pt x="-2200" y="1168770"/>
                      <a:pt x="342287" y="2400669"/>
                      <a:pt x="1834537" y="2622920"/>
                    </a:cubicBezTo>
                    <a:cubicBezTo>
                      <a:pt x="1059307" y="2291309"/>
                      <a:pt x="1084179" y="1702522"/>
                      <a:pt x="1123337" y="1513786"/>
                    </a:cubicBezTo>
                    <a:cubicBezTo>
                      <a:pt x="1131627" y="1295417"/>
                      <a:pt x="1206594" y="1167534"/>
                      <a:pt x="1148208" y="858678"/>
                    </a:cubicBezTo>
                    <a:cubicBezTo>
                      <a:pt x="993162" y="429876"/>
                      <a:pt x="76053" y="85902"/>
                      <a:pt x="1140208" y="0"/>
                    </a:cubicBezTo>
                    <a:close/>
                  </a:path>
                </a:pathLst>
              </a:custGeom>
              <a:solidFill>
                <a:srgbClr val="86BC25"/>
              </a:solidFill>
              <a:ln w="12700" cap="flat" cmpd="sng" algn="ctr">
                <a:solidFill>
                  <a:srgbClr val="FFFFFF"/>
                </a:solid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313131"/>
                  </a:solidFill>
                  <a:effectLst/>
                  <a:uLnTx/>
                  <a:uFillTx/>
                </a:endParaRPr>
              </a:p>
            </p:txBody>
          </p:sp>
          <p:sp>
            <p:nvSpPr>
              <p:cNvPr id="39" name="Rectangle 38">
                <a:extLst>
                  <a:ext uri="{FF2B5EF4-FFF2-40B4-BE49-F238E27FC236}">
                    <a16:creationId xmlns:a16="http://schemas.microsoft.com/office/drawing/2014/main" id="{4A7FF360-2247-494F-94FE-731B977137ED}"/>
                  </a:ext>
                </a:extLst>
              </p:cNvPr>
              <p:cNvSpPr/>
              <p:nvPr/>
            </p:nvSpPr>
            <p:spPr>
              <a:xfrm>
                <a:off x="5099828" y="2498055"/>
                <a:ext cx="1274750" cy="516607"/>
              </a:xfrm>
              <a:prstGeom prst="rect">
                <a:avLst/>
              </a:prstGeom>
            </p:spPr>
            <p:txBody>
              <a:bodyPr wrap="square" lIns="0" tIns="0" rIns="0" bIns="0">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lang="en-US" sz="900" b="1" dirty="0">
                    <a:solidFill>
                      <a:schemeClr val="accent1"/>
                    </a:solidFill>
                  </a:rPr>
                  <a:t>PRODUCT</a:t>
                </a:r>
                <a:br>
                  <a:rPr kumimoji="0" lang="en-US" sz="1000" b="1" i="0" u="none" strike="noStrike" kern="0" cap="none" spc="0" normalizeH="0" baseline="0" noProof="0" dirty="0">
                    <a:ln>
                      <a:noFill/>
                    </a:ln>
                    <a:solidFill>
                      <a:schemeClr val="bg1"/>
                    </a:solidFill>
                    <a:effectLst/>
                    <a:uLnTx/>
                    <a:uFillTx/>
                  </a:rPr>
                </a:br>
                <a:r>
                  <a:rPr kumimoji="0" lang="en-US" sz="800" b="0" i="0" u="none" strike="noStrike" kern="0" cap="none" spc="0" normalizeH="0" baseline="0" noProof="0" dirty="0">
                    <a:ln>
                      <a:noFill/>
                    </a:ln>
                    <a:solidFill>
                      <a:schemeClr val="bg1"/>
                    </a:solidFill>
                    <a:effectLst/>
                    <a:uLnTx/>
                    <a:uFillTx/>
                  </a:rPr>
                  <a:t>Considers products the customer </a:t>
                </a:r>
                <a:r>
                  <a:rPr lang="en-US" sz="800" kern="0" dirty="0">
                    <a:solidFill>
                      <a:schemeClr val="bg1"/>
                    </a:solidFill>
                  </a:rPr>
                  <a:t>uses</a:t>
                </a:r>
                <a:endParaRPr kumimoji="0" lang="en-US" sz="850" b="0" i="0" u="none" strike="noStrike" kern="0" cap="none" spc="0" normalizeH="0" baseline="0" noProof="0" dirty="0">
                  <a:ln>
                    <a:noFill/>
                  </a:ln>
                  <a:solidFill>
                    <a:schemeClr val="bg1"/>
                  </a:solidFill>
                  <a:effectLst/>
                  <a:uLnTx/>
                  <a:uFillTx/>
                </a:endParaRPr>
              </a:p>
            </p:txBody>
          </p:sp>
        </p:grpSp>
        <p:grpSp>
          <p:nvGrpSpPr>
            <p:cNvPr id="23" name="Group 22">
              <a:extLst>
                <a:ext uri="{FF2B5EF4-FFF2-40B4-BE49-F238E27FC236}">
                  <a16:creationId xmlns:a16="http://schemas.microsoft.com/office/drawing/2014/main" id="{FF3425A8-4998-49B0-B41A-C9B99DA4CF9F}"/>
                </a:ext>
              </a:extLst>
            </p:cNvPr>
            <p:cNvGrpSpPr/>
            <p:nvPr/>
          </p:nvGrpSpPr>
          <p:grpSpPr>
            <a:xfrm>
              <a:off x="1833187" y="2139898"/>
              <a:ext cx="3209494" cy="2167250"/>
              <a:chOff x="1833187" y="2139898"/>
              <a:chExt cx="3209494" cy="2167250"/>
            </a:xfrm>
          </p:grpSpPr>
          <p:sp>
            <p:nvSpPr>
              <p:cNvPr id="35" name="Freeform 102">
                <a:extLst>
                  <a:ext uri="{FF2B5EF4-FFF2-40B4-BE49-F238E27FC236}">
                    <a16:creationId xmlns:a16="http://schemas.microsoft.com/office/drawing/2014/main" id="{42AB4311-093E-4795-A8A3-6D93F98D613F}"/>
                  </a:ext>
                </a:extLst>
              </p:cNvPr>
              <p:cNvSpPr/>
              <p:nvPr/>
            </p:nvSpPr>
            <p:spPr>
              <a:xfrm rot="4355147">
                <a:off x="2354309" y="1618776"/>
                <a:ext cx="2167250" cy="3209494"/>
              </a:xfrm>
              <a:custGeom>
                <a:avLst/>
                <a:gdLst>
                  <a:gd name="connsiteX0" fmla="*/ 1134533 w 1828800"/>
                  <a:gd name="connsiteY0" fmla="*/ 0 h 2607734"/>
                  <a:gd name="connsiteX1" fmla="*/ 0 w 1828800"/>
                  <a:gd name="connsiteY1" fmla="*/ 1007534 h 2607734"/>
                  <a:gd name="connsiteX2" fmla="*/ 1828800 w 1828800"/>
                  <a:gd name="connsiteY2" fmla="*/ 2607734 h 2607734"/>
                  <a:gd name="connsiteX3" fmla="*/ 1117600 w 1828800"/>
                  <a:gd name="connsiteY3" fmla="*/ 1498600 h 2607734"/>
                  <a:gd name="connsiteX4" fmla="*/ 1337733 w 1828800"/>
                  <a:gd name="connsiteY4" fmla="*/ 567267 h 2607734"/>
                  <a:gd name="connsiteX5" fmla="*/ 1134533 w 1828800"/>
                  <a:gd name="connsiteY5" fmla="*/ 0 h 2607734"/>
                  <a:gd name="connsiteX0" fmla="*/ 1134533 w 1828800"/>
                  <a:gd name="connsiteY0" fmla="*/ 0 h 2607734"/>
                  <a:gd name="connsiteX1" fmla="*/ 0 w 1828800"/>
                  <a:gd name="connsiteY1" fmla="*/ 1007534 h 2607734"/>
                  <a:gd name="connsiteX2" fmla="*/ 1828800 w 1828800"/>
                  <a:gd name="connsiteY2" fmla="*/ 2607734 h 2607734"/>
                  <a:gd name="connsiteX3" fmla="*/ 1117600 w 1828800"/>
                  <a:gd name="connsiteY3" fmla="*/ 1498600 h 2607734"/>
                  <a:gd name="connsiteX4" fmla="*/ 1337733 w 1828800"/>
                  <a:gd name="connsiteY4" fmla="*/ 567267 h 2607734"/>
                  <a:gd name="connsiteX5" fmla="*/ 1134533 w 1828800"/>
                  <a:gd name="connsiteY5" fmla="*/ 0 h 2607734"/>
                  <a:gd name="connsiteX0" fmla="*/ 1135617 w 1829884"/>
                  <a:gd name="connsiteY0" fmla="*/ 0 h 2607734"/>
                  <a:gd name="connsiteX1" fmla="*/ 1084 w 1829884"/>
                  <a:gd name="connsiteY1" fmla="*/ 1007534 h 2607734"/>
                  <a:gd name="connsiteX2" fmla="*/ 1829884 w 1829884"/>
                  <a:gd name="connsiteY2" fmla="*/ 2607734 h 2607734"/>
                  <a:gd name="connsiteX3" fmla="*/ 1118684 w 1829884"/>
                  <a:gd name="connsiteY3" fmla="*/ 1498600 h 2607734"/>
                  <a:gd name="connsiteX4" fmla="*/ 1338817 w 1829884"/>
                  <a:gd name="connsiteY4" fmla="*/ 567267 h 2607734"/>
                  <a:gd name="connsiteX5" fmla="*/ 1135617 w 1829884"/>
                  <a:gd name="connsiteY5" fmla="*/ 0 h 2607734"/>
                  <a:gd name="connsiteX0" fmla="*/ 1154609 w 1848876"/>
                  <a:gd name="connsiteY0" fmla="*/ 0 h 2607734"/>
                  <a:gd name="connsiteX1" fmla="*/ 1026 w 1848876"/>
                  <a:gd name="connsiteY1" fmla="*/ 1012296 h 2607734"/>
                  <a:gd name="connsiteX2" fmla="*/ 1848876 w 1848876"/>
                  <a:gd name="connsiteY2" fmla="*/ 2607734 h 2607734"/>
                  <a:gd name="connsiteX3" fmla="*/ 1137676 w 1848876"/>
                  <a:gd name="connsiteY3" fmla="*/ 1498600 h 2607734"/>
                  <a:gd name="connsiteX4" fmla="*/ 1357809 w 1848876"/>
                  <a:gd name="connsiteY4" fmla="*/ 567267 h 2607734"/>
                  <a:gd name="connsiteX5" fmla="*/ 1154609 w 1848876"/>
                  <a:gd name="connsiteY5" fmla="*/ 0 h 2607734"/>
                  <a:gd name="connsiteX0" fmla="*/ 1154450 w 1848717"/>
                  <a:gd name="connsiteY0" fmla="*/ 0 h 2607734"/>
                  <a:gd name="connsiteX1" fmla="*/ 867 w 1848717"/>
                  <a:gd name="connsiteY1" fmla="*/ 1012296 h 2607734"/>
                  <a:gd name="connsiteX2" fmla="*/ 1848717 w 1848717"/>
                  <a:gd name="connsiteY2" fmla="*/ 2607734 h 2607734"/>
                  <a:gd name="connsiteX3" fmla="*/ 1137517 w 1848717"/>
                  <a:gd name="connsiteY3" fmla="*/ 1498600 h 2607734"/>
                  <a:gd name="connsiteX4" fmla="*/ 1357650 w 1848717"/>
                  <a:gd name="connsiteY4" fmla="*/ 567267 h 2607734"/>
                  <a:gd name="connsiteX5" fmla="*/ 1154450 w 1848717"/>
                  <a:gd name="connsiteY5" fmla="*/ 0 h 2607734"/>
                  <a:gd name="connsiteX0" fmla="*/ 1154450 w 1848717"/>
                  <a:gd name="connsiteY0" fmla="*/ 0 h 2607734"/>
                  <a:gd name="connsiteX1" fmla="*/ 867 w 1848717"/>
                  <a:gd name="connsiteY1" fmla="*/ 1012296 h 2607734"/>
                  <a:gd name="connsiteX2" fmla="*/ 1848717 w 1848717"/>
                  <a:gd name="connsiteY2" fmla="*/ 2607734 h 2607734"/>
                  <a:gd name="connsiteX3" fmla="*/ 1137517 w 1848717"/>
                  <a:gd name="connsiteY3" fmla="*/ 1498600 h 2607734"/>
                  <a:gd name="connsiteX4" fmla="*/ 1357650 w 1848717"/>
                  <a:gd name="connsiteY4" fmla="*/ 567267 h 2607734"/>
                  <a:gd name="connsiteX5" fmla="*/ 1154450 w 1848717"/>
                  <a:gd name="connsiteY5" fmla="*/ 0 h 2607734"/>
                  <a:gd name="connsiteX0" fmla="*/ 1154450 w 1848717"/>
                  <a:gd name="connsiteY0" fmla="*/ 0 h 2607734"/>
                  <a:gd name="connsiteX1" fmla="*/ 867 w 1848717"/>
                  <a:gd name="connsiteY1" fmla="*/ 1012296 h 2607734"/>
                  <a:gd name="connsiteX2" fmla="*/ 1848717 w 1848717"/>
                  <a:gd name="connsiteY2" fmla="*/ 2607734 h 2607734"/>
                  <a:gd name="connsiteX3" fmla="*/ 1137517 w 1848717"/>
                  <a:gd name="connsiteY3" fmla="*/ 1498600 h 2607734"/>
                  <a:gd name="connsiteX4" fmla="*/ 1357650 w 1848717"/>
                  <a:gd name="connsiteY4" fmla="*/ 567267 h 2607734"/>
                  <a:gd name="connsiteX5" fmla="*/ 1154450 w 1848717"/>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1852 w 1834534"/>
                  <a:gd name="connsiteY0" fmla="*/ 0 h 2612705"/>
                  <a:gd name="connsiteX1" fmla="*/ 972 w 1834534"/>
                  <a:gd name="connsiteY1" fmla="*/ 1031555 h 2612705"/>
                  <a:gd name="connsiteX2" fmla="*/ 1834534 w 1834534"/>
                  <a:gd name="connsiteY2" fmla="*/ 2612705 h 2612705"/>
                  <a:gd name="connsiteX3" fmla="*/ 1123334 w 1834534"/>
                  <a:gd name="connsiteY3" fmla="*/ 1503571 h 2612705"/>
                  <a:gd name="connsiteX4" fmla="*/ 1148205 w 1834534"/>
                  <a:gd name="connsiteY4" fmla="*/ 848463 h 2612705"/>
                  <a:gd name="connsiteX5" fmla="*/ 1141852 w 1834534"/>
                  <a:gd name="connsiteY5" fmla="*/ 0 h 261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4534" h="2612705">
                    <a:moveTo>
                      <a:pt x="1141852" y="0"/>
                    </a:moveTo>
                    <a:cubicBezTo>
                      <a:pt x="325523" y="11995"/>
                      <a:pt x="-20900" y="486160"/>
                      <a:pt x="972" y="1031555"/>
                    </a:cubicBezTo>
                    <a:cubicBezTo>
                      <a:pt x="-2203" y="1158555"/>
                      <a:pt x="342284" y="2390454"/>
                      <a:pt x="1834534" y="2612705"/>
                    </a:cubicBezTo>
                    <a:cubicBezTo>
                      <a:pt x="1059304" y="2281094"/>
                      <a:pt x="1084176" y="1692307"/>
                      <a:pt x="1123334" y="1503571"/>
                    </a:cubicBezTo>
                    <a:cubicBezTo>
                      <a:pt x="1131624" y="1285202"/>
                      <a:pt x="1206591" y="1157319"/>
                      <a:pt x="1148205" y="848463"/>
                    </a:cubicBezTo>
                    <a:cubicBezTo>
                      <a:pt x="993159" y="419661"/>
                      <a:pt x="77697" y="85902"/>
                      <a:pt x="1141852" y="0"/>
                    </a:cubicBezTo>
                    <a:close/>
                  </a:path>
                </a:pathLst>
              </a:custGeom>
              <a:solidFill>
                <a:srgbClr val="86BC25"/>
              </a:solidFill>
              <a:ln w="12700" cap="flat" cmpd="sng" algn="ctr">
                <a:solidFill>
                  <a:srgbClr val="FFFFFF"/>
                </a:solidFill>
                <a:prstDash val="solid"/>
              </a:ln>
              <a:effectLst/>
            </p:spPr>
            <p:txBody>
              <a:bodyPr lIns="36000" tIns="36000" rIns="36000" bIns="36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313131"/>
                  </a:solidFill>
                  <a:effectLst/>
                  <a:uLnTx/>
                  <a:uFillTx/>
                </a:endParaRPr>
              </a:p>
            </p:txBody>
          </p:sp>
          <p:sp>
            <p:nvSpPr>
              <p:cNvPr id="36" name="Rectangle 35">
                <a:extLst>
                  <a:ext uri="{FF2B5EF4-FFF2-40B4-BE49-F238E27FC236}">
                    <a16:creationId xmlns:a16="http://schemas.microsoft.com/office/drawing/2014/main" id="{439DF8CA-FFCF-4CE0-AAB0-099B17ACB5ED}"/>
                  </a:ext>
                </a:extLst>
              </p:cNvPr>
              <p:cNvSpPr/>
              <p:nvPr/>
            </p:nvSpPr>
            <p:spPr>
              <a:xfrm>
                <a:off x="2701686" y="2767332"/>
                <a:ext cx="1482071" cy="516607"/>
              </a:xfrm>
              <a:prstGeom prst="rect">
                <a:avLst/>
              </a:prstGeom>
            </p:spPr>
            <p:txBody>
              <a:bodyPr wrap="square" lIns="0" tIns="0" rIns="0" bIns="0">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lang="en-US" sz="900" b="1" dirty="0">
                    <a:solidFill>
                      <a:schemeClr val="accent1"/>
                    </a:solidFill>
                  </a:rPr>
                  <a:t>CUSTOMER</a:t>
                </a:r>
                <a:br>
                  <a:rPr kumimoji="0" lang="en-US" sz="800" b="1" i="0" u="none" strike="noStrike" kern="0" cap="none" spc="0" normalizeH="0" baseline="0" noProof="0" dirty="0">
                    <a:ln>
                      <a:noFill/>
                    </a:ln>
                    <a:solidFill>
                      <a:prstClr val="white"/>
                    </a:solidFill>
                    <a:effectLst/>
                    <a:uLnTx/>
                    <a:uFillTx/>
                  </a:rPr>
                </a:br>
                <a:r>
                  <a:rPr kumimoji="0" lang="en-US" sz="800" b="0" i="0" u="none" strike="noStrike" kern="0" cap="none" spc="0" normalizeH="0" baseline="0" noProof="0" dirty="0">
                    <a:ln>
                      <a:noFill/>
                    </a:ln>
                    <a:solidFill>
                      <a:prstClr val="white"/>
                    </a:solidFill>
                    <a:effectLst/>
                    <a:uLnTx/>
                    <a:uFillTx/>
                  </a:rPr>
                  <a:t>Considers the types of customer</a:t>
                </a:r>
              </a:p>
            </p:txBody>
          </p:sp>
          <p:pic>
            <p:nvPicPr>
              <p:cNvPr id="37" name="Picture 17" descr="C:\Users\jsauvageau\Desktop\Untitled-2.png">
                <a:extLst>
                  <a:ext uri="{FF2B5EF4-FFF2-40B4-BE49-F238E27FC236}">
                    <a16:creationId xmlns:a16="http://schemas.microsoft.com/office/drawing/2014/main" id="{B30832D7-12AF-49C2-ADDC-0F221D89F318}"/>
                  </a:ext>
                </a:extLst>
              </p:cNvPr>
              <p:cNvPicPr>
                <a:picLocks noChangeAspect="1" noChangeArrowheads="1"/>
              </p:cNvPicPr>
              <p:nvPr/>
            </p:nvPicPr>
            <p:blipFill>
              <a:blip r:embed="rId3" cstate="print">
                <a:biLevel thresh="50000"/>
                <a:extLst>
                  <a:ext uri="{28A0092B-C50C-407E-A947-70E740481C1C}">
                    <a14:useLocalDpi xmlns:a14="http://schemas.microsoft.com/office/drawing/2010/main" val="0"/>
                  </a:ext>
                </a:extLst>
              </a:blip>
              <a:srcRect/>
              <a:stretch>
                <a:fillRect/>
              </a:stretch>
            </p:blipFill>
            <p:spPr bwMode="auto">
              <a:xfrm>
                <a:off x="3523135" y="2298615"/>
                <a:ext cx="487471" cy="377849"/>
              </a:xfrm>
              <a:prstGeom prst="rect">
                <a:avLst/>
              </a:prstGeom>
              <a:solidFill>
                <a:srgbClr val="86BC25"/>
              </a:solidFill>
              <a:ln w="12700" cap="flat" cmpd="sng" algn="ctr">
                <a:noFill/>
                <a:prstDash val="solid"/>
              </a:ln>
              <a:effectLst/>
            </p:spPr>
          </p:pic>
        </p:grpSp>
        <p:grpSp>
          <p:nvGrpSpPr>
            <p:cNvPr id="24" name="Group 23">
              <a:extLst>
                <a:ext uri="{FF2B5EF4-FFF2-40B4-BE49-F238E27FC236}">
                  <a16:creationId xmlns:a16="http://schemas.microsoft.com/office/drawing/2014/main" id="{11EEC04B-00D6-4D26-AD26-9E491C87B6EC}"/>
                </a:ext>
              </a:extLst>
            </p:cNvPr>
            <p:cNvGrpSpPr/>
            <p:nvPr/>
          </p:nvGrpSpPr>
          <p:grpSpPr>
            <a:xfrm>
              <a:off x="5093832" y="2692645"/>
              <a:ext cx="2216981" cy="3094032"/>
              <a:chOff x="5093832" y="2692645"/>
              <a:chExt cx="2216981" cy="3094032"/>
            </a:xfrm>
          </p:grpSpPr>
          <p:sp>
            <p:nvSpPr>
              <p:cNvPr id="32" name="Freeform 74">
                <a:extLst>
                  <a:ext uri="{FF2B5EF4-FFF2-40B4-BE49-F238E27FC236}">
                    <a16:creationId xmlns:a16="http://schemas.microsoft.com/office/drawing/2014/main" id="{4C76596C-7EDA-4F92-9757-911F33FD65B5}"/>
                  </a:ext>
                </a:extLst>
              </p:cNvPr>
              <p:cNvSpPr/>
              <p:nvPr/>
            </p:nvSpPr>
            <p:spPr>
              <a:xfrm rot="13082864">
                <a:off x="5093832" y="2692645"/>
                <a:ext cx="2216981" cy="3094032"/>
              </a:xfrm>
              <a:custGeom>
                <a:avLst/>
                <a:gdLst>
                  <a:gd name="connsiteX0" fmla="*/ 1134533 w 1828800"/>
                  <a:gd name="connsiteY0" fmla="*/ 0 h 2607734"/>
                  <a:gd name="connsiteX1" fmla="*/ 0 w 1828800"/>
                  <a:gd name="connsiteY1" fmla="*/ 1007534 h 2607734"/>
                  <a:gd name="connsiteX2" fmla="*/ 1828800 w 1828800"/>
                  <a:gd name="connsiteY2" fmla="*/ 2607734 h 2607734"/>
                  <a:gd name="connsiteX3" fmla="*/ 1117600 w 1828800"/>
                  <a:gd name="connsiteY3" fmla="*/ 1498600 h 2607734"/>
                  <a:gd name="connsiteX4" fmla="*/ 1337733 w 1828800"/>
                  <a:gd name="connsiteY4" fmla="*/ 567267 h 2607734"/>
                  <a:gd name="connsiteX5" fmla="*/ 1134533 w 1828800"/>
                  <a:gd name="connsiteY5" fmla="*/ 0 h 2607734"/>
                  <a:gd name="connsiteX0" fmla="*/ 1134533 w 1828800"/>
                  <a:gd name="connsiteY0" fmla="*/ 0 h 2607734"/>
                  <a:gd name="connsiteX1" fmla="*/ 0 w 1828800"/>
                  <a:gd name="connsiteY1" fmla="*/ 1007534 h 2607734"/>
                  <a:gd name="connsiteX2" fmla="*/ 1828800 w 1828800"/>
                  <a:gd name="connsiteY2" fmla="*/ 2607734 h 2607734"/>
                  <a:gd name="connsiteX3" fmla="*/ 1117600 w 1828800"/>
                  <a:gd name="connsiteY3" fmla="*/ 1498600 h 2607734"/>
                  <a:gd name="connsiteX4" fmla="*/ 1337733 w 1828800"/>
                  <a:gd name="connsiteY4" fmla="*/ 567267 h 2607734"/>
                  <a:gd name="connsiteX5" fmla="*/ 1134533 w 1828800"/>
                  <a:gd name="connsiteY5" fmla="*/ 0 h 2607734"/>
                  <a:gd name="connsiteX0" fmla="*/ 1135617 w 1829884"/>
                  <a:gd name="connsiteY0" fmla="*/ 0 h 2607734"/>
                  <a:gd name="connsiteX1" fmla="*/ 1084 w 1829884"/>
                  <a:gd name="connsiteY1" fmla="*/ 1007534 h 2607734"/>
                  <a:gd name="connsiteX2" fmla="*/ 1829884 w 1829884"/>
                  <a:gd name="connsiteY2" fmla="*/ 2607734 h 2607734"/>
                  <a:gd name="connsiteX3" fmla="*/ 1118684 w 1829884"/>
                  <a:gd name="connsiteY3" fmla="*/ 1498600 h 2607734"/>
                  <a:gd name="connsiteX4" fmla="*/ 1338817 w 1829884"/>
                  <a:gd name="connsiteY4" fmla="*/ 567267 h 2607734"/>
                  <a:gd name="connsiteX5" fmla="*/ 1135617 w 1829884"/>
                  <a:gd name="connsiteY5" fmla="*/ 0 h 2607734"/>
                  <a:gd name="connsiteX0" fmla="*/ 1154609 w 1848876"/>
                  <a:gd name="connsiteY0" fmla="*/ 0 h 2607734"/>
                  <a:gd name="connsiteX1" fmla="*/ 1026 w 1848876"/>
                  <a:gd name="connsiteY1" fmla="*/ 1012296 h 2607734"/>
                  <a:gd name="connsiteX2" fmla="*/ 1848876 w 1848876"/>
                  <a:gd name="connsiteY2" fmla="*/ 2607734 h 2607734"/>
                  <a:gd name="connsiteX3" fmla="*/ 1137676 w 1848876"/>
                  <a:gd name="connsiteY3" fmla="*/ 1498600 h 2607734"/>
                  <a:gd name="connsiteX4" fmla="*/ 1357809 w 1848876"/>
                  <a:gd name="connsiteY4" fmla="*/ 567267 h 2607734"/>
                  <a:gd name="connsiteX5" fmla="*/ 1154609 w 1848876"/>
                  <a:gd name="connsiteY5" fmla="*/ 0 h 2607734"/>
                  <a:gd name="connsiteX0" fmla="*/ 1154450 w 1848717"/>
                  <a:gd name="connsiteY0" fmla="*/ 0 h 2607734"/>
                  <a:gd name="connsiteX1" fmla="*/ 867 w 1848717"/>
                  <a:gd name="connsiteY1" fmla="*/ 1012296 h 2607734"/>
                  <a:gd name="connsiteX2" fmla="*/ 1848717 w 1848717"/>
                  <a:gd name="connsiteY2" fmla="*/ 2607734 h 2607734"/>
                  <a:gd name="connsiteX3" fmla="*/ 1137517 w 1848717"/>
                  <a:gd name="connsiteY3" fmla="*/ 1498600 h 2607734"/>
                  <a:gd name="connsiteX4" fmla="*/ 1357650 w 1848717"/>
                  <a:gd name="connsiteY4" fmla="*/ 567267 h 2607734"/>
                  <a:gd name="connsiteX5" fmla="*/ 1154450 w 1848717"/>
                  <a:gd name="connsiteY5" fmla="*/ 0 h 2607734"/>
                  <a:gd name="connsiteX0" fmla="*/ 1154450 w 1848717"/>
                  <a:gd name="connsiteY0" fmla="*/ 0 h 2607734"/>
                  <a:gd name="connsiteX1" fmla="*/ 867 w 1848717"/>
                  <a:gd name="connsiteY1" fmla="*/ 1012296 h 2607734"/>
                  <a:gd name="connsiteX2" fmla="*/ 1848717 w 1848717"/>
                  <a:gd name="connsiteY2" fmla="*/ 2607734 h 2607734"/>
                  <a:gd name="connsiteX3" fmla="*/ 1137517 w 1848717"/>
                  <a:gd name="connsiteY3" fmla="*/ 1498600 h 2607734"/>
                  <a:gd name="connsiteX4" fmla="*/ 1357650 w 1848717"/>
                  <a:gd name="connsiteY4" fmla="*/ 567267 h 2607734"/>
                  <a:gd name="connsiteX5" fmla="*/ 1154450 w 1848717"/>
                  <a:gd name="connsiteY5" fmla="*/ 0 h 2607734"/>
                  <a:gd name="connsiteX0" fmla="*/ 1154450 w 1848717"/>
                  <a:gd name="connsiteY0" fmla="*/ 0 h 2607734"/>
                  <a:gd name="connsiteX1" fmla="*/ 867 w 1848717"/>
                  <a:gd name="connsiteY1" fmla="*/ 1012296 h 2607734"/>
                  <a:gd name="connsiteX2" fmla="*/ 1848717 w 1848717"/>
                  <a:gd name="connsiteY2" fmla="*/ 2607734 h 2607734"/>
                  <a:gd name="connsiteX3" fmla="*/ 1137517 w 1848717"/>
                  <a:gd name="connsiteY3" fmla="*/ 1498600 h 2607734"/>
                  <a:gd name="connsiteX4" fmla="*/ 1357650 w 1848717"/>
                  <a:gd name="connsiteY4" fmla="*/ 567267 h 2607734"/>
                  <a:gd name="connsiteX5" fmla="*/ 1154450 w 1848717"/>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391 w 1834537"/>
                  <a:gd name="connsiteY0" fmla="*/ 0 h 2619037"/>
                  <a:gd name="connsiteX1" fmla="*/ 975 w 1834537"/>
                  <a:gd name="connsiteY1" fmla="*/ 1037887 h 2619037"/>
                  <a:gd name="connsiteX2" fmla="*/ 1834537 w 1834537"/>
                  <a:gd name="connsiteY2" fmla="*/ 2619037 h 2619037"/>
                  <a:gd name="connsiteX3" fmla="*/ 1123337 w 1834537"/>
                  <a:gd name="connsiteY3" fmla="*/ 1509903 h 2619037"/>
                  <a:gd name="connsiteX4" fmla="*/ 1148208 w 1834537"/>
                  <a:gd name="connsiteY4" fmla="*/ 854795 h 2619037"/>
                  <a:gd name="connsiteX5" fmla="*/ 1140391 w 1834537"/>
                  <a:gd name="connsiteY5" fmla="*/ 0 h 2619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4537" h="2619037">
                    <a:moveTo>
                      <a:pt x="1140391" y="0"/>
                    </a:moveTo>
                    <a:cubicBezTo>
                      <a:pt x="324062" y="11995"/>
                      <a:pt x="-20897" y="492492"/>
                      <a:pt x="975" y="1037887"/>
                    </a:cubicBezTo>
                    <a:cubicBezTo>
                      <a:pt x="-2200" y="1164887"/>
                      <a:pt x="342287" y="2396786"/>
                      <a:pt x="1834537" y="2619037"/>
                    </a:cubicBezTo>
                    <a:cubicBezTo>
                      <a:pt x="1059307" y="2287426"/>
                      <a:pt x="1084179" y="1698639"/>
                      <a:pt x="1123337" y="1509903"/>
                    </a:cubicBezTo>
                    <a:cubicBezTo>
                      <a:pt x="1131627" y="1291534"/>
                      <a:pt x="1206594" y="1163651"/>
                      <a:pt x="1148208" y="854795"/>
                    </a:cubicBezTo>
                    <a:cubicBezTo>
                      <a:pt x="993162" y="425993"/>
                      <a:pt x="76236" y="85902"/>
                      <a:pt x="1140391" y="0"/>
                    </a:cubicBezTo>
                    <a:close/>
                  </a:path>
                </a:pathLst>
              </a:custGeom>
              <a:solidFill>
                <a:srgbClr val="86BC25"/>
              </a:solidFill>
              <a:ln w="12700" cap="flat" cmpd="sng" algn="ctr">
                <a:solidFill>
                  <a:srgbClr val="FFFFFF"/>
                </a:solidFill>
                <a:prstDash val="solid"/>
              </a:ln>
              <a:effectLst/>
            </p:spPr>
            <p:txBody>
              <a:bodyPr lIns="36000" tIns="36000" rIns="36000" bIns="360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313131"/>
                  </a:solidFill>
                  <a:effectLst/>
                  <a:uLnTx/>
                  <a:uFillTx/>
                </a:endParaRPr>
              </a:p>
            </p:txBody>
          </p:sp>
          <p:sp>
            <p:nvSpPr>
              <p:cNvPr id="33" name="Rectangle 32">
                <a:extLst>
                  <a:ext uri="{FF2B5EF4-FFF2-40B4-BE49-F238E27FC236}">
                    <a16:creationId xmlns:a16="http://schemas.microsoft.com/office/drawing/2014/main" id="{F9FD7F44-835F-4306-99E6-DFD749C54DCB}"/>
                  </a:ext>
                </a:extLst>
              </p:cNvPr>
              <p:cNvSpPr/>
              <p:nvPr/>
            </p:nvSpPr>
            <p:spPr>
              <a:xfrm>
                <a:off x="5827912" y="4180110"/>
                <a:ext cx="1166907" cy="1012549"/>
              </a:xfrm>
              <a:prstGeom prst="rect">
                <a:avLst/>
              </a:prstGeom>
            </p:spPr>
            <p:txBody>
              <a:bodyPr wrap="square" lIns="0" tIns="0" rIns="0" bIns="0">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lang="en-US" sz="900" b="1" dirty="0">
                    <a:solidFill>
                      <a:schemeClr val="accent1"/>
                    </a:solidFill>
                  </a:rPr>
                  <a:t>GEOGRAPHY</a:t>
                </a:r>
                <a:br>
                  <a:rPr kumimoji="0" lang="en-US" sz="800" b="1" i="0" u="none" strike="noStrike" kern="0" cap="none" spc="0" normalizeH="0" baseline="0" noProof="0" dirty="0">
                    <a:ln>
                      <a:noFill/>
                    </a:ln>
                    <a:solidFill>
                      <a:prstClr val="white"/>
                    </a:solidFill>
                    <a:effectLst/>
                    <a:uLnTx/>
                    <a:uFillTx/>
                  </a:rPr>
                </a:br>
                <a:r>
                  <a:rPr kumimoji="0" lang="en-US" sz="800" b="0" i="0" u="none" strike="noStrike" kern="0" cap="none" spc="0" normalizeH="0" baseline="0" noProof="0" dirty="0">
                    <a:ln>
                      <a:noFill/>
                    </a:ln>
                    <a:solidFill>
                      <a:prstClr val="white"/>
                    </a:solidFill>
                    <a:effectLst/>
                    <a:uLnTx/>
                    <a:uFillTx/>
                  </a:rPr>
                  <a:t>Considers the location of the customer and  where they do business</a:t>
                </a:r>
              </a:p>
            </p:txBody>
          </p:sp>
          <p:pic>
            <p:nvPicPr>
              <p:cNvPr id="34" name="Picture 11" descr="C:\Users\jsauvageau\Desktop\4.png">
                <a:extLst>
                  <a:ext uri="{FF2B5EF4-FFF2-40B4-BE49-F238E27FC236}">
                    <a16:creationId xmlns:a16="http://schemas.microsoft.com/office/drawing/2014/main" id="{F8095450-569D-4945-B354-8CD9BCEF4686}"/>
                  </a:ext>
                </a:extLst>
              </p:cNvPr>
              <p:cNvPicPr>
                <a:picLocks noChangeAspect="1" noChangeArrowheads="1"/>
              </p:cNvPicPr>
              <p:nvPr/>
            </p:nvPicPr>
            <p:blipFill>
              <a:blip r:embed="rId4" cstate="print">
                <a:biLevel thresh="75000"/>
                <a:extLst>
                  <a:ext uri="{28A0092B-C50C-407E-A947-70E740481C1C}">
                    <a14:useLocalDpi xmlns:a14="http://schemas.microsoft.com/office/drawing/2010/main" val="0"/>
                  </a:ext>
                </a:extLst>
              </a:blip>
              <a:srcRect/>
              <a:stretch>
                <a:fillRect/>
              </a:stretch>
            </p:blipFill>
            <p:spPr bwMode="auto">
              <a:xfrm>
                <a:off x="6477424" y="3711079"/>
                <a:ext cx="420853" cy="408455"/>
              </a:xfrm>
              <a:prstGeom prst="rect">
                <a:avLst/>
              </a:prstGeom>
              <a:solidFill>
                <a:srgbClr val="86BC25"/>
              </a:solidFill>
              <a:ln w="12700" cap="flat" cmpd="sng" algn="ctr">
                <a:noFill/>
                <a:prstDash val="solid"/>
              </a:ln>
              <a:effectLst/>
            </p:spPr>
          </p:pic>
        </p:grpSp>
        <p:grpSp>
          <p:nvGrpSpPr>
            <p:cNvPr id="25" name="Group 24">
              <a:extLst>
                <a:ext uri="{FF2B5EF4-FFF2-40B4-BE49-F238E27FC236}">
                  <a16:creationId xmlns:a16="http://schemas.microsoft.com/office/drawing/2014/main" id="{F5DCF30E-E00C-46DB-826F-B4CDBDD7031D}"/>
                </a:ext>
              </a:extLst>
            </p:cNvPr>
            <p:cNvGrpSpPr/>
            <p:nvPr/>
          </p:nvGrpSpPr>
          <p:grpSpPr>
            <a:xfrm>
              <a:off x="2244375" y="3469189"/>
              <a:ext cx="2217021" cy="3102298"/>
              <a:chOff x="2244375" y="3469189"/>
              <a:chExt cx="2217021" cy="3102298"/>
            </a:xfrm>
          </p:grpSpPr>
          <p:sp>
            <p:nvSpPr>
              <p:cNvPr id="29" name="Freeform 71">
                <a:extLst>
                  <a:ext uri="{FF2B5EF4-FFF2-40B4-BE49-F238E27FC236}">
                    <a16:creationId xmlns:a16="http://schemas.microsoft.com/office/drawing/2014/main" id="{E7558E47-A1E3-4382-8031-31C43A6431FA}"/>
                  </a:ext>
                </a:extLst>
              </p:cNvPr>
              <p:cNvSpPr/>
              <p:nvPr/>
            </p:nvSpPr>
            <p:spPr>
              <a:xfrm>
                <a:off x="2244375" y="3469189"/>
                <a:ext cx="2217021" cy="3102298"/>
              </a:xfrm>
              <a:custGeom>
                <a:avLst/>
                <a:gdLst>
                  <a:gd name="connsiteX0" fmla="*/ 1134533 w 1828800"/>
                  <a:gd name="connsiteY0" fmla="*/ 0 h 2607734"/>
                  <a:gd name="connsiteX1" fmla="*/ 0 w 1828800"/>
                  <a:gd name="connsiteY1" fmla="*/ 1007534 h 2607734"/>
                  <a:gd name="connsiteX2" fmla="*/ 1828800 w 1828800"/>
                  <a:gd name="connsiteY2" fmla="*/ 2607734 h 2607734"/>
                  <a:gd name="connsiteX3" fmla="*/ 1117600 w 1828800"/>
                  <a:gd name="connsiteY3" fmla="*/ 1498600 h 2607734"/>
                  <a:gd name="connsiteX4" fmla="*/ 1337733 w 1828800"/>
                  <a:gd name="connsiteY4" fmla="*/ 567267 h 2607734"/>
                  <a:gd name="connsiteX5" fmla="*/ 1134533 w 1828800"/>
                  <a:gd name="connsiteY5" fmla="*/ 0 h 2607734"/>
                  <a:gd name="connsiteX0" fmla="*/ 1134533 w 1828800"/>
                  <a:gd name="connsiteY0" fmla="*/ 0 h 2607734"/>
                  <a:gd name="connsiteX1" fmla="*/ 0 w 1828800"/>
                  <a:gd name="connsiteY1" fmla="*/ 1007534 h 2607734"/>
                  <a:gd name="connsiteX2" fmla="*/ 1828800 w 1828800"/>
                  <a:gd name="connsiteY2" fmla="*/ 2607734 h 2607734"/>
                  <a:gd name="connsiteX3" fmla="*/ 1117600 w 1828800"/>
                  <a:gd name="connsiteY3" fmla="*/ 1498600 h 2607734"/>
                  <a:gd name="connsiteX4" fmla="*/ 1337733 w 1828800"/>
                  <a:gd name="connsiteY4" fmla="*/ 567267 h 2607734"/>
                  <a:gd name="connsiteX5" fmla="*/ 1134533 w 1828800"/>
                  <a:gd name="connsiteY5" fmla="*/ 0 h 2607734"/>
                  <a:gd name="connsiteX0" fmla="*/ 1135617 w 1829884"/>
                  <a:gd name="connsiteY0" fmla="*/ 0 h 2607734"/>
                  <a:gd name="connsiteX1" fmla="*/ 1084 w 1829884"/>
                  <a:gd name="connsiteY1" fmla="*/ 1007534 h 2607734"/>
                  <a:gd name="connsiteX2" fmla="*/ 1829884 w 1829884"/>
                  <a:gd name="connsiteY2" fmla="*/ 2607734 h 2607734"/>
                  <a:gd name="connsiteX3" fmla="*/ 1118684 w 1829884"/>
                  <a:gd name="connsiteY3" fmla="*/ 1498600 h 2607734"/>
                  <a:gd name="connsiteX4" fmla="*/ 1338817 w 1829884"/>
                  <a:gd name="connsiteY4" fmla="*/ 567267 h 2607734"/>
                  <a:gd name="connsiteX5" fmla="*/ 1135617 w 1829884"/>
                  <a:gd name="connsiteY5" fmla="*/ 0 h 2607734"/>
                  <a:gd name="connsiteX0" fmla="*/ 1154609 w 1848876"/>
                  <a:gd name="connsiteY0" fmla="*/ 0 h 2607734"/>
                  <a:gd name="connsiteX1" fmla="*/ 1026 w 1848876"/>
                  <a:gd name="connsiteY1" fmla="*/ 1012296 h 2607734"/>
                  <a:gd name="connsiteX2" fmla="*/ 1848876 w 1848876"/>
                  <a:gd name="connsiteY2" fmla="*/ 2607734 h 2607734"/>
                  <a:gd name="connsiteX3" fmla="*/ 1137676 w 1848876"/>
                  <a:gd name="connsiteY3" fmla="*/ 1498600 h 2607734"/>
                  <a:gd name="connsiteX4" fmla="*/ 1357809 w 1848876"/>
                  <a:gd name="connsiteY4" fmla="*/ 567267 h 2607734"/>
                  <a:gd name="connsiteX5" fmla="*/ 1154609 w 1848876"/>
                  <a:gd name="connsiteY5" fmla="*/ 0 h 2607734"/>
                  <a:gd name="connsiteX0" fmla="*/ 1154450 w 1848717"/>
                  <a:gd name="connsiteY0" fmla="*/ 0 h 2607734"/>
                  <a:gd name="connsiteX1" fmla="*/ 867 w 1848717"/>
                  <a:gd name="connsiteY1" fmla="*/ 1012296 h 2607734"/>
                  <a:gd name="connsiteX2" fmla="*/ 1848717 w 1848717"/>
                  <a:gd name="connsiteY2" fmla="*/ 2607734 h 2607734"/>
                  <a:gd name="connsiteX3" fmla="*/ 1137517 w 1848717"/>
                  <a:gd name="connsiteY3" fmla="*/ 1498600 h 2607734"/>
                  <a:gd name="connsiteX4" fmla="*/ 1357650 w 1848717"/>
                  <a:gd name="connsiteY4" fmla="*/ 567267 h 2607734"/>
                  <a:gd name="connsiteX5" fmla="*/ 1154450 w 1848717"/>
                  <a:gd name="connsiteY5" fmla="*/ 0 h 2607734"/>
                  <a:gd name="connsiteX0" fmla="*/ 1154450 w 1848717"/>
                  <a:gd name="connsiteY0" fmla="*/ 0 h 2607734"/>
                  <a:gd name="connsiteX1" fmla="*/ 867 w 1848717"/>
                  <a:gd name="connsiteY1" fmla="*/ 1012296 h 2607734"/>
                  <a:gd name="connsiteX2" fmla="*/ 1848717 w 1848717"/>
                  <a:gd name="connsiteY2" fmla="*/ 2607734 h 2607734"/>
                  <a:gd name="connsiteX3" fmla="*/ 1137517 w 1848717"/>
                  <a:gd name="connsiteY3" fmla="*/ 1498600 h 2607734"/>
                  <a:gd name="connsiteX4" fmla="*/ 1357650 w 1848717"/>
                  <a:gd name="connsiteY4" fmla="*/ 567267 h 2607734"/>
                  <a:gd name="connsiteX5" fmla="*/ 1154450 w 1848717"/>
                  <a:gd name="connsiteY5" fmla="*/ 0 h 2607734"/>
                  <a:gd name="connsiteX0" fmla="*/ 1154450 w 1848717"/>
                  <a:gd name="connsiteY0" fmla="*/ 0 h 2607734"/>
                  <a:gd name="connsiteX1" fmla="*/ 867 w 1848717"/>
                  <a:gd name="connsiteY1" fmla="*/ 1012296 h 2607734"/>
                  <a:gd name="connsiteX2" fmla="*/ 1848717 w 1848717"/>
                  <a:gd name="connsiteY2" fmla="*/ 2607734 h 2607734"/>
                  <a:gd name="connsiteX3" fmla="*/ 1137517 w 1848717"/>
                  <a:gd name="connsiteY3" fmla="*/ 1498600 h 2607734"/>
                  <a:gd name="connsiteX4" fmla="*/ 1357650 w 1848717"/>
                  <a:gd name="connsiteY4" fmla="*/ 567267 h 2607734"/>
                  <a:gd name="connsiteX5" fmla="*/ 1154450 w 1848717"/>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28103 w 1834570"/>
                  <a:gd name="connsiteY0" fmla="*/ 0 h 2626034"/>
                  <a:gd name="connsiteX1" fmla="*/ 1008 w 1834570"/>
                  <a:gd name="connsiteY1" fmla="*/ 1044884 h 2626034"/>
                  <a:gd name="connsiteX2" fmla="*/ 1834570 w 1834570"/>
                  <a:gd name="connsiteY2" fmla="*/ 2626034 h 2626034"/>
                  <a:gd name="connsiteX3" fmla="*/ 1123370 w 1834570"/>
                  <a:gd name="connsiteY3" fmla="*/ 1516900 h 2626034"/>
                  <a:gd name="connsiteX4" fmla="*/ 1148241 w 1834570"/>
                  <a:gd name="connsiteY4" fmla="*/ 861792 h 2626034"/>
                  <a:gd name="connsiteX5" fmla="*/ 1128103 w 1834570"/>
                  <a:gd name="connsiteY5" fmla="*/ 0 h 2626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4570" h="2626034">
                    <a:moveTo>
                      <a:pt x="1128103" y="0"/>
                    </a:moveTo>
                    <a:cubicBezTo>
                      <a:pt x="311774" y="11995"/>
                      <a:pt x="-20864" y="499489"/>
                      <a:pt x="1008" y="1044884"/>
                    </a:cubicBezTo>
                    <a:cubicBezTo>
                      <a:pt x="-2167" y="1171884"/>
                      <a:pt x="342320" y="2403783"/>
                      <a:pt x="1834570" y="2626034"/>
                    </a:cubicBezTo>
                    <a:cubicBezTo>
                      <a:pt x="1059340" y="2294423"/>
                      <a:pt x="1084212" y="1705636"/>
                      <a:pt x="1123370" y="1516900"/>
                    </a:cubicBezTo>
                    <a:cubicBezTo>
                      <a:pt x="1131660" y="1298531"/>
                      <a:pt x="1206627" y="1170648"/>
                      <a:pt x="1148241" y="861792"/>
                    </a:cubicBezTo>
                    <a:cubicBezTo>
                      <a:pt x="993195" y="432990"/>
                      <a:pt x="63948" y="85902"/>
                      <a:pt x="1128103" y="0"/>
                    </a:cubicBezTo>
                    <a:close/>
                  </a:path>
                </a:pathLst>
              </a:custGeom>
              <a:solidFill>
                <a:srgbClr val="86BC25"/>
              </a:solidFill>
              <a:ln w="12700" cap="flat" cmpd="sng" algn="ctr">
                <a:solidFill>
                  <a:srgbClr val="FFFFFF"/>
                </a:solidFill>
                <a:prstDash val="solid"/>
              </a:ln>
              <a:effectLst/>
            </p:spPr>
            <p:txBody>
              <a:bodyPr lIns="36000" tIns="36000" rIns="36000" bIns="36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313131"/>
                  </a:solidFill>
                  <a:effectLst/>
                  <a:uLnTx/>
                  <a:uFillTx/>
                </a:endParaRPr>
              </a:p>
            </p:txBody>
          </p:sp>
          <p:sp>
            <p:nvSpPr>
              <p:cNvPr id="30" name="Rectangle 29">
                <a:extLst>
                  <a:ext uri="{FF2B5EF4-FFF2-40B4-BE49-F238E27FC236}">
                    <a16:creationId xmlns:a16="http://schemas.microsoft.com/office/drawing/2014/main" id="{861D6C58-1122-44EB-A174-188AE11B756B}"/>
                  </a:ext>
                </a:extLst>
              </p:cNvPr>
              <p:cNvSpPr/>
              <p:nvPr/>
            </p:nvSpPr>
            <p:spPr>
              <a:xfrm>
                <a:off x="2475773" y="4355202"/>
                <a:ext cx="1160701" cy="1012549"/>
              </a:xfrm>
              <a:prstGeom prst="rect">
                <a:avLst/>
              </a:prstGeom>
            </p:spPr>
            <p:txBody>
              <a:bodyPr wrap="square" lIns="0" tIns="0" rIns="0" bIns="0">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lang="en-US" sz="900" b="1" dirty="0">
                    <a:solidFill>
                      <a:schemeClr val="accent1"/>
                    </a:solidFill>
                  </a:rPr>
                  <a:t>TRANSACTION </a:t>
                </a:r>
                <a:br>
                  <a:rPr kumimoji="0" lang="en-US" sz="800" b="1" i="0" u="none" strike="noStrike" kern="0" cap="none" spc="0" normalizeH="0" baseline="0" noProof="0" dirty="0">
                    <a:ln>
                      <a:noFill/>
                    </a:ln>
                    <a:solidFill>
                      <a:prstClr val="white"/>
                    </a:solidFill>
                    <a:effectLst/>
                    <a:uLnTx/>
                    <a:uFillTx/>
                  </a:rPr>
                </a:br>
                <a:r>
                  <a:rPr kumimoji="0" lang="en-US" sz="800" b="0" i="0" u="none" strike="noStrike" kern="0" cap="none" spc="0" normalizeH="0" baseline="0" noProof="0" dirty="0">
                    <a:ln>
                      <a:noFill/>
                    </a:ln>
                    <a:solidFill>
                      <a:prstClr val="white"/>
                    </a:solidFill>
                    <a:effectLst/>
                    <a:uLnTx/>
                    <a:uFillTx/>
                  </a:rPr>
                  <a:t>Considers the actual transactions the customer conducts</a:t>
                </a:r>
              </a:p>
            </p:txBody>
          </p:sp>
          <p:pic>
            <p:nvPicPr>
              <p:cNvPr id="31" name="Picture 30" descr="30.emf">
                <a:extLst>
                  <a:ext uri="{FF2B5EF4-FFF2-40B4-BE49-F238E27FC236}">
                    <a16:creationId xmlns:a16="http://schemas.microsoft.com/office/drawing/2014/main" id="{6D0A0D51-83B4-4BD4-A7C3-7E1C0178D588}"/>
                  </a:ext>
                </a:extLst>
              </p:cNvPr>
              <p:cNvPicPr>
                <a:picLocks noChangeAspect="1"/>
              </p:cNvPicPr>
              <p:nvPr/>
            </p:nvPicPr>
            <p:blipFill>
              <a:blip r:embed="rId5">
                <a:biLevel thresh="50000"/>
              </a:blip>
              <a:stretch>
                <a:fillRect/>
              </a:stretch>
            </p:blipFill>
            <p:spPr>
              <a:xfrm>
                <a:off x="2746850" y="3860281"/>
                <a:ext cx="325726" cy="483800"/>
              </a:xfrm>
              <a:prstGeom prst="rect">
                <a:avLst/>
              </a:prstGeom>
              <a:solidFill>
                <a:srgbClr val="86BC25"/>
              </a:solidFill>
              <a:ln w="12700" cap="flat" cmpd="sng" algn="ctr">
                <a:noFill/>
                <a:prstDash val="solid"/>
              </a:ln>
              <a:effectLst/>
            </p:spPr>
          </p:pic>
        </p:grpSp>
        <p:grpSp>
          <p:nvGrpSpPr>
            <p:cNvPr id="26" name="Group 25">
              <a:extLst>
                <a:ext uri="{FF2B5EF4-FFF2-40B4-BE49-F238E27FC236}">
                  <a16:creationId xmlns:a16="http://schemas.microsoft.com/office/drawing/2014/main" id="{A670E824-27EF-4078-B953-C78AD71B3B2B}"/>
                </a:ext>
              </a:extLst>
            </p:cNvPr>
            <p:cNvGrpSpPr/>
            <p:nvPr/>
          </p:nvGrpSpPr>
          <p:grpSpPr>
            <a:xfrm>
              <a:off x="3496547" y="4487442"/>
              <a:ext cx="3165920" cy="2167273"/>
              <a:chOff x="3496547" y="4487442"/>
              <a:chExt cx="3165920" cy="2167273"/>
            </a:xfrm>
          </p:grpSpPr>
          <p:sp>
            <p:nvSpPr>
              <p:cNvPr id="27" name="Freeform 68">
                <a:extLst>
                  <a:ext uri="{FF2B5EF4-FFF2-40B4-BE49-F238E27FC236}">
                    <a16:creationId xmlns:a16="http://schemas.microsoft.com/office/drawing/2014/main" id="{42CBEFD2-1792-41AE-8721-FB8D104A7155}"/>
                  </a:ext>
                </a:extLst>
              </p:cNvPr>
              <p:cNvSpPr/>
              <p:nvPr/>
            </p:nvSpPr>
            <p:spPr>
              <a:xfrm rot="17246149">
                <a:off x="3995870" y="3988119"/>
                <a:ext cx="2167273" cy="3165920"/>
              </a:xfrm>
              <a:custGeom>
                <a:avLst/>
                <a:gdLst>
                  <a:gd name="connsiteX0" fmla="*/ 1134533 w 1828800"/>
                  <a:gd name="connsiteY0" fmla="*/ 0 h 2607734"/>
                  <a:gd name="connsiteX1" fmla="*/ 0 w 1828800"/>
                  <a:gd name="connsiteY1" fmla="*/ 1007534 h 2607734"/>
                  <a:gd name="connsiteX2" fmla="*/ 1828800 w 1828800"/>
                  <a:gd name="connsiteY2" fmla="*/ 2607734 h 2607734"/>
                  <a:gd name="connsiteX3" fmla="*/ 1117600 w 1828800"/>
                  <a:gd name="connsiteY3" fmla="*/ 1498600 h 2607734"/>
                  <a:gd name="connsiteX4" fmla="*/ 1337733 w 1828800"/>
                  <a:gd name="connsiteY4" fmla="*/ 567267 h 2607734"/>
                  <a:gd name="connsiteX5" fmla="*/ 1134533 w 1828800"/>
                  <a:gd name="connsiteY5" fmla="*/ 0 h 2607734"/>
                  <a:gd name="connsiteX0" fmla="*/ 1134533 w 1828800"/>
                  <a:gd name="connsiteY0" fmla="*/ 0 h 2607734"/>
                  <a:gd name="connsiteX1" fmla="*/ 0 w 1828800"/>
                  <a:gd name="connsiteY1" fmla="*/ 1007534 h 2607734"/>
                  <a:gd name="connsiteX2" fmla="*/ 1828800 w 1828800"/>
                  <a:gd name="connsiteY2" fmla="*/ 2607734 h 2607734"/>
                  <a:gd name="connsiteX3" fmla="*/ 1117600 w 1828800"/>
                  <a:gd name="connsiteY3" fmla="*/ 1498600 h 2607734"/>
                  <a:gd name="connsiteX4" fmla="*/ 1337733 w 1828800"/>
                  <a:gd name="connsiteY4" fmla="*/ 567267 h 2607734"/>
                  <a:gd name="connsiteX5" fmla="*/ 1134533 w 1828800"/>
                  <a:gd name="connsiteY5" fmla="*/ 0 h 2607734"/>
                  <a:gd name="connsiteX0" fmla="*/ 1135617 w 1829884"/>
                  <a:gd name="connsiteY0" fmla="*/ 0 h 2607734"/>
                  <a:gd name="connsiteX1" fmla="*/ 1084 w 1829884"/>
                  <a:gd name="connsiteY1" fmla="*/ 1007534 h 2607734"/>
                  <a:gd name="connsiteX2" fmla="*/ 1829884 w 1829884"/>
                  <a:gd name="connsiteY2" fmla="*/ 2607734 h 2607734"/>
                  <a:gd name="connsiteX3" fmla="*/ 1118684 w 1829884"/>
                  <a:gd name="connsiteY3" fmla="*/ 1498600 h 2607734"/>
                  <a:gd name="connsiteX4" fmla="*/ 1338817 w 1829884"/>
                  <a:gd name="connsiteY4" fmla="*/ 567267 h 2607734"/>
                  <a:gd name="connsiteX5" fmla="*/ 1135617 w 1829884"/>
                  <a:gd name="connsiteY5" fmla="*/ 0 h 2607734"/>
                  <a:gd name="connsiteX0" fmla="*/ 1154609 w 1848876"/>
                  <a:gd name="connsiteY0" fmla="*/ 0 h 2607734"/>
                  <a:gd name="connsiteX1" fmla="*/ 1026 w 1848876"/>
                  <a:gd name="connsiteY1" fmla="*/ 1012296 h 2607734"/>
                  <a:gd name="connsiteX2" fmla="*/ 1848876 w 1848876"/>
                  <a:gd name="connsiteY2" fmla="*/ 2607734 h 2607734"/>
                  <a:gd name="connsiteX3" fmla="*/ 1137676 w 1848876"/>
                  <a:gd name="connsiteY3" fmla="*/ 1498600 h 2607734"/>
                  <a:gd name="connsiteX4" fmla="*/ 1357809 w 1848876"/>
                  <a:gd name="connsiteY4" fmla="*/ 567267 h 2607734"/>
                  <a:gd name="connsiteX5" fmla="*/ 1154609 w 1848876"/>
                  <a:gd name="connsiteY5" fmla="*/ 0 h 2607734"/>
                  <a:gd name="connsiteX0" fmla="*/ 1154450 w 1848717"/>
                  <a:gd name="connsiteY0" fmla="*/ 0 h 2607734"/>
                  <a:gd name="connsiteX1" fmla="*/ 867 w 1848717"/>
                  <a:gd name="connsiteY1" fmla="*/ 1012296 h 2607734"/>
                  <a:gd name="connsiteX2" fmla="*/ 1848717 w 1848717"/>
                  <a:gd name="connsiteY2" fmla="*/ 2607734 h 2607734"/>
                  <a:gd name="connsiteX3" fmla="*/ 1137517 w 1848717"/>
                  <a:gd name="connsiteY3" fmla="*/ 1498600 h 2607734"/>
                  <a:gd name="connsiteX4" fmla="*/ 1357650 w 1848717"/>
                  <a:gd name="connsiteY4" fmla="*/ 567267 h 2607734"/>
                  <a:gd name="connsiteX5" fmla="*/ 1154450 w 1848717"/>
                  <a:gd name="connsiteY5" fmla="*/ 0 h 2607734"/>
                  <a:gd name="connsiteX0" fmla="*/ 1154450 w 1848717"/>
                  <a:gd name="connsiteY0" fmla="*/ 0 h 2607734"/>
                  <a:gd name="connsiteX1" fmla="*/ 867 w 1848717"/>
                  <a:gd name="connsiteY1" fmla="*/ 1012296 h 2607734"/>
                  <a:gd name="connsiteX2" fmla="*/ 1848717 w 1848717"/>
                  <a:gd name="connsiteY2" fmla="*/ 2607734 h 2607734"/>
                  <a:gd name="connsiteX3" fmla="*/ 1137517 w 1848717"/>
                  <a:gd name="connsiteY3" fmla="*/ 1498600 h 2607734"/>
                  <a:gd name="connsiteX4" fmla="*/ 1357650 w 1848717"/>
                  <a:gd name="connsiteY4" fmla="*/ 567267 h 2607734"/>
                  <a:gd name="connsiteX5" fmla="*/ 1154450 w 1848717"/>
                  <a:gd name="connsiteY5" fmla="*/ 0 h 2607734"/>
                  <a:gd name="connsiteX0" fmla="*/ 1154450 w 1848717"/>
                  <a:gd name="connsiteY0" fmla="*/ 0 h 2607734"/>
                  <a:gd name="connsiteX1" fmla="*/ 867 w 1848717"/>
                  <a:gd name="connsiteY1" fmla="*/ 1012296 h 2607734"/>
                  <a:gd name="connsiteX2" fmla="*/ 1848717 w 1848717"/>
                  <a:gd name="connsiteY2" fmla="*/ 2607734 h 2607734"/>
                  <a:gd name="connsiteX3" fmla="*/ 1137517 w 1848717"/>
                  <a:gd name="connsiteY3" fmla="*/ 1498600 h 2607734"/>
                  <a:gd name="connsiteX4" fmla="*/ 1357650 w 1848717"/>
                  <a:gd name="connsiteY4" fmla="*/ 567267 h 2607734"/>
                  <a:gd name="connsiteX5" fmla="*/ 1154450 w 1848717"/>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343392 w 1834459"/>
                  <a:gd name="connsiteY4" fmla="*/ 567267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192 w 1834459"/>
                  <a:gd name="connsiteY0" fmla="*/ 0 h 2607734"/>
                  <a:gd name="connsiteX1" fmla="*/ 897 w 1834459"/>
                  <a:gd name="connsiteY1" fmla="*/ 1026584 h 2607734"/>
                  <a:gd name="connsiteX2" fmla="*/ 1834459 w 1834459"/>
                  <a:gd name="connsiteY2" fmla="*/ 2607734 h 2607734"/>
                  <a:gd name="connsiteX3" fmla="*/ 1123259 w 1834459"/>
                  <a:gd name="connsiteY3" fmla="*/ 1498600 h 2607734"/>
                  <a:gd name="connsiteX4" fmla="*/ 1148130 w 1834459"/>
                  <a:gd name="connsiteY4" fmla="*/ 843492 h 2607734"/>
                  <a:gd name="connsiteX5" fmla="*/ 1140192 w 1834459"/>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40270 w 1834537"/>
                  <a:gd name="connsiteY0" fmla="*/ 0 h 2607734"/>
                  <a:gd name="connsiteX1" fmla="*/ 975 w 1834537"/>
                  <a:gd name="connsiteY1" fmla="*/ 1026584 h 2607734"/>
                  <a:gd name="connsiteX2" fmla="*/ 1834537 w 1834537"/>
                  <a:gd name="connsiteY2" fmla="*/ 2607734 h 2607734"/>
                  <a:gd name="connsiteX3" fmla="*/ 1123337 w 1834537"/>
                  <a:gd name="connsiteY3" fmla="*/ 1498600 h 2607734"/>
                  <a:gd name="connsiteX4" fmla="*/ 1148208 w 1834537"/>
                  <a:gd name="connsiteY4" fmla="*/ 843492 h 2607734"/>
                  <a:gd name="connsiteX5" fmla="*/ 1140270 w 1834537"/>
                  <a:gd name="connsiteY5" fmla="*/ 0 h 2607734"/>
                  <a:gd name="connsiteX0" fmla="*/ 1138256 w 1834542"/>
                  <a:gd name="connsiteY0" fmla="*/ 0 h 2620053"/>
                  <a:gd name="connsiteX1" fmla="*/ 980 w 1834542"/>
                  <a:gd name="connsiteY1" fmla="*/ 1038903 h 2620053"/>
                  <a:gd name="connsiteX2" fmla="*/ 1834542 w 1834542"/>
                  <a:gd name="connsiteY2" fmla="*/ 2620053 h 2620053"/>
                  <a:gd name="connsiteX3" fmla="*/ 1123342 w 1834542"/>
                  <a:gd name="connsiteY3" fmla="*/ 1510919 h 2620053"/>
                  <a:gd name="connsiteX4" fmla="*/ 1148213 w 1834542"/>
                  <a:gd name="connsiteY4" fmla="*/ 855811 h 2620053"/>
                  <a:gd name="connsiteX5" fmla="*/ 1138256 w 1834542"/>
                  <a:gd name="connsiteY5" fmla="*/ 0 h 2620053"/>
                  <a:gd name="connsiteX0" fmla="*/ 1128566 w 1834569"/>
                  <a:gd name="connsiteY0" fmla="*/ 0 h 2639350"/>
                  <a:gd name="connsiteX1" fmla="*/ 1007 w 1834569"/>
                  <a:gd name="connsiteY1" fmla="*/ 1058200 h 2639350"/>
                  <a:gd name="connsiteX2" fmla="*/ 1834569 w 1834569"/>
                  <a:gd name="connsiteY2" fmla="*/ 2639350 h 2639350"/>
                  <a:gd name="connsiteX3" fmla="*/ 1123369 w 1834569"/>
                  <a:gd name="connsiteY3" fmla="*/ 1530216 h 2639350"/>
                  <a:gd name="connsiteX4" fmla="*/ 1148240 w 1834569"/>
                  <a:gd name="connsiteY4" fmla="*/ 875108 h 2639350"/>
                  <a:gd name="connsiteX5" fmla="*/ 1128566 w 1834569"/>
                  <a:gd name="connsiteY5" fmla="*/ 0 h 2639350"/>
                  <a:gd name="connsiteX0" fmla="*/ 1128566 w 1834569"/>
                  <a:gd name="connsiteY0" fmla="*/ 0 h 2639350"/>
                  <a:gd name="connsiteX1" fmla="*/ 1007 w 1834569"/>
                  <a:gd name="connsiteY1" fmla="*/ 1058200 h 2639350"/>
                  <a:gd name="connsiteX2" fmla="*/ 1834569 w 1834569"/>
                  <a:gd name="connsiteY2" fmla="*/ 2639350 h 2639350"/>
                  <a:gd name="connsiteX3" fmla="*/ 1123369 w 1834569"/>
                  <a:gd name="connsiteY3" fmla="*/ 1530216 h 2639350"/>
                  <a:gd name="connsiteX4" fmla="*/ 1148240 w 1834569"/>
                  <a:gd name="connsiteY4" fmla="*/ 875108 h 2639350"/>
                  <a:gd name="connsiteX5" fmla="*/ 1128566 w 1834569"/>
                  <a:gd name="connsiteY5" fmla="*/ 0 h 2639350"/>
                  <a:gd name="connsiteX0" fmla="*/ 1128551 w 1834554"/>
                  <a:gd name="connsiteY0" fmla="*/ 0 h 2639350"/>
                  <a:gd name="connsiteX1" fmla="*/ 992 w 1834554"/>
                  <a:gd name="connsiteY1" fmla="*/ 1058200 h 2639350"/>
                  <a:gd name="connsiteX2" fmla="*/ 1834554 w 1834554"/>
                  <a:gd name="connsiteY2" fmla="*/ 2639350 h 2639350"/>
                  <a:gd name="connsiteX3" fmla="*/ 1123354 w 1834554"/>
                  <a:gd name="connsiteY3" fmla="*/ 1530216 h 2639350"/>
                  <a:gd name="connsiteX4" fmla="*/ 1148225 w 1834554"/>
                  <a:gd name="connsiteY4" fmla="*/ 875108 h 2639350"/>
                  <a:gd name="connsiteX5" fmla="*/ 1128551 w 1834554"/>
                  <a:gd name="connsiteY5" fmla="*/ 0 h 2639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4554" h="2639350">
                    <a:moveTo>
                      <a:pt x="1128551" y="0"/>
                    </a:moveTo>
                    <a:cubicBezTo>
                      <a:pt x="318180" y="54851"/>
                      <a:pt x="-20880" y="512805"/>
                      <a:pt x="992" y="1058200"/>
                    </a:cubicBezTo>
                    <a:cubicBezTo>
                      <a:pt x="-2183" y="1185200"/>
                      <a:pt x="342304" y="2417099"/>
                      <a:pt x="1834554" y="2639350"/>
                    </a:cubicBezTo>
                    <a:cubicBezTo>
                      <a:pt x="1059324" y="2307739"/>
                      <a:pt x="1084196" y="1718952"/>
                      <a:pt x="1123354" y="1530216"/>
                    </a:cubicBezTo>
                    <a:cubicBezTo>
                      <a:pt x="1131644" y="1311847"/>
                      <a:pt x="1206611" y="1183964"/>
                      <a:pt x="1148225" y="875108"/>
                    </a:cubicBezTo>
                    <a:cubicBezTo>
                      <a:pt x="993179" y="446306"/>
                      <a:pt x="85945" y="131282"/>
                      <a:pt x="1128551" y="0"/>
                    </a:cubicBezTo>
                    <a:close/>
                  </a:path>
                </a:pathLst>
              </a:custGeom>
              <a:solidFill>
                <a:srgbClr val="86BC25"/>
              </a:solidFill>
              <a:ln w="12700" cap="flat" cmpd="sng" algn="ctr">
                <a:solidFill>
                  <a:srgbClr val="FFFFFF"/>
                </a:solidFill>
                <a:prstDash val="solid"/>
              </a:ln>
              <a:effectLst/>
            </p:spPr>
            <p:txBody>
              <a:bodyPr lIns="36000" tIns="36000" rIns="36000" bIns="36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313131"/>
                  </a:solidFill>
                  <a:effectLst/>
                  <a:uLnTx/>
                  <a:uFillTx/>
                </a:endParaRPr>
              </a:p>
            </p:txBody>
          </p:sp>
          <p:sp>
            <p:nvSpPr>
              <p:cNvPr id="28" name="Rectangle 27">
                <a:extLst>
                  <a:ext uri="{FF2B5EF4-FFF2-40B4-BE49-F238E27FC236}">
                    <a16:creationId xmlns:a16="http://schemas.microsoft.com/office/drawing/2014/main" id="{5C8B4815-2A1B-4C56-AB1B-12E9C2279FFD}"/>
                  </a:ext>
                </a:extLst>
              </p:cNvPr>
              <p:cNvSpPr/>
              <p:nvPr/>
            </p:nvSpPr>
            <p:spPr>
              <a:xfrm>
                <a:off x="4427352" y="5566554"/>
                <a:ext cx="1509245" cy="681920"/>
              </a:xfrm>
              <a:prstGeom prst="rect">
                <a:avLst/>
              </a:prstGeom>
            </p:spPr>
            <p:txBody>
              <a:bodyPr wrap="square" lIns="0" tIns="0" rIns="0" bIns="0">
                <a:spAutoFit/>
              </a:bodyPr>
              <a:lstStyle/>
              <a:p>
                <a:pPr lvl="0">
                  <a:spcAft>
                    <a:spcPts val="600"/>
                  </a:spcAft>
                  <a:defRPr/>
                </a:pPr>
                <a:r>
                  <a:rPr lang="en-US" sz="900" b="1" dirty="0">
                    <a:solidFill>
                      <a:schemeClr val="accent1"/>
                    </a:solidFill>
                  </a:rPr>
                  <a:t>EVENT BASED </a:t>
                </a:r>
                <a:br>
                  <a:rPr kumimoji="0" lang="en-US" sz="800" b="1" i="0" u="none" strike="noStrike" kern="0" cap="none" spc="0" normalizeH="0" baseline="0" noProof="0" dirty="0">
                    <a:ln>
                      <a:noFill/>
                    </a:ln>
                    <a:solidFill>
                      <a:schemeClr val="bg1"/>
                    </a:solidFill>
                    <a:effectLst/>
                    <a:uLnTx/>
                    <a:uFillTx/>
                  </a:rPr>
                </a:br>
                <a:r>
                  <a:rPr kumimoji="0" lang="en-US" sz="800" b="0" i="0" u="none" strike="noStrike" kern="0" cap="none" spc="0" normalizeH="0" baseline="0" noProof="0" dirty="0">
                    <a:ln>
                      <a:noFill/>
                    </a:ln>
                    <a:solidFill>
                      <a:schemeClr val="bg1"/>
                    </a:solidFill>
                    <a:effectLst/>
                    <a:uLnTx/>
                    <a:uFillTx/>
                  </a:rPr>
                  <a:t>Considers customer </a:t>
                </a:r>
                <a:r>
                  <a:rPr lang="en-US" sz="800" kern="0" dirty="0">
                    <a:solidFill>
                      <a:schemeClr val="bg1"/>
                    </a:solidFill>
                  </a:rPr>
                  <a:t>or jurisdiction specific risk </a:t>
                </a:r>
                <a:r>
                  <a:rPr kumimoji="0" lang="en-US" sz="800" b="0" i="0" u="none" strike="noStrike" kern="0" cap="none" spc="0" normalizeH="0" baseline="0" noProof="0" dirty="0">
                    <a:ln>
                      <a:noFill/>
                    </a:ln>
                    <a:solidFill>
                      <a:schemeClr val="bg1"/>
                    </a:solidFill>
                    <a:effectLst/>
                    <a:uLnTx/>
                    <a:uFillTx/>
                  </a:rPr>
                  <a:t>attributes</a:t>
                </a:r>
              </a:p>
            </p:txBody>
          </p:sp>
        </p:grpSp>
      </p:grpSp>
      <p:sp>
        <p:nvSpPr>
          <p:cNvPr id="40" name="Rectangle 39">
            <a:extLst>
              <a:ext uri="{FF2B5EF4-FFF2-40B4-BE49-F238E27FC236}">
                <a16:creationId xmlns:a16="http://schemas.microsoft.com/office/drawing/2014/main" id="{69659673-B9BD-4B8E-8300-4346C2366BB4}"/>
              </a:ext>
            </a:extLst>
          </p:cNvPr>
          <p:cNvSpPr/>
          <p:nvPr/>
        </p:nvSpPr>
        <p:spPr>
          <a:xfrm>
            <a:off x="6715272" y="1430770"/>
            <a:ext cx="1915914" cy="684803"/>
          </a:xfrm>
          <a:prstGeom prst="rect">
            <a:avLst/>
          </a:prstGeom>
        </p:spPr>
        <p:txBody>
          <a:bodyPr wrap="square">
            <a:spAutoFit/>
          </a:bodyPr>
          <a:lstStyle/>
          <a:p>
            <a:pPr marL="171450" indent="-171450">
              <a:spcBef>
                <a:spcPts val="300"/>
              </a:spcBef>
              <a:spcAft>
                <a:spcPts val="0"/>
              </a:spcAft>
              <a:buFont typeface="Wingdings" panose="05000000000000000000" pitchFamily="2" charset="2"/>
              <a:buChar char="§"/>
            </a:pPr>
            <a:r>
              <a:rPr lang="en-US" sz="900" kern="0" dirty="0">
                <a:solidFill>
                  <a:srgbClr val="00B050"/>
                </a:solidFill>
                <a:cs typeface="Arial" panose="020B0604020202020204" pitchFamily="34" charset="0"/>
              </a:rPr>
              <a:t>Products/Services used, especially the use of High Risk Products/Services</a:t>
            </a:r>
          </a:p>
          <a:p>
            <a:pPr>
              <a:spcBef>
                <a:spcPts val="300"/>
              </a:spcBef>
              <a:spcAft>
                <a:spcPts val="0"/>
              </a:spcAft>
            </a:pPr>
            <a:endParaRPr lang="en-US" sz="900" kern="0" dirty="0">
              <a:solidFill>
                <a:srgbClr val="00B050"/>
              </a:solidFill>
              <a:cs typeface="Arial" panose="020B0604020202020204" pitchFamily="34" charset="0"/>
            </a:endParaRPr>
          </a:p>
        </p:txBody>
      </p:sp>
      <p:sp>
        <p:nvSpPr>
          <p:cNvPr id="41" name="Rectangle 40">
            <a:extLst>
              <a:ext uri="{FF2B5EF4-FFF2-40B4-BE49-F238E27FC236}">
                <a16:creationId xmlns:a16="http://schemas.microsoft.com/office/drawing/2014/main" id="{C749DFF7-539C-4ECC-8E04-D89F93CB7F51}"/>
              </a:ext>
            </a:extLst>
          </p:cNvPr>
          <p:cNvSpPr/>
          <p:nvPr/>
        </p:nvSpPr>
        <p:spPr>
          <a:xfrm>
            <a:off x="6715272" y="2601429"/>
            <a:ext cx="1920240" cy="1000274"/>
          </a:xfrm>
          <a:prstGeom prst="rect">
            <a:avLst/>
          </a:prstGeom>
        </p:spPr>
        <p:txBody>
          <a:bodyPr wrap="square">
            <a:spAutoFit/>
          </a:bodyPr>
          <a:lstStyle/>
          <a:p>
            <a:pPr marL="171450" indent="-171450">
              <a:spcBef>
                <a:spcPts val="300"/>
              </a:spcBef>
              <a:spcAft>
                <a:spcPts val="0"/>
              </a:spcAft>
              <a:buFont typeface="Wingdings" panose="05000000000000000000" pitchFamily="2" charset="2"/>
              <a:buChar char="§"/>
            </a:pPr>
            <a:r>
              <a:rPr lang="en-US" sz="900" kern="0" dirty="0">
                <a:solidFill>
                  <a:srgbClr val="00B050"/>
                </a:solidFill>
                <a:cs typeface="Arial" panose="020B0604020202020204" pitchFamily="34" charset="0"/>
              </a:rPr>
              <a:t>Country of residence/ primary business operations</a:t>
            </a:r>
          </a:p>
          <a:p>
            <a:pPr marL="171450" indent="-171450">
              <a:spcBef>
                <a:spcPts val="300"/>
              </a:spcBef>
              <a:spcAft>
                <a:spcPts val="0"/>
              </a:spcAft>
              <a:buFont typeface="Wingdings" panose="05000000000000000000" pitchFamily="2" charset="2"/>
              <a:buChar char="§"/>
            </a:pPr>
            <a:r>
              <a:rPr lang="en-US" sz="900" kern="0" dirty="0">
                <a:solidFill>
                  <a:srgbClr val="00B050"/>
                </a:solidFill>
                <a:cs typeface="Arial" panose="020B0604020202020204" pitchFamily="34" charset="0"/>
              </a:rPr>
              <a:t>Country of Registration/ Citizenship</a:t>
            </a:r>
          </a:p>
          <a:p>
            <a:pPr marL="171450" indent="-171450">
              <a:spcBef>
                <a:spcPts val="300"/>
              </a:spcBef>
              <a:spcAft>
                <a:spcPts val="0"/>
              </a:spcAft>
              <a:buFont typeface="Wingdings" panose="05000000000000000000" pitchFamily="2" charset="2"/>
              <a:buChar char="§"/>
            </a:pPr>
            <a:r>
              <a:rPr lang="en-US" sz="900" kern="0" dirty="0">
                <a:solidFill>
                  <a:srgbClr val="00B050"/>
                </a:solidFill>
                <a:cs typeface="Arial" panose="020B0604020202020204" pitchFamily="34" charset="0"/>
              </a:rPr>
              <a:t>Origin/destination of transactions</a:t>
            </a:r>
          </a:p>
        </p:txBody>
      </p:sp>
      <p:sp>
        <p:nvSpPr>
          <p:cNvPr id="42" name="Rectangle 41">
            <a:extLst>
              <a:ext uri="{FF2B5EF4-FFF2-40B4-BE49-F238E27FC236}">
                <a16:creationId xmlns:a16="http://schemas.microsoft.com/office/drawing/2014/main" id="{67888312-622C-41A5-9EF6-2E05CA5BCD1C}"/>
              </a:ext>
            </a:extLst>
          </p:cNvPr>
          <p:cNvSpPr/>
          <p:nvPr/>
        </p:nvSpPr>
        <p:spPr>
          <a:xfrm>
            <a:off x="6724888" y="4077080"/>
            <a:ext cx="2567953" cy="584775"/>
          </a:xfrm>
          <a:prstGeom prst="rect">
            <a:avLst/>
          </a:prstGeom>
        </p:spPr>
        <p:txBody>
          <a:bodyPr wrap="square">
            <a:spAutoFit/>
          </a:bodyPr>
          <a:lstStyle/>
          <a:p>
            <a:pPr marL="171450" indent="-171450">
              <a:spcBef>
                <a:spcPts val="300"/>
              </a:spcBef>
              <a:spcAft>
                <a:spcPts val="0"/>
              </a:spcAft>
              <a:buFont typeface="Wingdings" panose="05000000000000000000" pitchFamily="2" charset="2"/>
              <a:buChar char="§"/>
            </a:pPr>
            <a:r>
              <a:rPr lang="en-US" sz="900" kern="0" dirty="0">
                <a:solidFill>
                  <a:srgbClr val="00B050"/>
                </a:solidFill>
                <a:cs typeface="Arial" panose="020B0604020202020204" pitchFamily="34" charset="0"/>
              </a:rPr>
              <a:t>Prior SAR Filings</a:t>
            </a:r>
          </a:p>
          <a:p>
            <a:pPr marL="171450" indent="-171450">
              <a:spcBef>
                <a:spcPts val="300"/>
              </a:spcBef>
              <a:spcAft>
                <a:spcPts val="0"/>
              </a:spcAft>
              <a:buFont typeface="Wingdings" panose="05000000000000000000" pitchFamily="2" charset="2"/>
              <a:buChar char="§"/>
            </a:pPr>
            <a:r>
              <a:rPr lang="en-US" sz="900" kern="0" dirty="0">
                <a:solidFill>
                  <a:srgbClr val="00B050"/>
                </a:solidFill>
                <a:cs typeface="Arial" panose="020B0604020202020204" pitchFamily="34" charset="0"/>
              </a:rPr>
              <a:t>Transaction Monitoring Alerts</a:t>
            </a:r>
          </a:p>
          <a:p>
            <a:pPr>
              <a:spcBef>
                <a:spcPts val="300"/>
              </a:spcBef>
              <a:spcAft>
                <a:spcPts val="0"/>
              </a:spcAft>
            </a:pPr>
            <a:endParaRPr lang="en-US" sz="900" kern="0" dirty="0">
              <a:cs typeface="Arial" panose="020B0604020202020204" pitchFamily="34" charset="0"/>
            </a:endParaRPr>
          </a:p>
        </p:txBody>
      </p:sp>
      <p:sp>
        <p:nvSpPr>
          <p:cNvPr id="43" name="Rectangle 42">
            <a:extLst>
              <a:ext uri="{FF2B5EF4-FFF2-40B4-BE49-F238E27FC236}">
                <a16:creationId xmlns:a16="http://schemas.microsoft.com/office/drawing/2014/main" id="{B1CEFBB4-EC8A-4F23-9C36-32EBB0EA9D27}"/>
              </a:ext>
            </a:extLst>
          </p:cNvPr>
          <p:cNvSpPr/>
          <p:nvPr/>
        </p:nvSpPr>
        <p:spPr>
          <a:xfrm>
            <a:off x="920023" y="3423300"/>
            <a:ext cx="2149915" cy="900246"/>
          </a:xfrm>
          <a:prstGeom prst="rect">
            <a:avLst/>
          </a:prstGeom>
        </p:spPr>
        <p:txBody>
          <a:bodyPr wrap="square">
            <a:spAutoFit/>
          </a:bodyPr>
          <a:lstStyle/>
          <a:p>
            <a:pPr marL="171450" indent="-171450">
              <a:spcBef>
                <a:spcPts val="300"/>
              </a:spcBef>
              <a:spcAft>
                <a:spcPts val="0"/>
              </a:spcAft>
              <a:buFont typeface="Wingdings" panose="05000000000000000000" pitchFamily="2" charset="2"/>
              <a:buChar char="§"/>
            </a:pPr>
            <a:r>
              <a:rPr lang="en-US" sz="900" kern="0" dirty="0">
                <a:solidFill>
                  <a:srgbClr val="00B050"/>
                </a:solidFill>
                <a:cs typeface="Arial" panose="020B0604020202020204" pitchFamily="34" charset="0"/>
              </a:rPr>
              <a:t>Foreign ATM withdrawals</a:t>
            </a:r>
          </a:p>
          <a:p>
            <a:pPr marL="171450" indent="-171450">
              <a:spcBef>
                <a:spcPts val="300"/>
              </a:spcBef>
              <a:spcAft>
                <a:spcPts val="0"/>
              </a:spcAft>
              <a:buFont typeface="Wingdings" panose="05000000000000000000" pitchFamily="2" charset="2"/>
              <a:buChar char="§"/>
            </a:pPr>
            <a:r>
              <a:rPr lang="en-US" sz="900" kern="0" dirty="0">
                <a:solidFill>
                  <a:srgbClr val="00B050"/>
                </a:solidFill>
                <a:cs typeface="Arial" panose="020B0604020202020204" pitchFamily="34" charset="0"/>
              </a:rPr>
              <a:t>Spend vs Income ratio</a:t>
            </a:r>
          </a:p>
          <a:p>
            <a:pPr marL="171450" indent="-171450">
              <a:spcBef>
                <a:spcPts val="300"/>
              </a:spcBef>
              <a:spcAft>
                <a:spcPts val="0"/>
              </a:spcAft>
              <a:buFont typeface="Wingdings" panose="05000000000000000000" pitchFamily="2" charset="2"/>
              <a:buChar char="§"/>
            </a:pPr>
            <a:r>
              <a:rPr lang="en-US" sz="900" kern="0" dirty="0">
                <a:solidFill>
                  <a:srgbClr val="00B050"/>
                </a:solidFill>
                <a:cs typeface="Arial" panose="020B0604020202020204" pitchFamily="34" charset="0"/>
              </a:rPr>
              <a:t>Cash or Cash Equivalent payments Value/Volume</a:t>
            </a:r>
          </a:p>
          <a:p>
            <a:pPr marL="171450" indent="-171450">
              <a:spcBef>
                <a:spcPts val="300"/>
              </a:spcBef>
              <a:spcAft>
                <a:spcPts val="0"/>
              </a:spcAft>
              <a:buFont typeface="Wingdings" panose="05000000000000000000" pitchFamily="2" charset="2"/>
              <a:buChar char="§"/>
            </a:pPr>
            <a:r>
              <a:rPr lang="en-US" sz="900" kern="0" dirty="0">
                <a:solidFill>
                  <a:srgbClr val="00B050"/>
                </a:solidFill>
                <a:cs typeface="Arial" panose="020B0604020202020204" pitchFamily="34" charset="0"/>
              </a:rPr>
              <a:t>Third party Wire Value/Volume</a:t>
            </a:r>
          </a:p>
        </p:txBody>
      </p:sp>
      <p:sp>
        <p:nvSpPr>
          <p:cNvPr id="44" name="Rectangle 43">
            <a:extLst>
              <a:ext uri="{FF2B5EF4-FFF2-40B4-BE49-F238E27FC236}">
                <a16:creationId xmlns:a16="http://schemas.microsoft.com/office/drawing/2014/main" id="{DD23ED63-3FD9-4667-A210-40F866B15D2A}"/>
              </a:ext>
            </a:extLst>
          </p:cNvPr>
          <p:cNvSpPr/>
          <p:nvPr/>
        </p:nvSpPr>
        <p:spPr>
          <a:xfrm>
            <a:off x="923412" y="1702342"/>
            <a:ext cx="1794923" cy="938719"/>
          </a:xfrm>
          <a:prstGeom prst="rect">
            <a:avLst/>
          </a:prstGeom>
        </p:spPr>
        <p:txBody>
          <a:bodyPr wrap="square">
            <a:spAutoFit/>
          </a:bodyPr>
          <a:lstStyle/>
          <a:p>
            <a:pPr marL="171450" indent="-171450">
              <a:spcBef>
                <a:spcPts val="300"/>
              </a:spcBef>
              <a:spcAft>
                <a:spcPts val="0"/>
              </a:spcAft>
              <a:buFont typeface="Wingdings" panose="05000000000000000000" pitchFamily="2" charset="2"/>
              <a:buChar char="§"/>
            </a:pPr>
            <a:r>
              <a:rPr lang="en-US" sz="900" kern="0" dirty="0">
                <a:solidFill>
                  <a:srgbClr val="00B050"/>
                </a:solidFill>
                <a:cs typeface="Arial" panose="020B0604020202020204" pitchFamily="34" charset="0"/>
              </a:rPr>
              <a:t>Customer Type/Structure</a:t>
            </a:r>
          </a:p>
          <a:p>
            <a:pPr marL="171450" indent="-171450">
              <a:spcBef>
                <a:spcPts val="300"/>
              </a:spcBef>
              <a:spcAft>
                <a:spcPts val="0"/>
              </a:spcAft>
              <a:buFont typeface="Wingdings" panose="05000000000000000000" pitchFamily="2" charset="2"/>
              <a:buChar char="§"/>
            </a:pPr>
            <a:r>
              <a:rPr lang="en-US" sz="900" kern="0" dirty="0">
                <a:solidFill>
                  <a:srgbClr val="00B050"/>
                </a:solidFill>
                <a:cs typeface="Arial" panose="020B0604020202020204" pitchFamily="34" charset="0"/>
              </a:rPr>
              <a:t>PEP Status</a:t>
            </a:r>
          </a:p>
          <a:p>
            <a:pPr marL="171450" indent="-171450">
              <a:spcBef>
                <a:spcPts val="300"/>
              </a:spcBef>
              <a:spcAft>
                <a:spcPts val="0"/>
              </a:spcAft>
              <a:buFont typeface="Wingdings" panose="05000000000000000000" pitchFamily="2" charset="2"/>
              <a:buChar char="§"/>
            </a:pPr>
            <a:r>
              <a:rPr lang="en-US" sz="900" kern="0" dirty="0">
                <a:solidFill>
                  <a:srgbClr val="00B050"/>
                </a:solidFill>
                <a:cs typeface="Arial" panose="020B0604020202020204" pitchFamily="34" charset="0"/>
              </a:rPr>
              <a:t>Industry/Occupation</a:t>
            </a:r>
          </a:p>
          <a:p>
            <a:pPr marL="171450" indent="-171450">
              <a:spcBef>
                <a:spcPts val="300"/>
              </a:spcBef>
              <a:spcAft>
                <a:spcPts val="0"/>
              </a:spcAft>
              <a:buFont typeface="Wingdings" panose="05000000000000000000" pitchFamily="2" charset="2"/>
              <a:buChar char="§"/>
            </a:pPr>
            <a:r>
              <a:rPr lang="en-US" sz="900" kern="0" dirty="0">
                <a:solidFill>
                  <a:srgbClr val="00B050"/>
                </a:solidFill>
                <a:cs typeface="Arial" panose="020B0604020202020204" pitchFamily="34" charset="0"/>
              </a:rPr>
              <a:t>Length of Relationship</a:t>
            </a:r>
          </a:p>
          <a:p>
            <a:pPr marL="171450" indent="-171450">
              <a:spcBef>
                <a:spcPts val="300"/>
              </a:spcBef>
              <a:spcAft>
                <a:spcPts val="0"/>
              </a:spcAft>
              <a:buFont typeface="Wingdings" panose="05000000000000000000" pitchFamily="2" charset="2"/>
              <a:buChar char="§"/>
            </a:pPr>
            <a:r>
              <a:rPr lang="en-US" sz="900" kern="0" dirty="0">
                <a:solidFill>
                  <a:srgbClr val="00B050"/>
                </a:solidFill>
                <a:cs typeface="Arial" panose="020B0604020202020204" pitchFamily="34" charset="0"/>
              </a:rPr>
              <a:t>SIP/SIE Status</a:t>
            </a:r>
          </a:p>
        </p:txBody>
      </p:sp>
      <p:sp>
        <p:nvSpPr>
          <p:cNvPr id="45" name="Line 46">
            <a:extLst>
              <a:ext uri="{FF2B5EF4-FFF2-40B4-BE49-F238E27FC236}">
                <a16:creationId xmlns:a16="http://schemas.microsoft.com/office/drawing/2014/main" id="{F2A7998F-BBEB-46D7-9C73-89D0E69591C7}"/>
              </a:ext>
            </a:extLst>
          </p:cNvPr>
          <p:cNvSpPr>
            <a:spLocks noChangeShapeType="1"/>
          </p:cNvSpPr>
          <p:nvPr/>
        </p:nvSpPr>
        <p:spPr bwMode="gray">
          <a:xfrm flipV="1">
            <a:off x="920023" y="1635770"/>
            <a:ext cx="2606073" cy="0"/>
          </a:xfrm>
          <a:prstGeom prst="line">
            <a:avLst/>
          </a:prstGeom>
          <a:noFill/>
          <a:ln w="19050">
            <a:solidFill>
              <a:srgbClr val="002060"/>
            </a:solidFill>
            <a:round/>
            <a:headEnd type="oval" w="med" len="me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FF3300">
                      <a:gamma/>
                      <a:shade val="60000"/>
                      <a:invGamma/>
                    </a:srgbClr>
                  </a:outerShdw>
                </a:effectLst>
              </a14:hiddenEffects>
            </a:ext>
          </a:extLst>
        </p:spPr>
        <p:txBody>
          <a:bodyPr anchor="ctr"/>
          <a:lstStyle/>
          <a:p>
            <a:pPr algn="ctr" defTabSz="914186" eaLnBrk="0" hangingPunct="0">
              <a:lnSpc>
                <a:spcPct val="110000"/>
              </a:lnSpc>
            </a:pPr>
            <a:endParaRPr lang="en-US" sz="1000" dirty="0">
              <a:solidFill>
                <a:srgbClr val="000000"/>
              </a:solidFill>
              <a:cs typeface="Arial"/>
            </a:endParaRPr>
          </a:p>
        </p:txBody>
      </p:sp>
      <p:sp>
        <p:nvSpPr>
          <p:cNvPr id="46" name="Line 46">
            <a:extLst>
              <a:ext uri="{FF2B5EF4-FFF2-40B4-BE49-F238E27FC236}">
                <a16:creationId xmlns:a16="http://schemas.microsoft.com/office/drawing/2014/main" id="{5EF630F1-64F8-45EB-87F2-39882445207B}"/>
              </a:ext>
            </a:extLst>
          </p:cNvPr>
          <p:cNvSpPr>
            <a:spLocks noChangeShapeType="1"/>
          </p:cNvSpPr>
          <p:nvPr/>
        </p:nvSpPr>
        <p:spPr bwMode="gray">
          <a:xfrm flipV="1">
            <a:off x="920023" y="3348571"/>
            <a:ext cx="2063361" cy="16625"/>
          </a:xfrm>
          <a:prstGeom prst="line">
            <a:avLst/>
          </a:prstGeom>
          <a:noFill/>
          <a:ln w="19050">
            <a:solidFill>
              <a:srgbClr val="002060"/>
            </a:solidFill>
            <a:round/>
            <a:headEnd type="oval" w="med" len="me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FF3300">
                      <a:gamma/>
                      <a:shade val="60000"/>
                      <a:invGamma/>
                    </a:srgbClr>
                  </a:outerShdw>
                </a:effectLst>
              </a14:hiddenEffects>
            </a:ext>
          </a:extLst>
        </p:spPr>
        <p:txBody>
          <a:bodyPr anchor="ctr"/>
          <a:lstStyle/>
          <a:p>
            <a:pPr algn="ctr" defTabSz="914186" eaLnBrk="0" hangingPunct="0">
              <a:lnSpc>
                <a:spcPct val="110000"/>
              </a:lnSpc>
            </a:pPr>
            <a:endParaRPr lang="en-US" sz="1000" dirty="0">
              <a:solidFill>
                <a:srgbClr val="000000"/>
              </a:solidFill>
              <a:cs typeface="Arial"/>
            </a:endParaRPr>
          </a:p>
        </p:txBody>
      </p:sp>
      <p:sp>
        <p:nvSpPr>
          <p:cNvPr id="47" name="Line 46">
            <a:extLst>
              <a:ext uri="{FF2B5EF4-FFF2-40B4-BE49-F238E27FC236}">
                <a16:creationId xmlns:a16="http://schemas.microsoft.com/office/drawing/2014/main" id="{D658C031-1431-4AE6-B7B8-FB6FA9F39539}"/>
              </a:ext>
            </a:extLst>
          </p:cNvPr>
          <p:cNvSpPr>
            <a:spLocks noChangeShapeType="1"/>
          </p:cNvSpPr>
          <p:nvPr/>
        </p:nvSpPr>
        <p:spPr bwMode="gray">
          <a:xfrm>
            <a:off x="5524994" y="1368144"/>
            <a:ext cx="3219472" cy="3644"/>
          </a:xfrm>
          <a:prstGeom prst="line">
            <a:avLst/>
          </a:prstGeom>
          <a:noFill/>
          <a:ln w="19050">
            <a:solidFill>
              <a:srgbClr val="002060"/>
            </a:solidFill>
            <a:round/>
            <a:headEnd type="oval" w="med" len="me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FF3300">
                      <a:gamma/>
                      <a:shade val="60000"/>
                      <a:invGamma/>
                    </a:srgbClr>
                  </a:outerShdw>
                </a:effectLst>
              </a14:hiddenEffects>
            </a:ext>
          </a:extLst>
        </p:spPr>
        <p:txBody>
          <a:bodyPr anchor="ctr"/>
          <a:lstStyle/>
          <a:p>
            <a:pPr algn="ctr" defTabSz="914186" eaLnBrk="0" hangingPunct="0">
              <a:lnSpc>
                <a:spcPct val="110000"/>
              </a:lnSpc>
            </a:pPr>
            <a:endParaRPr lang="en-US" sz="1000" dirty="0">
              <a:solidFill>
                <a:srgbClr val="000000"/>
              </a:solidFill>
              <a:cs typeface="Arial"/>
            </a:endParaRPr>
          </a:p>
        </p:txBody>
      </p:sp>
      <p:sp>
        <p:nvSpPr>
          <p:cNvPr id="48" name="Line 46">
            <a:extLst>
              <a:ext uri="{FF2B5EF4-FFF2-40B4-BE49-F238E27FC236}">
                <a16:creationId xmlns:a16="http://schemas.microsoft.com/office/drawing/2014/main" id="{2F630774-D883-487E-9A33-8AEE5A177375}"/>
              </a:ext>
            </a:extLst>
          </p:cNvPr>
          <p:cNvSpPr>
            <a:spLocks noChangeShapeType="1"/>
          </p:cNvSpPr>
          <p:nvPr/>
        </p:nvSpPr>
        <p:spPr bwMode="gray">
          <a:xfrm flipV="1">
            <a:off x="6365780" y="2535475"/>
            <a:ext cx="2373491" cy="3644"/>
          </a:xfrm>
          <a:prstGeom prst="line">
            <a:avLst/>
          </a:prstGeom>
          <a:noFill/>
          <a:ln w="19050">
            <a:solidFill>
              <a:srgbClr val="002060"/>
            </a:solidFill>
            <a:round/>
            <a:headEnd type="oval" w="med" len="me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FF3300">
                      <a:gamma/>
                      <a:shade val="60000"/>
                      <a:invGamma/>
                    </a:srgbClr>
                  </a:outerShdw>
                </a:effectLst>
              </a14:hiddenEffects>
            </a:ext>
          </a:extLst>
        </p:spPr>
        <p:txBody>
          <a:bodyPr anchor="ctr"/>
          <a:lstStyle/>
          <a:p>
            <a:pPr algn="ctr" defTabSz="914186" eaLnBrk="0" hangingPunct="0">
              <a:lnSpc>
                <a:spcPct val="110000"/>
              </a:lnSpc>
            </a:pPr>
            <a:endParaRPr lang="en-US" sz="1000" dirty="0">
              <a:solidFill>
                <a:srgbClr val="000000"/>
              </a:solidFill>
              <a:cs typeface="Arial"/>
            </a:endParaRPr>
          </a:p>
        </p:txBody>
      </p:sp>
      <p:sp>
        <p:nvSpPr>
          <p:cNvPr id="49" name="Line 46">
            <a:extLst>
              <a:ext uri="{FF2B5EF4-FFF2-40B4-BE49-F238E27FC236}">
                <a16:creationId xmlns:a16="http://schemas.microsoft.com/office/drawing/2014/main" id="{5980BCAF-1A11-4376-867E-03D3CAE3D45E}"/>
              </a:ext>
            </a:extLst>
          </p:cNvPr>
          <p:cNvSpPr>
            <a:spLocks noChangeShapeType="1"/>
          </p:cNvSpPr>
          <p:nvPr/>
        </p:nvSpPr>
        <p:spPr bwMode="gray">
          <a:xfrm>
            <a:off x="6037217" y="3868662"/>
            <a:ext cx="2702054" cy="15508"/>
          </a:xfrm>
          <a:prstGeom prst="line">
            <a:avLst/>
          </a:prstGeom>
          <a:noFill/>
          <a:ln w="19050">
            <a:solidFill>
              <a:srgbClr val="002060"/>
            </a:solidFill>
            <a:round/>
            <a:headEnd type="oval" w="med" len="med"/>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FF3300">
                      <a:gamma/>
                      <a:shade val="60000"/>
                      <a:invGamma/>
                    </a:srgbClr>
                  </a:outerShdw>
                </a:effectLst>
              </a14:hiddenEffects>
            </a:ext>
          </a:extLst>
        </p:spPr>
        <p:txBody>
          <a:bodyPr anchor="ctr"/>
          <a:lstStyle/>
          <a:p>
            <a:pPr algn="ctr" defTabSz="914186" eaLnBrk="0" hangingPunct="0">
              <a:lnSpc>
                <a:spcPct val="110000"/>
              </a:lnSpc>
            </a:pPr>
            <a:endParaRPr lang="en-US" sz="1000" dirty="0">
              <a:solidFill>
                <a:srgbClr val="000000"/>
              </a:solidFill>
              <a:cs typeface="Arial"/>
            </a:endParaRPr>
          </a:p>
        </p:txBody>
      </p:sp>
      <p:pic>
        <p:nvPicPr>
          <p:cNvPr id="50" name="Picture 2" descr="\\Cagmasrv1\sso$\Gestion_Deloitte\Global_Brand\- Templates\Icons\Iconography Deloitte\Icon_Chip_and_PIN_card_LBlue.png">
            <a:extLst>
              <a:ext uri="{FF2B5EF4-FFF2-40B4-BE49-F238E27FC236}">
                <a16:creationId xmlns:a16="http://schemas.microsoft.com/office/drawing/2014/main" id="{6C0A83F5-9067-4234-8134-3575AE049636}"/>
              </a:ext>
            </a:extLst>
          </p:cNvPr>
          <p:cNvPicPr>
            <a:picLocks noChangeAspect="1" noChangeArrowheads="1"/>
          </p:cNvPicPr>
          <p:nvPr/>
        </p:nvPicPr>
        <p:blipFill>
          <a:blip r:embed="rId6" cstate="print">
            <a:biLevel thresh="50000"/>
            <a:extLst>
              <a:ext uri="{28A0092B-C50C-407E-A947-70E740481C1C}">
                <a14:useLocalDpi xmlns:a14="http://schemas.microsoft.com/office/drawing/2010/main" val="0"/>
              </a:ext>
            </a:extLst>
          </a:blip>
          <a:srcRect/>
          <a:stretch>
            <a:fillRect/>
          </a:stretch>
        </p:blipFill>
        <p:spPr bwMode="auto">
          <a:xfrm>
            <a:off x="5027384" y="1339848"/>
            <a:ext cx="338123" cy="217457"/>
          </a:xfrm>
          <a:prstGeom prst="rect">
            <a:avLst/>
          </a:prstGeom>
          <a:solidFill>
            <a:srgbClr val="86BC25"/>
          </a:solidFill>
          <a:ln w="12700" cap="flat" cmpd="sng" algn="ctr">
            <a:noFill/>
            <a:prstDash val="solid"/>
          </a:ln>
          <a:effectLst/>
        </p:spPr>
      </p:pic>
      <p:sp>
        <p:nvSpPr>
          <p:cNvPr id="51" name="Freeform 518">
            <a:extLst>
              <a:ext uri="{FF2B5EF4-FFF2-40B4-BE49-F238E27FC236}">
                <a16:creationId xmlns:a16="http://schemas.microsoft.com/office/drawing/2014/main" id="{4D80BECA-F0C3-438D-9A20-A19201637DB8}"/>
              </a:ext>
            </a:extLst>
          </p:cNvPr>
          <p:cNvSpPr>
            <a:spLocks noChangeAspect="1" noEditPoints="1"/>
          </p:cNvSpPr>
          <p:nvPr/>
        </p:nvSpPr>
        <p:spPr bwMode="auto">
          <a:xfrm flipH="1">
            <a:off x="4088442" y="3931275"/>
            <a:ext cx="294862" cy="291609"/>
          </a:xfrm>
          <a:custGeom>
            <a:avLst/>
            <a:gdLst>
              <a:gd name="T0" fmla="*/ 266 w 512"/>
              <a:gd name="T1" fmla="*/ 384 h 512"/>
              <a:gd name="T2" fmla="*/ 256 w 512"/>
              <a:gd name="T3" fmla="*/ 394 h 512"/>
              <a:gd name="T4" fmla="*/ 245 w 512"/>
              <a:gd name="T5" fmla="*/ 384 h 512"/>
              <a:gd name="T6" fmla="*/ 256 w 512"/>
              <a:gd name="T7" fmla="*/ 373 h 512"/>
              <a:gd name="T8" fmla="*/ 266 w 512"/>
              <a:gd name="T9" fmla="*/ 384 h 512"/>
              <a:gd name="T10" fmla="*/ 244 w 512"/>
              <a:gd name="T11" fmla="*/ 309 h 512"/>
              <a:gd name="T12" fmla="*/ 267 w 512"/>
              <a:gd name="T13" fmla="*/ 309 h 512"/>
              <a:gd name="T14" fmla="*/ 276 w 512"/>
              <a:gd name="T15" fmla="*/ 117 h 512"/>
              <a:gd name="T16" fmla="*/ 235 w 512"/>
              <a:gd name="T17" fmla="*/ 117 h 512"/>
              <a:gd name="T18" fmla="*/ 244 w 512"/>
              <a:gd name="T19" fmla="*/ 309 h 512"/>
              <a:gd name="T20" fmla="*/ 512 w 512"/>
              <a:gd name="T21" fmla="*/ 256 h 512"/>
              <a:gd name="T22" fmla="*/ 256 w 512"/>
              <a:gd name="T23" fmla="*/ 512 h 512"/>
              <a:gd name="T24" fmla="*/ 0 w 512"/>
              <a:gd name="T25" fmla="*/ 256 h 512"/>
              <a:gd name="T26" fmla="*/ 256 w 512"/>
              <a:gd name="T27" fmla="*/ 0 h 512"/>
              <a:gd name="T28" fmla="*/ 512 w 512"/>
              <a:gd name="T29" fmla="*/ 256 h 512"/>
              <a:gd name="T30" fmla="*/ 288 w 512"/>
              <a:gd name="T31" fmla="*/ 384 h 512"/>
              <a:gd name="T32" fmla="*/ 256 w 512"/>
              <a:gd name="T33" fmla="*/ 352 h 512"/>
              <a:gd name="T34" fmla="*/ 224 w 512"/>
              <a:gd name="T35" fmla="*/ 384 h 512"/>
              <a:gd name="T36" fmla="*/ 256 w 512"/>
              <a:gd name="T37" fmla="*/ 416 h 512"/>
              <a:gd name="T38" fmla="*/ 288 w 512"/>
              <a:gd name="T39" fmla="*/ 384 h 512"/>
              <a:gd name="T40" fmla="*/ 298 w 512"/>
              <a:gd name="T41" fmla="*/ 107 h 512"/>
              <a:gd name="T42" fmla="*/ 288 w 512"/>
              <a:gd name="T43" fmla="*/ 96 h 512"/>
              <a:gd name="T44" fmla="*/ 288 w 512"/>
              <a:gd name="T45" fmla="*/ 96 h 512"/>
              <a:gd name="T46" fmla="*/ 224 w 512"/>
              <a:gd name="T47" fmla="*/ 96 h 512"/>
              <a:gd name="T48" fmla="*/ 223 w 512"/>
              <a:gd name="T49" fmla="*/ 96 h 512"/>
              <a:gd name="T50" fmla="*/ 213 w 512"/>
              <a:gd name="T51" fmla="*/ 107 h 512"/>
              <a:gd name="T52" fmla="*/ 224 w 512"/>
              <a:gd name="T53" fmla="*/ 320 h 512"/>
              <a:gd name="T54" fmla="*/ 234 w 512"/>
              <a:gd name="T55" fmla="*/ 330 h 512"/>
              <a:gd name="T56" fmla="*/ 234 w 512"/>
              <a:gd name="T57" fmla="*/ 330 h 512"/>
              <a:gd name="T58" fmla="*/ 235 w 512"/>
              <a:gd name="T59" fmla="*/ 330 h 512"/>
              <a:gd name="T60" fmla="*/ 276 w 512"/>
              <a:gd name="T61" fmla="*/ 330 h 512"/>
              <a:gd name="T62" fmla="*/ 277 w 512"/>
              <a:gd name="T63" fmla="*/ 330 h 512"/>
              <a:gd name="T64" fmla="*/ 277 w 512"/>
              <a:gd name="T65" fmla="*/ 330 h 512"/>
              <a:gd name="T66" fmla="*/ 288 w 512"/>
              <a:gd name="T67" fmla="*/ 320 h 512"/>
              <a:gd name="T68" fmla="*/ 298 w 512"/>
              <a:gd name="T69" fmla="*/ 10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2" h="512">
                <a:moveTo>
                  <a:pt x="266" y="384"/>
                </a:moveTo>
                <a:cubicBezTo>
                  <a:pt x="266" y="390"/>
                  <a:pt x="262" y="394"/>
                  <a:pt x="256" y="394"/>
                </a:cubicBezTo>
                <a:cubicBezTo>
                  <a:pt x="250" y="394"/>
                  <a:pt x="245" y="390"/>
                  <a:pt x="245" y="384"/>
                </a:cubicBezTo>
                <a:cubicBezTo>
                  <a:pt x="245" y="378"/>
                  <a:pt x="250" y="373"/>
                  <a:pt x="256" y="373"/>
                </a:cubicBezTo>
                <a:cubicBezTo>
                  <a:pt x="262" y="373"/>
                  <a:pt x="266" y="378"/>
                  <a:pt x="266" y="384"/>
                </a:cubicBezTo>
                <a:close/>
                <a:moveTo>
                  <a:pt x="244" y="309"/>
                </a:moveTo>
                <a:cubicBezTo>
                  <a:pt x="267" y="309"/>
                  <a:pt x="267" y="309"/>
                  <a:pt x="267" y="309"/>
                </a:cubicBezTo>
                <a:cubicBezTo>
                  <a:pt x="276" y="117"/>
                  <a:pt x="276" y="117"/>
                  <a:pt x="276" y="117"/>
                </a:cubicBezTo>
                <a:cubicBezTo>
                  <a:pt x="235" y="117"/>
                  <a:pt x="235" y="117"/>
                  <a:pt x="235" y="117"/>
                </a:cubicBezTo>
                <a:lnTo>
                  <a:pt x="244" y="309"/>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88" y="384"/>
                </a:moveTo>
                <a:cubicBezTo>
                  <a:pt x="288" y="366"/>
                  <a:pt x="273" y="352"/>
                  <a:pt x="256" y="352"/>
                </a:cubicBezTo>
                <a:cubicBezTo>
                  <a:pt x="238" y="352"/>
                  <a:pt x="224" y="366"/>
                  <a:pt x="224" y="384"/>
                </a:cubicBezTo>
                <a:cubicBezTo>
                  <a:pt x="224" y="401"/>
                  <a:pt x="238" y="416"/>
                  <a:pt x="256" y="416"/>
                </a:cubicBezTo>
                <a:cubicBezTo>
                  <a:pt x="273" y="416"/>
                  <a:pt x="288" y="401"/>
                  <a:pt x="288" y="384"/>
                </a:cubicBezTo>
                <a:close/>
                <a:moveTo>
                  <a:pt x="298" y="107"/>
                </a:moveTo>
                <a:cubicBezTo>
                  <a:pt x="299" y="101"/>
                  <a:pt x="294" y="96"/>
                  <a:pt x="288" y="96"/>
                </a:cubicBezTo>
                <a:cubicBezTo>
                  <a:pt x="288" y="96"/>
                  <a:pt x="288" y="96"/>
                  <a:pt x="288" y="96"/>
                </a:cubicBezTo>
                <a:cubicBezTo>
                  <a:pt x="224" y="96"/>
                  <a:pt x="224" y="96"/>
                  <a:pt x="224" y="96"/>
                </a:cubicBezTo>
                <a:cubicBezTo>
                  <a:pt x="224" y="96"/>
                  <a:pt x="223" y="96"/>
                  <a:pt x="223" y="96"/>
                </a:cubicBezTo>
                <a:cubicBezTo>
                  <a:pt x="217" y="96"/>
                  <a:pt x="213" y="101"/>
                  <a:pt x="213" y="107"/>
                </a:cubicBezTo>
                <a:cubicBezTo>
                  <a:pt x="224" y="320"/>
                  <a:pt x="224" y="320"/>
                  <a:pt x="224" y="320"/>
                </a:cubicBezTo>
                <a:cubicBezTo>
                  <a:pt x="224" y="326"/>
                  <a:pt x="229" y="330"/>
                  <a:pt x="234" y="330"/>
                </a:cubicBezTo>
                <a:cubicBezTo>
                  <a:pt x="234" y="330"/>
                  <a:pt x="234" y="330"/>
                  <a:pt x="234" y="330"/>
                </a:cubicBezTo>
                <a:cubicBezTo>
                  <a:pt x="235" y="330"/>
                  <a:pt x="235" y="330"/>
                  <a:pt x="235" y="330"/>
                </a:cubicBezTo>
                <a:cubicBezTo>
                  <a:pt x="276" y="330"/>
                  <a:pt x="276" y="330"/>
                  <a:pt x="276" y="330"/>
                </a:cubicBezTo>
                <a:cubicBezTo>
                  <a:pt x="277" y="330"/>
                  <a:pt x="277" y="330"/>
                  <a:pt x="277" y="330"/>
                </a:cubicBezTo>
                <a:cubicBezTo>
                  <a:pt x="277" y="330"/>
                  <a:pt x="277" y="330"/>
                  <a:pt x="277" y="330"/>
                </a:cubicBezTo>
                <a:cubicBezTo>
                  <a:pt x="283" y="330"/>
                  <a:pt x="287" y="326"/>
                  <a:pt x="288" y="320"/>
                </a:cubicBezTo>
                <a:lnTo>
                  <a:pt x="298" y="10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615612385"/>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7AEFE-1531-4EFA-B368-265C10609F11}"/>
              </a:ext>
            </a:extLst>
          </p:cNvPr>
          <p:cNvSpPr>
            <a:spLocks noGrp="1"/>
          </p:cNvSpPr>
          <p:nvPr>
            <p:ph type="title"/>
          </p:nvPr>
        </p:nvSpPr>
        <p:spPr>
          <a:xfrm>
            <a:off x="1060357" y="128287"/>
            <a:ext cx="7739565" cy="377290"/>
          </a:xfrm>
        </p:spPr>
        <p:txBody>
          <a:bodyPr/>
          <a:lstStyle/>
          <a:p>
            <a:r>
              <a:rPr lang="en-US" dirty="0"/>
              <a:t>Score Calculation </a:t>
            </a:r>
          </a:p>
        </p:txBody>
      </p:sp>
      <p:sp>
        <p:nvSpPr>
          <p:cNvPr id="3" name="Slide Number Placeholder 2">
            <a:extLst>
              <a:ext uri="{FF2B5EF4-FFF2-40B4-BE49-F238E27FC236}">
                <a16:creationId xmlns:a16="http://schemas.microsoft.com/office/drawing/2014/main" id="{70EAF9B7-DB80-41B4-AD27-28CACE257FD4}"/>
              </a:ext>
            </a:extLst>
          </p:cNvPr>
          <p:cNvSpPr>
            <a:spLocks noGrp="1"/>
          </p:cNvSpPr>
          <p:nvPr>
            <p:ph type="sldNum" sz="quarter" idx="10"/>
          </p:nvPr>
        </p:nvSpPr>
        <p:spPr/>
        <p:txBody>
          <a:bodyPr/>
          <a:lstStyle/>
          <a:p>
            <a:pPr>
              <a:defRPr/>
            </a:pPr>
            <a:fld id="{920384AA-0A71-E644-AEED-65CD2253F2C8}" type="slidenum">
              <a:rPr lang="en-US" smtClean="0"/>
              <a:pPr>
                <a:defRPr/>
              </a:pPr>
              <a:t>3</a:t>
            </a:fld>
            <a:endParaRPr lang="en-US" dirty="0"/>
          </a:p>
        </p:txBody>
      </p:sp>
      <p:sp>
        <p:nvSpPr>
          <p:cNvPr id="4" name="Text Placeholder 3">
            <a:extLst>
              <a:ext uri="{FF2B5EF4-FFF2-40B4-BE49-F238E27FC236}">
                <a16:creationId xmlns:a16="http://schemas.microsoft.com/office/drawing/2014/main" id="{F633475C-0AA9-4899-8E1D-619DF31C643D}"/>
              </a:ext>
            </a:extLst>
          </p:cNvPr>
          <p:cNvSpPr>
            <a:spLocks noGrp="1"/>
          </p:cNvSpPr>
          <p:nvPr>
            <p:ph type="body" sz="quarter" idx="11"/>
          </p:nvPr>
        </p:nvSpPr>
        <p:spPr>
          <a:xfrm>
            <a:off x="1060357" y="595426"/>
            <a:ext cx="7801181" cy="2487216"/>
          </a:xfrm>
        </p:spPr>
        <p:txBody>
          <a:bodyPr/>
          <a:lstStyle/>
          <a:p>
            <a:r>
              <a:rPr lang="en-US" b="1" dirty="0"/>
              <a:t>Roll-up Scoring</a:t>
            </a:r>
          </a:p>
          <a:p>
            <a:pPr marL="0"/>
            <a:r>
              <a:rPr lang="en-US" sz="1200" dirty="0"/>
              <a:t>In a roll-up scoring model the risk elements are grouped into risk categories. Each risk element is assigned a score based on an analysis of its risk. These element scores, where present for a customer, are then added together to create the score for the risk category. These risk category scores are then simply added together to create a customer risk score.</a:t>
            </a:r>
          </a:p>
          <a:p>
            <a:pPr marL="0"/>
            <a:endParaRPr lang="en-US" sz="800" dirty="0"/>
          </a:p>
          <a:p>
            <a:pPr marL="0"/>
            <a:r>
              <a:rPr lang="en-US" sz="1200" dirty="0"/>
              <a:t>Risk Categories </a:t>
            </a:r>
          </a:p>
          <a:p>
            <a:pPr marL="0"/>
            <a:endParaRPr lang="en-US" sz="1200" dirty="0"/>
          </a:p>
          <a:p>
            <a:pPr marL="0"/>
            <a:r>
              <a:rPr lang="en-US" sz="1200" dirty="0"/>
              <a:t> </a:t>
            </a:r>
          </a:p>
        </p:txBody>
      </p:sp>
      <p:pic>
        <p:nvPicPr>
          <p:cNvPr id="11" name="Picture 10">
            <a:extLst>
              <a:ext uri="{FF2B5EF4-FFF2-40B4-BE49-F238E27FC236}">
                <a16:creationId xmlns:a16="http://schemas.microsoft.com/office/drawing/2014/main" id="{1F28B712-87E5-4C24-A587-5745B19509EC}"/>
              </a:ext>
            </a:extLst>
          </p:cNvPr>
          <p:cNvPicPr>
            <a:picLocks noChangeAspect="1"/>
          </p:cNvPicPr>
          <p:nvPr/>
        </p:nvPicPr>
        <p:blipFill>
          <a:blip r:embed="rId2"/>
          <a:stretch>
            <a:fillRect/>
          </a:stretch>
        </p:blipFill>
        <p:spPr>
          <a:xfrm>
            <a:off x="815339" y="1916171"/>
            <a:ext cx="8229600" cy="1311157"/>
          </a:xfrm>
          <a:prstGeom prst="rect">
            <a:avLst/>
          </a:prstGeom>
        </p:spPr>
      </p:pic>
      <p:sp>
        <p:nvSpPr>
          <p:cNvPr id="12" name="Rectangle 11">
            <a:extLst>
              <a:ext uri="{FF2B5EF4-FFF2-40B4-BE49-F238E27FC236}">
                <a16:creationId xmlns:a16="http://schemas.microsoft.com/office/drawing/2014/main" id="{75A2E2CA-C361-4C6F-B179-554C165C1415}"/>
              </a:ext>
            </a:extLst>
          </p:cNvPr>
          <p:cNvSpPr/>
          <p:nvPr/>
        </p:nvSpPr>
        <p:spPr>
          <a:xfrm>
            <a:off x="906780" y="2491445"/>
            <a:ext cx="4335780" cy="2369880"/>
          </a:xfrm>
          <a:prstGeom prst="rect">
            <a:avLst/>
          </a:prstGeom>
        </p:spPr>
        <p:txBody>
          <a:bodyPr wrap="square">
            <a:spAutoFit/>
          </a:bodyPr>
          <a:lstStyle/>
          <a:p>
            <a:endParaRPr lang="en-US" sz="2800" dirty="0">
              <a:solidFill>
                <a:srgbClr val="000000"/>
              </a:solidFill>
              <a:latin typeface="Verdana" panose="020B0604030504040204" pitchFamily="34" charset="0"/>
            </a:endParaRPr>
          </a:p>
          <a:p>
            <a:endParaRPr lang="en-US" sz="1000" dirty="0">
              <a:latin typeface="Verdana" panose="020B0604030504040204" pitchFamily="34" charset="0"/>
            </a:endParaRPr>
          </a:p>
          <a:p>
            <a:endParaRPr lang="en-US" sz="1000" dirty="0">
              <a:latin typeface="Verdana" panose="020B0604030504040204" pitchFamily="34" charset="0"/>
            </a:endParaRPr>
          </a:p>
          <a:p>
            <a:r>
              <a:rPr lang="en-US" sz="1000" b="1" dirty="0">
                <a:latin typeface="Verdana" panose="020B0604030504040204" pitchFamily="34" charset="0"/>
              </a:rPr>
              <a:t>Benefits</a:t>
            </a:r>
          </a:p>
          <a:p>
            <a:pPr marL="171450" indent="-171450">
              <a:buFont typeface="Arial" panose="020B0604020202020204" pitchFamily="34" charset="0"/>
              <a:buChar char="•"/>
            </a:pPr>
            <a:r>
              <a:rPr lang="en-US" sz="1000" dirty="0">
                <a:latin typeface="Verdana" panose="020B0604030504040204" pitchFamily="34" charset="0"/>
              </a:rPr>
              <a:t>Allows for better transparency into high risk factors than the decision tree (existing methodology)</a:t>
            </a:r>
          </a:p>
          <a:p>
            <a:pPr marL="171450" indent="-171450">
              <a:buFont typeface="Arial" panose="020B0604020202020204" pitchFamily="34" charset="0"/>
              <a:buChar char="•"/>
            </a:pPr>
            <a:r>
              <a:rPr lang="en-US" sz="1000" dirty="0">
                <a:latin typeface="Verdana" panose="020B0604030504040204" pitchFamily="34" charset="0"/>
              </a:rPr>
              <a:t>Changes are easy to design and implement </a:t>
            </a:r>
          </a:p>
          <a:p>
            <a:pPr marL="171450" indent="-171450">
              <a:buFont typeface="Arial" panose="020B0604020202020204" pitchFamily="34" charset="0"/>
              <a:buChar char="•"/>
            </a:pPr>
            <a:r>
              <a:rPr lang="en-US" sz="1000" dirty="0">
                <a:latin typeface="Verdana" panose="020B0604030504040204" pitchFamily="34" charset="0"/>
              </a:rPr>
              <a:t>Allows for focus to be distributed among the different risk components and not driven by one main risk Category (i.e., Product Risk)</a:t>
            </a:r>
          </a:p>
          <a:p>
            <a:pPr marL="171450" indent="-171450">
              <a:buFont typeface="Arial" panose="020B0604020202020204" pitchFamily="34" charset="0"/>
              <a:buChar char="•"/>
            </a:pPr>
            <a:r>
              <a:rPr lang="en-US" sz="1000" dirty="0">
                <a:latin typeface="Verdana" panose="020B0604030504040204" pitchFamily="34" charset="0"/>
              </a:rPr>
              <a:t>Tuning is flexible during calibration phase because it would involve a simple approach to set up test cases and understand the impact to CRR risk ratings</a:t>
            </a:r>
          </a:p>
        </p:txBody>
      </p:sp>
      <p:sp>
        <p:nvSpPr>
          <p:cNvPr id="13" name="Rectangle 12">
            <a:extLst>
              <a:ext uri="{FF2B5EF4-FFF2-40B4-BE49-F238E27FC236}">
                <a16:creationId xmlns:a16="http://schemas.microsoft.com/office/drawing/2014/main" id="{41F17EDD-EEC2-4FAE-923C-31A4FE733406}"/>
              </a:ext>
            </a:extLst>
          </p:cNvPr>
          <p:cNvSpPr/>
          <p:nvPr/>
        </p:nvSpPr>
        <p:spPr>
          <a:xfrm>
            <a:off x="5091248" y="2491445"/>
            <a:ext cx="4008120" cy="1600438"/>
          </a:xfrm>
          <a:prstGeom prst="rect">
            <a:avLst/>
          </a:prstGeom>
        </p:spPr>
        <p:txBody>
          <a:bodyPr wrap="square">
            <a:spAutoFit/>
          </a:bodyPr>
          <a:lstStyle/>
          <a:p>
            <a:endParaRPr lang="en-US" sz="2800" dirty="0">
              <a:solidFill>
                <a:srgbClr val="000000"/>
              </a:solidFill>
              <a:latin typeface="Verdana" panose="020B0604030504040204" pitchFamily="34" charset="0"/>
            </a:endParaRPr>
          </a:p>
          <a:p>
            <a:endParaRPr lang="en-US" sz="1000" dirty="0">
              <a:latin typeface="Verdana" panose="020B0604030504040204" pitchFamily="34" charset="0"/>
            </a:endParaRPr>
          </a:p>
          <a:p>
            <a:endParaRPr lang="en-US" sz="1000" dirty="0">
              <a:latin typeface="Verdana" panose="020B0604030504040204" pitchFamily="34" charset="0"/>
            </a:endParaRPr>
          </a:p>
          <a:p>
            <a:r>
              <a:rPr lang="en-US" sz="1000" b="1" dirty="0">
                <a:latin typeface="Verdana" panose="020B0604030504040204" pitchFamily="34" charset="0"/>
              </a:rPr>
              <a:t>Considerations</a:t>
            </a:r>
          </a:p>
          <a:p>
            <a:pPr marL="171450" indent="-171450">
              <a:buFont typeface="Arial" panose="020B0604020202020204" pitchFamily="34" charset="0"/>
              <a:buChar char="•"/>
            </a:pPr>
            <a:r>
              <a:rPr lang="en-US" sz="1000" dirty="0">
                <a:latin typeface="Verdana" panose="020B0604030504040204" pitchFamily="34" charset="0"/>
              </a:rPr>
              <a:t>Assumes that all risk elements are scored on a similar scale (i.e., in a range of 1-10 score, a risk element with a score of 9 is 9x riskier than risk elements with score of 1)</a:t>
            </a:r>
          </a:p>
        </p:txBody>
      </p:sp>
    </p:spTree>
    <p:extLst>
      <p:ext uri="{BB962C8B-B14F-4D97-AF65-F5344CB8AC3E}">
        <p14:creationId xmlns:p14="http://schemas.microsoft.com/office/powerpoint/2010/main" val="4064742263"/>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4E5B7048-A3DC-467B-9240-6322A41A3CB1}"/>
              </a:ext>
            </a:extLst>
          </p:cNvPr>
          <p:cNvSpPr/>
          <p:nvPr/>
        </p:nvSpPr>
        <p:spPr>
          <a:xfrm>
            <a:off x="2950799" y="905045"/>
            <a:ext cx="211949" cy="3875677"/>
          </a:xfrm>
          <a:prstGeom prst="rect">
            <a:avLst/>
          </a:prstGeom>
          <a:gradFill flip="none" rotWithShape="1">
            <a:gsLst>
              <a:gs pos="0">
                <a:srgbClr val="FF0000"/>
              </a:gs>
              <a:gs pos="46000">
                <a:srgbClr val="FFC000"/>
              </a:gs>
              <a:gs pos="100000">
                <a:srgbClr val="92D050"/>
              </a:gs>
              <a:gs pos="100000">
                <a:schemeClr val="accent1">
                  <a:lumMod val="30000"/>
                  <a:lumOff val="70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AF3F1BAA-7708-410A-A817-75BC41E4E0FA}"/>
              </a:ext>
            </a:extLst>
          </p:cNvPr>
          <p:cNvSpPr txBox="1"/>
          <p:nvPr/>
        </p:nvSpPr>
        <p:spPr>
          <a:xfrm>
            <a:off x="825135" y="128334"/>
            <a:ext cx="9000946" cy="538609"/>
          </a:xfrm>
          <a:prstGeom prst="rect">
            <a:avLst/>
          </a:prstGeom>
          <a:noFill/>
        </p:spPr>
        <p:txBody>
          <a:bodyPr wrap="square" rtlCol="0">
            <a:spAutoFit/>
          </a:bodyPr>
          <a:lstStyle/>
          <a:p>
            <a:r>
              <a:rPr lang="en-US" sz="2900" dirty="0">
                <a:latin typeface="Guardian Egyp Regular" panose="02060503050503060803" pitchFamily="18" charset="77"/>
              </a:rPr>
              <a:t>Risk Class Determination</a:t>
            </a:r>
          </a:p>
        </p:txBody>
      </p:sp>
      <p:sp>
        <p:nvSpPr>
          <p:cNvPr id="28" name="TextBox 27">
            <a:extLst>
              <a:ext uri="{FF2B5EF4-FFF2-40B4-BE49-F238E27FC236}">
                <a16:creationId xmlns:a16="http://schemas.microsoft.com/office/drawing/2014/main" id="{0CCC8930-FB09-4746-9F48-E34A25914455}"/>
              </a:ext>
            </a:extLst>
          </p:cNvPr>
          <p:cNvSpPr txBox="1"/>
          <p:nvPr/>
        </p:nvSpPr>
        <p:spPr>
          <a:xfrm>
            <a:off x="3359238" y="834640"/>
            <a:ext cx="344245" cy="4016484"/>
          </a:xfrm>
          <a:prstGeom prst="rect">
            <a:avLst/>
          </a:prstGeom>
          <a:noFill/>
        </p:spPr>
        <p:txBody>
          <a:bodyPr wrap="square" rtlCol="0">
            <a:spAutoFit/>
          </a:bodyPr>
          <a:lstStyle/>
          <a:p>
            <a:r>
              <a:rPr lang="en-US" sz="1500" dirty="0"/>
              <a:t>9</a:t>
            </a:r>
          </a:p>
          <a:p>
            <a:endParaRPr lang="en-US" sz="1500" dirty="0"/>
          </a:p>
          <a:p>
            <a:r>
              <a:rPr lang="en-US" sz="1500" dirty="0"/>
              <a:t>8</a:t>
            </a:r>
          </a:p>
          <a:p>
            <a:endParaRPr lang="en-US" sz="1500" dirty="0"/>
          </a:p>
          <a:p>
            <a:r>
              <a:rPr lang="en-US" sz="1500" dirty="0"/>
              <a:t>7</a:t>
            </a:r>
          </a:p>
          <a:p>
            <a:endParaRPr lang="en-US" sz="1500" dirty="0"/>
          </a:p>
          <a:p>
            <a:r>
              <a:rPr lang="en-US" sz="1500" dirty="0"/>
              <a:t>6</a:t>
            </a:r>
          </a:p>
          <a:p>
            <a:endParaRPr lang="en-US" sz="1500" dirty="0"/>
          </a:p>
          <a:p>
            <a:r>
              <a:rPr lang="en-US" sz="1500" dirty="0"/>
              <a:t>5</a:t>
            </a:r>
          </a:p>
          <a:p>
            <a:endParaRPr lang="en-US" sz="1500" dirty="0"/>
          </a:p>
          <a:p>
            <a:r>
              <a:rPr lang="en-US" sz="1500" dirty="0"/>
              <a:t>4</a:t>
            </a:r>
          </a:p>
          <a:p>
            <a:endParaRPr lang="en-US" sz="1500" dirty="0"/>
          </a:p>
          <a:p>
            <a:r>
              <a:rPr lang="en-US" sz="1500" dirty="0"/>
              <a:t>3</a:t>
            </a:r>
          </a:p>
          <a:p>
            <a:endParaRPr lang="en-US" sz="1500" dirty="0"/>
          </a:p>
          <a:p>
            <a:r>
              <a:rPr lang="en-US" sz="1500" dirty="0"/>
              <a:t>2</a:t>
            </a:r>
          </a:p>
          <a:p>
            <a:endParaRPr lang="en-US" sz="1500" dirty="0"/>
          </a:p>
          <a:p>
            <a:r>
              <a:rPr lang="en-US" sz="1500" dirty="0"/>
              <a:t>1</a:t>
            </a:r>
          </a:p>
        </p:txBody>
      </p:sp>
      <p:sp>
        <p:nvSpPr>
          <p:cNvPr id="29" name="TextBox 28">
            <a:extLst>
              <a:ext uri="{FF2B5EF4-FFF2-40B4-BE49-F238E27FC236}">
                <a16:creationId xmlns:a16="http://schemas.microsoft.com/office/drawing/2014/main" id="{677E6D48-E6C0-4F06-BDB4-A029A2A37010}"/>
              </a:ext>
            </a:extLst>
          </p:cNvPr>
          <p:cNvSpPr txBox="1"/>
          <p:nvPr/>
        </p:nvSpPr>
        <p:spPr>
          <a:xfrm>
            <a:off x="1613279" y="2024352"/>
            <a:ext cx="699247" cy="276999"/>
          </a:xfrm>
          <a:prstGeom prst="rect">
            <a:avLst/>
          </a:prstGeom>
          <a:noFill/>
        </p:spPr>
        <p:txBody>
          <a:bodyPr wrap="square" rtlCol="0">
            <a:spAutoFit/>
          </a:bodyPr>
          <a:lstStyle/>
          <a:p>
            <a:r>
              <a:rPr lang="en-US" sz="1200" dirty="0"/>
              <a:t>3000</a:t>
            </a:r>
          </a:p>
        </p:txBody>
      </p:sp>
      <p:sp>
        <p:nvSpPr>
          <p:cNvPr id="30" name="TextBox 29">
            <a:extLst>
              <a:ext uri="{FF2B5EF4-FFF2-40B4-BE49-F238E27FC236}">
                <a16:creationId xmlns:a16="http://schemas.microsoft.com/office/drawing/2014/main" id="{21B38B3A-309A-4BDF-A43E-342944FC293C}"/>
              </a:ext>
            </a:extLst>
          </p:cNvPr>
          <p:cNvSpPr txBox="1"/>
          <p:nvPr/>
        </p:nvSpPr>
        <p:spPr>
          <a:xfrm>
            <a:off x="1585315" y="3379422"/>
            <a:ext cx="699247" cy="276999"/>
          </a:xfrm>
          <a:prstGeom prst="rect">
            <a:avLst/>
          </a:prstGeom>
          <a:noFill/>
        </p:spPr>
        <p:txBody>
          <a:bodyPr wrap="square" rtlCol="0">
            <a:spAutoFit/>
          </a:bodyPr>
          <a:lstStyle/>
          <a:p>
            <a:r>
              <a:rPr lang="en-US" sz="1200" dirty="0"/>
              <a:t>1500</a:t>
            </a:r>
          </a:p>
        </p:txBody>
      </p:sp>
      <p:sp>
        <p:nvSpPr>
          <p:cNvPr id="31" name="Arrow: Right 30">
            <a:extLst>
              <a:ext uri="{FF2B5EF4-FFF2-40B4-BE49-F238E27FC236}">
                <a16:creationId xmlns:a16="http://schemas.microsoft.com/office/drawing/2014/main" id="{7D4785A6-DD6C-4AB6-AEE0-91A7EF68780B}"/>
              </a:ext>
            </a:extLst>
          </p:cNvPr>
          <p:cNvSpPr/>
          <p:nvPr/>
        </p:nvSpPr>
        <p:spPr>
          <a:xfrm>
            <a:off x="2193561" y="2077415"/>
            <a:ext cx="639904" cy="170874"/>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Right 31">
            <a:extLst>
              <a:ext uri="{FF2B5EF4-FFF2-40B4-BE49-F238E27FC236}">
                <a16:creationId xmlns:a16="http://schemas.microsoft.com/office/drawing/2014/main" id="{200059F4-261E-4AF6-8E6B-B61A4C5918AE}"/>
              </a:ext>
            </a:extLst>
          </p:cNvPr>
          <p:cNvSpPr/>
          <p:nvPr/>
        </p:nvSpPr>
        <p:spPr>
          <a:xfrm>
            <a:off x="2193561" y="3432486"/>
            <a:ext cx="639904" cy="170873"/>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B3BE0692-CF8A-4B9C-BA49-FE9068822238}"/>
              </a:ext>
            </a:extLst>
          </p:cNvPr>
          <p:cNvSpPr txBox="1"/>
          <p:nvPr/>
        </p:nvSpPr>
        <p:spPr>
          <a:xfrm>
            <a:off x="825135" y="1010269"/>
            <a:ext cx="2337613" cy="307777"/>
          </a:xfrm>
          <a:prstGeom prst="rect">
            <a:avLst/>
          </a:prstGeom>
          <a:noFill/>
        </p:spPr>
        <p:txBody>
          <a:bodyPr wrap="square" rtlCol="0">
            <a:spAutoFit/>
          </a:bodyPr>
          <a:lstStyle/>
          <a:p>
            <a:r>
              <a:rPr lang="en-US" sz="1400" dirty="0"/>
              <a:t>Enterprise Thresholds</a:t>
            </a:r>
          </a:p>
        </p:txBody>
      </p:sp>
      <p:sp>
        <p:nvSpPr>
          <p:cNvPr id="34" name="TextBox 33">
            <a:extLst>
              <a:ext uri="{FF2B5EF4-FFF2-40B4-BE49-F238E27FC236}">
                <a16:creationId xmlns:a16="http://schemas.microsoft.com/office/drawing/2014/main" id="{1DB331D5-0479-49AF-B219-90E19CFE5A1D}"/>
              </a:ext>
            </a:extLst>
          </p:cNvPr>
          <p:cNvSpPr txBox="1"/>
          <p:nvPr/>
        </p:nvSpPr>
        <p:spPr>
          <a:xfrm>
            <a:off x="4283765" y="1168470"/>
            <a:ext cx="4722607" cy="1323439"/>
          </a:xfrm>
          <a:prstGeom prst="rect">
            <a:avLst/>
          </a:prstGeom>
          <a:noFill/>
        </p:spPr>
        <p:txBody>
          <a:bodyPr wrap="square" rtlCol="0">
            <a:spAutoFit/>
          </a:bodyPr>
          <a:lstStyle/>
          <a:p>
            <a:r>
              <a:rPr lang="en-US" sz="1600" dirty="0">
                <a:solidFill>
                  <a:schemeClr val="accent2">
                    <a:lumMod val="75000"/>
                  </a:schemeClr>
                </a:solidFill>
              </a:rPr>
              <a:t>2235 </a:t>
            </a:r>
            <a:r>
              <a:rPr lang="en-US" sz="1600" dirty="0"/>
              <a:t>is the calculated score that is then normalized back to the 1 through 9 score, using a threshold scale, as you can see it points to about 4.9 on the 1 through 9 scale, so it is rounded up to </a:t>
            </a:r>
            <a:r>
              <a:rPr lang="en-US" sz="1600" dirty="0">
                <a:solidFill>
                  <a:srgbClr val="FFC000"/>
                </a:solidFill>
              </a:rPr>
              <a:t>5 Medium</a:t>
            </a:r>
          </a:p>
        </p:txBody>
      </p:sp>
      <p:sp>
        <p:nvSpPr>
          <p:cNvPr id="35" name="TextBox 34">
            <a:extLst>
              <a:ext uri="{FF2B5EF4-FFF2-40B4-BE49-F238E27FC236}">
                <a16:creationId xmlns:a16="http://schemas.microsoft.com/office/drawing/2014/main" id="{31759639-EFF5-4EC3-A25B-4A287B082CD5}"/>
              </a:ext>
            </a:extLst>
          </p:cNvPr>
          <p:cNvSpPr txBox="1"/>
          <p:nvPr/>
        </p:nvSpPr>
        <p:spPr>
          <a:xfrm>
            <a:off x="1309154" y="2704898"/>
            <a:ext cx="1255440" cy="553998"/>
          </a:xfrm>
          <a:prstGeom prst="rect">
            <a:avLst/>
          </a:prstGeom>
          <a:noFill/>
        </p:spPr>
        <p:txBody>
          <a:bodyPr wrap="square" rtlCol="0">
            <a:spAutoFit/>
          </a:bodyPr>
          <a:lstStyle/>
          <a:p>
            <a:r>
              <a:rPr lang="en-US" sz="1200" dirty="0">
                <a:solidFill>
                  <a:schemeClr val="accent2">
                    <a:lumMod val="75000"/>
                  </a:schemeClr>
                </a:solidFill>
              </a:rPr>
              <a:t>2235</a:t>
            </a:r>
          </a:p>
          <a:p>
            <a:endParaRPr lang="en-US" dirty="0"/>
          </a:p>
        </p:txBody>
      </p:sp>
      <p:sp>
        <p:nvSpPr>
          <p:cNvPr id="36" name="Arrow: Right 35">
            <a:extLst>
              <a:ext uri="{FF2B5EF4-FFF2-40B4-BE49-F238E27FC236}">
                <a16:creationId xmlns:a16="http://schemas.microsoft.com/office/drawing/2014/main" id="{5A31BC87-11F8-400B-AB8B-BA7E86B11CF3}"/>
              </a:ext>
            </a:extLst>
          </p:cNvPr>
          <p:cNvSpPr/>
          <p:nvPr/>
        </p:nvSpPr>
        <p:spPr>
          <a:xfrm>
            <a:off x="2017233" y="2757446"/>
            <a:ext cx="900439" cy="170873"/>
          </a:xfrm>
          <a:prstGeom prst="rightArrow">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7F1613FC-35FA-4791-9A18-D97624D37AB5}"/>
              </a:ext>
            </a:extLst>
          </p:cNvPr>
          <p:cNvSpPr txBox="1"/>
          <p:nvPr/>
        </p:nvSpPr>
        <p:spPr>
          <a:xfrm>
            <a:off x="4283765" y="2757446"/>
            <a:ext cx="4722606" cy="1323439"/>
          </a:xfrm>
          <a:prstGeom prst="rect">
            <a:avLst/>
          </a:prstGeom>
          <a:noFill/>
        </p:spPr>
        <p:txBody>
          <a:bodyPr wrap="square" rtlCol="0">
            <a:spAutoFit/>
          </a:bodyPr>
          <a:lstStyle/>
          <a:p>
            <a:r>
              <a:rPr lang="en-US" sz="1600" dirty="0"/>
              <a:t>These thresholds are initially defined at the enterprise level. </a:t>
            </a:r>
            <a:r>
              <a:rPr lang="en-US" sz="1600" u="sng" dirty="0"/>
              <a:t>However where required local compliance have the ability to create different thresholds for their market.</a:t>
            </a:r>
          </a:p>
          <a:p>
            <a:endParaRPr lang="en-US" sz="1600" dirty="0"/>
          </a:p>
        </p:txBody>
      </p:sp>
      <p:sp>
        <p:nvSpPr>
          <p:cNvPr id="2" name="TextBox 1">
            <a:extLst>
              <a:ext uri="{FF2B5EF4-FFF2-40B4-BE49-F238E27FC236}">
                <a16:creationId xmlns:a16="http://schemas.microsoft.com/office/drawing/2014/main" id="{9EE410EB-E846-4A15-B455-0F24213EFC63}"/>
              </a:ext>
            </a:extLst>
          </p:cNvPr>
          <p:cNvSpPr txBox="1"/>
          <p:nvPr/>
        </p:nvSpPr>
        <p:spPr>
          <a:xfrm>
            <a:off x="943474" y="3410199"/>
            <a:ext cx="660976" cy="215444"/>
          </a:xfrm>
          <a:prstGeom prst="rect">
            <a:avLst/>
          </a:prstGeom>
          <a:noFill/>
        </p:spPr>
        <p:txBody>
          <a:bodyPr wrap="square" lIns="0" tIns="0" rIns="0" bIns="0" rtlCol="0">
            <a:spAutoFit/>
          </a:bodyPr>
          <a:lstStyle/>
          <a:p>
            <a:pPr algn="l"/>
            <a:r>
              <a:rPr lang="en-US" sz="1400" dirty="0">
                <a:solidFill>
                  <a:srgbClr val="FFC000"/>
                </a:solidFill>
              </a:rPr>
              <a:t>Medium</a:t>
            </a:r>
          </a:p>
        </p:txBody>
      </p:sp>
      <p:sp>
        <p:nvSpPr>
          <p:cNvPr id="38" name="TextBox 37">
            <a:extLst>
              <a:ext uri="{FF2B5EF4-FFF2-40B4-BE49-F238E27FC236}">
                <a16:creationId xmlns:a16="http://schemas.microsoft.com/office/drawing/2014/main" id="{7FAFF689-66CD-477A-954C-BFA428536B1A}"/>
              </a:ext>
            </a:extLst>
          </p:cNvPr>
          <p:cNvSpPr txBox="1"/>
          <p:nvPr/>
        </p:nvSpPr>
        <p:spPr>
          <a:xfrm>
            <a:off x="924339" y="2055129"/>
            <a:ext cx="660976" cy="215444"/>
          </a:xfrm>
          <a:prstGeom prst="rect">
            <a:avLst/>
          </a:prstGeom>
          <a:noFill/>
        </p:spPr>
        <p:txBody>
          <a:bodyPr wrap="square" lIns="0" tIns="0" rIns="0" bIns="0" rtlCol="0">
            <a:spAutoFit/>
          </a:bodyPr>
          <a:lstStyle/>
          <a:p>
            <a:pPr algn="l"/>
            <a:r>
              <a:rPr lang="en-US" sz="1400" dirty="0">
                <a:solidFill>
                  <a:srgbClr val="C00000"/>
                </a:solidFill>
              </a:rPr>
              <a:t>High</a:t>
            </a:r>
          </a:p>
        </p:txBody>
      </p:sp>
      <p:sp>
        <p:nvSpPr>
          <p:cNvPr id="3" name="Rectangle 2">
            <a:extLst>
              <a:ext uri="{FF2B5EF4-FFF2-40B4-BE49-F238E27FC236}">
                <a16:creationId xmlns:a16="http://schemas.microsoft.com/office/drawing/2014/main" id="{F920287F-D1A4-4D3C-885D-4D0AB4D14B83}"/>
              </a:ext>
            </a:extLst>
          </p:cNvPr>
          <p:cNvSpPr/>
          <p:nvPr/>
        </p:nvSpPr>
        <p:spPr>
          <a:xfrm>
            <a:off x="4283765" y="4023256"/>
            <a:ext cx="4572000" cy="646331"/>
          </a:xfrm>
          <a:prstGeom prst="rect">
            <a:avLst/>
          </a:prstGeom>
        </p:spPr>
        <p:txBody>
          <a:bodyPr>
            <a:spAutoFit/>
          </a:bodyPr>
          <a:lstStyle/>
          <a:p>
            <a:pPr marL="0"/>
            <a:r>
              <a:rPr lang="en-US" sz="1200" dirty="0">
                <a:solidFill>
                  <a:srgbClr val="00B050"/>
                </a:solidFill>
              </a:rPr>
              <a:t>Note : The initial thresholds between Low, Medium and High will be determined through testing of the scoring methodology in the sandbox.</a:t>
            </a:r>
          </a:p>
        </p:txBody>
      </p:sp>
      <p:sp>
        <p:nvSpPr>
          <p:cNvPr id="4" name="Slide Number Placeholder 3">
            <a:extLst>
              <a:ext uri="{FF2B5EF4-FFF2-40B4-BE49-F238E27FC236}">
                <a16:creationId xmlns:a16="http://schemas.microsoft.com/office/drawing/2014/main" id="{7A2BB07B-8E40-4158-8B22-C025B9FC5403}"/>
              </a:ext>
            </a:extLst>
          </p:cNvPr>
          <p:cNvSpPr>
            <a:spLocks noGrp="1"/>
          </p:cNvSpPr>
          <p:nvPr>
            <p:ph type="sldNum" sz="quarter" idx="10"/>
          </p:nvPr>
        </p:nvSpPr>
        <p:spPr/>
        <p:txBody>
          <a:bodyPr/>
          <a:lstStyle/>
          <a:p>
            <a:pPr>
              <a:defRPr/>
            </a:pPr>
            <a:fld id="{920384AA-0A71-E644-AEED-65CD2253F2C8}" type="slidenum">
              <a:rPr lang="en-US" smtClean="0"/>
              <a:pPr>
                <a:defRPr/>
              </a:pPr>
              <a:t>4</a:t>
            </a:fld>
            <a:endParaRPr lang="en-US" dirty="0"/>
          </a:p>
        </p:txBody>
      </p:sp>
    </p:spTree>
    <p:extLst>
      <p:ext uri="{BB962C8B-B14F-4D97-AF65-F5344CB8AC3E}">
        <p14:creationId xmlns:p14="http://schemas.microsoft.com/office/powerpoint/2010/main" val="2232838806"/>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1618A-B9B7-4656-93A0-5F3FB63331A2}"/>
              </a:ext>
            </a:extLst>
          </p:cNvPr>
          <p:cNvSpPr>
            <a:spLocks noGrp="1"/>
          </p:cNvSpPr>
          <p:nvPr>
            <p:ph type="title"/>
          </p:nvPr>
        </p:nvSpPr>
        <p:spPr>
          <a:xfrm>
            <a:off x="1146876" y="283110"/>
            <a:ext cx="7739565" cy="406797"/>
          </a:xfrm>
        </p:spPr>
        <p:txBody>
          <a:bodyPr/>
          <a:lstStyle/>
          <a:p>
            <a:r>
              <a:rPr lang="en-US" dirty="0"/>
              <a:t>Other Important points</a:t>
            </a:r>
          </a:p>
        </p:txBody>
      </p:sp>
      <p:sp>
        <p:nvSpPr>
          <p:cNvPr id="3" name="Slide Number Placeholder 2">
            <a:extLst>
              <a:ext uri="{FF2B5EF4-FFF2-40B4-BE49-F238E27FC236}">
                <a16:creationId xmlns:a16="http://schemas.microsoft.com/office/drawing/2014/main" id="{FA42AA58-6F66-42B3-BFF2-9E04510C7842}"/>
              </a:ext>
            </a:extLst>
          </p:cNvPr>
          <p:cNvSpPr>
            <a:spLocks noGrp="1"/>
          </p:cNvSpPr>
          <p:nvPr>
            <p:ph type="sldNum" sz="quarter" idx="10"/>
          </p:nvPr>
        </p:nvSpPr>
        <p:spPr/>
        <p:txBody>
          <a:bodyPr/>
          <a:lstStyle/>
          <a:p>
            <a:pPr>
              <a:defRPr/>
            </a:pPr>
            <a:fld id="{920384AA-0A71-E644-AEED-65CD2253F2C8}" type="slidenum">
              <a:rPr lang="en-US" smtClean="0"/>
              <a:pPr>
                <a:defRPr/>
              </a:pPr>
              <a:t>5</a:t>
            </a:fld>
            <a:endParaRPr lang="en-US" dirty="0"/>
          </a:p>
        </p:txBody>
      </p:sp>
      <p:sp>
        <p:nvSpPr>
          <p:cNvPr id="4" name="Text Placeholder 3">
            <a:extLst>
              <a:ext uri="{FF2B5EF4-FFF2-40B4-BE49-F238E27FC236}">
                <a16:creationId xmlns:a16="http://schemas.microsoft.com/office/drawing/2014/main" id="{177FF860-C766-4BA2-B5FC-A85F263D9CEE}"/>
              </a:ext>
            </a:extLst>
          </p:cNvPr>
          <p:cNvSpPr>
            <a:spLocks noGrp="1"/>
          </p:cNvSpPr>
          <p:nvPr>
            <p:ph type="body" sz="quarter" idx="11"/>
          </p:nvPr>
        </p:nvSpPr>
        <p:spPr>
          <a:xfrm>
            <a:off x="1146875" y="748782"/>
            <a:ext cx="7586465" cy="2487216"/>
          </a:xfrm>
        </p:spPr>
        <p:txBody>
          <a:bodyPr/>
          <a:lstStyle/>
          <a:p>
            <a:r>
              <a:rPr lang="en-US" dirty="0"/>
              <a:t>Additional Risk Factors (ARF) and High-Risk Overrides(HRO)</a:t>
            </a:r>
          </a:p>
          <a:p>
            <a:endParaRPr lang="en-US" sz="800" dirty="0"/>
          </a:p>
          <a:p>
            <a:pPr marL="0"/>
            <a:r>
              <a:rPr lang="en-US" sz="1200" dirty="0"/>
              <a:t>ARFs exist today externally from the core of the risk assessment and apply overrides to the score once it is calculated. Either +1 +2 or +3, but these are not cumulative. In the new methodology, these additional rules can be created as risk elements in the relevant risk category and can now carry any weight based on the value assigned and now will be cumulative.</a:t>
            </a:r>
          </a:p>
          <a:p>
            <a:pPr marL="0"/>
            <a:endParaRPr lang="en-US" sz="800" dirty="0"/>
          </a:p>
          <a:p>
            <a:pPr marL="0"/>
            <a:r>
              <a:rPr lang="en-US" sz="1200" dirty="0"/>
              <a:t>HROs always set the risk score to 9-High. They are also external rules, The new methodology will continue to create these externally in the same way, but has the ability to include them in the single scoring scheme by assigning a large enough value to cross the threshold for High Risk.</a:t>
            </a:r>
          </a:p>
          <a:p>
            <a:pPr marL="0"/>
            <a:endParaRPr lang="en-US" sz="800" dirty="0"/>
          </a:p>
          <a:p>
            <a:pPr marL="0"/>
            <a:r>
              <a:rPr lang="en-US" sz="800" dirty="0"/>
              <a:t> </a:t>
            </a:r>
            <a:endParaRPr lang="en-US" sz="1400" dirty="0"/>
          </a:p>
          <a:p>
            <a:pPr marL="0"/>
            <a:r>
              <a:rPr lang="en-US" dirty="0"/>
              <a:t>Customer based view of the data</a:t>
            </a:r>
          </a:p>
          <a:p>
            <a:pPr marL="0"/>
            <a:endParaRPr lang="en-US" sz="1200" dirty="0"/>
          </a:p>
          <a:p>
            <a:pPr marL="0"/>
            <a:r>
              <a:rPr lang="en-US" sz="1200" dirty="0"/>
              <a:t>The risk scoring methodology will consider the customers relationships holistically during the risk calculation. Today each account owned by the customer is score independently and then the highest of those risk scores is assigned to the customer. The new approach would be to use all the data from all the customer accounts to calculate the score.</a:t>
            </a:r>
          </a:p>
          <a:p>
            <a:pPr marL="0"/>
            <a:endParaRPr lang="en-US" sz="800" dirty="0"/>
          </a:p>
          <a:p>
            <a:pPr marL="0"/>
            <a:r>
              <a:rPr lang="en-US" dirty="0"/>
              <a:t>Prohibited Geographies</a:t>
            </a:r>
          </a:p>
          <a:p>
            <a:pPr marL="0"/>
            <a:r>
              <a:rPr lang="en-US" sz="1200" dirty="0"/>
              <a:t>Where a prohibited Geography exists on an account, the customer score will still be calculated, but it will be normalized to a risk rating of </a:t>
            </a:r>
            <a:r>
              <a:rPr lang="en-US" sz="1200" b="1" dirty="0">
                <a:solidFill>
                  <a:schemeClr val="bg1"/>
                </a:solidFill>
                <a:highlight>
                  <a:srgbClr val="000000"/>
                </a:highlight>
              </a:rPr>
              <a:t> 10 – Prohibited    </a:t>
            </a:r>
          </a:p>
        </p:txBody>
      </p:sp>
    </p:spTree>
    <p:extLst>
      <p:ext uri="{BB962C8B-B14F-4D97-AF65-F5344CB8AC3E}">
        <p14:creationId xmlns:p14="http://schemas.microsoft.com/office/powerpoint/2010/main" val="3714384632"/>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A42AA58-6F66-42B3-BFF2-9E04510C7842}"/>
              </a:ext>
            </a:extLst>
          </p:cNvPr>
          <p:cNvSpPr>
            <a:spLocks noGrp="1"/>
          </p:cNvSpPr>
          <p:nvPr>
            <p:ph type="sldNum" sz="quarter" idx="10"/>
          </p:nvPr>
        </p:nvSpPr>
        <p:spPr/>
        <p:txBody>
          <a:bodyPr/>
          <a:lstStyle/>
          <a:p>
            <a:pPr>
              <a:defRPr/>
            </a:pPr>
            <a:fld id="{920384AA-0A71-E644-AEED-65CD2253F2C8}" type="slidenum">
              <a:rPr lang="en-US" smtClean="0"/>
              <a:pPr>
                <a:defRPr/>
              </a:pPr>
              <a:t>6</a:t>
            </a:fld>
            <a:endParaRPr lang="en-US" dirty="0"/>
          </a:p>
        </p:txBody>
      </p:sp>
      <p:sp>
        <p:nvSpPr>
          <p:cNvPr id="6" name="Title 1">
            <a:extLst>
              <a:ext uri="{FF2B5EF4-FFF2-40B4-BE49-F238E27FC236}">
                <a16:creationId xmlns:a16="http://schemas.microsoft.com/office/drawing/2014/main" id="{44FD3F03-D9C2-47E0-B450-8626B05AD393}"/>
              </a:ext>
            </a:extLst>
          </p:cNvPr>
          <p:cNvSpPr>
            <a:spLocks noGrp="1"/>
          </p:cNvSpPr>
          <p:nvPr>
            <p:ph type="title"/>
          </p:nvPr>
        </p:nvSpPr>
        <p:spPr>
          <a:xfrm>
            <a:off x="1146876" y="283110"/>
            <a:ext cx="7739565" cy="406797"/>
          </a:xfrm>
        </p:spPr>
        <p:txBody>
          <a:bodyPr/>
          <a:lstStyle/>
          <a:p>
            <a:r>
              <a:rPr lang="en-US" dirty="0"/>
              <a:t>Risk Elements (Part 1) </a:t>
            </a:r>
          </a:p>
        </p:txBody>
      </p:sp>
      <p:graphicFrame>
        <p:nvGraphicFramePr>
          <p:cNvPr id="5" name="Table 4">
            <a:extLst>
              <a:ext uri="{FF2B5EF4-FFF2-40B4-BE49-F238E27FC236}">
                <a16:creationId xmlns:a16="http://schemas.microsoft.com/office/drawing/2014/main" id="{7032F062-E854-465A-A1BE-ACFE05DE1545}"/>
              </a:ext>
            </a:extLst>
          </p:cNvPr>
          <p:cNvGraphicFramePr>
            <a:graphicFrameLocks noGrp="1"/>
          </p:cNvGraphicFramePr>
          <p:nvPr>
            <p:extLst>
              <p:ext uri="{D42A27DB-BD31-4B8C-83A1-F6EECF244321}">
                <p14:modId xmlns:p14="http://schemas.microsoft.com/office/powerpoint/2010/main" val="944197004"/>
              </p:ext>
            </p:extLst>
          </p:nvPr>
        </p:nvGraphicFramePr>
        <p:xfrm>
          <a:off x="1208224" y="910233"/>
          <a:ext cx="6587852" cy="3663955"/>
        </p:xfrm>
        <a:graphic>
          <a:graphicData uri="http://schemas.openxmlformats.org/drawingml/2006/table">
            <a:tbl>
              <a:tblPr/>
              <a:tblGrid>
                <a:gridCol w="702178">
                  <a:extLst>
                    <a:ext uri="{9D8B030D-6E8A-4147-A177-3AD203B41FA5}">
                      <a16:colId xmlns:a16="http://schemas.microsoft.com/office/drawing/2014/main" val="851911327"/>
                    </a:ext>
                  </a:extLst>
                </a:gridCol>
                <a:gridCol w="1790949">
                  <a:extLst>
                    <a:ext uri="{9D8B030D-6E8A-4147-A177-3AD203B41FA5}">
                      <a16:colId xmlns:a16="http://schemas.microsoft.com/office/drawing/2014/main" val="3470245215"/>
                    </a:ext>
                  </a:extLst>
                </a:gridCol>
                <a:gridCol w="473379">
                  <a:extLst>
                    <a:ext uri="{9D8B030D-6E8A-4147-A177-3AD203B41FA5}">
                      <a16:colId xmlns:a16="http://schemas.microsoft.com/office/drawing/2014/main" val="333508900"/>
                    </a:ext>
                  </a:extLst>
                </a:gridCol>
                <a:gridCol w="512827">
                  <a:extLst>
                    <a:ext uri="{9D8B030D-6E8A-4147-A177-3AD203B41FA5}">
                      <a16:colId xmlns:a16="http://schemas.microsoft.com/office/drawing/2014/main" val="4049987276"/>
                    </a:ext>
                  </a:extLst>
                </a:gridCol>
                <a:gridCol w="284027">
                  <a:extLst>
                    <a:ext uri="{9D8B030D-6E8A-4147-A177-3AD203B41FA5}">
                      <a16:colId xmlns:a16="http://schemas.microsoft.com/office/drawing/2014/main" val="435271737"/>
                    </a:ext>
                  </a:extLst>
                </a:gridCol>
                <a:gridCol w="2051307">
                  <a:extLst>
                    <a:ext uri="{9D8B030D-6E8A-4147-A177-3AD203B41FA5}">
                      <a16:colId xmlns:a16="http://schemas.microsoft.com/office/drawing/2014/main" val="3355235116"/>
                    </a:ext>
                  </a:extLst>
                </a:gridCol>
                <a:gridCol w="220910">
                  <a:extLst>
                    <a:ext uri="{9D8B030D-6E8A-4147-A177-3AD203B41FA5}">
                      <a16:colId xmlns:a16="http://schemas.microsoft.com/office/drawing/2014/main" val="1662807098"/>
                    </a:ext>
                  </a:extLst>
                </a:gridCol>
                <a:gridCol w="552275">
                  <a:extLst>
                    <a:ext uri="{9D8B030D-6E8A-4147-A177-3AD203B41FA5}">
                      <a16:colId xmlns:a16="http://schemas.microsoft.com/office/drawing/2014/main" val="65639273"/>
                    </a:ext>
                  </a:extLst>
                </a:gridCol>
              </a:tblGrid>
              <a:tr h="227222">
                <a:tc>
                  <a:txBody>
                    <a:bodyPr/>
                    <a:lstStyle/>
                    <a:p>
                      <a:pPr algn="ctr" rtl="0" fontAlgn="t"/>
                      <a:r>
                        <a:rPr lang="en-GB" sz="700" b="1" i="0" u="none" strike="noStrike">
                          <a:solidFill>
                            <a:srgbClr val="FFFFFF"/>
                          </a:solidFill>
                          <a:effectLst/>
                          <a:latin typeface="Calibri" panose="020F0502020204030204" pitchFamily="34" charset="0"/>
                        </a:rPr>
                        <a:t>Implemented to Production</a:t>
                      </a:r>
                    </a:p>
                  </a:txBody>
                  <a:tcPr marL="4734" marR="4734" marT="47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rtl="0" fontAlgn="t"/>
                      <a:r>
                        <a:rPr lang="en-GB" sz="700" b="1" i="0" u="none" strike="noStrike">
                          <a:solidFill>
                            <a:srgbClr val="FFFFFF"/>
                          </a:solidFill>
                          <a:effectLst/>
                          <a:latin typeface="Calibri" panose="020F0502020204030204" pitchFamily="34" charset="0"/>
                        </a:rPr>
                        <a:t>Risk Element</a:t>
                      </a:r>
                    </a:p>
                  </a:txBody>
                  <a:tcPr marL="4734" marR="4734" marT="47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rtl="0" fontAlgn="t"/>
                      <a:r>
                        <a:rPr lang="en-GB" sz="700" b="1" i="0" u="none" strike="noStrike">
                          <a:solidFill>
                            <a:srgbClr val="FFFFFF"/>
                          </a:solidFill>
                          <a:effectLst/>
                          <a:latin typeface="Calibri" panose="020F0502020204030204" pitchFamily="34" charset="0"/>
                        </a:rPr>
                        <a:t>Weighting</a:t>
                      </a:r>
                    </a:p>
                  </a:txBody>
                  <a:tcPr marL="4734" marR="4734" marT="47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l" rtl="0" fontAlgn="t"/>
                      <a:r>
                        <a:rPr lang="en-GB" sz="700" b="1" i="0" u="none" strike="noStrike">
                          <a:solidFill>
                            <a:srgbClr val="FFFFFF"/>
                          </a:solidFill>
                          <a:effectLst/>
                          <a:latin typeface="Calibri" panose="020F0502020204030204" pitchFamily="34" charset="0"/>
                        </a:rPr>
                        <a:t>Max with multiplier</a:t>
                      </a:r>
                    </a:p>
                  </a:txBody>
                  <a:tcPr marL="4734" marR="4734" marT="47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gridSpan="2">
                  <a:txBody>
                    <a:bodyPr/>
                    <a:lstStyle/>
                    <a:p>
                      <a:pPr algn="ctr" rtl="0" fontAlgn="t"/>
                      <a:r>
                        <a:rPr lang="en-GB" sz="700" b="1" i="0" u="none" strike="noStrike">
                          <a:solidFill>
                            <a:srgbClr val="FFFFFF"/>
                          </a:solidFill>
                          <a:effectLst/>
                          <a:latin typeface="Calibri" panose="020F0502020204030204" pitchFamily="34" charset="0"/>
                        </a:rPr>
                        <a:t>Multiplier / Rule</a:t>
                      </a:r>
                    </a:p>
                  </a:txBody>
                  <a:tcPr marL="4734" marR="4734" marT="47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hMerge="1">
                  <a:txBody>
                    <a:bodyPr/>
                    <a:lstStyle/>
                    <a:p>
                      <a:endParaRPr lang="en-GB"/>
                    </a:p>
                  </a:txBody>
                  <a:tcPr/>
                </a:tc>
                <a:tc>
                  <a:txBody>
                    <a:bodyPr/>
                    <a:lstStyle/>
                    <a:p>
                      <a:pPr algn="ctr" rtl="0" fontAlgn="t"/>
                      <a:r>
                        <a:rPr lang="en-GB" sz="700" b="1" i="0" u="none" strike="noStrike">
                          <a:solidFill>
                            <a:srgbClr val="FFFFFF"/>
                          </a:solidFill>
                          <a:effectLst/>
                          <a:latin typeface="Calibri" panose="020F0502020204030204" pitchFamily="34" charset="0"/>
                        </a:rPr>
                        <a:t> </a:t>
                      </a:r>
                    </a:p>
                  </a:txBody>
                  <a:tcPr marL="4734" marR="4734" marT="47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l" rtl="0" fontAlgn="t"/>
                      <a:r>
                        <a:rPr lang="en-GB" sz="700" b="1" i="0" u="none" strike="noStrike">
                          <a:solidFill>
                            <a:srgbClr val="FFFFFF"/>
                          </a:solidFill>
                          <a:effectLst/>
                          <a:latin typeface="Calibri" panose="020F0502020204030204" pitchFamily="34" charset="0"/>
                        </a:rPr>
                        <a:t>Affects Merchants</a:t>
                      </a:r>
                    </a:p>
                  </a:txBody>
                  <a:tcPr marL="4734" marR="4734" marT="47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extLst>
                  <a:ext uri="{0D108BD9-81ED-4DB2-BD59-A6C34878D82A}">
                    <a16:rowId xmlns:a16="http://schemas.microsoft.com/office/drawing/2014/main" val="3656012814"/>
                  </a:ext>
                </a:extLst>
              </a:tr>
              <a:tr h="113611">
                <a:tc>
                  <a:txBody>
                    <a:bodyPr/>
                    <a:lstStyle/>
                    <a:p>
                      <a:pPr algn="ctr" fontAlgn="ctr"/>
                      <a:r>
                        <a:rPr lang="en-GB" sz="700" b="0" i="0" u="none" strike="noStrike">
                          <a:solidFill>
                            <a:srgbClr val="000000"/>
                          </a:solidFill>
                          <a:effectLst/>
                          <a:latin typeface="Calibri" panose="020F0502020204030204" pitchFamily="34" charset="0"/>
                        </a:rPr>
                        <a:t>Oct 2020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Acquisition Channel</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35</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315</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gridSpan="2">
                  <a:txBody>
                    <a:bodyPr/>
                    <a:lstStyle/>
                    <a:p>
                      <a:pPr algn="l" fontAlgn="ctr"/>
                      <a:r>
                        <a:rPr lang="en-GB" sz="700" b="0" i="0" u="none" strike="noStrike">
                          <a:solidFill>
                            <a:srgbClr val="000000"/>
                          </a:solidFill>
                          <a:effectLst/>
                          <a:latin typeface="Calibri" panose="020F0502020204030204" pitchFamily="34" charset="0"/>
                        </a:rPr>
                        <a:t>Inherent risk of the least risky channel</a:t>
                      </a:r>
                    </a:p>
                  </a:txBody>
                  <a:tcPr marL="56805"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GB"/>
                    </a:p>
                  </a:txBody>
                  <a:tcPr/>
                </a:tc>
                <a:tc>
                  <a:txBody>
                    <a:bodyPr/>
                    <a:lstStyle/>
                    <a:p>
                      <a:pPr algn="ctr" fontAlgn="ctr"/>
                      <a:r>
                        <a:rPr lang="en-GB" sz="700" b="0" i="0" u="none" strike="noStrike">
                          <a:solidFill>
                            <a:srgbClr val="000000"/>
                          </a:solidFill>
                          <a:effectLst/>
                          <a:latin typeface="Calibri" panose="020F0502020204030204" pitchFamily="34" charset="0"/>
                        </a:rPr>
                        <a:t>C</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Y</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4075994031"/>
                  </a:ext>
                </a:extLst>
              </a:tr>
              <a:tr h="113611">
                <a:tc>
                  <a:txBody>
                    <a:bodyPr/>
                    <a:lstStyle/>
                    <a:p>
                      <a:pPr algn="ctr" fontAlgn="ctr"/>
                      <a:r>
                        <a:rPr lang="en-GB" sz="700" b="0" i="0" u="none" strike="noStrike">
                          <a:solidFill>
                            <a:srgbClr val="000000"/>
                          </a:solidFill>
                          <a:effectLst/>
                          <a:latin typeface="Calibri" panose="020F0502020204030204" pitchFamily="34" charset="0"/>
                        </a:rPr>
                        <a:t>Oct 2020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Company Structure</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40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360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gridSpan="2">
                  <a:txBody>
                    <a:bodyPr/>
                    <a:lstStyle/>
                    <a:p>
                      <a:pPr algn="l" fontAlgn="ctr"/>
                      <a:r>
                        <a:rPr lang="en-GB" sz="700" b="0" i="0" u="none" strike="noStrike">
                          <a:solidFill>
                            <a:srgbClr val="000000"/>
                          </a:solidFill>
                          <a:effectLst/>
                          <a:latin typeface="Calibri" panose="020F0502020204030204" pitchFamily="34" charset="0"/>
                        </a:rPr>
                        <a:t>Inherent risk of the riskiest structure</a:t>
                      </a:r>
                    </a:p>
                  </a:txBody>
                  <a:tcPr marL="56805"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GB"/>
                    </a:p>
                  </a:txBody>
                  <a:tcPr/>
                </a:tc>
                <a:tc>
                  <a:txBody>
                    <a:bodyPr/>
                    <a:lstStyle/>
                    <a:p>
                      <a:pPr algn="ctr" fontAlgn="ctr"/>
                      <a:r>
                        <a:rPr lang="en-GB" sz="700" b="0" i="0" u="none" strike="noStrike">
                          <a:solidFill>
                            <a:srgbClr val="000000"/>
                          </a:solidFill>
                          <a:effectLst/>
                          <a:latin typeface="Calibri" panose="020F0502020204030204" pitchFamily="34" charset="0"/>
                        </a:rPr>
                        <a:t>C</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Y</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449914349"/>
                  </a:ext>
                </a:extLst>
              </a:tr>
              <a:tr h="227222">
                <a:tc>
                  <a:txBody>
                    <a:bodyPr/>
                    <a:lstStyle/>
                    <a:p>
                      <a:pPr algn="ctr" fontAlgn="ctr"/>
                      <a:r>
                        <a:rPr lang="en-GB" sz="700" b="0" i="0" u="none" strike="noStrike">
                          <a:solidFill>
                            <a:srgbClr val="000000"/>
                          </a:solidFill>
                          <a:effectLst/>
                          <a:latin typeface="Calibri" panose="020F0502020204030204" pitchFamily="34" charset="0"/>
                        </a:rPr>
                        <a:t>Oct 2020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Date of Establishment</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200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400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2</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1</a:t>
                      </a:r>
                    </a:p>
                  </a:txBody>
                  <a:tcPr marL="4734" marR="56805"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&lt; 7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Between 7 to 12 months</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C</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Y</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233244007"/>
                  </a:ext>
                </a:extLst>
              </a:tr>
              <a:tr h="113611">
                <a:tc>
                  <a:txBody>
                    <a:bodyPr/>
                    <a:lstStyle/>
                    <a:p>
                      <a:pPr algn="ctr" fontAlgn="ctr"/>
                      <a:r>
                        <a:rPr lang="en-GB" sz="700" b="0" i="0" u="none" strike="noStrike">
                          <a:solidFill>
                            <a:srgbClr val="000000"/>
                          </a:solidFill>
                          <a:effectLst/>
                          <a:latin typeface="Calibri" panose="020F0502020204030204" pitchFamily="34" charset="0"/>
                        </a:rPr>
                        <a:t>Oct 2020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Industry</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40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360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gridSpan="2">
                  <a:txBody>
                    <a:bodyPr/>
                    <a:lstStyle/>
                    <a:p>
                      <a:pPr algn="l" fontAlgn="ctr"/>
                      <a:r>
                        <a:rPr lang="en-GB" sz="700" b="0" i="0" u="none" strike="noStrike">
                          <a:solidFill>
                            <a:srgbClr val="000000"/>
                          </a:solidFill>
                          <a:effectLst/>
                          <a:latin typeface="Calibri" panose="020F0502020204030204" pitchFamily="34" charset="0"/>
                        </a:rPr>
                        <a:t>Inherent risk of the riskiest industry</a:t>
                      </a:r>
                    </a:p>
                  </a:txBody>
                  <a:tcPr marL="56805"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GB"/>
                    </a:p>
                  </a:txBody>
                  <a:tcPr/>
                </a:tc>
                <a:tc>
                  <a:txBody>
                    <a:bodyPr/>
                    <a:lstStyle/>
                    <a:p>
                      <a:pPr algn="ctr" fontAlgn="ctr"/>
                      <a:r>
                        <a:rPr lang="en-GB" sz="700" b="0" i="0" u="none" strike="noStrike">
                          <a:solidFill>
                            <a:srgbClr val="000000"/>
                          </a:solidFill>
                          <a:effectLst/>
                          <a:latin typeface="Calibri" panose="020F0502020204030204" pitchFamily="34" charset="0"/>
                        </a:rPr>
                        <a:t>C</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Y</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827898472"/>
                  </a:ext>
                </a:extLst>
              </a:tr>
              <a:tr h="340833">
                <a:tc>
                  <a:txBody>
                    <a:bodyPr/>
                    <a:lstStyle/>
                    <a:p>
                      <a:pPr algn="ctr" fontAlgn="ctr"/>
                      <a:r>
                        <a:rPr lang="en-GB" sz="700" b="0" i="0" u="none" strike="noStrike">
                          <a:solidFill>
                            <a:srgbClr val="000000"/>
                          </a:solidFill>
                          <a:effectLst/>
                          <a:latin typeface="Calibri" panose="020F0502020204030204" pitchFamily="34" charset="0"/>
                        </a:rPr>
                        <a:t>Oct 2020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Large Number of Supp Cards  </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150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300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2</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1</a:t>
                      </a:r>
                    </a:p>
                  </a:txBody>
                  <a:tcPr marL="4734" marR="56805"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Consumer card and 4 supps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Consumer card and 5 or more supps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SBS card and 20 or more supps</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C</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 </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527300555"/>
                  </a:ext>
                </a:extLst>
              </a:tr>
              <a:tr h="227222">
                <a:tc>
                  <a:txBody>
                    <a:bodyPr/>
                    <a:lstStyle/>
                    <a:p>
                      <a:pPr algn="ctr" fontAlgn="ctr"/>
                      <a:r>
                        <a:rPr lang="en-GB" sz="700" b="0" i="0" u="none" strike="noStrike">
                          <a:solidFill>
                            <a:srgbClr val="000000"/>
                          </a:solidFill>
                          <a:effectLst/>
                          <a:latin typeface="Calibri" panose="020F0502020204030204" pitchFamily="34" charset="0"/>
                        </a:rPr>
                        <a:t>Mar 2021</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Length of Relationship</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200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400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2</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1</a:t>
                      </a:r>
                    </a:p>
                  </a:txBody>
                  <a:tcPr marL="4734" marR="56805"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&lt; 13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Between 13 to 36 months</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C</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Y</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552201478"/>
                  </a:ext>
                </a:extLst>
              </a:tr>
              <a:tr h="227222">
                <a:tc>
                  <a:txBody>
                    <a:bodyPr/>
                    <a:lstStyle/>
                    <a:p>
                      <a:pPr algn="ctr" fontAlgn="ctr"/>
                      <a:r>
                        <a:rPr lang="en-GB" sz="700" b="0" i="0" u="none" strike="noStrike">
                          <a:solidFill>
                            <a:srgbClr val="000000"/>
                          </a:solidFill>
                          <a:effectLst/>
                          <a:latin typeface="Calibri" panose="020F0502020204030204" pitchFamily="34" charset="0"/>
                        </a:rPr>
                        <a:t>Oct 2020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Nationality of Account Holder</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50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150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3</a:t>
                      </a:r>
                    </a:p>
                  </a:txBody>
                  <a:tcPr marL="4734" marR="56805"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Nationality in medium risk country</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Nationality in high risk country</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C</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Y</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701623507"/>
                  </a:ext>
                </a:extLst>
              </a:tr>
              <a:tr h="227222">
                <a:tc>
                  <a:txBody>
                    <a:bodyPr/>
                    <a:lstStyle/>
                    <a:p>
                      <a:pPr algn="ctr" fontAlgn="ctr"/>
                      <a:r>
                        <a:rPr lang="en-GB" sz="700" b="0" i="0" u="none" strike="noStrike">
                          <a:solidFill>
                            <a:srgbClr val="000000"/>
                          </a:solidFill>
                          <a:effectLst/>
                          <a:latin typeface="Calibri" panose="020F0502020204030204" pitchFamily="34" charset="0"/>
                        </a:rPr>
                        <a:t>Mar 2021</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Nationality of Beneficial Owner</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35</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105</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3</a:t>
                      </a:r>
                    </a:p>
                  </a:txBody>
                  <a:tcPr marL="4734" marR="56805"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Nationality in medium risk country</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Nationality in high risk country</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C</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Y</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853004326"/>
                  </a:ext>
                </a:extLst>
              </a:tr>
              <a:tr h="227222">
                <a:tc>
                  <a:txBody>
                    <a:bodyPr/>
                    <a:lstStyle/>
                    <a:p>
                      <a:pPr algn="ctr" fontAlgn="ctr"/>
                      <a:r>
                        <a:rPr lang="en-GB" sz="700" b="0" i="0" u="none" strike="noStrike">
                          <a:solidFill>
                            <a:srgbClr val="000000"/>
                          </a:solidFill>
                          <a:effectLst/>
                          <a:latin typeface="Calibri" panose="020F0502020204030204" pitchFamily="34" charset="0"/>
                        </a:rPr>
                        <a:t>Oct 2020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Number of Relationships</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75</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150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2</a:t>
                      </a:r>
                    </a:p>
                  </a:txBody>
                  <a:tcPr marL="4734" marR="56805"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 4 relationships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&gt; 4 relationships</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C</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 </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894249030"/>
                  </a:ext>
                </a:extLst>
              </a:tr>
              <a:tr h="340833">
                <a:tc>
                  <a:txBody>
                    <a:bodyPr/>
                    <a:lstStyle/>
                    <a:p>
                      <a:pPr algn="ctr" fontAlgn="ctr"/>
                      <a:r>
                        <a:rPr lang="en-GB" sz="700" b="0" i="0" u="none" strike="noStrike">
                          <a:solidFill>
                            <a:srgbClr val="000000"/>
                          </a:solidFill>
                          <a:effectLst/>
                          <a:latin typeface="Calibri" panose="020F0502020204030204" pitchFamily="34" charset="0"/>
                        </a:rPr>
                        <a:t>Oct 2020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Occupation Account Holder</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100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400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2.5</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4</a:t>
                      </a:r>
                    </a:p>
                  </a:txBody>
                  <a:tcPr marL="4734" marR="56805"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Low Occupation</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Medium Occupation</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High Occupation</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C</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 </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328048636"/>
                  </a:ext>
                </a:extLst>
              </a:tr>
              <a:tr h="113611">
                <a:tc>
                  <a:txBody>
                    <a:bodyPr/>
                    <a:lstStyle/>
                    <a:p>
                      <a:pPr algn="ctr" fontAlgn="ctr"/>
                      <a:r>
                        <a:rPr lang="en-GB" sz="700" b="0" i="0" u="none" strike="noStrike">
                          <a:solidFill>
                            <a:srgbClr val="000000"/>
                          </a:solidFill>
                          <a:effectLst/>
                          <a:latin typeface="Calibri" panose="020F0502020204030204" pitchFamily="34" charset="0"/>
                        </a:rPr>
                        <a:t>Mar 2021</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PEP is Foreign</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200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200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gridSpan="2">
                  <a:txBody>
                    <a:bodyPr/>
                    <a:lstStyle/>
                    <a:p>
                      <a:pPr algn="l" fontAlgn="ctr"/>
                      <a:r>
                        <a:rPr lang="en-GB" sz="700" b="0" i="0" u="none" strike="noStrike">
                          <a:solidFill>
                            <a:srgbClr val="000000"/>
                          </a:solidFill>
                          <a:effectLst/>
                          <a:latin typeface="Calibri" panose="020F0502020204030204" pitchFamily="34" charset="0"/>
                        </a:rPr>
                        <a:t>Foreign PEP present on the account</a:t>
                      </a:r>
                    </a:p>
                  </a:txBody>
                  <a:tcPr marL="56805"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GB"/>
                    </a:p>
                  </a:txBody>
                  <a:tcPr/>
                </a:tc>
                <a:tc>
                  <a:txBody>
                    <a:bodyPr/>
                    <a:lstStyle/>
                    <a:p>
                      <a:pPr algn="ctr" fontAlgn="ctr"/>
                      <a:r>
                        <a:rPr lang="en-GB" sz="700" b="0" i="0" u="none" strike="noStrike">
                          <a:solidFill>
                            <a:srgbClr val="000000"/>
                          </a:solidFill>
                          <a:effectLst/>
                          <a:latin typeface="Calibri" panose="020F0502020204030204" pitchFamily="34" charset="0"/>
                        </a:rPr>
                        <a:t>C</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Y</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714000544"/>
                  </a:ext>
                </a:extLst>
              </a:tr>
              <a:tr h="113611">
                <a:tc>
                  <a:txBody>
                    <a:bodyPr/>
                    <a:lstStyle/>
                    <a:p>
                      <a:pPr algn="ctr" fontAlgn="ctr"/>
                      <a:r>
                        <a:rPr lang="en-GB" sz="700" b="0" i="0" u="none" strike="noStrike">
                          <a:solidFill>
                            <a:srgbClr val="000000"/>
                          </a:solidFill>
                          <a:effectLst/>
                          <a:latin typeface="Calibri" panose="020F0502020204030204" pitchFamily="34" charset="0"/>
                        </a:rPr>
                        <a:t>Mar 2021</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PEP Present</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100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100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gridSpan="2">
                  <a:txBody>
                    <a:bodyPr/>
                    <a:lstStyle/>
                    <a:p>
                      <a:pPr algn="l" fontAlgn="ctr"/>
                      <a:r>
                        <a:rPr lang="en-GB" sz="700" b="0" i="0" u="none" strike="noStrike">
                          <a:solidFill>
                            <a:srgbClr val="000000"/>
                          </a:solidFill>
                          <a:effectLst/>
                          <a:latin typeface="Calibri" panose="020F0502020204030204" pitchFamily="34" charset="0"/>
                        </a:rPr>
                        <a:t>PEP on the account</a:t>
                      </a:r>
                    </a:p>
                  </a:txBody>
                  <a:tcPr marL="56805"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GB"/>
                    </a:p>
                  </a:txBody>
                  <a:tcPr/>
                </a:tc>
                <a:tc>
                  <a:txBody>
                    <a:bodyPr/>
                    <a:lstStyle/>
                    <a:p>
                      <a:pPr algn="ctr" fontAlgn="ctr"/>
                      <a:r>
                        <a:rPr lang="en-GB" sz="700" b="0" i="0" u="none" strike="noStrike">
                          <a:solidFill>
                            <a:srgbClr val="000000"/>
                          </a:solidFill>
                          <a:effectLst/>
                          <a:latin typeface="Calibri" panose="020F0502020204030204" pitchFamily="34" charset="0"/>
                        </a:rPr>
                        <a:t>C</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Y</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095144680"/>
                  </a:ext>
                </a:extLst>
              </a:tr>
              <a:tr h="227222">
                <a:tc>
                  <a:txBody>
                    <a:bodyPr/>
                    <a:lstStyle/>
                    <a:p>
                      <a:pPr algn="ctr" fontAlgn="ctr"/>
                      <a:r>
                        <a:rPr lang="en-GB" sz="700" b="0" i="0" u="none" strike="noStrike">
                          <a:solidFill>
                            <a:srgbClr val="000000"/>
                          </a:solidFill>
                          <a:effectLst/>
                          <a:latin typeface="Calibri" panose="020F0502020204030204" pitchFamily="34" charset="0"/>
                        </a:rPr>
                        <a:t>Mar 2021</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PEP Risk Rating</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300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900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2</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3</a:t>
                      </a:r>
                    </a:p>
                  </a:txBody>
                  <a:tcPr marL="4734" marR="56805"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Medium Risk PEP on the account</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High Risk PEP on the account</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C</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Y</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562369541"/>
                  </a:ext>
                </a:extLst>
              </a:tr>
              <a:tr h="118345">
                <a:tc>
                  <a:txBody>
                    <a:bodyPr/>
                    <a:lstStyle/>
                    <a:p>
                      <a:pPr algn="ctr" fontAlgn="ctr"/>
                      <a:r>
                        <a:rPr lang="en-GB" sz="700" b="0" i="0" u="none" strike="noStrike">
                          <a:solidFill>
                            <a:srgbClr val="000000"/>
                          </a:solidFill>
                          <a:effectLst/>
                          <a:latin typeface="Calibri" panose="020F0502020204030204" pitchFamily="34" charset="0"/>
                        </a:rPr>
                        <a:t>Mar 2021</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Special Interest person/Entity status</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400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400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p>
                  </a:txBody>
                  <a:tcPr marL="4734" marR="56805"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SIP/SIE present on the account</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C</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Y</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544432935"/>
                  </a:ext>
                </a:extLst>
              </a:tr>
              <a:tr h="113611">
                <a:tc>
                  <a:txBody>
                    <a:bodyPr/>
                    <a:lstStyle/>
                    <a:p>
                      <a:pPr algn="ctr" fontAlgn="ctr"/>
                      <a:r>
                        <a:rPr lang="en-GB" sz="700" b="0" i="0" u="none" strike="noStrike">
                          <a:solidFill>
                            <a:srgbClr val="000000"/>
                          </a:solidFill>
                          <a:effectLst/>
                          <a:latin typeface="Calibri" panose="020F0502020204030204" pitchFamily="34" charset="0"/>
                        </a:rPr>
                        <a:t>Mar 2021</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Country of Incorporation</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25</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225</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gridSpan="2">
                  <a:txBody>
                    <a:bodyPr/>
                    <a:lstStyle/>
                    <a:p>
                      <a:pPr algn="l" fontAlgn="ctr"/>
                      <a:r>
                        <a:rPr lang="en-GB" sz="700" b="0" i="0" u="none" strike="noStrike">
                          <a:solidFill>
                            <a:srgbClr val="000000"/>
                          </a:solidFill>
                          <a:effectLst/>
                          <a:latin typeface="Calibri" panose="020F0502020204030204" pitchFamily="34" charset="0"/>
                        </a:rPr>
                        <a:t>Inherent risk of the country</a:t>
                      </a:r>
                    </a:p>
                  </a:txBody>
                  <a:tcPr marL="56805"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GB"/>
                    </a:p>
                  </a:txBody>
                  <a:tcPr/>
                </a:tc>
                <a:tc>
                  <a:txBody>
                    <a:bodyPr/>
                    <a:lstStyle/>
                    <a:p>
                      <a:pPr algn="ctr" fontAlgn="ctr"/>
                      <a:r>
                        <a:rPr lang="en-GB" sz="700" b="0" i="0" u="none" strike="noStrike">
                          <a:solidFill>
                            <a:srgbClr val="000000"/>
                          </a:solidFill>
                          <a:effectLst/>
                          <a:latin typeface="Calibri" panose="020F0502020204030204" pitchFamily="34" charset="0"/>
                        </a:rPr>
                        <a:t>G</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Y</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469774937"/>
                  </a:ext>
                </a:extLst>
              </a:tr>
              <a:tr h="123078">
                <a:tc>
                  <a:txBody>
                    <a:bodyPr/>
                    <a:lstStyle/>
                    <a:p>
                      <a:pPr algn="ctr" fontAlgn="ctr"/>
                      <a:r>
                        <a:rPr lang="en-GB" sz="700" b="0" i="0" u="none" strike="noStrike">
                          <a:solidFill>
                            <a:srgbClr val="000000"/>
                          </a:solidFill>
                          <a:effectLst/>
                          <a:latin typeface="Calibri" panose="020F0502020204030204" pitchFamily="34" charset="0"/>
                        </a:rPr>
                        <a:t>Mar 2021</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Country on the FATF list</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100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100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gridSpan="2">
                  <a:txBody>
                    <a:bodyPr/>
                    <a:lstStyle/>
                    <a:p>
                      <a:pPr algn="l" fontAlgn="ctr"/>
                      <a:r>
                        <a:rPr lang="en-GB" sz="700" b="0" i="0" u="none" strike="noStrike">
                          <a:solidFill>
                            <a:srgbClr val="000000"/>
                          </a:solidFill>
                          <a:effectLst/>
                          <a:latin typeface="Calibri" panose="020F0502020204030204" pitchFamily="34" charset="0"/>
                        </a:rPr>
                        <a:t>The country on the party's address is on the FATF list </a:t>
                      </a:r>
                    </a:p>
                  </a:txBody>
                  <a:tcPr marL="56805"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GB"/>
                    </a:p>
                  </a:txBody>
                  <a:tcPr/>
                </a:tc>
                <a:tc>
                  <a:txBody>
                    <a:bodyPr/>
                    <a:lstStyle/>
                    <a:p>
                      <a:pPr algn="ctr" fontAlgn="ctr"/>
                      <a:r>
                        <a:rPr lang="en-GB" sz="700" b="0" i="0" u="none" strike="noStrike">
                          <a:solidFill>
                            <a:srgbClr val="000000"/>
                          </a:solidFill>
                          <a:effectLst/>
                          <a:latin typeface="Calibri" panose="020F0502020204030204" pitchFamily="34" charset="0"/>
                        </a:rPr>
                        <a:t>G</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Y</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468758207"/>
                  </a:ext>
                </a:extLst>
              </a:tr>
              <a:tr h="113611">
                <a:tc>
                  <a:txBody>
                    <a:bodyPr/>
                    <a:lstStyle/>
                    <a:p>
                      <a:pPr algn="ctr" fontAlgn="ctr"/>
                      <a:r>
                        <a:rPr lang="en-GB" sz="700" b="0" i="0" u="none" strike="noStrike">
                          <a:solidFill>
                            <a:srgbClr val="000000"/>
                          </a:solidFill>
                          <a:effectLst/>
                          <a:latin typeface="Calibri" panose="020F0502020204030204" pitchFamily="34" charset="0"/>
                        </a:rPr>
                        <a:t>Oct 2020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Geography of Account Holder</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50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500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gridSpan="2">
                  <a:txBody>
                    <a:bodyPr/>
                    <a:lstStyle/>
                    <a:p>
                      <a:pPr algn="l" fontAlgn="ctr"/>
                      <a:r>
                        <a:rPr lang="en-GB" sz="700" b="0" i="0" u="none" strike="noStrike">
                          <a:solidFill>
                            <a:srgbClr val="000000"/>
                          </a:solidFill>
                          <a:effectLst/>
                          <a:latin typeface="Calibri" panose="020F0502020204030204" pitchFamily="34" charset="0"/>
                        </a:rPr>
                        <a:t>Inherent risk of the riskiest geography</a:t>
                      </a:r>
                    </a:p>
                  </a:txBody>
                  <a:tcPr marL="56805"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GB"/>
                    </a:p>
                  </a:txBody>
                  <a:tcPr/>
                </a:tc>
                <a:tc>
                  <a:txBody>
                    <a:bodyPr/>
                    <a:lstStyle/>
                    <a:p>
                      <a:pPr algn="ctr" fontAlgn="ctr"/>
                      <a:r>
                        <a:rPr lang="en-GB" sz="700" b="0" i="0" u="none" strike="noStrike">
                          <a:solidFill>
                            <a:srgbClr val="000000"/>
                          </a:solidFill>
                          <a:effectLst/>
                          <a:latin typeface="Calibri" panose="020F0502020204030204" pitchFamily="34" charset="0"/>
                        </a:rPr>
                        <a:t>G</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Y</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249899343"/>
                  </a:ext>
                </a:extLst>
              </a:tr>
              <a:tr h="118345">
                <a:tc>
                  <a:txBody>
                    <a:bodyPr/>
                    <a:lstStyle/>
                    <a:p>
                      <a:pPr algn="ctr" fontAlgn="ctr"/>
                      <a:r>
                        <a:rPr lang="en-GB" sz="700" b="0" i="0" u="none" strike="noStrike">
                          <a:solidFill>
                            <a:srgbClr val="000000"/>
                          </a:solidFill>
                          <a:effectLst/>
                          <a:latin typeface="Calibri" panose="020F0502020204030204" pitchFamily="34" charset="0"/>
                        </a:rPr>
                        <a:t>Oct 2020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Geography of Beneficial Owners</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30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300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gridSpan="2">
                  <a:txBody>
                    <a:bodyPr/>
                    <a:lstStyle/>
                    <a:p>
                      <a:pPr algn="l" fontAlgn="ctr"/>
                      <a:r>
                        <a:rPr lang="en-GB" sz="700" b="0" i="0" u="none" strike="noStrike">
                          <a:solidFill>
                            <a:srgbClr val="000000"/>
                          </a:solidFill>
                          <a:effectLst/>
                          <a:latin typeface="Calibri" panose="020F0502020204030204" pitchFamily="34" charset="0"/>
                        </a:rPr>
                        <a:t>Inherent risk of the riskiest geography</a:t>
                      </a:r>
                    </a:p>
                  </a:txBody>
                  <a:tcPr marL="56805"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GB"/>
                    </a:p>
                  </a:txBody>
                  <a:tcPr/>
                </a:tc>
                <a:tc>
                  <a:txBody>
                    <a:bodyPr/>
                    <a:lstStyle/>
                    <a:p>
                      <a:pPr algn="ctr" fontAlgn="ctr"/>
                      <a:r>
                        <a:rPr lang="en-GB" sz="700" b="0" i="0" u="none" strike="noStrike">
                          <a:solidFill>
                            <a:srgbClr val="000000"/>
                          </a:solidFill>
                          <a:effectLst/>
                          <a:latin typeface="Calibri" panose="020F0502020204030204" pitchFamily="34" charset="0"/>
                        </a:rPr>
                        <a:t>G</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Y</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799016972"/>
                  </a:ext>
                </a:extLst>
              </a:tr>
              <a:tr h="118345">
                <a:tc>
                  <a:txBody>
                    <a:bodyPr/>
                    <a:lstStyle/>
                    <a:p>
                      <a:pPr algn="ctr" fontAlgn="ctr"/>
                      <a:r>
                        <a:rPr lang="en-GB" sz="700" b="0" i="0" u="none" strike="noStrike">
                          <a:solidFill>
                            <a:srgbClr val="000000"/>
                          </a:solidFill>
                          <a:effectLst/>
                          <a:latin typeface="Calibri" panose="020F0502020204030204" pitchFamily="34" charset="0"/>
                        </a:rPr>
                        <a:t>Oct 2020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Geography of Other Related Parties</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15</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150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gridSpan="2">
                  <a:txBody>
                    <a:bodyPr/>
                    <a:lstStyle/>
                    <a:p>
                      <a:pPr algn="l" fontAlgn="ctr"/>
                      <a:r>
                        <a:rPr lang="en-GB" sz="700" b="0" i="0" u="none" strike="noStrike">
                          <a:solidFill>
                            <a:srgbClr val="000000"/>
                          </a:solidFill>
                          <a:effectLst/>
                          <a:latin typeface="Calibri" panose="020F0502020204030204" pitchFamily="34" charset="0"/>
                        </a:rPr>
                        <a:t>Inherent risk of the riskiest geography</a:t>
                      </a:r>
                    </a:p>
                  </a:txBody>
                  <a:tcPr marL="56805"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GB"/>
                    </a:p>
                  </a:txBody>
                  <a:tcPr/>
                </a:tc>
                <a:tc>
                  <a:txBody>
                    <a:bodyPr/>
                    <a:lstStyle/>
                    <a:p>
                      <a:pPr algn="ctr" fontAlgn="ctr"/>
                      <a:r>
                        <a:rPr lang="en-GB" sz="700" b="0" i="0" u="none" strike="noStrike">
                          <a:solidFill>
                            <a:srgbClr val="000000"/>
                          </a:solidFill>
                          <a:effectLst/>
                          <a:latin typeface="Calibri" panose="020F0502020204030204" pitchFamily="34" charset="0"/>
                        </a:rPr>
                        <a:t>G</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Y</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4074219609"/>
                  </a:ext>
                </a:extLst>
              </a:tr>
              <a:tr h="118345">
                <a:tc>
                  <a:txBody>
                    <a:bodyPr/>
                    <a:lstStyle/>
                    <a:p>
                      <a:pPr algn="ctr" fontAlgn="ctr"/>
                      <a:r>
                        <a:rPr lang="en-GB" sz="700" b="0" i="0" u="none" strike="noStrike">
                          <a:solidFill>
                            <a:srgbClr val="000000"/>
                          </a:solidFill>
                          <a:effectLst/>
                          <a:latin typeface="Calibri" panose="020F0502020204030204" pitchFamily="34" charset="0"/>
                        </a:rPr>
                        <a:t>Oct 2020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Geography of Prohibited/Sanctioned</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100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1000</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gridSpan="2">
                  <a:txBody>
                    <a:bodyPr/>
                    <a:lstStyle/>
                    <a:p>
                      <a:pPr algn="l" fontAlgn="ctr"/>
                      <a:r>
                        <a:rPr lang="en-GB" sz="700" b="0" i="0" u="none" strike="noStrike">
                          <a:solidFill>
                            <a:srgbClr val="000000"/>
                          </a:solidFill>
                          <a:effectLst/>
                          <a:latin typeface="Calibri" panose="020F0502020204030204" pitchFamily="34" charset="0"/>
                        </a:rPr>
                        <a:t>Inherent risk of the riskiest geography</a:t>
                      </a:r>
                    </a:p>
                  </a:txBody>
                  <a:tcPr marL="56805"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GB"/>
                    </a:p>
                  </a:txBody>
                  <a:tcPr/>
                </a:tc>
                <a:tc>
                  <a:txBody>
                    <a:bodyPr/>
                    <a:lstStyle/>
                    <a:p>
                      <a:pPr algn="ctr" fontAlgn="ctr"/>
                      <a:r>
                        <a:rPr lang="en-GB" sz="700" b="0" i="0" u="none" strike="noStrike">
                          <a:solidFill>
                            <a:srgbClr val="000000"/>
                          </a:solidFill>
                          <a:effectLst/>
                          <a:latin typeface="Calibri" panose="020F0502020204030204" pitchFamily="34" charset="0"/>
                        </a:rPr>
                        <a:t>G</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dirty="0">
                          <a:solidFill>
                            <a:srgbClr val="000000"/>
                          </a:solidFill>
                          <a:effectLst/>
                          <a:latin typeface="Calibri" panose="020F0502020204030204" pitchFamily="34" charset="0"/>
                        </a:rPr>
                        <a:t>Y</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2706638409"/>
                  </a:ext>
                </a:extLst>
              </a:tr>
            </a:tbl>
          </a:graphicData>
        </a:graphic>
      </p:graphicFrame>
    </p:spTree>
    <p:extLst>
      <p:ext uri="{BB962C8B-B14F-4D97-AF65-F5344CB8AC3E}">
        <p14:creationId xmlns:p14="http://schemas.microsoft.com/office/powerpoint/2010/main" val="365285055"/>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A42AA58-6F66-42B3-BFF2-9E04510C7842}"/>
              </a:ext>
            </a:extLst>
          </p:cNvPr>
          <p:cNvSpPr>
            <a:spLocks noGrp="1"/>
          </p:cNvSpPr>
          <p:nvPr>
            <p:ph type="sldNum" sz="quarter" idx="10"/>
          </p:nvPr>
        </p:nvSpPr>
        <p:spPr/>
        <p:txBody>
          <a:bodyPr/>
          <a:lstStyle/>
          <a:p>
            <a:pPr>
              <a:defRPr/>
            </a:pPr>
            <a:fld id="{920384AA-0A71-E644-AEED-65CD2253F2C8}" type="slidenum">
              <a:rPr lang="en-US" smtClean="0"/>
              <a:pPr>
                <a:defRPr/>
              </a:pPr>
              <a:t>7</a:t>
            </a:fld>
            <a:endParaRPr lang="en-US" dirty="0"/>
          </a:p>
        </p:txBody>
      </p:sp>
      <p:sp>
        <p:nvSpPr>
          <p:cNvPr id="6" name="Title 1">
            <a:extLst>
              <a:ext uri="{FF2B5EF4-FFF2-40B4-BE49-F238E27FC236}">
                <a16:creationId xmlns:a16="http://schemas.microsoft.com/office/drawing/2014/main" id="{44FD3F03-D9C2-47E0-B450-8626B05AD393}"/>
              </a:ext>
            </a:extLst>
          </p:cNvPr>
          <p:cNvSpPr>
            <a:spLocks noGrp="1"/>
          </p:cNvSpPr>
          <p:nvPr>
            <p:ph type="title"/>
          </p:nvPr>
        </p:nvSpPr>
        <p:spPr>
          <a:xfrm>
            <a:off x="1146876" y="283110"/>
            <a:ext cx="7739565" cy="406797"/>
          </a:xfrm>
        </p:spPr>
        <p:txBody>
          <a:bodyPr/>
          <a:lstStyle/>
          <a:p>
            <a:r>
              <a:rPr lang="en-US" dirty="0"/>
              <a:t>Risk Elements (Part 2) </a:t>
            </a:r>
          </a:p>
        </p:txBody>
      </p:sp>
      <p:graphicFrame>
        <p:nvGraphicFramePr>
          <p:cNvPr id="5" name="Table 4">
            <a:extLst>
              <a:ext uri="{FF2B5EF4-FFF2-40B4-BE49-F238E27FC236}">
                <a16:creationId xmlns:a16="http://schemas.microsoft.com/office/drawing/2014/main" id="{FBEAA656-5A04-4A9B-81FA-B211FC07C015}"/>
              </a:ext>
            </a:extLst>
          </p:cNvPr>
          <p:cNvGraphicFramePr>
            <a:graphicFrameLocks noGrp="1"/>
          </p:cNvGraphicFramePr>
          <p:nvPr>
            <p:extLst>
              <p:ext uri="{D42A27DB-BD31-4B8C-83A1-F6EECF244321}">
                <p14:modId xmlns:p14="http://schemas.microsoft.com/office/powerpoint/2010/main" val="3409368274"/>
              </p:ext>
            </p:extLst>
          </p:nvPr>
        </p:nvGraphicFramePr>
        <p:xfrm>
          <a:off x="1146876" y="910237"/>
          <a:ext cx="6639320" cy="3663947"/>
        </p:xfrm>
        <a:graphic>
          <a:graphicData uri="http://schemas.openxmlformats.org/drawingml/2006/table">
            <a:tbl>
              <a:tblPr/>
              <a:tblGrid>
                <a:gridCol w="707664">
                  <a:extLst>
                    <a:ext uri="{9D8B030D-6E8A-4147-A177-3AD203B41FA5}">
                      <a16:colId xmlns:a16="http://schemas.microsoft.com/office/drawing/2014/main" val="2642248661"/>
                    </a:ext>
                  </a:extLst>
                </a:gridCol>
                <a:gridCol w="1804941">
                  <a:extLst>
                    <a:ext uri="{9D8B030D-6E8A-4147-A177-3AD203B41FA5}">
                      <a16:colId xmlns:a16="http://schemas.microsoft.com/office/drawing/2014/main" val="3783032460"/>
                    </a:ext>
                  </a:extLst>
                </a:gridCol>
                <a:gridCol w="477077">
                  <a:extLst>
                    <a:ext uri="{9D8B030D-6E8A-4147-A177-3AD203B41FA5}">
                      <a16:colId xmlns:a16="http://schemas.microsoft.com/office/drawing/2014/main" val="4193219664"/>
                    </a:ext>
                  </a:extLst>
                </a:gridCol>
                <a:gridCol w="516833">
                  <a:extLst>
                    <a:ext uri="{9D8B030D-6E8A-4147-A177-3AD203B41FA5}">
                      <a16:colId xmlns:a16="http://schemas.microsoft.com/office/drawing/2014/main" val="2783741136"/>
                    </a:ext>
                  </a:extLst>
                </a:gridCol>
                <a:gridCol w="286246">
                  <a:extLst>
                    <a:ext uri="{9D8B030D-6E8A-4147-A177-3AD203B41FA5}">
                      <a16:colId xmlns:a16="http://schemas.microsoft.com/office/drawing/2014/main" val="3235763307"/>
                    </a:ext>
                  </a:extLst>
                </a:gridCol>
                <a:gridCol w="2067333">
                  <a:extLst>
                    <a:ext uri="{9D8B030D-6E8A-4147-A177-3AD203B41FA5}">
                      <a16:colId xmlns:a16="http://schemas.microsoft.com/office/drawing/2014/main" val="2350075975"/>
                    </a:ext>
                  </a:extLst>
                </a:gridCol>
                <a:gridCol w="222636">
                  <a:extLst>
                    <a:ext uri="{9D8B030D-6E8A-4147-A177-3AD203B41FA5}">
                      <a16:colId xmlns:a16="http://schemas.microsoft.com/office/drawing/2014/main" val="2385738828"/>
                    </a:ext>
                  </a:extLst>
                </a:gridCol>
                <a:gridCol w="556590">
                  <a:extLst>
                    <a:ext uri="{9D8B030D-6E8A-4147-A177-3AD203B41FA5}">
                      <a16:colId xmlns:a16="http://schemas.microsoft.com/office/drawing/2014/main" val="2726856936"/>
                    </a:ext>
                  </a:extLst>
                </a:gridCol>
              </a:tblGrid>
              <a:tr h="228997">
                <a:tc>
                  <a:txBody>
                    <a:bodyPr/>
                    <a:lstStyle/>
                    <a:p>
                      <a:pPr algn="ctr" rtl="0" fontAlgn="t"/>
                      <a:r>
                        <a:rPr lang="en-GB" sz="700" b="1" i="0" u="none" strike="noStrike">
                          <a:solidFill>
                            <a:srgbClr val="FFFFFF"/>
                          </a:solidFill>
                          <a:effectLst/>
                          <a:latin typeface="Calibri" panose="020F0502020204030204" pitchFamily="34" charset="0"/>
                        </a:rPr>
                        <a:t>Implemented to Production</a:t>
                      </a:r>
                    </a:p>
                  </a:txBody>
                  <a:tcPr marL="4771" marR="4771" marT="477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rtl="0" fontAlgn="t"/>
                      <a:r>
                        <a:rPr lang="en-GB" sz="700" b="1" i="0" u="none" strike="noStrike">
                          <a:solidFill>
                            <a:srgbClr val="FFFFFF"/>
                          </a:solidFill>
                          <a:effectLst/>
                          <a:latin typeface="Calibri" panose="020F0502020204030204" pitchFamily="34" charset="0"/>
                        </a:rPr>
                        <a:t>Risk Element</a:t>
                      </a:r>
                    </a:p>
                  </a:txBody>
                  <a:tcPr marL="4771" marR="4771" marT="477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rtl="0" fontAlgn="t"/>
                      <a:r>
                        <a:rPr lang="en-GB" sz="700" b="1" i="0" u="none" strike="noStrike">
                          <a:solidFill>
                            <a:srgbClr val="FFFFFF"/>
                          </a:solidFill>
                          <a:effectLst/>
                          <a:latin typeface="Calibri" panose="020F0502020204030204" pitchFamily="34" charset="0"/>
                        </a:rPr>
                        <a:t>Weighting</a:t>
                      </a:r>
                    </a:p>
                  </a:txBody>
                  <a:tcPr marL="4771" marR="4771" marT="477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l" rtl="0" fontAlgn="t"/>
                      <a:r>
                        <a:rPr lang="en-GB" sz="700" b="1" i="0" u="none" strike="noStrike">
                          <a:solidFill>
                            <a:srgbClr val="FFFFFF"/>
                          </a:solidFill>
                          <a:effectLst/>
                          <a:latin typeface="Calibri" panose="020F0502020204030204" pitchFamily="34" charset="0"/>
                        </a:rPr>
                        <a:t>Max with multiplier</a:t>
                      </a:r>
                    </a:p>
                  </a:txBody>
                  <a:tcPr marL="4771" marR="4771" marT="477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gridSpan="2">
                  <a:txBody>
                    <a:bodyPr/>
                    <a:lstStyle/>
                    <a:p>
                      <a:pPr algn="ctr" rtl="0" fontAlgn="t"/>
                      <a:r>
                        <a:rPr lang="en-GB" sz="700" b="1" i="0" u="none" strike="noStrike">
                          <a:solidFill>
                            <a:srgbClr val="FFFFFF"/>
                          </a:solidFill>
                          <a:effectLst/>
                          <a:latin typeface="Calibri" panose="020F0502020204030204" pitchFamily="34" charset="0"/>
                        </a:rPr>
                        <a:t>Multiplier / Rule</a:t>
                      </a:r>
                    </a:p>
                  </a:txBody>
                  <a:tcPr marL="4771" marR="4771" marT="477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hMerge="1">
                  <a:txBody>
                    <a:bodyPr/>
                    <a:lstStyle/>
                    <a:p>
                      <a:endParaRPr lang="en-GB"/>
                    </a:p>
                  </a:txBody>
                  <a:tcPr/>
                </a:tc>
                <a:tc>
                  <a:txBody>
                    <a:bodyPr/>
                    <a:lstStyle/>
                    <a:p>
                      <a:pPr algn="ctr" rtl="0" fontAlgn="t"/>
                      <a:r>
                        <a:rPr lang="en-GB" sz="700" b="1" i="0" u="none" strike="noStrike">
                          <a:solidFill>
                            <a:srgbClr val="FFFFFF"/>
                          </a:solidFill>
                          <a:effectLst/>
                          <a:latin typeface="Calibri" panose="020F0502020204030204" pitchFamily="34" charset="0"/>
                        </a:rPr>
                        <a:t> </a:t>
                      </a:r>
                    </a:p>
                  </a:txBody>
                  <a:tcPr marL="4771" marR="4771" marT="477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l" rtl="0" fontAlgn="t"/>
                      <a:r>
                        <a:rPr lang="en-GB" sz="700" b="1" i="0" u="none" strike="noStrike">
                          <a:solidFill>
                            <a:srgbClr val="FFFFFF"/>
                          </a:solidFill>
                          <a:effectLst/>
                          <a:latin typeface="Calibri" panose="020F0502020204030204" pitchFamily="34" charset="0"/>
                        </a:rPr>
                        <a:t>Affects Merchants</a:t>
                      </a:r>
                    </a:p>
                  </a:txBody>
                  <a:tcPr marL="4771" marR="4771" marT="477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extLst>
                  <a:ext uri="{0D108BD9-81ED-4DB2-BD59-A6C34878D82A}">
                    <a16:rowId xmlns:a16="http://schemas.microsoft.com/office/drawing/2014/main" val="900155081"/>
                  </a:ext>
                </a:extLst>
              </a:tr>
              <a:tr h="114498">
                <a:tc>
                  <a:txBody>
                    <a:bodyPr/>
                    <a:lstStyle/>
                    <a:p>
                      <a:pPr algn="ctr" fontAlgn="ctr"/>
                      <a:r>
                        <a:rPr lang="en-GB" sz="700" b="0" i="0" u="none" strike="noStrike">
                          <a:solidFill>
                            <a:srgbClr val="000000"/>
                          </a:solidFill>
                          <a:effectLst/>
                          <a:latin typeface="Calibri" panose="020F0502020204030204" pitchFamily="34" charset="0"/>
                        </a:rPr>
                        <a:t>Oct 2020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Higher risk Postal Codes within a country</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100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100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p>
                  </a:txBody>
                  <a:tcPr marL="4771" marR="57249"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If postal code in the high risk list</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G</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Y</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495819999"/>
                  </a:ext>
                </a:extLst>
              </a:tr>
              <a:tr h="114498">
                <a:tc>
                  <a:txBody>
                    <a:bodyPr/>
                    <a:lstStyle/>
                    <a:p>
                      <a:pPr algn="ctr" fontAlgn="ctr"/>
                      <a:r>
                        <a:rPr lang="en-GB" sz="700" b="0" i="0" u="none" strike="noStrike">
                          <a:solidFill>
                            <a:srgbClr val="000000"/>
                          </a:solidFill>
                          <a:effectLst/>
                          <a:latin typeface="Calibri" panose="020F0502020204030204" pitchFamily="34" charset="0"/>
                        </a:rPr>
                        <a:t>Oct 2020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Higher risk Regions within a country</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100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100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p>
                  </a:txBody>
                  <a:tcPr marL="4771" marR="57249"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If region in the high risk list</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G</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Y</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722027704"/>
                  </a:ext>
                </a:extLst>
              </a:tr>
              <a:tr h="114498">
                <a:tc>
                  <a:txBody>
                    <a:bodyPr/>
                    <a:lstStyle/>
                    <a:p>
                      <a:pPr algn="ctr" fontAlgn="ctr"/>
                      <a:r>
                        <a:rPr lang="en-GB" sz="700" b="0" i="0" u="none" strike="noStrike">
                          <a:solidFill>
                            <a:srgbClr val="000000"/>
                          </a:solidFill>
                          <a:effectLst/>
                          <a:latin typeface="Calibri" panose="020F0502020204030204" pitchFamily="34" charset="0"/>
                        </a:rPr>
                        <a:t>Oct 2020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Products</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70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630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gridSpan="2">
                  <a:txBody>
                    <a:bodyPr/>
                    <a:lstStyle/>
                    <a:p>
                      <a:pPr algn="l" fontAlgn="ctr"/>
                      <a:r>
                        <a:rPr lang="en-GB" sz="700" b="0" i="0" u="none" strike="noStrike">
                          <a:solidFill>
                            <a:srgbClr val="000000"/>
                          </a:solidFill>
                          <a:effectLst/>
                          <a:latin typeface="Calibri" panose="020F0502020204030204" pitchFamily="34" charset="0"/>
                        </a:rPr>
                        <a:t>Inherent risk of the riskiest product</a:t>
                      </a:r>
                    </a:p>
                  </a:txBody>
                  <a:tcPr marL="57249"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GB"/>
                    </a:p>
                  </a:txBody>
                  <a:tcPr/>
                </a:tc>
                <a:tc>
                  <a:txBody>
                    <a:bodyPr/>
                    <a:lstStyle/>
                    <a:p>
                      <a:pPr algn="ctr" fontAlgn="ctr"/>
                      <a:r>
                        <a:rPr lang="en-GB" sz="700" b="0" i="0" u="none" strike="noStrike">
                          <a:solidFill>
                            <a:srgbClr val="000000"/>
                          </a:solidFill>
                          <a:effectLst/>
                          <a:latin typeface="Calibri" panose="020F0502020204030204" pitchFamily="34" charset="0"/>
                        </a:rPr>
                        <a:t>P</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Y</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004298450"/>
                  </a:ext>
                </a:extLst>
              </a:tr>
              <a:tr h="343495">
                <a:tc>
                  <a:txBody>
                    <a:bodyPr/>
                    <a:lstStyle/>
                    <a:p>
                      <a:pPr algn="ctr" fontAlgn="ctr"/>
                      <a:r>
                        <a:rPr lang="en-GB" sz="700" b="0" i="0" u="none" strike="noStrike">
                          <a:solidFill>
                            <a:srgbClr val="000000"/>
                          </a:solidFill>
                          <a:effectLst/>
                          <a:latin typeface="Calibri" panose="020F0502020204030204" pitchFamily="34" charset="0"/>
                        </a:rPr>
                        <a:t>Oct 2020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ATM withdrawals amount (Foreign)</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110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330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2</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3</a:t>
                      </a:r>
                    </a:p>
                  </a:txBody>
                  <a:tcPr marL="4771" marR="57249"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&lt; $2000 in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Between $2000 to $5000 in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&gt; $5000 in last 12 months</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T</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 </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849476778"/>
                  </a:ext>
                </a:extLst>
              </a:tr>
              <a:tr h="228997">
                <a:tc>
                  <a:txBody>
                    <a:bodyPr/>
                    <a:lstStyle/>
                    <a:p>
                      <a:pPr algn="ctr" fontAlgn="ctr"/>
                      <a:r>
                        <a:rPr lang="en-GB" sz="700" b="0" i="0" u="none" strike="noStrike">
                          <a:solidFill>
                            <a:srgbClr val="000000"/>
                          </a:solidFill>
                          <a:effectLst/>
                          <a:latin typeface="Calibri" panose="020F0502020204030204" pitchFamily="34" charset="0"/>
                        </a:rPr>
                        <a:t>Mar 2021</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ATM withdrawals count (Foreign)</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50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100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2</a:t>
                      </a:r>
                    </a:p>
                  </a:txBody>
                  <a:tcPr marL="4771" marR="57249"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4 transactionsin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&gt; 4 transactions in last 12 months</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T</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 </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576552762"/>
                  </a:ext>
                </a:extLst>
              </a:tr>
              <a:tr h="343495">
                <a:tc>
                  <a:txBody>
                    <a:bodyPr/>
                    <a:lstStyle/>
                    <a:p>
                      <a:pPr algn="ctr" fontAlgn="ctr"/>
                      <a:r>
                        <a:rPr lang="en-GB" sz="700" b="0" i="0" u="none" strike="noStrike">
                          <a:solidFill>
                            <a:srgbClr val="000000"/>
                          </a:solidFill>
                          <a:effectLst/>
                          <a:latin typeface="Calibri" panose="020F0502020204030204" pitchFamily="34" charset="0"/>
                        </a:rPr>
                        <a:t>Oct 2020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dirty="0">
                          <a:solidFill>
                            <a:srgbClr val="000000"/>
                          </a:solidFill>
                          <a:effectLst/>
                          <a:latin typeface="Calibri" panose="020F0502020204030204" pitchFamily="34" charset="0"/>
                        </a:rPr>
                        <a:t>Bank ACH/Direct Debit payment amount (Foreign) </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110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440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2.5</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4</a:t>
                      </a:r>
                    </a:p>
                  </a:txBody>
                  <a:tcPr marL="4771" marR="57249"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&lt; $2000 in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Between $2000 to $5000 in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&gt; $5000 in last 12 months</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T</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 </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996629690"/>
                  </a:ext>
                </a:extLst>
              </a:tr>
              <a:tr h="228997">
                <a:tc>
                  <a:txBody>
                    <a:bodyPr/>
                    <a:lstStyle/>
                    <a:p>
                      <a:pPr algn="ctr" fontAlgn="ctr"/>
                      <a:r>
                        <a:rPr lang="en-GB" sz="700" b="0" i="0" u="none" strike="noStrike">
                          <a:solidFill>
                            <a:srgbClr val="000000"/>
                          </a:solidFill>
                          <a:effectLst/>
                          <a:latin typeface="Calibri" panose="020F0502020204030204" pitchFamily="34" charset="0"/>
                        </a:rPr>
                        <a:t>Mar 2021</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Bank ACH/Direct Debit payment count (Foreign)</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50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100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2</a:t>
                      </a:r>
                    </a:p>
                  </a:txBody>
                  <a:tcPr marL="4771" marR="57249"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4 transactionsin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&gt; 4 transactions in last 12 months</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T</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 </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534471402"/>
                  </a:ext>
                </a:extLst>
              </a:tr>
              <a:tr h="343495">
                <a:tc>
                  <a:txBody>
                    <a:bodyPr/>
                    <a:lstStyle/>
                    <a:p>
                      <a:pPr algn="ctr" fontAlgn="ctr"/>
                      <a:r>
                        <a:rPr lang="en-GB" sz="700" b="0" i="0" u="none" strike="noStrike">
                          <a:solidFill>
                            <a:srgbClr val="000000"/>
                          </a:solidFill>
                          <a:effectLst/>
                          <a:latin typeface="Calibri" panose="020F0502020204030204" pitchFamily="34" charset="0"/>
                        </a:rPr>
                        <a:t>Mar 2021</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Cash Payments Amount (Domestic)</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60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600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2</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10</a:t>
                      </a:r>
                    </a:p>
                  </a:txBody>
                  <a:tcPr marL="4771" marR="57249"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&lt; $2000 in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Between $2000 to $5000 in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&gt; $5000 in last 12 months</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T</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 </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563354898"/>
                  </a:ext>
                </a:extLst>
              </a:tr>
              <a:tr h="343495">
                <a:tc>
                  <a:txBody>
                    <a:bodyPr/>
                    <a:lstStyle/>
                    <a:p>
                      <a:pPr algn="ctr" fontAlgn="ctr"/>
                      <a:r>
                        <a:rPr lang="en-GB" sz="700" b="0" i="0" u="none" strike="noStrike">
                          <a:solidFill>
                            <a:srgbClr val="000000"/>
                          </a:solidFill>
                          <a:effectLst/>
                          <a:latin typeface="Calibri" panose="020F0502020204030204" pitchFamily="34" charset="0"/>
                        </a:rPr>
                        <a:t>Mar 2021</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Cash Payments Count (Domestic) </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60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600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2</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10</a:t>
                      </a:r>
                    </a:p>
                  </a:txBody>
                  <a:tcPr marL="4771" marR="57249"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Between 1 and 2 in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Between 3 and 5 in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&gt; 5 in last 12 months</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T</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 </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769254307"/>
                  </a:ext>
                </a:extLst>
              </a:tr>
              <a:tr h="343495">
                <a:tc>
                  <a:txBody>
                    <a:bodyPr/>
                    <a:lstStyle/>
                    <a:p>
                      <a:pPr algn="ctr" fontAlgn="ctr"/>
                      <a:r>
                        <a:rPr lang="en-GB" sz="700" b="0" i="0" u="none" strike="noStrike">
                          <a:solidFill>
                            <a:srgbClr val="000000"/>
                          </a:solidFill>
                          <a:effectLst/>
                          <a:latin typeface="Calibri" panose="020F0502020204030204" pitchFamily="34" charset="0"/>
                        </a:rPr>
                        <a:t>Mar 2021</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Cash Payments Amount (Foreign)</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75</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750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2</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10</a:t>
                      </a:r>
                    </a:p>
                  </a:txBody>
                  <a:tcPr marL="4771" marR="57249"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&lt; $2000 in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Between $2000 to $5000 in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&gt; $5000 in last 12 months</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T</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 </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579118697"/>
                  </a:ext>
                </a:extLst>
              </a:tr>
              <a:tr h="343495">
                <a:tc>
                  <a:txBody>
                    <a:bodyPr/>
                    <a:lstStyle/>
                    <a:p>
                      <a:pPr algn="ctr" fontAlgn="ctr"/>
                      <a:r>
                        <a:rPr lang="en-GB" sz="700" b="0" i="0" u="none" strike="noStrike">
                          <a:solidFill>
                            <a:srgbClr val="000000"/>
                          </a:solidFill>
                          <a:effectLst/>
                          <a:latin typeface="Calibri" panose="020F0502020204030204" pitchFamily="34" charset="0"/>
                        </a:rPr>
                        <a:t>Mar 2021</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Cash Payments Count (Foreign) </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75</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750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2</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10</a:t>
                      </a:r>
                    </a:p>
                  </a:txBody>
                  <a:tcPr marL="4771" marR="57249"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Between 1 and 2 in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Between 3 and 5 in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&gt; 5 in last 12 months</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T</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 </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637182942"/>
                  </a:ext>
                </a:extLst>
              </a:tr>
              <a:tr h="228997">
                <a:tc>
                  <a:txBody>
                    <a:bodyPr/>
                    <a:lstStyle/>
                    <a:p>
                      <a:pPr algn="ctr" fontAlgn="ctr"/>
                      <a:r>
                        <a:rPr lang="en-GB" sz="700" b="0" i="0" u="none" strike="noStrike">
                          <a:solidFill>
                            <a:srgbClr val="000000"/>
                          </a:solidFill>
                          <a:effectLst/>
                          <a:latin typeface="Calibri" panose="020F0502020204030204" pitchFamily="34" charset="0"/>
                        </a:rPr>
                        <a:t>Oct 2020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Cross Border Spend amount in High Risk Jurisdictions</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100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200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2</a:t>
                      </a:r>
                    </a:p>
                  </a:txBody>
                  <a:tcPr marL="4771" marR="57249"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&gt; $5000 and &lt; $10,000 in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 &gt; $10,000 in last 12 months</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T</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 </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2401868863"/>
                  </a:ext>
                </a:extLst>
              </a:tr>
              <a:tr h="343495">
                <a:tc>
                  <a:txBody>
                    <a:bodyPr/>
                    <a:lstStyle/>
                    <a:p>
                      <a:pPr algn="ctr" fontAlgn="ctr"/>
                      <a:r>
                        <a:rPr lang="en-GB" sz="700" b="0" i="0" u="none" strike="noStrike">
                          <a:solidFill>
                            <a:srgbClr val="000000"/>
                          </a:solidFill>
                          <a:effectLst/>
                          <a:latin typeface="Calibri" panose="020F0502020204030204" pitchFamily="34" charset="0"/>
                        </a:rPr>
                        <a:t>Oct 2020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Cross Border Spend count of different High-Risk Jurisdictions</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100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600</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2</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6</a:t>
                      </a:r>
                    </a:p>
                  </a:txBody>
                  <a:tcPr marL="4771" marR="57249"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Between 1 and 3 different high risk countries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Between 4 and 6 different high risk countries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&gt; 6 different high risk countries</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T</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dirty="0">
                          <a:solidFill>
                            <a:srgbClr val="000000"/>
                          </a:solidFill>
                          <a:effectLst/>
                          <a:latin typeface="Calibri" panose="020F0502020204030204" pitchFamily="34" charset="0"/>
                        </a:rPr>
                        <a:t> </a:t>
                      </a:r>
                    </a:p>
                  </a:txBody>
                  <a:tcPr marL="4771" marR="4771" marT="47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814385112"/>
                  </a:ext>
                </a:extLst>
              </a:tr>
            </a:tbl>
          </a:graphicData>
        </a:graphic>
      </p:graphicFrame>
    </p:spTree>
    <p:extLst>
      <p:ext uri="{BB962C8B-B14F-4D97-AF65-F5344CB8AC3E}">
        <p14:creationId xmlns:p14="http://schemas.microsoft.com/office/powerpoint/2010/main" val="500436500"/>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A42AA58-6F66-42B3-BFF2-9E04510C7842}"/>
              </a:ext>
            </a:extLst>
          </p:cNvPr>
          <p:cNvSpPr>
            <a:spLocks noGrp="1"/>
          </p:cNvSpPr>
          <p:nvPr>
            <p:ph type="sldNum" sz="quarter" idx="10"/>
          </p:nvPr>
        </p:nvSpPr>
        <p:spPr/>
        <p:txBody>
          <a:bodyPr/>
          <a:lstStyle/>
          <a:p>
            <a:pPr>
              <a:defRPr/>
            </a:pPr>
            <a:fld id="{920384AA-0A71-E644-AEED-65CD2253F2C8}" type="slidenum">
              <a:rPr lang="en-US" smtClean="0"/>
              <a:pPr>
                <a:defRPr/>
              </a:pPr>
              <a:t>8</a:t>
            </a:fld>
            <a:endParaRPr lang="en-US" dirty="0"/>
          </a:p>
        </p:txBody>
      </p:sp>
      <p:sp>
        <p:nvSpPr>
          <p:cNvPr id="6" name="Title 1">
            <a:extLst>
              <a:ext uri="{FF2B5EF4-FFF2-40B4-BE49-F238E27FC236}">
                <a16:creationId xmlns:a16="http://schemas.microsoft.com/office/drawing/2014/main" id="{44FD3F03-D9C2-47E0-B450-8626B05AD393}"/>
              </a:ext>
            </a:extLst>
          </p:cNvPr>
          <p:cNvSpPr>
            <a:spLocks noGrp="1"/>
          </p:cNvSpPr>
          <p:nvPr>
            <p:ph type="title"/>
          </p:nvPr>
        </p:nvSpPr>
        <p:spPr>
          <a:xfrm>
            <a:off x="1146876" y="283110"/>
            <a:ext cx="7739565" cy="406797"/>
          </a:xfrm>
        </p:spPr>
        <p:txBody>
          <a:bodyPr/>
          <a:lstStyle/>
          <a:p>
            <a:r>
              <a:rPr lang="en-US" dirty="0"/>
              <a:t>Risk Elements (Part 3) </a:t>
            </a:r>
          </a:p>
        </p:txBody>
      </p:sp>
      <p:sp>
        <p:nvSpPr>
          <p:cNvPr id="7" name="Text Placeholder 3">
            <a:extLst>
              <a:ext uri="{FF2B5EF4-FFF2-40B4-BE49-F238E27FC236}">
                <a16:creationId xmlns:a16="http://schemas.microsoft.com/office/drawing/2014/main" id="{D5BFB98C-EF3C-46E5-AB20-0B95F28E0BFC}"/>
              </a:ext>
            </a:extLst>
          </p:cNvPr>
          <p:cNvSpPr>
            <a:spLocks noGrp="1"/>
          </p:cNvSpPr>
          <p:nvPr>
            <p:ph type="body" sz="quarter" idx="11"/>
          </p:nvPr>
        </p:nvSpPr>
        <p:spPr>
          <a:xfrm>
            <a:off x="989714" y="3961276"/>
            <a:ext cx="7586465" cy="1059193"/>
          </a:xfrm>
        </p:spPr>
        <p:txBody>
          <a:bodyPr/>
          <a:lstStyle/>
          <a:p>
            <a:r>
              <a:rPr lang="en-US" dirty="0"/>
              <a:t>In addition to the 39 data elements listed above, the outcomes of the Transaction Monitoring Programme can also feed the CRR but this is not currently  turned on for any of the EMEA markets. </a:t>
            </a:r>
          </a:p>
        </p:txBody>
      </p:sp>
      <p:graphicFrame>
        <p:nvGraphicFramePr>
          <p:cNvPr id="5" name="Table 4">
            <a:extLst>
              <a:ext uri="{FF2B5EF4-FFF2-40B4-BE49-F238E27FC236}">
                <a16:creationId xmlns:a16="http://schemas.microsoft.com/office/drawing/2014/main" id="{EF2EF41B-7DE7-4CD8-88D9-A84A0A5B6936}"/>
              </a:ext>
            </a:extLst>
          </p:cNvPr>
          <p:cNvGraphicFramePr>
            <a:graphicFrameLocks noGrp="1"/>
          </p:cNvGraphicFramePr>
          <p:nvPr>
            <p:extLst>
              <p:ext uri="{D42A27DB-BD31-4B8C-83A1-F6EECF244321}">
                <p14:modId xmlns:p14="http://schemas.microsoft.com/office/powerpoint/2010/main" val="1988486871"/>
              </p:ext>
            </p:extLst>
          </p:nvPr>
        </p:nvGraphicFramePr>
        <p:xfrm>
          <a:off x="1146876" y="797065"/>
          <a:ext cx="6686548" cy="2960546"/>
        </p:xfrm>
        <a:graphic>
          <a:graphicData uri="http://schemas.openxmlformats.org/drawingml/2006/table">
            <a:tbl>
              <a:tblPr/>
              <a:tblGrid>
                <a:gridCol w="712698">
                  <a:extLst>
                    <a:ext uri="{9D8B030D-6E8A-4147-A177-3AD203B41FA5}">
                      <a16:colId xmlns:a16="http://schemas.microsoft.com/office/drawing/2014/main" val="1952927845"/>
                    </a:ext>
                  </a:extLst>
                </a:gridCol>
                <a:gridCol w="1817780">
                  <a:extLst>
                    <a:ext uri="{9D8B030D-6E8A-4147-A177-3AD203B41FA5}">
                      <a16:colId xmlns:a16="http://schemas.microsoft.com/office/drawing/2014/main" val="809390805"/>
                    </a:ext>
                  </a:extLst>
                </a:gridCol>
                <a:gridCol w="480470">
                  <a:extLst>
                    <a:ext uri="{9D8B030D-6E8A-4147-A177-3AD203B41FA5}">
                      <a16:colId xmlns:a16="http://schemas.microsoft.com/office/drawing/2014/main" val="1088598242"/>
                    </a:ext>
                  </a:extLst>
                </a:gridCol>
                <a:gridCol w="520510">
                  <a:extLst>
                    <a:ext uri="{9D8B030D-6E8A-4147-A177-3AD203B41FA5}">
                      <a16:colId xmlns:a16="http://schemas.microsoft.com/office/drawing/2014/main" val="3864429456"/>
                    </a:ext>
                  </a:extLst>
                </a:gridCol>
                <a:gridCol w="288282">
                  <a:extLst>
                    <a:ext uri="{9D8B030D-6E8A-4147-A177-3AD203B41FA5}">
                      <a16:colId xmlns:a16="http://schemas.microsoft.com/office/drawing/2014/main" val="3787685942"/>
                    </a:ext>
                  </a:extLst>
                </a:gridCol>
                <a:gridCol w="2082039">
                  <a:extLst>
                    <a:ext uri="{9D8B030D-6E8A-4147-A177-3AD203B41FA5}">
                      <a16:colId xmlns:a16="http://schemas.microsoft.com/office/drawing/2014/main" val="1700213881"/>
                    </a:ext>
                  </a:extLst>
                </a:gridCol>
                <a:gridCol w="224220">
                  <a:extLst>
                    <a:ext uri="{9D8B030D-6E8A-4147-A177-3AD203B41FA5}">
                      <a16:colId xmlns:a16="http://schemas.microsoft.com/office/drawing/2014/main" val="2445903582"/>
                    </a:ext>
                  </a:extLst>
                </a:gridCol>
                <a:gridCol w="560549">
                  <a:extLst>
                    <a:ext uri="{9D8B030D-6E8A-4147-A177-3AD203B41FA5}">
                      <a16:colId xmlns:a16="http://schemas.microsoft.com/office/drawing/2014/main" val="430624991"/>
                    </a:ext>
                  </a:extLst>
                </a:gridCol>
              </a:tblGrid>
              <a:tr h="239063">
                <a:tc>
                  <a:txBody>
                    <a:bodyPr/>
                    <a:lstStyle/>
                    <a:p>
                      <a:pPr algn="ctr" rtl="0" fontAlgn="t"/>
                      <a:r>
                        <a:rPr lang="en-GB" sz="700" b="1" i="0" u="none" strike="noStrike">
                          <a:solidFill>
                            <a:srgbClr val="FFFFFF"/>
                          </a:solidFill>
                          <a:effectLst/>
                          <a:latin typeface="Calibri" panose="020F0502020204030204" pitchFamily="34" charset="0"/>
                        </a:rPr>
                        <a:t>Implemented to Production</a:t>
                      </a:r>
                    </a:p>
                  </a:txBody>
                  <a:tcPr marL="5913" marR="5913" marT="59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rtl="0" fontAlgn="t"/>
                      <a:r>
                        <a:rPr lang="en-GB" sz="700" b="1" i="0" u="none" strike="noStrike">
                          <a:solidFill>
                            <a:srgbClr val="FFFFFF"/>
                          </a:solidFill>
                          <a:effectLst/>
                          <a:latin typeface="Calibri" panose="020F0502020204030204" pitchFamily="34" charset="0"/>
                        </a:rPr>
                        <a:t>Risk Element</a:t>
                      </a:r>
                    </a:p>
                  </a:txBody>
                  <a:tcPr marL="5913" marR="5913" marT="59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rtl="0" fontAlgn="t"/>
                      <a:r>
                        <a:rPr lang="en-GB" sz="700" b="1" i="0" u="none" strike="noStrike">
                          <a:solidFill>
                            <a:srgbClr val="FFFFFF"/>
                          </a:solidFill>
                          <a:effectLst/>
                          <a:latin typeface="Calibri" panose="020F0502020204030204" pitchFamily="34" charset="0"/>
                        </a:rPr>
                        <a:t>Weighting</a:t>
                      </a:r>
                    </a:p>
                  </a:txBody>
                  <a:tcPr marL="5913" marR="5913" marT="59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l" rtl="0" fontAlgn="t"/>
                      <a:r>
                        <a:rPr lang="en-GB" sz="700" b="1" i="0" u="none" strike="noStrike">
                          <a:solidFill>
                            <a:srgbClr val="FFFFFF"/>
                          </a:solidFill>
                          <a:effectLst/>
                          <a:latin typeface="Calibri" panose="020F0502020204030204" pitchFamily="34" charset="0"/>
                        </a:rPr>
                        <a:t>Max with multiplier</a:t>
                      </a:r>
                    </a:p>
                  </a:txBody>
                  <a:tcPr marL="5913" marR="5913" marT="59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gridSpan="2">
                  <a:txBody>
                    <a:bodyPr/>
                    <a:lstStyle/>
                    <a:p>
                      <a:pPr algn="ctr" rtl="0" fontAlgn="t"/>
                      <a:r>
                        <a:rPr lang="en-GB" sz="700" b="1" i="0" u="none" strike="noStrike">
                          <a:solidFill>
                            <a:srgbClr val="FFFFFF"/>
                          </a:solidFill>
                          <a:effectLst/>
                          <a:latin typeface="Calibri" panose="020F0502020204030204" pitchFamily="34" charset="0"/>
                        </a:rPr>
                        <a:t>Multiplier / Rule</a:t>
                      </a:r>
                    </a:p>
                  </a:txBody>
                  <a:tcPr marL="5913" marR="5913" marT="59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hMerge="1">
                  <a:txBody>
                    <a:bodyPr/>
                    <a:lstStyle/>
                    <a:p>
                      <a:endParaRPr lang="en-GB"/>
                    </a:p>
                  </a:txBody>
                  <a:tcPr/>
                </a:tc>
                <a:tc>
                  <a:txBody>
                    <a:bodyPr/>
                    <a:lstStyle/>
                    <a:p>
                      <a:pPr algn="ctr" rtl="0" fontAlgn="t"/>
                      <a:r>
                        <a:rPr lang="en-GB" sz="700" b="1" i="0" u="none" strike="noStrike">
                          <a:solidFill>
                            <a:srgbClr val="FFFFFF"/>
                          </a:solidFill>
                          <a:effectLst/>
                          <a:latin typeface="Calibri" panose="020F0502020204030204" pitchFamily="34" charset="0"/>
                        </a:rPr>
                        <a:t> </a:t>
                      </a:r>
                    </a:p>
                  </a:txBody>
                  <a:tcPr marL="5913" marR="5913" marT="59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l" rtl="0" fontAlgn="t"/>
                      <a:r>
                        <a:rPr lang="en-GB" sz="700" b="1" i="0" u="none" strike="noStrike">
                          <a:solidFill>
                            <a:srgbClr val="FFFFFF"/>
                          </a:solidFill>
                          <a:effectLst/>
                          <a:latin typeface="Calibri" panose="020F0502020204030204" pitchFamily="34" charset="0"/>
                        </a:rPr>
                        <a:t>Affects Merchants</a:t>
                      </a:r>
                    </a:p>
                  </a:txBody>
                  <a:tcPr marL="5913" marR="5913" marT="59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extLst>
                  <a:ext uri="{0D108BD9-81ED-4DB2-BD59-A6C34878D82A}">
                    <a16:rowId xmlns:a16="http://schemas.microsoft.com/office/drawing/2014/main" val="3978960204"/>
                  </a:ext>
                </a:extLst>
              </a:tr>
              <a:tr h="239063">
                <a:tc>
                  <a:txBody>
                    <a:bodyPr/>
                    <a:lstStyle/>
                    <a:p>
                      <a:pPr algn="ctr" fontAlgn="ctr"/>
                      <a:r>
                        <a:rPr lang="en-GB" sz="700" b="0" i="0" u="none" strike="noStrike">
                          <a:solidFill>
                            <a:srgbClr val="000000"/>
                          </a:solidFill>
                          <a:effectLst/>
                          <a:latin typeface="Calibri" panose="020F0502020204030204" pitchFamily="34" charset="0"/>
                        </a:rPr>
                        <a:t>Mar 2021</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Cross Border Spend Transaction count in High Risk Jurisdictions</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100</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100</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p>
                  </a:txBody>
                  <a:tcPr marL="5913" marR="70962"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&gt; 5 transactions in the last 12 months</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T</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 </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231121858"/>
                  </a:ext>
                </a:extLst>
              </a:tr>
              <a:tr h="356073">
                <a:tc>
                  <a:txBody>
                    <a:bodyPr/>
                    <a:lstStyle/>
                    <a:p>
                      <a:pPr algn="ctr" fontAlgn="ctr"/>
                      <a:r>
                        <a:rPr lang="en-GB" sz="700" b="0" i="0" u="none" strike="noStrike">
                          <a:solidFill>
                            <a:srgbClr val="000000"/>
                          </a:solidFill>
                          <a:effectLst/>
                          <a:latin typeface="Calibri" panose="020F0502020204030204" pitchFamily="34" charset="0"/>
                        </a:rPr>
                        <a:t>Oct 2020</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Wire Payments Amount (Domestic)</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60</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600</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2</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10</a:t>
                      </a:r>
                    </a:p>
                  </a:txBody>
                  <a:tcPr marL="5913" marR="70962"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&gt; $0 and &lt; $2000 in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Between $2000 and $5000 in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&gt; $5000 in last 12 months</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T</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 </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847288830"/>
                  </a:ext>
                </a:extLst>
              </a:tr>
              <a:tr h="473082">
                <a:tc>
                  <a:txBody>
                    <a:bodyPr/>
                    <a:lstStyle/>
                    <a:p>
                      <a:pPr algn="ctr" fontAlgn="ctr"/>
                      <a:r>
                        <a:rPr lang="en-GB" sz="700" b="0" i="0" u="none" strike="noStrike">
                          <a:solidFill>
                            <a:srgbClr val="000000"/>
                          </a:solidFill>
                          <a:effectLst/>
                          <a:latin typeface="Calibri" panose="020F0502020204030204" pitchFamily="34" charset="0"/>
                        </a:rPr>
                        <a:t>Mar 2021</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Wire Payments Count (Domestic)</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10</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100</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2</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3</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10</a:t>
                      </a:r>
                    </a:p>
                  </a:txBody>
                  <a:tcPr marL="5913" marR="70962"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&lt;4 in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4 to 7 in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8 to 12 in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&gt;12 in last 12 months</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T</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 </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631728961"/>
                  </a:ext>
                </a:extLst>
              </a:tr>
              <a:tr h="473082">
                <a:tc>
                  <a:txBody>
                    <a:bodyPr/>
                    <a:lstStyle/>
                    <a:p>
                      <a:pPr algn="ctr" fontAlgn="ctr"/>
                      <a:r>
                        <a:rPr lang="en-GB" sz="700" b="0" i="0" u="none" strike="noStrike">
                          <a:solidFill>
                            <a:srgbClr val="000000"/>
                          </a:solidFill>
                          <a:effectLst/>
                          <a:latin typeface="Calibri" panose="020F0502020204030204" pitchFamily="34" charset="0"/>
                        </a:rPr>
                        <a:t>Oct 2020</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Wire Payments Amount (Foreign) </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110</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1100</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2</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3</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10</a:t>
                      </a:r>
                    </a:p>
                  </a:txBody>
                  <a:tcPr marL="5913" marR="70962"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&gt;$0 and &lt;$2000</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&gt;= $2000 and &lt;= $5000</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&gt; $5000 and &lt; $10,000</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&gt;= $10k = 10 in last 12 months</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T</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 </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75866977"/>
                  </a:ext>
                </a:extLst>
              </a:tr>
              <a:tr h="707101">
                <a:tc>
                  <a:txBody>
                    <a:bodyPr/>
                    <a:lstStyle/>
                    <a:p>
                      <a:pPr algn="ctr" fontAlgn="ctr"/>
                      <a:r>
                        <a:rPr lang="en-GB" sz="700" b="0" i="0" u="none" strike="noStrike">
                          <a:solidFill>
                            <a:srgbClr val="000000"/>
                          </a:solidFill>
                          <a:effectLst/>
                          <a:latin typeface="Calibri" panose="020F0502020204030204" pitchFamily="34" charset="0"/>
                        </a:rPr>
                        <a:t>Mar 2021</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Wire Payments Count (Foreign)</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20</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200</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2</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3</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10</a:t>
                      </a:r>
                    </a:p>
                  </a:txBody>
                  <a:tcPr marL="5913" marR="70962"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&lt; 4 transactions in the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Between 5 and 7 transactions in the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Between 8 and 12  transactions in the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&gt; 12 transactions in last 12 months</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T</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 </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767700689"/>
                  </a:ext>
                </a:extLst>
              </a:tr>
              <a:tr h="473082">
                <a:tc>
                  <a:txBody>
                    <a:bodyPr/>
                    <a:lstStyle/>
                    <a:p>
                      <a:pPr algn="ctr" fontAlgn="ctr"/>
                      <a:r>
                        <a:rPr lang="en-GB" sz="700" b="0" i="0" u="none" strike="noStrike">
                          <a:solidFill>
                            <a:srgbClr val="000000"/>
                          </a:solidFill>
                          <a:effectLst/>
                          <a:latin typeface="Calibri" panose="020F0502020204030204" pitchFamily="34" charset="0"/>
                        </a:rPr>
                        <a:t>Mar 2021</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Wire Payments Source Geography </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100</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200</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r" fontAlgn="ctr"/>
                      <a:r>
                        <a:rPr lang="en-GB" sz="700" b="0" i="0" u="none" strike="noStrike">
                          <a:solidFill>
                            <a:srgbClr val="000000"/>
                          </a:solidFill>
                          <a:effectLst/>
                          <a:latin typeface="Calibri" panose="020F0502020204030204" pitchFamily="34" charset="0"/>
                        </a:rPr>
                        <a:t>1</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2</a:t>
                      </a:r>
                    </a:p>
                  </a:txBody>
                  <a:tcPr marL="5913" marR="70962"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GB" sz="700" b="0" i="0" u="none" strike="noStrike">
                          <a:solidFill>
                            <a:srgbClr val="000000"/>
                          </a:solidFill>
                          <a:effectLst/>
                          <a:latin typeface="Calibri" panose="020F0502020204030204" pitchFamily="34" charset="0"/>
                        </a:rPr>
                        <a:t>Wire from medium risk country in last 12 months</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Wire form high risk country in last 12 months</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a:solidFill>
                            <a:srgbClr val="000000"/>
                          </a:solidFill>
                          <a:effectLst/>
                          <a:latin typeface="Calibri" panose="020F0502020204030204" pitchFamily="34" charset="0"/>
                        </a:rPr>
                        <a:t>T</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GB" sz="700" b="0" i="0" u="none" strike="noStrike" dirty="0">
                          <a:solidFill>
                            <a:srgbClr val="000000"/>
                          </a:solidFill>
                          <a:effectLst/>
                          <a:latin typeface="Calibri" panose="020F0502020204030204" pitchFamily="34" charset="0"/>
                        </a:rPr>
                        <a:t> </a:t>
                      </a:r>
                    </a:p>
                  </a:txBody>
                  <a:tcPr marL="5913" marR="5913" marT="59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981993951"/>
                  </a:ext>
                </a:extLst>
              </a:tr>
            </a:tbl>
          </a:graphicData>
        </a:graphic>
      </p:graphicFrame>
    </p:spTree>
    <p:extLst>
      <p:ext uri="{BB962C8B-B14F-4D97-AF65-F5344CB8AC3E}">
        <p14:creationId xmlns:p14="http://schemas.microsoft.com/office/powerpoint/2010/main" val="4099235704"/>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ooter Placeholder 3">
            <a:extLst>
              <a:ext uri="{FF2B5EF4-FFF2-40B4-BE49-F238E27FC236}">
                <a16:creationId xmlns:a16="http://schemas.microsoft.com/office/drawing/2014/main" id="{D0648009-C2CE-4504-88DB-CD84CF284489}"/>
              </a:ext>
            </a:extLst>
          </p:cNvPr>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solidFill>
                  <a:prstClr val="black">
                    <a:tint val="75000"/>
                  </a:prstClr>
                </a:solidFill>
                <a:latin typeface="Calibri" panose="020F0502020204030204"/>
              </a:rPr>
              <a:t>AXP Internal</a:t>
            </a:r>
          </a:p>
        </p:txBody>
      </p:sp>
      <p:sp>
        <p:nvSpPr>
          <p:cNvPr id="24" name="Date Placeholder 4">
            <a:extLst>
              <a:ext uri="{FF2B5EF4-FFF2-40B4-BE49-F238E27FC236}">
                <a16:creationId xmlns:a16="http://schemas.microsoft.com/office/drawing/2014/main" id="{1ED79B33-D9AF-441C-9B6C-F78D2D23BB1E}"/>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fld id="{A46D4F4E-B233-4BBE-8215-EE798DD53D74}" type="datetime5">
              <a:rPr lang="en-US" smtClean="0">
                <a:solidFill>
                  <a:prstClr val="black">
                    <a:tint val="75000"/>
                  </a:prstClr>
                </a:solidFill>
                <a:latin typeface="Calibri" panose="020F0502020204030204"/>
              </a:rPr>
              <a:pPr fontAlgn="auto">
                <a:spcBef>
                  <a:spcPts val="0"/>
                </a:spcBef>
                <a:spcAft>
                  <a:spcPts val="0"/>
                </a:spcAft>
              </a:pPr>
              <a:t>9-Aug-21</a:t>
            </a:fld>
            <a:endParaRPr lang="en-US">
              <a:solidFill>
                <a:prstClr val="black">
                  <a:tint val="75000"/>
                </a:prstClr>
              </a:solidFill>
              <a:latin typeface="Calibri" panose="020F0502020204030204"/>
            </a:endParaRPr>
          </a:p>
        </p:txBody>
      </p:sp>
      <p:sp>
        <p:nvSpPr>
          <p:cNvPr id="25" name="Slide Number Placeholder 5">
            <a:extLst>
              <a:ext uri="{FF2B5EF4-FFF2-40B4-BE49-F238E27FC236}">
                <a16:creationId xmlns:a16="http://schemas.microsoft.com/office/drawing/2014/main" id="{7A80D6DF-05C5-4927-B491-CC6D1C14BE3F}"/>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fld id="{0842897F-5191-4E88-9CA8-D5AD207F07AB}" type="slidenum">
              <a:rPr lang="en-US" smtClean="0">
                <a:solidFill>
                  <a:prstClr val="black">
                    <a:tint val="75000"/>
                  </a:prstClr>
                </a:solidFill>
                <a:latin typeface="Calibri" panose="020F0502020204030204"/>
              </a:rPr>
              <a:pPr fontAlgn="auto">
                <a:spcBef>
                  <a:spcPts val="0"/>
                </a:spcBef>
                <a:spcAft>
                  <a:spcPts val="0"/>
                </a:spcAft>
              </a:pPr>
              <a:t>9</a:t>
            </a:fld>
            <a:endParaRPr lang="en-US">
              <a:solidFill>
                <a:prstClr val="black">
                  <a:tint val="75000"/>
                </a:prstClr>
              </a:solidFill>
              <a:latin typeface="Calibri" panose="020F0502020204030204"/>
            </a:endParaRPr>
          </a:p>
        </p:txBody>
      </p:sp>
      <p:sp>
        <p:nvSpPr>
          <p:cNvPr id="37" name="TextBox 36">
            <a:extLst>
              <a:ext uri="{FF2B5EF4-FFF2-40B4-BE49-F238E27FC236}">
                <a16:creationId xmlns:a16="http://schemas.microsoft.com/office/drawing/2014/main" id="{F405B3E8-739C-4C6B-B394-C3044A0F685D}"/>
              </a:ext>
            </a:extLst>
          </p:cNvPr>
          <p:cNvSpPr txBox="1"/>
          <p:nvPr/>
        </p:nvSpPr>
        <p:spPr>
          <a:xfrm>
            <a:off x="838200" y="125905"/>
            <a:ext cx="10263499" cy="458267"/>
          </a:xfrm>
          <a:prstGeom prst="rect">
            <a:avLst/>
          </a:prstGeom>
          <a:noFill/>
        </p:spPr>
        <p:txBody>
          <a:bodyPr wrap="square" rtlCol="0">
            <a:spAutoFit/>
          </a:bodyPr>
          <a:lstStyle/>
          <a:p>
            <a:pPr defTabSz="342900">
              <a:lnSpc>
                <a:spcPct val="82000"/>
              </a:lnSpc>
            </a:pPr>
            <a:r>
              <a:rPr lang="en-US" sz="2900" dirty="0">
                <a:latin typeface="Guardian Egyp Regular" panose="02060503050503060803" pitchFamily="18" charset="77"/>
              </a:rPr>
              <a:t>Risk Element example</a:t>
            </a:r>
          </a:p>
        </p:txBody>
      </p:sp>
      <p:sp>
        <p:nvSpPr>
          <p:cNvPr id="42" name="Rectangle 41">
            <a:extLst>
              <a:ext uri="{FF2B5EF4-FFF2-40B4-BE49-F238E27FC236}">
                <a16:creationId xmlns:a16="http://schemas.microsoft.com/office/drawing/2014/main" id="{A2D5A956-E74E-4F46-897C-5E44029E5612}"/>
              </a:ext>
            </a:extLst>
          </p:cNvPr>
          <p:cNvSpPr/>
          <p:nvPr/>
        </p:nvSpPr>
        <p:spPr>
          <a:xfrm>
            <a:off x="2509712" y="3214730"/>
            <a:ext cx="2309311" cy="245461"/>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EF0CA154-EBA0-4988-B83A-A8286762C64B}"/>
              </a:ext>
            </a:extLst>
          </p:cNvPr>
          <p:cNvSpPr/>
          <p:nvPr/>
        </p:nvSpPr>
        <p:spPr>
          <a:xfrm>
            <a:off x="2512817" y="2444897"/>
            <a:ext cx="2309311" cy="245461"/>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372A1051-4C77-41E9-80C7-8131F7CDCB6F}"/>
              </a:ext>
            </a:extLst>
          </p:cNvPr>
          <p:cNvSpPr txBox="1"/>
          <p:nvPr/>
        </p:nvSpPr>
        <p:spPr>
          <a:xfrm>
            <a:off x="2543779" y="3259892"/>
            <a:ext cx="2241175" cy="169277"/>
          </a:xfrm>
          <a:prstGeom prst="rect">
            <a:avLst/>
          </a:prstGeom>
          <a:noFill/>
        </p:spPr>
        <p:txBody>
          <a:bodyPr wrap="square" lIns="0" tIns="0" rIns="0" bIns="0" rtlCol="0">
            <a:spAutoFit/>
          </a:bodyPr>
          <a:lstStyle/>
          <a:p>
            <a:pPr algn="l"/>
            <a:r>
              <a:rPr lang="en-US" sz="1100" b="0" i="0" dirty="0">
                <a:solidFill>
                  <a:schemeClr val="bg2"/>
                </a:solidFill>
                <a:latin typeface="BentonSans Light" panose="02000503000000020004" pitchFamily="2" charset="0"/>
              </a:rPr>
              <a:t>If Nationality in High risk country</a:t>
            </a:r>
          </a:p>
        </p:txBody>
      </p:sp>
      <p:sp>
        <p:nvSpPr>
          <p:cNvPr id="6" name="TextBox 5">
            <a:extLst>
              <a:ext uri="{FF2B5EF4-FFF2-40B4-BE49-F238E27FC236}">
                <a16:creationId xmlns:a16="http://schemas.microsoft.com/office/drawing/2014/main" id="{0F0073D2-FE6D-4879-B7E8-9A3C3A92BD2C}"/>
              </a:ext>
            </a:extLst>
          </p:cNvPr>
          <p:cNvSpPr txBox="1"/>
          <p:nvPr/>
        </p:nvSpPr>
        <p:spPr>
          <a:xfrm>
            <a:off x="2539260" y="2482988"/>
            <a:ext cx="2309311" cy="169277"/>
          </a:xfrm>
          <a:prstGeom prst="rect">
            <a:avLst/>
          </a:prstGeom>
          <a:noFill/>
        </p:spPr>
        <p:txBody>
          <a:bodyPr wrap="square" lIns="0" tIns="0" rIns="0" bIns="0" rtlCol="0">
            <a:spAutoFit/>
          </a:bodyPr>
          <a:lstStyle/>
          <a:p>
            <a:r>
              <a:rPr lang="en-US" sz="1100" dirty="0">
                <a:solidFill>
                  <a:schemeClr val="bg2"/>
                </a:solidFill>
                <a:latin typeface="BentonSans Light" panose="02000503000000020004" pitchFamily="2" charset="0"/>
              </a:rPr>
              <a:t>If Nationality in Medium risk country</a:t>
            </a:r>
          </a:p>
        </p:txBody>
      </p:sp>
      <p:sp>
        <p:nvSpPr>
          <p:cNvPr id="45" name="Arrow: Right 44">
            <a:extLst>
              <a:ext uri="{FF2B5EF4-FFF2-40B4-BE49-F238E27FC236}">
                <a16:creationId xmlns:a16="http://schemas.microsoft.com/office/drawing/2014/main" id="{52AF207E-81F1-488F-9EC1-A86E3EA7A75E}"/>
              </a:ext>
            </a:extLst>
          </p:cNvPr>
          <p:cNvSpPr/>
          <p:nvPr/>
        </p:nvSpPr>
        <p:spPr>
          <a:xfrm>
            <a:off x="4494953" y="2898506"/>
            <a:ext cx="587828" cy="289249"/>
          </a:xfrm>
          <a:prstGeom prst="rightArrow">
            <a:avLst/>
          </a:prstGeom>
          <a:solidFill>
            <a:srgbClr val="FFC000">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TextBox 45">
            <a:extLst>
              <a:ext uri="{FF2B5EF4-FFF2-40B4-BE49-F238E27FC236}">
                <a16:creationId xmlns:a16="http://schemas.microsoft.com/office/drawing/2014/main" id="{8ABE29E1-79D8-46C9-BF88-38D6634E5C26}"/>
              </a:ext>
            </a:extLst>
          </p:cNvPr>
          <p:cNvSpPr txBox="1"/>
          <p:nvPr/>
        </p:nvSpPr>
        <p:spPr>
          <a:xfrm>
            <a:off x="4539963" y="2979100"/>
            <a:ext cx="455661" cy="123111"/>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Result in</a:t>
            </a:r>
          </a:p>
        </p:txBody>
      </p:sp>
      <p:sp>
        <p:nvSpPr>
          <p:cNvPr id="47" name="Rectangle 46">
            <a:extLst>
              <a:ext uri="{FF2B5EF4-FFF2-40B4-BE49-F238E27FC236}">
                <a16:creationId xmlns:a16="http://schemas.microsoft.com/office/drawing/2014/main" id="{37F42435-2D76-40CF-A2CF-085CC6AE7D74}"/>
              </a:ext>
            </a:extLst>
          </p:cNvPr>
          <p:cNvSpPr/>
          <p:nvPr/>
        </p:nvSpPr>
        <p:spPr>
          <a:xfrm>
            <a:off x="5203035" y="2903208"/>
            <a:ext cx="587828" cy="261097"/>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2</a:t>
            </a:r>
          </a:p>
        </p:txBody>
      </p:sp>
      <p:sp>
        <p:nvSpPr>
          <p:cNvPr id="49" name="Arrow: Right 48">
            <a:extLst>
              <a:ext uri="{FF2B5EF4-FFF2-40B4-BE49-F238E27FC236}">
                <a16:creationId xmlns:a16="http://schemas.microsoft.com/office/drawing/2014/main" id="{E403F5A9-00F4-48C6-AB30-78379F845EDE}"/>
              </a:ext>
            </a:extLst>
          </p:cNvPr>
          <p:cNvSpPr/>
          <p:nvPr/>
        </p:nvSpPr>
        <p:spPr>
          <a:xfrm>
            <a:off x="4489610" y="2128493"/>
            <a:ext cx="587828" cy="289249"/>
          </a:xfrm>
          <a:prstGeom prst="rightArrow">
            <a:avLst/>
          </a:prstGeom>
          <a:solidFill>
            <a:srgbClr val="FFC000">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TextBox 49">
            <a:extLst>
              <a:ext uri="{FF2B5EF4-FFF2-40B4-BE49-F238E27FC236}">
                <a16:creationId xmlns:a16="http://schemas.microsoft.com/office/drawing/2014/main" id="{ED564F48-7681-49B8-AEDE-8259124D1E1B}"/>
              </a:ext>
            </a:extLst>
          </p:cNvPr>
          <p:cNvSpPr txBox="1"/>
          <p:nvPr/>
        </p:nvSpPr>
        <p:spPr>
          <a:xfrm>
            <a:off x="4534620" y="2209087"/>
            <a:ext cx="455661" cy="123111"/>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Result in</a:t>
            </a:r>
          </a:p>
        </p:txBody>
      </p:sp>
      <p:sp>
        <p:nvSpPr>
          <p:cNvPr id="51" name="Rectangle 50">
            <a:extLst>
              <a:ext uri="{FF2B5EF4-FFF2-40B4-BE49-F238E27FC236}">
                <a16:creationId xmlns:a16="http://schemas.microsoft.com/office/drawing/2014/main" id="{98BF5FA1-A863-4C4B-AA59-AAFD15FBF703}"/>
              </a:ext>
            </a:extLst>
          </p:cNvPr>
          <p:cNvSpPr/>
          <p:nvPr/>
        </p:nvSpPr>
        <p:spPr>
          <a:xfrm>
            <a:off x="5197692" y="2142712"/>
            <a:ext cx="587828" cy="265830"/>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1</a:t>
            </a:r>
          </a:p>
        </p:txBody>
      </p:sp>
      <p:sp>
        <p:nvSpPr>
          <p:cNvPr id="7" name="TextBox 6">
            <a:extLst>
              <a:ext uri="{FF2B5EF4-FFF2-40B4-BE49-F238E27FC236}">
                <a16:creationId xmlns:a16="http://schemas.microsoft.com/office/drawing/2014/main" id="{1251F645-02E3-4132-AD0B-4818ED235126}"/>
              </a:ext>
            </a:extLst>
          </p:cNvPr>
          <p:cNvSpPr txBox="1"/>
          <p:nvPr/>
        </p:nvSpPr>
        <p:spPr>
          <a:xfrm>
            <a:off x="2507034" y="1789854"/>
            <a:ext cx="5919514" cy="246221"/>
          </a:xfrm>
          <a:prstGeom prst="rect">
            <a:avLst/>
          </a:prstGeom>
          <a:noFill/>
        </p:spPr>
        <p:txBody>
          <a:bodyPr wrap="square" lIns="0" tIns="0" rIns="0" bIns="0" rtlCol="0">
            <a:spAutoFit/>
          </a:bodyPr>
          <a:lstStyle/>
          <a:p>
            <a:pPr algn="l"/>
            <a:r>
              <a:rPr lang="en-US" sz="1400" b="0" i="0" dirty="0">
                <a:solidFill>
                  <a:schemeClr val="bg2"/>
                </a:solidFill>
                <a:latin typeface="BentonSans Light" panose="02000503000000020004" pitchFamily="2" charset="0"/>
              </a:rPr>
              <a:t>Customers Nationality                      </a:t>
            </a:r>
            <a:r>
              <a:rPr lang="en-US" sz="1600" b="0" i="0" dirty="0">
                <a:solidFill>
                  <a:schemeClr val="bg2"/>
                </a:solidFill>
                <a:latin typeface="BentonSans Light" panose="02000503000000020004" pitchFamily="2" charset="0"/>
              </a:rPr>
              <a:t>=       </a:t>
            </a:r>
            <a:r>
              <a:rPr lang="en-US" sz="1400" b="0" i="0" dirty="0">
                <a:solidFill>
                  <a:schemeClr val="bg2"/>
                </a:solidFill>
                <a:latin typeface="BentonSans Light" panose="02000503000000020004" pitchFamily="2" charset="0"/>
              </a:rPr>
              <a:t>India		Country Risk = </a:t>
            </a:r>
            <a:r>
              <a:rPr lang="en-US" sz="1400" b="0" i="0" dirty="0">
                <a:solidFill>
                  <a:srgbClr val="C00000"/>
                </a:solidFill>
                <a:latin typeface="BentonSans Light" panose="02000503000000020004" pitchFamily="2" charset="0"/>
              </a:rPr>
              <a:t>High</a:t>
            </a:r>
          </a:p>
        </p:txBody>
      </p:sp>
      <p:sp>
        <p:nvSpPr>
          <p:cNvPr id="9" name="Rectangle: Rounded Corners 8">
            <a:extLst>
              <a:ext uri="{FF2B5EF4-FFF2-40B4-BE49-F238E27FC236}">
                <a16:creationId xmlns:a16="http://schemas.microsoft.com/office/drawing/2014/main" id="{E5411CAA-43D2-4E53-8262-B6F59C39BB01}"/>
              </a:ext>
            </a:extLst>
          </p:cNvPr>
          <p:cNvSpPr/>
          <p:nvPr/>
        </p:nvSpPr>
        <p:spPr>
          <a:xfrm>
            <a:off x="2383718" y="2781759"/>
            <a:ext cx="5459506" cy="774597"/>
          </a:xfrm>
          <a:prstGeom prst="round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32A39A7-D14A-40C5-8764-1A6504F24AE1}"/>
              </a:ext>
            </a:extLst>
          </p:cNvPr>
          <p:cNvSpPr txBox="1"/>
          <p:nvPr/>
        </p:nvSpPr>
        <p:spPr>
          <a:xfrm>
            <a:off x="6808082" y="2979100"/>
            <a:ext cx="833717" cy="276999"/>
          </a:xfrm>
          <a:prstGeom prst="rect">
            <a:avLst/>
          </a:prstGeom>
          <a:noFill/>
        </p:spPr>
        <p:txBody>
          <a:bodyPr wrap="square" lIns="0" tIns="0" rIns="0" bIns="0" rtlCol="0">
            <a:spAutoFit/>
          </a:bodyPr>
          <a:lstStyle/>
          <a:p>
            <a:pPr algn="l"/>
            <a:r>
              <a:rPr lang="en-US" b="0" i="0" dirty="0">
                <a:solidFill>
                  <a:schemeClr val="bg2"/>
                </a:solidFill>
                <a:latin typeface="BentonSans Light" panose="02000503000000020004" pitchFamily="2" charset="0"/>
              </a:rPr>
              <a:t>TRUE</a:t>
            </a:r>
          </a:p>
        </p:txBody>
      </p:sp>
      <p:sp>
        <p:nvSpPr>
          <p:cNvPr id="57" name="Rectangle 56">
            <a:extLst>
              <a:ext uri="{FF2B5EF4-FFF2-40B4-BE49-F238E27FC236}">
                <a16:creationId xmlns:a16="http://schemas.microsoft.com/office/drawing/2014/main" id="{BF66438E-403C-4F15-AB44-7A7DFB9947C4}"/>
              </a:ext>
            </a:extLst>
          </p:cNvPr>
          <p:cNvSpPr/>
          <p:nvPr/>
        </p:nvSpPr>
        <p:spPr>
          <a:xfrm>
            <a:off x="2514686" y="2120549"/>
            <a:ext cx="1760620" cy="286336"/>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Rule Set 1</a:t>
            </a:r>
          </a:p>
        </p:txBody>
      </p:sp>
      <p:sp>
        <p:nvSpPr>
          <p:cNvPr id="3" name="TextBox 2">
            <a:extLst>
              <a:ext uri="{FF2B5EF4-FFF2-40B4-BE49-F238E27FC236}">
                <a16:creationId xmlns:a16="http://schemas.microsoft.com/office/drawing/2014/main" id="{B1AF79BB-30F1-4B02-99CE-EF25E1FCCA43}"/>
              </a:ext>
            </a:extLst>
          </p:cNvPr>
          <p:cNvSpPr txBox="1"/>
          <p:nvPr/>
        </p:nvSpPr>
        <p:spPr>
          <a:xfrm>
            <a:off x="935500" y="695140"/>
            <a:ext cx="3532025" cy="276999"/>
          </a:xfrm>
          <a:prstGeom prst="rect">
            <a:avLst/>
          </a:prstGeom>
          <a:noFill/>
        </p:spPr>
        <p:txBody>
          <a:bodyPr wrap="square" lIns="0" tIns="0" rIns="0" bIns="0" rtlCol="0">
            <a:spAutoFit/>
          </a:bodyPr>
          <a:lstStyle/>
          <a:p>
            <a:pPr algn="l"/>
            <a:r>
              <a:rPr lang="en-US" b="1" i="0" dirty="0">
                <a:solidFill>
                  <a:schemeClr val="bg2"/>
                </a:solidFill>
                <a:latin typeface="BentonSans Light" panose="02000503000000020004" pitchFamily="2" charset="0"/>
              </a:rPr>
              <a:t>Element Name : </a:t>
            </a:r>
            <a:r>
              <a:rPr lang="en-US" b="0" i="0" dirty="0">
                <a:solidFill>
                  <a:schemeClr val="bg2"/>
                </a:solidFill>
                <a:latin typeface="BentonSans Light" panose="02000503000000020004" pitchFamily="2" charset="0"/>
              </a:rPr>
              <a:t>Nationality</a:t>
            </a:r>
          </a:p>
        </p:txBody>
      </p:sp>
      <p:sp>
        <p:nvSpPr>
          <p:cNvPr id="34" name="Rectangle 33">
            <a:extLst>
              <a:ext uri="{FF2B5EF4-FFF2-40B4-BE49-F238E27FC236}">
                <a16:creationId xmlns:a16="http://schemas.microsoft.com/office/drawing/2014/main" id="{0207D5BF-74F5-4DCB-9AFE-689BE1C91E48}"/>
              </a:ext>
            </a:extLst>
          </p:cNvPr>
          <p:cNvSpPr/>
          <p:nvPr/>
        </p:nvSpPr>
        <p:spPr>
          <a:xfrm>
            <a:off x="1229063" y="1403996"/>
            <a:ext cx="2309311" cy="276999"/>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Weighting Value</a:t>
            </a:r>
          </a:p>
        </p:txBody>
      </p:sp>
      <p:sp>
        <p:nvSpPr>
          <p:cNvPr id="35" name="TextBox 34">
            <a:extLst>
              <a:ext uri="{FF2B5EF4-FFF2-40B4-BE49-F238E27FC236}">
                <a16:creationId xmlns:a16="http://schemas.microsoft.com/office/drawing/2014/main" id="{DA6F18E1-B20E-41E0-A1D7-98CF47734414}"/>
              </a:ext>
            </a:extLst>
          </p:cNvPr>
          <p:cNvSpPr txBox="1"/>
          <p:nvPr/>
        </p:nvSpPr>
        <p:spPr>
          <a:xfrm>
            <a:off x="3833311" y="1414481"/>
            <a:ext cx="942670" cy="276999"/>
          </a:xfrm>
          <a:prstGeom prst="rect">
            <a:avLst/>
          </a:prstGeom>
          <a:noFill/>
        </p:spPr>
        <p:txBody>
          <a:bodyPr wrap="square" lIns="0" tIns="0" rIns="0" bIns="0" rtlCol="0">
            <a:spAutoFit/>
          </a:bodyPr>
          <a:lstStyle/>
          <a:p>
            <a:pPr algn="l"/>
            <a:r>
              <a:rPr lang="en-US" dirty="0">
                <a:solidFill>
                  <a:schemeClr val="bg2"/>
                </a:solidFill>
                <a:latin typeface="BentonSans Light" panose="02000503000000020004" pitchFamily="2" charset="0"/>
              </a:rPr>
              <a:t>=	60	</a:t>
            </a:r>
            <a:endParaRPr lang="en-US" b="0" i="0" dirty="0">
              <a:solidFill>
                <a:schemeClr val="bg2"/>
              </a:solidFill>
              <a:latin typeface="BentonSans Light" panose="02000503000000020004" pitchFamily="2" charset="0"/>
            </a:endParaRPr>
          </a:p>
        </p:txBody>
      </p:sp>
      <p:sp>
        <p:nvSpPr>
          <p:cNvPr id="38" name="Rectangle 37">
            <a:extLst>
              <a:ext uri="{FF2B5EF4-FFF2-40B4-BE49-F238E27FC236}">
                <a16:creationId xmlns:a16="http://schemas.microsoft.com/office/drawing/2014/main" id="{57FCC28C-77EE-4AB7-A94D-0AB034913573}"/>
              </a:ext>
            </a:extLst>
          </p:cNvPr>
          <p:cNvSpPr/>
          <p:nvPr/>
        </p:nvSpPr>
        <p:spPr>
          <a:xfrm>
            <a:off x="1229062" y="1036856"/>
            <a:ext cx="2309311" cy="276999"/>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Market Applicability</a:t>
            </a:r>
          </a:p>
        </p:txBody>
      </p:sp>
      <p:sp>
        <p:nvSpPr>
          <p:cNvPr id="48" name="TextBox 47">
            <a:extLst>
              <a:ext uri="{FF2B5EF4-FFF2-40B4-BE49-F238E27FC236}">
                <a16:creationId xmlns:a16="http://schemas.microsoft.com/office/drawing/2014/main" id="{30D4CD6A-112E-41C2-9D7D-E1E504D0F7BE}"/>
              </a:ext>
            </a:extLst>
          </p:cNvPr>
          <p:cNvSpPr txBox="1"/>
          <p:nvPr/>
        </p:nvSpPr>
        <p:spPr>
          <a:xfrm>
            <a:off x="3833310" y="1034882"/>
            <a:ext cx="1870815" cy="276999"/>
          </a:xfrm>
          <a:prstGeom prst="rect">
            <a:avLst/>
          </a:prstGeom>
          <a:noFill/>
        </p:spPr>
        <p:txBody>
          <a:bodyPr wrap="square" lIns="0" tIns="0" rIns="0" bIns="0" rtlCol="0">
            <a:spAutoFit/>
          </a:bodyPr>
          <a:lstStyle/>
          <a:p>
            <a:pPr algn="l"/>
            <a:r>
              <a:rPr lang="en-US" dirty="0">
                <a:solidFill>
                  <a:schemeClr val="bg2"/>
                </a:solidFill>
                <a:latin typeface="BentonSans Light" panose="02000503000000020004" pitchFamily="2" charset="0"/>
              </a:rPr>
              <a:t>=	ALL</a:t>
            </a:r>
            <a:endParaRPr lang="en-US" b="0" i="0" dirty="0">
              <a:solidFill>
                <a:schemeClr val="bg2"/>
              </a:solidFill>
              <a:latin typeface="BentonSans Light" panose="02000503000000020004" pitchFamily="2" charset="0"/>
            </a:endParaRPr>
          </a:p>
        </p:txBody>
      </p:sp>
      <p:cxnSp>
        <p:nvCxnSpPr>
          <p:cNvPr id="14" name="Straight Connector 13">
            <a:extLst>
              <a:ext uri="{FF2B5EF4-FFF2-40B4-BE49-F238E27FC236}">
                <a16:creationId xmlns:a16="http://schemas.microsoft.com/office/drawing/2014/main" id="{118FC0A2-9ACA-44C0-8ADB-65DAB657F755}"/>
              </a:ext>
            </a:extLst>
          </p:cNvPr>
          <p:cNvCxnSpPr>
            <a:cxnSpLocks/>
          </p:cNvCxnSpPr>
          <p:nvPr/>
        </p:nvCxnSpPr>
        <p:spPr>
          <a:xfrm>
            <a:off x="1055077" y="1758462"/>
            <a:ext cx="7863840" cy="0"/>
          </a:xfrm>
          <a:prstGeom prst="line">
            <a:avLst/>
          </a:prstGeom>
          <a:ln w="12700"/>
          <a:effectLst/>
        </p:spPr>
        <p:style>
          <a:lnRef idx="2">
            <a:schemeClr val="accent1"/>
          </a:lnRef>
          <a:fillRef idx="0">
            <a:schemeClr val="accent1"/>
          </a:fillRef>
          <a:effectRef idx="1">
            <a:schemeClr val="accent1"/>
          </a:effectRef>
          <a:fontRef idx="minor">
            <a:schemeClr val="tx1"/>
          </a:fontRef>
        </p:style>
      </p:cxnSp>
      <p:sp>
        <p:nvSpPr>
          <p:cNvPr id="52" name="Rectangle 51">
            <a:extLst>
              <a:ext uri="{FF2B5EF4-FFF2-40B4-BE49-F238E27FC236}">
                <a16:creationId xmlns:a16="http://schemas.microsoft.com/office/drawing/2014/main" id="{8B595119-1574-4209-B5FD-6AE4DEFEAB48}"/>
              </a:ext>
            </a:extLst>
          </p:cNvPr>
          <p:cNvSpPr/>
          <p:nvPr/>
        </p:nvSpPr>
        <p:spPr>
          <a:xfrm>
            <a:off x="2515147" y="2891778"/>
            <a:ext cx="1760620" cy="286336"/>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Rule Set 2</a:t>
            </a:r>
          </a:p>
        </p:txBody>
      </p:sp>
      <p:cxnSp>
        <p:nvCxnSpPr>
          <p:cNvPr id="53" name="Straight Connector 52">
            <a:extLst>
              <a:ext uri="{FF2B5EF4-FFF2-40B4-BE49-F238E27FC236}">
                <a16:creationId xmlns:a16="http://schemas.microsoft.com/office/drawing/2014/main" id="{C4DDAC12-F3AD-4A1D-933C-577A2A12E6C1}"/>
              </a:ext>
            </a:extLst>
          </p:cNvPr>
          <p:cNvCxnSpPr>
            <a:cxnSpLocks/>
          </p:cNvCxnSpPr>
          <p:nvPr/>
        </p:nvCxnSpPr>
        <p:spPr>
          <a:xfrm>
            <a:off x="1037494" y="3760764"/>
            <a:ext cx="7863840" cy="0"/>
          </a:xfrm>
          <a:prstGeom prst="line">
            <a:avLst/>
          </a:prstGeom>
          <a:ln w="12700"/>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E5BDF04D-BFA3-404A-891E-EC225F17711F}"/>
              </a:ext>
            </a:extLst>
          </p:cNvPr>
          <p:cNvSpPr txBox="1"/>
          <p:nvPr/>
        </p:nvSpPr>
        <p:spPr>
          <a:xfrm>
            <a:off x="5262333" y="2010759"/>
            <a:ext cx="605490" cy="123111"/>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Multiplier</a:t>
            </a:r>
          </a:p>
        </p:txBody>
      </p:sp>
      <p:sp>
        <p:nvSpPr>
          <p:cNvPr id="54" name="TextBox 53">
            <a:extLst>
              <a:ext uri="{FF2B5EF4-FFF2-40B4-BE49-F238E27FC236}">
                <a16:creationId xmlns:a16="http://schemas.microsoft.com/office/drawing/2014/main" id="{59667AF8-3C47-4652-82D0-4C7CCDD91199}"/>
              </a:ext>
            </a:extLst>
          </p:cNvPr>
          <p:cNvSpPr txBox="1"/>
          <p:nvPr/>
        </p:nvSpPr>
        <p:spPr>
          <a:xfrm>
            <a:off x="5281408" y="2782010"/>
            <a:ext cx="605490" cy="123111"/>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Multiplier</a:t>
            </a:r>
          </a:p>
        </p:txBody>
      </p:sp>
      <p:sp>
        <p:nvSpPr>
          <p:cNvPr id="59" name="Rectangle 58">
            <a:extLst>
              <a:ext uri="{FF2B5EF4-FFF2-40B4-BE49-F238E27FC236}">
                <a16:creationId xmlns:a16="http://schemas.microsoft.com/office/drawing/2014/main" id="{15F9BAF8-6027-4EC0-9E46-DCE5DE4F5115}"/>
              </a:ext>
            </a:extLst>
          </p:cNvPr>
          <p:cNvSpPr/>
          <p:nvPr/>
        </p:nvSpPr>
        <p:spPr>
          <a:xfrm>
            <a:off x="2387268" y="4529653"/>
            <a:ext cx="2309311" cy="276999"/>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Weighting Value</a:t>
            </a:r>
          </a:p>
        </p:txBody>
      </p:sp>
      <p:sp>
        <p:nvSpPr>
          <p:cNvPr id="60" name="TextBox 59">
            <a:extLst>
              <a:ext uri="{FF2B5EF4-FFF2-40B4-BE49-F238E27FC236}">
                <a16:creationId xmlns:a16="http://schemas.microsoft.com/office/drawing/2014/main" id="{47DC12D1-669C-4EC2-81F9-0C69EC686CE8}"/>
              </a:ext>
            </a:extLst>
          </p:cNvPr>
          <p:cNvSpPr txBox="1"/>
          <p:nvPr/>
        </p:nvSpPr>
        <p:spPr>
          <a:xfrm>
            <a:off x="4945887" y="4524236"/>
            <a:ext cx="632892" cy="276999"/>
          </a:xfrm>
          <a:prstGeom prst="rect">
            <a:avLst/>
          </a:prstGeom>
          <a:noFill/>
        </p:spPr>
        <p:txBody>
          <a:bodyPr wrap="square" lIns="0" tIns="0" rIns="0" bIns="0" rtlCol="0">
            <a:spAutoFit/>
          </a:bodyPr>
          <a:lstStyle/>
          <a:p>
            <a:pPr algn="l"/>
            <a:r>
              <a:rPr lang="en-US" dirty="0">
                <a:solidFill>
                  <a:schemeClr val="bg2"/>
                </a:solidFill>
                <a:latin typeface="BentonSans Light" panose="02000503000000020004" pitchFamily="2" charset="0"/>
              </a:rPr>
              <a:t>60  *</a:t>
            </a:r>
            <a:endParaRPr lang="en-US" b="0" i="0" dirty="0">
              <a:solidFill>
                <a:schemeClr val="bg2"/>
              </a:solidFill>
              <a:latin typeface="BentonSans Light" panose="02000503000000020004" pitchFamily="2" charset="0"/>
            </a:endParaRPr>
          </a:p>
        </p:txBody>
      </p:sp>
      <p:sp>
        <p:nvSpPr>
          <p:cNvPr id="61" name="Rectangle 60">
            <a:extLst>
              <a:ext uri="{FF2B5EF4-FFF2-40B4-BE49-F238E27FC236}">
                <a16:creationId xmlns:a16="http://schemas.microsoft.com/office/drawing/2014/main" id="{F704183D-31B2-4A0F-9225-74B9DA098843}"/>
              </a:ext>
            </a:extLst>
          </p:cNvPr>
          <p:cNvSpPr/>
          <p:nvPr/>
        </p:nvSpPr>
        <p:spPr>
          <a:xfrm>
            <a:off x="5814157" y="4540138"/>
            <a:ext cx="587828" cy="261097"/>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2</a:t>
            </a:r>
          </a:p>
        </p:txBody>
      </p:sp>
      <p:sp>
        <p:nvSpPr>
          <p:cNvPr id="62" name="TextBox 61">
            <a:extLst>
              <a:ext uri="{FF2B5EF4-FFF2-40B4-BE49-F238E27FC236}">
                <a16:creationId xmlns:a16="http://schemas.microsoft.com/office/drawing/2014/main" id="{3FF7916A-479C-4344-8B64-E32AAF6C9231}"/>
              </a:ext>
            </a:extLst>
          </p:cNvPr>
          <p:cNvSpPr txBox="1"/>
          <p:nvPr/>
        </p:nvSpPr>
        <p:spPr>
          <a:xfrm>
            <a:off x="5831819" y="4339877"/>
            <a:ext cx="605490" cy="153888"/>
          </a:xfrm>
          <a:prstGeom prst="rect">
            <a:avLst/>
          </a:prstGeom>
          <a:noFill/>
        </p:spPr>
        <p:txBody>
          <a:bodyPr wrap="square" lIns="0" tIns="0" rIns="0" bIns="0" rtlCol="0">
            <a:spAutoFit/>
          </a:bodyPr>
          <a:lstStyle/>
          <a:p>
            <a:pPr algn="l"/>
            <a:r>
              <a:rPr lang="en-US" sz="1000" b="0" i="0" dirty="0">
                <a:solidFill>
                  <a:schemeClr val="bg2"/>
                </a:solidFill>
                <a:latin typeface="BentonSans Light" panose="02000503000000020004" pitchFamily="2" charset="0"/>
              </a:rPr>
              <a:t>Multiplier</a:t>
            </a:r>
          </a:p>
        </p:txBody>
      </p:sp>
      <p:sp>
        <p:nvSpPr>
          <p:cNvPr id="63" name="TextBox 62">
            <a:extLst>
              <a:ext uri="{FF2B5EF4-FFF2-40B4-BE49-F238E27FC236}">
                <a16:creationId xmlns:a16="http://schemas.microsoft.com/office/drawing/2014/main" id="{B616A895-0099-4183-9205-CD6A3986F39A}"/>
              </a:ext>
            </a:extLst>
          </p:cNvPr>
          <p:cNvSpPr txBox="1"/>
          <p:nvPr/>
        </p:nvSpPr>
        <p:spPr>
          <a:xfrm>
            <a:off x="6604056" y="4535935"/>
            <a:ext cx="931593" cy="276999"/>
          </a:xfrm>
          <a:prstGeom prst="rect">
            <a:avLst/>
          </a:prstGeom>
          <a:noFill/>
        </p:spPr>
        <p:txBody>
          <a:bodyPr wrap="square" lIns="0" tIns="0" rIns="0" bIns="0" rtlCol="0">
            <a:spAutoFit/>
          </a:bodyPr>
          <a:lstStyle/>
          <a:p>
            <a:pPr algn="l"/>
            <a:r>
              <a:rPr lang="en-US" dirty="0">
                <a:solidFill>
                  <a:schemeClr val="bg2"/>
                </a:solidFill>
                <a:latin typeface="BentonSans Light" panose="02000503000000020004" pitchFamily="2" charset="0"/>
              </a:rPr>
              <a:t>=	</a:t>
            </a:r>
            <a:r>
              <a:rPr lang="en-US" b="1" dirty="0">
                <a:solidFill>
                  <a:srgbClr val="C00000"/>
                </a:solidFill>
                <a:latin typeface="BentonSans Light" panose="02000503000000020004" pitchFamily="2" charset="0"/>
              </a:rPr>
              <a:t>120</a:t>
            </a:r>
            <a:endParaRPr lang="en-US" b="1" i="0" dirty="0">
              <a:solidFill>
                <a:srgbClr val="C00000"/>
              </a:solidFill>
              <a:latin typeface="BentonSans Light" panose="02000503000000020004" pitchFamily="2" charset="0"/>
            </a:endParaRPr>
          </a:p>
        </p:txBody>
      </p:sp>
      <p:sp>
        <p:nvSpPr>
          <p:cNvPr id="18" name="TextBox 17">
            <a:extLst>
              <a:ext uri="{FF2B5EF4-FFF2-40B4-BE49-F238E27FC236}">
                <a16:creationId xmlns:a16="http://schemas.microsoft.com/office/drawing/2014/main" id="{2D839199-CC84-468B-A95B-5B0B85274F1B}"/>
              </a:ext>
            </a:extLst>
          </p:cNvPr>
          <p:cNvSpPr txBox="1"/>
          <p:nvPr/>
        </p:nvSpPr>
        <p:spPr>
          <a:xfrm>
            <a:off x="1052888" y="3841962"/>
            <a:ext cx="1454146" cy="215444"/>
          </a:xfrm>
          <a:prstGeom prst="rect">
            <a:avLst/>
          </a:prstGeom>
          <a:noFill/>
        </p:spPr>
        <p:txBody>
          <a:bodyPr wrap="square" lIns="0" tIns="0" rIns="0" bIns="0" rtlCol="0">
            <a:spAutoFit/>
          </a:bodyPr>
          <a:lstStyle/>
          <a:p>
            <a:pPr algn="l"/>
            <a:r>
              <a:rPr lang="en-US" sz="1400" b="0" i="0" dirty="0">
                <a:solidFill>
                  <a:schemeClr val="bg2"/>
                </a:solidFill>
                <a:latin typeface="BentonSans Light" panose="02000503000000020004" pitchFamily="2" charset="0"/>
              </a:rPr>
              <a:t>Element Score</a:t>
            </a:r>
          </a:p>
        </p:txBody>
      </p:sp>
      <p:sp>
        <p:nvSpPr>
          <p:cNvPr id="116" name="TextBox 115">
            <a:extLst>
              <a:ext uri="{FF2B5EF4-FFF2-40B4-BE49-F238E27FC236}">
                <a16:creationId xmlns:a16="http://schemas.microsoft.com/office/drawing/2014/main" id="{C21E63C5-574F-499C-90C5-CCAAA9F35926}"/>
              </a:ext>
            </a:extLst>
          </p:cNvPr>
          <p:cNvSpPr txBox="1"/>
          <p:nvPr/>
        </p:nvSpPr>
        <p:spPr>
          <a:xfrm>
            <a:off x="1052888" y="1806827"/>
            <a:ext cx="1454146" cy="215444"/>
          </a:xfrm>
          <a:prstGeom prst="rect">
            <a:avLst/>
          </a:prstGeom>
          <a:noFill/>
        </p:spPr>
        <p:txBody>
          <a:bodyPr wrap="square" lIns="0" tIns="0" rIns="0" bIns="0" rtlCol="0">
            <a:spAutoFit/>
          </a:bodyPr>
          <a:lstStyle/>
          <a:p>
            <a:pPr algn="l"/>
            <a:r>
              <a:rPr lang="en-US" sz="1400" b="0" i="0" dirty="0">
                <a:solidFill>
                  <a:schemeClr val="bg2"/>
                </a:solidFill>
                <a:latin typeface="BentonSans Light" panose="02000503000000020004" pitchFamily="2" charset="0"/>
              </a:rPr>
              <a:t>Element Rule</a:t>
            </a:r>
          </a:p>
        </p:txBody>
      </p:sp>
      <p:sp>
        <p:nvSpPr>
          <p:cNvPr id="19" name="TextBox 18">
            <a:extLst>
              <a:ext uri="{FF2B5EF4-FFF2-40B4-BE49-F238E27FC236}">
                <a16:creationId xmlns:a16="http://schemas.microsoft.com/office/drawing/2014/main" id="{27BF085C-8ADE-475E-B67D-7288AF94B329}"/>
              </a:ext>
            </a:extLst>
          </p:cNvPr>
          <p:cNvSpPr txBox="1"/>
          <p:nvPr/>
        </p:nvSpPr>
        <p:spPr>
          <a:xfrm>
            <a:off x="2813538" y="3862170"/>
            <a:ext cx="4507544" cy="369332"/>
          </a:xfrm>
          <a:prstGeom prst="rect">
            <a:avLst/>
          </a:prstGeom>
          <a:noFill/>
        </p:spPr>
        <p:txBody>
          <a:bodyPr wrap="square" lIns="0" tIns="0" rIns="0" bIns="0" rtlCol="0">
            <a:spAutoFit/>
          </a:bodyPr>
          <a:lstStyle/>
          <a:p>
            <a:pPr algn="l"/>
            <a:r>
              <a:rPr lang="en-US" sz="1200" b="0" i="0" dirty="0">
                <a:solidFill>
                  <a:schemeClr val="bg2"/>
                </a:solidFill>
                <a:latin typeface="BentonSans Light" panose="02000503000000020004" pitchFamily="2" charset="0"/>
              </a:rPr>
              <a:t>The risk score for this element is the product of the Weighting Value multiplied by the Multiplier returned from the Rule Set</a:t>
            </a:r>
          </a:p>
        </p:txBody>
      </p:sp>
      <p:sp>
        <p:nvSpPr>
          <p:cNvPr id="20" name="TextBox 19">
            <a:extLst>
              <a:ext uri="{FF2B5EF4-FFF2-40B4-BE49-F238E27FC236}">
                <a16:creationId xmlns:a16="http://schemas.microsoft.com/office/drawing/2014/main" id="{3A0EA799-EF38-47FA-8871-706A805D9111}"/>
              </a:ext>
            </a:extLst>
          </p:cNvPr>
          <p:cNvSpPr txBox="1"/>
          <p:nvPr/>
        </p:nvSpPr>
        <p:spPr>
          <a:xfrm>
            <a:off x="1586530" y="2664882"/>
            <a:ext cx="386862" cy="215444"/>
          </a:xfrm>
          <a:prstGeom prst="rect">
            <a:avLst/>
          </a:prstGeom>
          <a:noFill/>
        </p:spPr>
        <p:txBody>
          <a:bodyPr wrap="square" lIns="0" tIns="0" rIns="0" bIns="0" rtlCol="0">
            <a:spAutoFit/>
          </a:bodyPr>
          <a:lstStyle/>
          <a:p>
            <a:pPr algn="l"/>
            <a:r>
              <a:rPr lang="en-US" sz="1400" b="0" i="0" dirty="0">
                <a:solidFill>
                  <a:schemeClr val="bg2"/>
                </a:solidFill>
                <a:latin typeface="BentonSans Light" panose="02000503000000020004" pitchFamily="2" charset="0"/>
              </a:rPr>
              <a:t>OR</a:t>
            </a:r>
          </a:p>
        </p:txBody>
      </p:sp>
      <p:sp>
        <p:nvSpPr>
          <p:cNvPr id="117" name="Rectangle 116">
            <a:extLst>
              <a:ext uri="{FF2B5EF4-FFF2-40B4-BE49-F238E27FC236}">
                <a16:creationId xmlns:a16="http://schemas.microsoft.com/office/drawing/2014/main" id="{0A95579C-EA66-44E1-9D05-0321EB1CB507}"/>
              </a:ext>
            </a:extLst>
          </p:cNvPr>
          <p:cNvSpPr/>
          <p:nvPr/>
        </p:nvSpPr>
        <p:spPr>
          <a:xfrm>
            <a:off x="5132932" y="1022030"/>
            <a:ext cx="2309311" cy="273274"/>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High/Low Precedence</a:t>
            </a:r>
          </a:p>
        </p:txBody>
      </p:sp>
      <p:sp>
        <p:nvSpPr>
          <p:cNvPr id="118" name="TextBox 117">
            <a:extLst>
              <a:ext uri="{FF2B5EF4-FFF2-40B4-BE49-F238E27FC236}">
                <a16:creationId xmlns:a16="http://schemas.microsoft.com/office/drawing/2014/main" id="{D88DC590-1509-47BE-AA70-DAB372DE0079}"/>
              </a:ext>
            </a:extLst>
          </p:cNvPr>
          <p:cNvSpPr txBox="1"/>
          <p:nvPr/>
        </p:nvSpPr>
        <p:spPr>
          <a:xfrm>
            <a:off x="7761732" y="1029439"/>
            <a:ext cx="1022291" cy="276999"/>
          </a:xfrm>
          <a:prstGeom prst="rect">
            <a:avLst/>
          </a:prstGeom>
          <a:noFill/>
        </p:spPr>
        <p:txBody>
          <a:bodyPr wrap="square" lIns="0" tIns="0" rIns="0" bIns="0" rtlCol="0">
            <a:spAutoFit/>
          </a:bodyPr>
          <a:lstStyle/>
          <a:p>
            <a:pPr algn="l"/>
            <a:r>
              <a:rPr lang="en-US" dirty="0">
                <a:solidFill>
                  <a:schemeClr val="bg2"/>
                </a:solidFill>
                <a:latin typeface="BentonSans Light" panose="02000503000000020004" pitchFamily="2" charset="0"/>
              </a:rPr>
              <a:t>=	HIGH</a:t>
            </a:r>
            <a:endParaRPr lang="en-US" b="0" i="0" dirty="0">
              <a:solidFill>
                <a:schemeClr val="bg2"/>
              </a:solidFill>
              <a:latin typeface="BentonSans Light" panose="02000503000000020004" pitchFamily="2" charset="0"/>
            </a:endParaRPr>
          </a:p>
        </p:txBody>
      </p:sp>
      <p:sp>
        <p:nvSpPr>
          <p:cNvPr id="26" name="Slide Number Placeholder 25">
            <a:extLst>
              <a:ext uri="{FF2B5EF4-FFF2-40B4-BE49-F238E27FC236}">
                <a16:creationId xmlns:a16="http://schemas.microsoft.com/office/drawing/2014/main" id="{64021B55-02C9-4D21-B631-004E3D20BB63}"/>
              </a:ext>
            </a:extLst>
          </p:cNvPr>
          <p:cNvSpPr>
            <a:spLocks noGrp="1"/>
          </p:cNvSpPr>
          <p:nvPr>
            <p:ph type="sldNum" sz="quarter" idx="10"/>
          </p:nvPr>
        </p:nvSpPr>
        <p:spPr/>
        <p:txBody>
          <a:bodyPr/>
          <a:lstStyle/>
          <a:p>
            <a:pPr>
              <a:defRPr/>
            </a:pPr>
            <a:fld id="{920384AA-0A71-E644-AEED-65CD2253F2C8}" type="slidenum">
              <a:rPr lang="en-US" smtClean="0"/>
              <a:pPr>
                <a:defRPr/>
              </a:pPr>
              <a:t>9</a:t>
            </a:fld>
            <a:endParaRPr lang="en-US" dirty="0"/>
          </a:p>
        </p:txBody>
      </p:sp>
    </p:spTree>
    <p:extLst>
      <p:ext uri="{BB962C8B-B14F-4D97-AF65-F5344CB8AC3E}">
        <p14:creationId xmlns:p14="http://schemas.microsoft.com/office/powerpoint/2010/main" val="2062281599"/>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Rounded Corners 49">
            <a:extLst>
              <a:ext uri="{FF2B5EF4-FFF2-40B4-BE49-F238E27FC236}">
                <a16:creationId xmlns:a16="http://schemas.microsoft.com/office/drawing/2014/main" id="{E4D884DB-B0A9-408C-972D-7B45103126A3}"/>
              </a:ext>
            </a:extLst>
          </p:cNvPr>
          <p:cNvSpPr/>
          <p:nvPr/>
        </p:nvSpPr>
        <p:spPr>
          <a:xfrm>
            <a:off x="1996874" y="1867829"/>
            <a:ext cx="6885071" cy="771157"/>
          </a:xfrm>
          <a:prstGeom prst="roundRect">
            <a:avLst/>
          </a:prstGeom>
          <a:noFill/>
          <a:ln w="25400">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ctangle: Rounded Corners 51">
            <a:extLst>
              <a:ext uri="{FF2B5EF4-FFF2-40B4-BE49-F238E27FC236}">
                <a16:creationId xmlns:a16="http://schemas.microsoft.com/office/drawing/2014/main" id="{3F3D1701-DDED-45AC-8EEC-22A0C6394D41}"/>
              </a:ext>
            </a:extLst>
          </p:cNvPr>
          <p:cNvSpPr/>
          <p:nvPr/>
        </p:nvSpPr>
        <p:spPr>
          <a:xfrm>
            <a:off x="7293667" y="1867829"/>
            <a:ext cx="1734819" cy="1686133"/>
          </a:xfrm>
          <a:prstGeom prst="roundRect">
            <a:avLst/>
          </a:prstGeom>
          <a:solidFill>
            <a:schemeClr val="bg1"/>
          </a:solidFill>
          <a:ln w="25400">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AF3F1BAA-7708-410A-A817-75BC41E4E0FA}"/>
              </a:ext>
            </a:extLst>
          </p:cNvPr>
          <p:cNvSpPr txBox="1"/>
          <p:nvPr/>
        </p:nvSpPr>
        <p:spPr>
          <a:xfrm>
            <a:off x="825135" y="128334"/>
            <a:ext cx="9000946" cy="538609"/>
          </a:xfrm>
          <a:prstGeom prst="rect">
            <a:avLst/>
          </a:prstGeom>
          <a:noFill/>
        </p:spPr>
        <p:txBody>
          <a:bodyPr wrap="square" rtlCol="0">
            <a:spAutoFit/>
          </a:bodyPr>
          <a:lstStyle/>
          <a:p>
            <a:r>
              <a:rPr lang="en-US" sz="2900" dirty="0">
                <a:latin typeface="Guardian Egyp Regular" panose="02060503050503060803" pitchFamily="18" charset="77"/>
              </a:rPr>
              <a:t>The Different Score Types</a:t>
            </a:r>
          </a:p>
        </p:txBody>
      </p:sp>
      <p:sp>
        <p:nvSpPr>
          <p:cNvPr id="4" name="Slide Number Placeholder 3">
            <a:extLst>
              <a:ext uri="{FF2B5EF4-FFF2-40B4-BE49-F238E27FC236}">
                <a16:creationId xmlns:a16="http://schemas.microsoft.com/office/drawing/2014/main" id="{7A2BB07B-8E40-4158-8B22-C025B9FC5403}"/>
              </a:ext>
            </a:extLst>
          </p:cNvPr>
          <p:cNvSpPr>
            <a:spLocks noGrp="1"/>
          </p:cNvSpPr>
          <p:nvPr>
            <p:ph type="sldNum" sz="quarter" idx="10"/>
          </p:nvPr>
        </p:nvSpPr>
        <p:spPr/>
        <p:txBody>
          <a:bodyPr/>
          <a:lstStyle/>
          <a:p>
            <a:pPr>
              <a:defRPr/>
            </a:pPr>
            <a:fld id="{920384AA-0A71-E644-AEED-65CD2253F2C8}" type="slidenum">
              <a:rPr lang="en-US" smtClean="0"/>
              <a:pPr>
                <a:defRPr/>
              </a:pPr>
              <a:t>10</a:t>
            </a:fld>
            <a:endParaRPr lang="en-US" dirty="0"/>
          </a:p>
        </p:txBody>
      </p:sp>
      <p:sp>
        <p:nvSpPr>
          <p:cNvPr id="5" name="Rectangle 4">
            <a:extLst>
              <a:ext uri="{FF2B5EF4-FFF2-40B4-BE49-F238E27FC236}">
                <a16:creationId xmlns:a16="http://schemas.microsoft.com/office/drawing/2014/main" id="{C2A4995F-8BA9-4231-AFB4-E6ED3E4237E4}"/>
              </a:ext>
            </a:extLst>
          </p:cNvPr>
          <p:cNvSpPr/>
          <p:nvPr/>
        </p:nvSpPr>
        <p:spPr>
          <a:xfrm>
            <a:off x="2087217" y="1949208"/>
            <a:ext cx="1336814" cy="581439"/>
          </a:xfrm>
          <a:prstGeom prst="rect">
            <a:avLst/>
          </a:prstGeom>
          <a:noFill/>
          <a:ln w="12700">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BECCD07-F9E0-4468-98F2-E796614D4E5C}"/>
              </a:ext>
            </a:extLst>
          </p:cNvPr>
          <p:cNvSpPr txBox="1"/>
          <p:nvPr/>
        </p:nvSpPr>
        <p:spPr>
          <a:xfrm>
            <a:off x="2176669" y="2008843"/>
            <a:ext cx="1247362" cy="492443"/>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Basic Consumer Card</a:t>
            </a:r>
          </a:p>
          <a:p>
            <a:pPr algn="l"/>
            <a:r>
              <a:rPr lang="en-US" sz="800" dirty="0">
                <a:solidFill>
                  <a:schemeClr val="bg2"/>
                </a:solidFill>
                <a:latin typeface="BentonSans Light" panose="02000503000000020004" pitchFamily="2" charset="0"/>
              </a:rPr>
              <a:t>Acct Id 371234567891001</a:t>
            </a:r>
          </a:p>
          <a:p>
            <a:pPr algn="l"/>
            <a:r>
              <a:rPr lang="en-US" sz="800" b="0" i="0" dirty="0">
                <a:solidFill>
                  <a:schemeClr val="bg2"/>
                </a:solidFill>
                <a:latin typeface="BentonSans Light" panose="02000503000000020004" pitchFamily="2" charset="0"/>
              </a:rPr>
              <a:t>Cust </a:t>
            </a:r>
            <a:r>
              <a:rPr lang="en-US" sz="800" dirty="0">
                <a:solidFill>
                  <a:schemeClr val="bg2"/>
                </a:solidFill>
                <a:latin typeface="BentonSans Light" panose="02000503000000020004" pitchFamily="2" charset="0"/>
              </a:rPr>
              <a:t>Id</a:t>
            </a:r>
            <a:r>
              <a:rPr lang="en-US" sz="800" b="0" i="0" dirty="0">
                <a:solidFill>
                  <a:schemeClr val="bg2"/>
                </a:solidFill>
                <a:latin typeface="BentonSans Light" panose="02000503000000020004" pitchFamily="2" charset="0"/>
              </a:rPr>
              <a:t> C1</a:t>
            </a:r>
          </a:p>
          <a:p>
            <a:pPr algn="l"/>
            <a:r>
              <a:rPr lang="en-US" sz="800" dirty="0">
                <a:solidFill>
                  <a:schemeClr val="bg2"/>
                </a:solidFill>
                <a:latin typeface="BentonSans Light" panose="02000503000000020004" pitchFamily="2" charset="0"/>
              </a:rPr>
              <a:t>Account Score 3</a:t>
            </a:r>
            <a:endParaRPr lang="en-US" sz="800" b="0" i="0" dirty="0">
              <a:solidFill>
                <a:schemeClr val="bg2"/>
              </a:solidFill>
              <a:latin typeface="BentonSans Light" panose="02000503000000020004" pitchFamily="2" charset="0"/>
            </a:endParaRPr>
          </a:p>
        </p:txBody>
      </p:sp>
      <p:sp>
        <p:nvSpPr>
          <p:cNvPr id="20" name="Rectangle 19">
            <a:extLst>
              <a:ext uri="{FF2B5EF4-FFF2-40B4-BE49-F238E27FC236}">
                <a16:creationId xmlns:a16="http://schemas.microsoft.com/office/drawing/2014/main" id="{13631C2B-4914-443E-960A-0449AD3A8180}"/>
              </a:ext>
            </a:extLst>
          </p:cNvPr>
          <p:cNvSpPr/>
          <p:nvPr/>
        </p:nvSpPr>
        <p:spPr>
          <a:xfrm>
            <a:off x="2087217" y="2803002"/>
            <a:ext cx="1336814" cy="581439"/>
          </a:xfrm>
          <a:prstGeom prst="rect">
            <a:avLst/>
          </a:prstGeom>
          <a:noFill/>
          <a:ln w="12700">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AAAAB59-90AE-46C9-A678-72A2C38032BA}"/>
              </a:ext>
            </a:extLst>
          </p:cNvPr>
          <p:cNvSpPr txBox="1"/>
          <p:nvPr/>
        </p:nvSpPr>
        <p:spPr>
          <a:xfrm>
            <a:off x="2176669" y="2862637"/>
            <a:ext cx="1247362" cy="492443"/>
          </a:xfrm>
          <a:prstGeom prst="rect">
            <a:avLst/>
          </a:prstGeom>
          <a:noFill/>
        </p:spPr>
        <p:txBody>
          <a:bodyPr wrap="square" lIns="0" tIns="0" rIns="0" bIns="0" rtlCol="0">
            <a:spAutoFit/>
          </a:bodyPr>
          <a:lstStyle/>
          <a:p>
            <a:r>
              <a:rPr lang="en-US" sz="800" dirty="0">
                <a:solidFill>
                  <a:schemeClr val="bg2"/>
                </a:solidFill>
                <a:latin typeface="BentonSans Light" panose="02000503000000020004" pitchFamily="2" charset="0"/>
              </a:rPr>
              <a:t>Supp Consumer Card</a:t>
            </a:r>
            <a:endParaRPr lang="en-US" sz="800" b="0" i="0" dirty="0">
              <a:solidFill>
                <a:schemeClr val="bg2"/>
              </a:solidFill>
              <a:latin typeface="BentonSans Light" panose="02000503000000020004" pitchFamily="2" charset="0"/>
            </a:endParaRPr>
          </a:p>
          <a:p>
            <a:pPr algn="l"/>
            <a:r>
              <a:rPr lang="en-US" sz="800" dirty="0">
                <a:solidFill>
                  <a:schemeClr val="bg2"/>
                </a:solidFill>
                <a:latin typeface="BentonSans Light" panose="02000503000000020004" pitchFamily="2" charset="0"/>
              </a:rPr>
              <a:t>Acct Id 371234567891012</a:t>
            </a:r>
          </a:p>
          <a:p>
            <a:pPr algn="l"/>
            <a:r>
              <a:rPr lang="en-US" sz="800" b="0" i="0" dirty="0">
                <a:solidFill>
                  <a:schemeClr val="bg2"/>
                </a:solidFill>
                <a:latin typeface="BentonSans Light" panose="02000503000000020004" pitchFamily="2" charset="0"/>
              </a:rPr>
              <a:t>Cust </a:t>
            </a:r>
            <a:r>
              <a:rPr lang="en-US" sz="800" dirty="0">
                <a:solidFill>
                  <a:schemeClr val="bg2"/>
                </a:solidFill>
                <a:latin typeface="BentonSans Light" panose="02000503000000020004" pitchFamily="2" charset="0"/>
              </a:rPr>
              <a:t>Id</a:t>
            </a:r>
            <a:r>
              <a:rPr lang="en-US" sz="800" b="0" i="0" dirty="0">
                <a:solidFill>
                  <a:schemeClr val="bg2"/>
                </a:solidFill>
                <a:latin typeface="BentonSans Light" panose="02000503000000020004" pitchFamily="2" charset="0"/>
              </a:rPr>
              <a:t> C2</a:t>
            </a:r>
          </a:p>
          <a:p>
            <a:pPr algn="l"/>
            <a:r>
              <a:rPr lang="en-US" sz="800" dirty="0">
                <a:solidFill>
                  <a:schemeClr val="bg2"/>
                </a:solidFill>
                <a:latin typeface="BentonSans Light" panose="02000503000000020004" pitchFamily="2" charset="0"/>
              </a:rPr>
              <a:t>Account Score 2</a:t>
            </a:r>
            <a:endParaRPr lang="en-US" sz="800" b="0" i="0" dirty="0">
              <a:solidFill>
                <a:schemeClr val="bg2"/>
              </a:solidFill>
              <a:latin typeface="BentonSans Light" panose="02000503000000020004" pitchFamily="2" charset="0"/>
            </a:endParaRPr>
          </a:p>
        </p:txBody>
      </p:sp>
      <p:sp>
        <p:nvSpPr>
          <p:cNvPr id="22" name="Rectangle 21">
            <a:extLst>
              <a:ext uri="{FF2B5EF4-FFF2-40B4-BE49-F238E27FC236}">
                <a16:creationId xmlns:a16="http://schemas.microsoft.com/office/drawing/2014/main" id="{6A20D75D-74AA-4537-B3B1-AFB36676F40F}"/>
              </a:ext>
            </a:extLst>
          </p:cNvPr>
          <p:cNvSpPr/>
          <p:nvPr/>
        </p:nvSpPr>
        <p:spPr>
          <a:xfrm>
            <a:off x="2087217" y="3705578"/>
            <a:ext cx="1336814" cy="581439"/>
          </a:xfrm>
          <a:prstGeom prst="rect">
            <a:avLst/>
          </a:prstGeom>
          <a:noFill/>
          <a:ln w="12700">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DB98886D-24F1-4629-88AC-C49062FFF67A}"/>
              </a:ext>
            </a:extLst>
          </p:cNvPr>
          <p:cNvSpPr txBox="1"/>
          <p:nvPr/>
        </p:nvSpPr>
        <p:spPr>
          <a:xfrm>
            <a:off x="2176669" y="3765213"/>
            <a:ext cx="1247362" cy="492443"/>
          </a:xfrm>
          <a:prstGeom prst="rect">
            <a:avLst/>
          </a:prstGeom>
          <a:noFill/>
        </p:spPr>
        <p:txBody>
          <a:bodyPr wrap="square" lIns="0" tIns="0" rIns="0" bIns="0" rtlCol="0">
            <a:spAutoFit/>
          </a:bodyPr>
          <a:lstStyle/>
          <a:p>
            <a:r>
              <a:rPr lang="en-US" sz="800" dirty="0">
                <a:solidFill>
                  <a:schemeClr val="bg2"/>
                </a:solidFill>
                <a:latin typeface="BentonSans Light" panose="02000503000000020004" pitchFamily="2" charset="0"/>
              </a:rPr>
              <a:t>Supp Consumer </a:t>
            </a:r>
            <a:r>
              <a:rPr lang="en-US" sz="800" b="0" i="0" dirty="0">
                <a:solidFill>
                  <a:schemeClr val="bg2"/>
                </a:solidFill>
                <a:latin typeface="BentonSans Light" panose="02000503000000020004" pitchFamily="2" charset="0"/>
              </a:rPr>
              <a:t>Card</a:t>
            </a:r>
          </a:p>
          <a:p>
            <a:pPr algn="l"/>
            <a:r>
              <a:rPr lang="en-US" sz="800" dirty="0">
                <a:solidFill>
                  <a:schemeClr val="bg2"/>
                </a:solidFill>
                <a:latin typeface="BentonSans Light" panose="02000503000000020004" pitchFamily="2" charset="0"/>
              </a:rPr>
              <a:t>Acct Id 371234567891023</a:t>
            </a:r>
          </a:p>
          <a:p>
            <a:pPr algn="l"/>
            <a:r>
              <a:rPr lang="en-US" sz="800" b="0" i="0" dirty="0">
                <a:solidFill>
                  <a:schemeClr val="bg2"/>
                </a:solidFill>
                <a:latin typeface="BentonSans Light" panose="02000503000000020004" pitchFamily="2" charset="0"/>
              </a:rPr>
              <a:t>Cust </a:t>
            </a:r>
            <a:r>
              <a:rPr lang="en-US" sz="800" dirty="0">
                <a:solidFill>
                  <a:schemeClr val="bg2"/>
                </a:solidFill>
                <a:latin typeface="BentonSans Light" panose="02000503000000020004" pitchFamily="2" charset="0"/>
              </a:rPr>
              <a:t>Id</a:t>
            </a:r>
            <a:r>
              <a:rPr lang="en-US" sz="800" b="0" i="0" dirty="0">
                <a:solidFill>
                  <a:schemeClr val="bg2"/>
                </a:solidFill>
                <a:latin typeface="BentonSans Light" panose="02000503000000020004" pitchFamily="2" charset="0"/>
              </a:rPr>
              <a:t> C3</a:t>
            </a:r>
          </a:p>
          <a:p>
            <a:pPr algn="l"/>
            <a:r>
              <a:rPr lang="en-US" sz="800" dirty="0">
                <a:solidFill>
                  <a:schemeClr val="bg2"/>
                </a:solidFill>
                <a:latin typeface="BentonSans Light" panose="02000503000000020004" pitchFamily="2" charset="0"/>
              </a:rPr>
              <a:t>Account Score 9</a:t>
            </a:r>
            <a:endParaRPr lang="en-US" sz="800" b="0" i="0" dirty="0">
              <a:solidFill>
                <a:schemeClr val="bg2"/>
              </a:solidFill>
              <a:latin typeface="BentonSans Light" panose="02000503000000020004" pitchFamily="2" charset="0"/>
            </a:endParaRPr>
          </a:p>
        </p:txBody>
      </p:sp>
      <p:sp>
        <p:nvSpPr>
          <p:cNvPr id="7" name="TextBox 6">
            <a:extLst>
              <a:ext uri="{FF2B5EF4-FFF2-40B4-BE49-F238E27FC236}">
                <a16:creationId xmlns:a16="http://schemas.microsoft.com/office/drawing/2014/main" id="{480EE204-11A8-4CE3-8D60-49181FB555E2}"/>
              </a:ext>
            </a:extLst>
          </p:cNvPr>
          <p:cNvSpPr txBox="1"/>
          <p:nvPr/>
        </p:nvSpPr>
        <p:spPr>
          <a:xfrm flipH="1">
            <a:off x="2087217" y="764376"/>
            <a:ext cx="1411358" cy="923330"/>
          </a:xfrm>
          <a:prstGeom prst="rect">
            <a:avLst/>
          </a:prstGeom>
          <a:noFill/>
        </p:spPr>
        <p:txBody>
          <a:bodyPr wrap="square" lIns="0" tIns="0" rIns="0" bIns="0" rtlCol="0">
            <a:spAutoFit/>
          </a:bodyPr>
          <a:lstStyle/>
          <a:p>
            <a:pPr algn="ctr"/>
            <a:r>
              <a:rPr lang="en-US" sz="1000" b="0" i="0" dirty="0">
                <a:solidFill>
                  <a:srgbClr val="C00000"/>
                </a:solidFill>
                <a:latin typeface="BentonSans Light" panose="02000503000000020004" pitchFamily="2" charset="0"/>
              </a:rPr>
              <a:t>These cards below, each have an </a:t>
            </a:r>
            <a:r>
              <a:rPr lang="en-US" sz="1000" b="1" i="0" dirty="0">
                <a:solidFill>
                  <a:schemeClr val="tx1">
                    <a:lumMod val="75000"/>
                    <a:lumOff val="25000"/>
                  </a:schemeClr>
                </a:solidFill>
                <a:latin typeface="BentonSans Light" panose="02000503000000020004" pitchFamily="2" charset="0"/>
              </a:rPr>
              <a:t>Account Risk Score</a:t>
            </a:r>
            <a:r>
              <a:rPr lang="en-US" sz="1000" b="0" i="0" dirty="0">
                <a:solidFill>
                  <a:srgbClr val="C00000"/>
                </a:solidFill>
                <a:latin typeface="BentonSans Light" panose="02000503000000020004" pitchFamily="2" charset="0"/>
              </a:rPr>
              <a:t> that is determined by looking at all the data that is available for each account independently.</a:t>
            </a:r>
          </a:p>
        </p:txBody>
      </p:sp>
      <p:sp>
        <p:nvSpPr>
          <p:cNvPr id="25" name="TextBox 24">
            <a:extLst>
              <a:ext uri="{FF2B5EF4-FFF2-40B4-BE49-F238E27FC236}">
                <a16:creationId xmlns:a16="http://schemas.microsoft.com/office/drawing/2014/main" id="{09BB00B6-3661-460F-9F72-D55088020AD1}"/>
              </a:ext>
            </a:extLst>
          </p:cNvPr>
          <p:cNvSpPr txBox="1"/>
          <p:nvPr/>
        </p:nvSpPr>
        <p:spPr>
          <a:xfrm flipH="1">
            <a:off x="1011306" y="1949208"/>
            <a:ext cx="866361" cy="2462213"/>
          </a:xfrm>
          <a:prstGeom prst="rect">
            <a:avLst/>
          </a:prstGeom>
          <a:noFill/>
        </p:spPr>
        <p:txBody>
          <a:bodyPr wrap="square" lIns="0" tIns="0" rIns="0" bIns="0" rtlCol="0">
            <a:spAutoFit/>
          </a:bodyPr>
          <a:lstStyle/>
          <a:p>
            <a:pPr algn="ctr"/>
            <a:r>
              <a:rPr lang="en-US" sz="1000" b="0" i="0" dirty="0">
                <a:solidFill>
                  <a:srgbClr val="C00000"/>
                </a:solidFill>
                <a:latin typeface="BentonSans Light" panose="02000503000000020004" pitchFamily="2" charset="0"/>
              </a:rPr>
              <a:t>These three cards, are grouped as part of a basic/supp hierarchy. Their </a:t>
            </a:r>
            <a:r>
              <a:rPr lang="en-US" sz="1000" b="1" i="0" dirty="0">
                <a:solidFill>
                  <a:schemeClr val="tx1">
                    <a:lumMod val="75000"/>
                    <a:lumOff val="25000"/>
                  </a:schemeClr>
                </a:solidFill>
                <a:latin typeface="BentonSans Light" panose="02000503000000020004" pitchFamily="2" charset="0"/>
              </a:rPr>
              <a:t>Hierarchy Risk  Score </a:t>
            </a:r>
            <a:r>
              <a:rPr lang="en-US" sz="1000" b="0" i="0" dirty="0">
                <a:solidFill>
                  <a:srgbClr val="C00000"/>
                </a:solidFill>
                <a:latin typeface="BentonSans Light" panose="02000503000000020004" pitchFamily="2" charset="0"/>
              </a:rPr>
              <a:t>is the highest account risk score in the group, </a:t>
            </a:r>
            <a:r>
              <a:rPr lang="en-US" sz="1000" dirty="0">
                <a:solidFill>
                  <a:srgbClr val="C00000"/>
                </a:solidFill>
                <a:latin typeface="BentonSans Light" panose="02000503000000020004" pitchFamily="2" charset="0"/>
              </a:rPr>
              <a:t>In this example the hierarchy score is 9 </a:t>
            </a:r>
            <a:endParaRPr lang="en-US" sz="1000" b="0" i="0" dirty="0">
              <a:solidFill>
                <a:srgbClr val="C00000"/>
              </a:solidFill>
              <a:latin typeface="BentonSans Light" panose="02000503000000020004" pitchFamily="2" charset="0"/>
            </a:endParaRPr>
          </a:p>
        </p:txBody>
      </p:sp>
      <p:sp>
        <p:nvSpPr>
          <p:cNvPr id="39" name="Rectangle 38">
            <a:extLst>
              <a:ext uri="{FF2B5EF4-FFF2-40B4-BE49-F238E27FC236}">
                <a16:creationId xmlns:a16="http://schemas.microsoft.com/office/drawing/2014/main" id="{7118AD79-F721-492C-A50A-3DBDF44CE948}"/>
              </a:ext>
            </a:extLst>
          </p:cNvPr>
          <p:cNvSpPr/>
          <p:nvPr/>
        </p:nvSpPr>
        <p:spPr>
          <a:xfrm>
            <a:off x="4013754" y="1949208"/>
            <a:ext cx="1336814" cy="581439"/>
          </a:xfrm>
          <a:prstGeom prst="rect">
            <a:avLst/>
          </a:prstGeom>
          <a:noFill/>
          <a:ln w="12700">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67D26BA6-B271-42C4-AF47-E5C503D447ED}"/>
              </a:ext>
            </a:extLst>
          </p:cNvPr>
          <p:cNvSpPr txBox="1"/>
          <p:nvPr/>
        </p:nvSpPr>
        <p:spPr>
          <a:xfrm>
            <a:off x="4103206" y="2008843"/>
            <a:ext cx="1247362" cy="492443"/>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Corp Card</a:t>
            </a:r>
          </a:p>
          <a:p>
            <a:pPr algn="l"/>
            <a:r>
              <a:rPr lang="en-US" sz="800" dirty="0">
                <a:solidFill>
                  <a:schemeClr val="bg2"/>
                </a:solidFill>
                <a:latin typeface="BentonSans Light" panose="02000503000000020004" pitchFamily="2" charset="0"/>
              </a:rPr>
              <a:t>Acct Id 371234567771001</a:t>
            </a:r>
          </a:p>
          <a:p>
            <a:pPr algn="l"/>
            <a:r>
              <a:rPr lang="en-US" sz="800" b="0" i="0" dirty="0">
                <a:solidFill>
                  <a:schemeClr val="bg2"/>
                </a:solidFill>
                <a:latin typeface="BentonSans Light" panose="02000503000000020004" pitchFamily="2" charset="0"/>
              </a:rPr>
              <a:t>Cust </a:t>
            </a:r>
            <a:r>
              <a:rPr lang="en-US" sz="800" dirty="0">
                <a:solidFill>
                  <a:schemeClr val="bg2"/>
                </a:solidFill>
                <a:latin typeface="BentonSans Light" panose="02000503000000020004" pitchFamily="2" charset="0"/>
              </a:rPr>
              <a:t>Id</a:t>
            </a:r>
            <a:r>
              <a:rPr lang="en-US" sz="800" b="0" i="0" dirty="0">
                <a:solidFill>
                  <a:schemeClr val="bg2"/>
                </a:solidFill>
                <a:latin typeface="BentonSans Light" panose="02000503000000020004" pitchFamily="2" charset="0"/>
              </a:rPr>
              <a:t> C1</a:t>
            </a:r>
          </a:p>
          <a:p>
            <a:pPr algn="l"/>
            <a:r>
              <a:rPr lang="en-US" sz="800" dirty="0">
                <a:solidFill>
                  <a:schemeClr val="bg2"/>
                </a:solidFill>
                <a:latin typeface="BentonSans Light" panose="02000503000000020004" pitchFamily="2" charset="0"/>
              </a:rPr>
              <a:t>Account Score 5</a:t>
            </a:r>
            <a:endParaRPr lang="en-US" sz="800" b="0" i="0" dirty="0">
              <a:solidFill>
                <a:schemeClr val="bg2"/>
              </a:solidFill>
              <a:latin typeface="BentonSans Light" panose="02000503000000020004" pitchFamily="2" charset="0"/>
            </a:endParaRPr>
          </a:p>
        </p:txBody>
      </p:sp>
      <p:sp>
        <p:nvSpPr>
          <p:cNvPr id="45" name="Rectangle 44">
            <a:extLst>
              <a:ext uri="{FF2B5EF4-FFF2-40B4-BE49-F238E27FC236}">
                <a16:creationId xmlns:a16="http://schemas.microsoft.com/office/drawing/2014/main" id="{5552454B-D44F-46E5-9070-9C488C316681}"/>
              </a:ext>
            </a:extLst>
          </p:cNvPr>
          <p:cNvSpPr/>
          <p:nvPr/>
        </p:nvSpPr>
        <p:spPr>
          <a:xfrm>
            <a:off x="5691768" y="1081235"/>
            <a:ext cx="1336814" cy="581439"/>
          </a:xfrm>
          <a:prstGeom prst="rect">
            <a:avLst/>
          </a:prstGeom>
          <a:noFill/>
          <a:ln w="12700">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AEDF3E1C-CEA8-4863-8FD3-9417E93605C2}"/>
              </a:ext>
            </a:extLst>
          </p:cNvPr>
          <p:cNvSpPr txBox="1"/>
          <p:nvPr/>
        </p:nvSpPr>
        <p:spPr>
          <a:xfrm>
            <a:off x="5781220" y="1140870"/>
            <a:ext cx="1247362" cy="492443"/>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Basic SBS Card</a:t>
            </a:r>
          </a:p>
          <a:p>
            <a:pPr algn="l"/>
            <a:r>
              <a:rPr lang="en-US" sz="800" dirty="0">
                <a:solidFill>
                  <a:schemeClr val="bg2"/>
                </a:solidFill>
                <a:latin typeface="BentonSans Light" panose="02000503000000020004" pitchFamily="2" charset="0"/>
              </a:rPr>
              <a:t>Acct Id 371234444441001</a:t>
            </a:r>
          </a:p>
          <a:p>
            <a:pPr algn="l"/>
            <a:r>
              <a:rPr lang="en-US" sz="800" b="0" i="0" dirty="0">
                <a:solidFill>
                  <a:schemeClr val="bg2"/>
                </a:solidFill>
                <a:latin typeface="BentonSans Light" panose="02000503000000020004" pitchFamily="2" charset="0"/>
              </a:rPr>
              <a:t>Cust </a:t>
            </a:r>
            <a:r>
              <a:rPr lang="en-US" sz="800" dirty="0">
                <a:solidFill>
                  <a:schemeClr val="bg2"/>
                </a:solidFill>
                <a:latin typeface="BentonSans Light" panose="02000503000000020004" pitchFamily="2" charset="0"/>
              </a:rPr>
              <a:t>Id</a:t>
            </a:r>
            <a:r>
              <a:rPr lang="en-US" sz="800" b="0" i="0" dirty="0">
                <a:solidFill>
                  <a:schemeClr val="bg2"/>
                </a:solidFill>
                <a:latin typeface="BentonSans Light" panose="02000503000000020004" pitchFamily="2" charset="0"/>
              </a:rPr>
              <a:t> C4</a:t>
            </a:r>
          </a:p>
          <a:p>
            <a:pPr algn="l"/>
            <a:r>
              <a:rPr lang="en-US" sz="800" dirty="0">
                <a:solidFill>
                  <a:schemeClr val="bg2"/>
                </a:solidFill>
                <a:latin typeface="BentonSans Light" panose="02000503000000020004" pitchFamily="2" charset="0"/>
              </a:rPr>
              <a:t>Account Score 3</a:t>
            </a:r>
            <a:endParaRPr lang="en-US" sz="800" b="0" i="0" dirty="0">
              <a:solidFill>
                <a:schemeClr val="bg2"/>
              </a:solidFill>
              <a:latin typeface="BentonSans Light" panose="02000503000000020004" pitchFamily="2" charset="0"/>
            </a:endParaRPr>
          </a:p>
        </p:txBody>
      </p:sp>
      <p:sp>
        <p:nvSpPr>
          <p:cNvPr id="47" name="Rectangle 46">
            <a:extLst>
              <a:ext uri="{FF2B5EF4-FFF2-40B4-BE49-F238E27FC236}">
                <a16:creationId xmlns:a16="http://schemas.microsoft.com/office/drawing/2014/main" id="{2C628335-CF36-409F-92B9-3A41F2B50440}"/>
              </a:ext>
            </a:extLst>
          </p:cNvPr>
          <p:cNvSpPr/>
          <p:nvPr/>
        </p:nvSpPr>
        <p:spPr>
          <a:xfrm>
            <a:off x="5691768" y="1952696"/>
            <a:ext cx="1336814" cy="581439"/>
          </a:xfrm>
          <a:prstGeom prst="rect">
            <a:avLst/>
          </a:prstGeom>
          <a:noFill/>
          <a:ln w="12700">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A99E3490-0D4A-4179-A366-CB6C005EA28C}"/>
              </a:ext>
            </a:extLst>
          </p:cNvPr>
          <p:cNvSpPr txBox="1"/>
          <p:nvPr/>
        </p:nvSpPr>
        <p:spPr>
          <a:xfrm>
            <a:off x="5781220" y="2012331"/>
            <a:ext cx="1247362" cy="492443"/>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Supp SBS Card</a:t>
            </a:r>
          </a:p>
          <a:p>
            <a:pPr algn="l"/>
            <a:r>
              <a:rPr lang="en-US" sz="800" dirty="0">
                <a:solidFill>
                  <a:schemeClr val="bg2"/>
                </a:solidFill>
                <a:latin typeface="BentonSans Light" panose="02000503000000020004" pitchFamily="2" charset="0"/>
              </a:rPr>
              <a:t>Acct Id 371234444441012</a:t>
            </a:r>
          </a:p>
          <a:p>
            <a:pPr algn="l"/>
            <a:r>
              <a:rPr lang="en-US" sz="800" b="0" i="0" dirty="0">
                <a:solidFill>
                  <a:schemeClr val="bg2"/>
                </a:solidFill>
                <a:latin typeface="BentonSans Light" panose="02000503000000020004" pitchFamily="2" charset="0"/>
              </a:rPr>
              <a:t>Cust </a:t>
            </a:r>
            <a:r>
              <a:rPr lang="en-US" sz="800" dirty="0">
                <a:solidFill>
                  <a:schemeClr val="bg2"/>
                </a:solidFill>
                <a:latin typeface="BentonSans Light" panose="02000503000000020004" pitchFamily="2" charset="0"/>
              </a:rPr>
              <a:t>Id</a:t>
            </a:r>
            <a:r>
              <a:rPr lang="en-US" sz="800" b="0" i="0" dirty="0">
                <a:solidFill>
                  <a:schemeClr val="bg2"/>
                </a:solidFill>
                <a:latin typeface="BentonSans Light" panose="02000503000000020004" pitchFamily="2" charset="0"/>
              </a:rPr>
              <a:t> C1</a:t>
            </a:r>
          </a:p>
          <a:p>
            <a:pPr algn="l"/>
            <a:r>
              <a:rPr lang="en-US" sz="800" dirty="0">
                <a:solidFill>
                  <a:schemeClr val="bg2"/>
                </a:solidFill>
                <a:latin typeface="BentonSans Light" panose="02000503000000020004" pitchFamily="2" charset="0"/>
              </a:rPr>
              <a:t>Account Score 2</a:t>
            </a:r>
            <a:endParaRPr lang="en-US" sz="800" b="0" i="0" dirty="0">
              <a:solidFill>
                <a:schemeClr val="bg2"/>
              </a:solidFill>
              <a:latin typeface="BentonSans Light" panose="02000503000000020004" pitchFamily="2" charset="0"/>
            </a:endParaRPr>
          </a:p>
        </p:txBody>
      </p:sp>
      <p:sp>
        <p:nvSpPr>
          <p:cNvPr id="8" name="Rectangle: Rounded Corners 7">
            <a:extLst>
              <a:ext uri="{FF2B5EF4-FFF2-40B4-BE49-F238E27FC236}">
                <a16:creationId xmlns:a16="http://schemas.microsoft.com/office/drawing/2014/main" id="{7D629253-3267-4C12-950E-E819998899C9}"/>
              </a:ext>
            </a:extLst>
          </p:cNvPr>
          <p:cNvSpPr/>
          <p:nvPr/>
        </p:nvSpPr>
        <p:spPr>
          <a:xfrm>
            <a:off x="892098" y="1785139"/>
            <a:ext cx="2793380" cy="2725529"/>
          </a:xfrm>
          <a:prstGeom prst="roundRect">
            <a:avLst/>
          </a:prstGeom>
          <a:noFill/>
          <a:ln w="25400">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D020B144-4208-4166-A9D7-CEDCA1BE0CCA}"/>
              </a:ext>
            </a:extLst>
          </p:cNvPr>
          <p:cNvSpPr/>
          <p:nvPr/>
        </p:nvSpPr>
        <p:spPr>
          <a:xfrm>
            <a:off x="1877667" y="666944"/>
            <a:ext cx="1897264" cy="3921784"/>
          </a:xfrm>
          <a:prstGeom prst="roundRect">
            <a:avLst/>
          </a:prstGeom>
          <a:no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260E638C-42B9-4237-B8E7-E81F0E0EF14C}"/>
              </a:ext>
            </a:extLst>
          </p:cNvPr>
          <p:cNvSpPr txBox="1"/>
          <p:nvPr/>
        </p:nvSpPr>
        <p:spPr>
          <a:xfrm flipH="1">
            <a:off x="7426168" y="1995043"/>
            <a:ext cx="1443134" cy="1384995"/>
          </a:xfrm>
          <a:prstGeom prst="rect">
            <a:avLst/>
          </a:prstGeom>
          <a:noFill/>
        </p:spPr>
        <p:txBody>
          <a:bodyPr wrap="square" lIns="0" tIns="0" rIns="0" bIns="0" rtlCol="0">
            <a:spAutoFit/>
          </a:bodyPr>
          <a:lstStyle/>
          <a:p>
            <a:pPr algn="ctr"/>
            <a:r>
              <a:rPr lang="en-US" sz="1000" b="0" i="0" dirty="0">
                <a:solidFill>
                  <a:srgbClr val="C00000"/>
                </a:solidFill>
                <a:latin typeface="BentonSans Light" panose="02000503000000020004" pitchFamily="2" charset="0"/>
              </a:rPr>
              <a:t>These 3 accounts l belong to </a:t>
            </a:r>
            <a:r>
              <a:rPr lang="en-US" sz="1000" dirty="0">
                <a:solidFill>
                  <a:srgbClr val="C00000"/>
                </a:solidFill>
                <a:latin typeface="BentonSans Light" panose="02000503000000020004" pitchFamily="2" charset="0"/>
              </a:rPr>
              <a:t>the same customer, </a:t>
            </a:r>
            <a:r>
              <a:rPr lang="en-US" sz="1000" b="0" i="0" dirty="0">
                <a:solidFill>
                  <a:srgbClr val="C00000"/>
                </a:solidFill>
                <a:latin typeface="BentonSans Light" panose="02000503000000020004" pitchFamily="2" charset="0"/>
              </a:rPr>
              <a:t>who will receive a </a:t>
            </a:r>
            <a:r>
              <a:rPr lang="en-US" sz="1000" b="1" i="0" dirty="0">
                <a:solidFill>
                  <a:schemeClr val="tx1">
                    <a:lumMod val="75000"/>
                    <a:lumOff val="25000"/>
                  </a:schemeClr>
                </a:solidFill>
                <a:latin typeface="BentonSans Light" panose="02000503000000020004" pitchFamily="2" charset="0"/>
              </a:rPr>
              <a:t>Customer Risk Score</a:t>
            </a:r>
            <a:r>
              <a:rPr lang="en-US" sz="1000" b="0" i="0" dirty="0">
                <a:solidFill>
                  <a:srgbClr val="C00000"/>
                </a:solidFill>
                <a:latin typeface="BentonSans Light" panose="02000503000000020004" pitchFamily="2" charset="0"/>
              </a:rPr>
              <a:t> that is determined by aggregating  all the data that is available for all </a:t>
            </a:r>
            <a:r>
              <a:rPr lang="en-US" sz="1000" dirty="0">
                <a:solidFill>
                  <a:srgbClr val="C00000"/>
                </a:solidFill>
                <a:latin typeface="BentonSans Light" panose="02000503000000020004" pitchFamily="2" charset="0"/>
              </a:rPr>
              <a:t>the accounts the customer owns.</a:t>
            </a:r>
            <a:endParaRPr lang="en-US" sz="1000" b="0" i="0" dirty="0">
              <a:solidFill>
                <a:srgbClr val="C00000"/>
              </a:solidFill>
              <a:latin typeface="BentonSans Light" panose="02000503000000020004" pitchFamily="2" charset="0"/>
            </a:endParaRPr>
          </a:p>
        </p:txBody>
      </p:sp>
      <p:sp>
        <p:nvSpPr>
          <p:cNvPr id="53" name="Rectangle: Rounded Corners 52">
            <a:extLst>
              <a:ext uri="{FF2B5EF4-FFF2-40B4-BE49-F238E27FC236}">
                <a16:creationId xmlns:a16="http://schemas.microsoft.com/office/drawing/2014/main" id="{B559D4D6-4F02-4DEB-9114-04C0DE33ADD6}"/>
              </a:ext>
            </a:extLst>
          </p:cNvPr>
          <p:cNvSpPr/>
          <p:nvPr/>
        </p:nvSpPr>
        <p:spPr>
          <a:xfrm>
            <a:off x="5589391" y="390855"/>
            <a:ext cx="1545092" cy="2336666"/>
          </a:xfrm>
          <a:prstGeom prst="roundRect">
            <a:avLst/>
          </a:prstGeom>
          <a:noFill/>
          <a:ln w="25400">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34BFE3B5-17F2-415E-8A95-6BEEC64BFA69}"/>
              </a:ext>
            </a:extLst>
          </p:cNvPr>
          <p:cNvSpPr txBox="1"/>
          <p:nvPr/>
        </p:nvSpPr>
        <p:spPr>
          <a:xfrm flipH="1">
            <a:off x="5714995" y="515189"/>
            <a:ext cx="1258227" cy="461665"/>
          </a:xfrm>
          <a:prstGeom prst="rect">
            <a:avLst/>
          </a:prstGeom>
          <a:noFill/>
        </p:spPr>
        <p:txBody>
          <a:bodyPr wrap="square" lIns="0" tIns="0" rIns="0" bIns="0" rtlCol="0">
            <a:spAutoFit/>
          </a:bodyPr>
          <a:lstStyle/>
          <a:p>
            <a:pPr algn="ctr"/>
            <a:r>
              <a:rPr lang="en-US" sz="1000" b="1" dirty="0">
                <a:solidFill>
                  <a:srgbClr val="C00000"/>
                </a:solidFill>
                <a:latin typeface="BentonSans Light" panose="02000503000000020004" pitchFamily="2" charset="0"/>
              </a:rPr>
              <a:t>What would be the Hierarchy score for these two accounts</a:t>
            </a:r>
            <a:r>
              <a:rPr lang="en-US" sz="1000" dirty="0">
                <a:solidFill>
                  <a:srgbClr val="C00000"/>
                </a:solidFill>
                <a:latin typeface="BentonSans Light" panose="02000503000000020004" pitchFamily="2" charset="0"/>
              </a:rPr>
              <a:t>?</a:t>
            </a:r>
            <a:endParaRPr lang="en-US" sz="1000" b="0" i="0" dirty="0">
              <a:solidFill>
                <a:srgbClr val="C00000"/>
              </a:solidFill>
              <a:latin typeface="BentonSans Light" panose="02000503000000020004" pitchFamily="2" charset="0"/>
            </a:endParaRPr>
          </a:p>
        </p:txBody>
      </p:sp>
      <p:sp>
        <p:nvSpPr>
          <p:cNvPr id="9" name="TextBox 8">
            <a:extLst>
              <a:ext uri="{FF2B5EF4-FFF2-40B4-BE49-F238E27FC236}">
                <a16:creationId xmlns:a16="http://schemas.microsoft.com/office/drawing/2014/main" id="{79F9C4C9-CFD1-4900-90F6-B33F51233B94}"/>
              </a:ext>
            </a:extLst>
          </p:cNvPr>
          <p:cNvSpPr txBox="1"/>
          <p:nvPr/>
        </p:nvSpPr>
        <p:spPr>
          <a:xfrm>
            <a:off x="3907432" y="3093721"/>
            <a:ext cx="3241423" cy="1661993"/>
          </a:xfrm>
          <a:prstGeom prst="rect">
            <a:avLst/>
          </a:prstGeom>
          <a:noFill/>
        </p:spPr>
        <p:txBody>
          <a:bodyPr wrap="square" lIns="0" tIns="0" rIns="0" bIns="0" rtlCol="0">
            <a:spAutoFit/>
          </a:bodyPr>
          <a:lstStyle/>
          <a:p>
            <a:pPr algn="l"/>
            <a:r>
              <a:rPr lang="en-US" sz="900" dirty="0">
                <a:solidFill>
                  <a:srgbClr val="418795"/>
                </a:solidFill>
                <a:latin typeface="BentonSans Light" panose="02000503000000020004" pitchFamily="2" charset="0"/>
              </a:rPr>
              <a:t>All accounts for all lines of Business, Consumer, SBS, Merchant, Corporate etc.. Have an independent Account Risk Score.</a:t>
            </a:r>
          </a:p>
          <a:p>
            <a:pPr algn="l"/>
            <a:endParaRPr lang="en-US" sz="900" b="0" i="0" dirty="0">
              <a:solidFill>
                <a:srgbClr val="418795"/>
              </a:solidFill>
              <a:latin typeface="BentonSans Light" panose="02000503000000020004" pitchFamily="2" charset="0"/>
            </a:endParaRPr>
          </a:p>
          <a:p>
            <a:pPr algn="l"/>
            <a:r>
              <a:rPr lang="en-US" sz="900" dirty="0">
                <a:solidFill>
                  <a:srgbClr val="418795"/>
                </a:solidFill>
                <a:latin typeface="BentonSans Light" panose="02000503000000020004" pitchFamily="2" charset="0"/>
              </a:rPr>
              <a:t>Any hierarchical grouping of accounts, Basic/Supp, Merchant Chain etc.. Will have a hierarchy score shared with the whole hierarchy which is the highest Account Risk Score in the hierarchy.</a:t>
            </a:r>
          </a:p>
          <a:p>
            <a:pPr algn="l"/>
            <a:endParaRPr lang="en-US" sz="900" b="0" i="0" dirty="0">
              <a:solidFill>
                <a:srgbClr val="418795"/>
              </a:solidFill>
              <a:latin typeface="BentonSans Light" panose="02000503000000020004" pitchFamily="2" charset="0"/>
            </a:endParaRPr>
          </a:p>
          <a:p>
            <a:pPr algn="l"/>
            <a:r>
              <a:rPr lang="en-US" sz="900" dirty="0">
                <a:solidFill>
                  <a:srgbClr val="418795"/>
                </a:solidFill>
                <a:latin typeface="BentonSans Light" panose="02000503000000020004" pitchFamily="2" charset="0"/>
              </a:rPr>
              <a:t>The Customer risk score is calculated by aggregating all demographic and transaction data present on all the accounts owned by the customer.</a:t>
            </a:r>
            <a:endParaRPr lang="en-US" sz="900" b="0" i="0" dirty="0">
              <a:solidFill>
                <a:srgbClr val="418795"/>
              </a:solidFill>
              <a:latin typeface="BentonSans Light" panose="02000503000000020004" pitchFamily="2" charset="0"/>
            </a:endParaRPr>
          </a:p>
        </p:txBody>
      </p:sp>
    </p:spTree>
    <p:extLst>
      <p:ext uri="{BB962C8B-B14F-4D97-AF65-F5344CB8AC3E}">
        <p14:creationId xmlns:p14="http://schemas.microsoft.com/office/powerpoint/2010/main" val="483344997"/>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AF3F1BAA-7708-410A-A817-75BC41E4E0FA}"/>
              </a:ext>
            </a:extLst>
          </p:cNvPr>
          <p:cNvSpPr txBox="1"/>
          <p:nvPr/>
        </p:nvSpPr>
        <p:spPr>
          <a:xfrm>
            <a:off x="825135" y="128334"/>
            <a:ext cx="9000946" cy="538609"/>
          </a:xfrm>
          <a:prstGeom prst="rect">
            <a:avLst/>
          </a:prstGeom>
          <a:noFill/>
        </p:spPr>
        <p:txBody>
          <a:bodyPr wrap="square" rtlCol="0">
            <a:spAutoFit/>
          </a:bodyPr>
          <a:lstStyle/>
          <a:p>
            <a:r>
              <a:rPr lang="en-US" sz="2900" dirty="0">
                <a:latin typeface="Guardian Egyp Regular" panose="02060503050503060803" pitchFamily="18" charset="77"/>
              </a:rPr>
              <a:t>Merchant Hierarchies </a:t>
            </a:r>
          </a:p>
        </p:txBody>
      </p:sp>
      <p:sp>
        <p:nvSpPr>
          <p:cNvPr id="4" name="Slide Number Placeholder 3">
            <a:extLst>
              <a:ext uri="{FF2B5EF4-FFF2-40B4-BE49-F238E27FC236}">
                <a16:creationId xmlns:a16="http://schemas.microsoft.com/office/drawing/2014/main" id="{7A2BB07B-8E40-4158-8B22-C025B9FC5403}"/>
              </a:ext>
            </a:extLst>
          </p:cNvPr>
          <p:cNvSpPr>
            <a:spLocks noGrp="1"/>
          </p:cNvSpPr>
          <p:nvPr>
            <p:ph type="sldNum" sz="quarter" idx="10"/>
          </p:nvPr>
        </p:nvSpPr>
        <p:spPr/>
        <p:txBody>
          <a:bodyPr/>
          <a:lstStyle/>
          <a:p>
            <a:pPr>
              <a:defRPr/>
            </a:pPr>
            <a:fld id="{920384AA-0A71-E644-AEED-65CD2253F2C8}" type="slidenum">
              <a:rPr lang="en-US" smtClean="0"/>
              <a:pPr>
                <a:defRPr/>
              </a:pPr>
              <a:t>11</a:t>
            </a:fld>
            <a:endParaRPr lang="en-US" dirty="0"/>
          </a:p>
        </p:txBody>
      </p:sp>
      <p:sp>
        <p:nvSpPr>
          <p:cNvPr id="9" name="TextBox 8">
            <a:extLst>
              <a:ext uri="{FF2B5EF4-FFF2-40B4-BE49-F238E27FC236}">
                <a16:creationId xmlns:a16="http://schemas.microsoft.com/office/drawing/2014/main" id="{79F9C4C9-CFD1-4900-90F6-B33F51233B94}"/>
              </a:ext>
            </a:extLst>
          </p:cNvPr>
          <p:cNvSpPr txBox="1"/>
          <p:nvPr/>
        </p:nvSpPr>
        <p:spPr>
          <a:xfrm>
            <a:off x="1127667" y="2728598"/>
            <a:ext cx="6247006" cy="830997"/>
          </a:xfrm>
          <a:prstGeom prst="rect">
            <a:avLst/>
          </a:prstGeom>
          <a:noFill/>
        </p:spPr>
        <p:txBody>
          <a:bodyPr wrap="square" lIns="0" tIns="0" rIns="0" bIns="0" rtlCol="0">
            <a:spAutoFit/>
          </a:bodyPr>
          <a:lstStyle/>
          <a:p>
            <a:pPr algn="l"/>
            <a:endParaRPr lang="en-US" sz="900" b="0" i="0" dirty="0">
              <a:solidFill>
                <a:srgbClr val="C00000"/>
              </a:solidFill>
              <a:latin typeface="BentonSans Light" panose="02000503000000020004" pitchFamily="2" charset="0"/>
            </a:endParaRPr>
          </a:p>
          <a:p>
            <a:r>
              <a:rPr lang="en-US" sz="900" dirty="0">
                <a:solidFill>
                  <a:srgbClr val="C00000"/>
                </a:solidFill>
                <a:latin typeface="BentonSans Light" panose="02000503000000020004" pitchFamily="2" charset="0"/>
              </a:rPr>
              <a:t>In Merchant hierarchies, the top of group merchant is the highest level for a country (i.e., level 06).</a:t>
            </a:r>
          </a:p>
          <a:p>
            <a:endParaRPr lang="en-US" sz="900" dirty="0">
              <a:solidFill>
                <a:srgbClr val="C00000"/>
              </a:solidFill>
              <a:latin typeface="BentonSans Light" panose="02000503000000020004" pitchFamily="2" charset="0"/>
            </a:endParaRPr>
          </a:p>
          <a:p>
            <a:r>
              <a:rPr lang="en-US" sz="900" dirty="0">
                <a:solidFill>
                  <a:srgbClr val="C00000"/>
                </a:solidFill>
                <a:latin typeface="BentonSans Light" panose="02000503000000020004" pitchFamily="2" charset="0"/>
              </a:rPr>
              <a:t>The highest </a:t>
            </a:r>
            <a:r>
              <a:rPr lang="en-US" sz="900" b="1" dirty="0">
                <a:solidFill>
                  <a:schemeClr val="tx1">
                    <a:lumMod val="75000"/>
                    <a:lumOff val="25000"/>
                  </a:schemeClr>
                </a:solidFill>
                <a:latin typeface="BentonSans Light" panose="02000503000000020004" pitchFamily="2" charset="0"/>
              </a:rPr>
              <a:t>Account Risk Score </a:t>
            </a:r>
            <a:r>
              <a:rPr lang="en-US" sz="900" dirty="0">
                <a:solidFill>
                  <a:srgbClr val="C00000"/>
                </a:solidFill>
                <a:latin typeface="BentonSans Light" panose="02000503000000020004" pitchFamily="2" charset="0"/>
              </a:rPr>
              <a:t>of merchants under the top of group merchant determines the </a:t>
            </a:r>
            <a:r>
              <a:rPr lang="en-US" sz="900" b="1" dirty="0">
                <a:solidFill>
                  <a:schemeClr val="tx1">
                    <a:lumMod val="75000"/>
                    <a:lumOff val="25000"/>
                  </a:schemeClr>
                </a:solidFill>
                <a:latin typeface="BentonSans Light" panose="02000503000000020004" pitchFamily="2" charset="0"/>
              </a:rPr>
              <a:t>Hierarchy Risk Score</a:t>
            </a:r>
            <a:r>
              <a:rPr lang="en-US" sz="900" dirty="0">
                <a:solidFill>
                  <a:schemeClr val="bg2">
                    <a:lumMod val="60000"/>
                    <a:lumOff val="40000"/>
                  </a:schemeClr>
                </a:solidFill>
                <a:latin typeface="BentonSans Light" panose="02000503000000020004" pitchFamily="2" charset="0"/>
              </a:rPr>
              <a:t> </a:t>
            </a:r>
            <a:r>
              <a:rPr lang="en-US" sz="900" dirty="0">
                <a:solidFill>
                  <a:srgbClr val="C00000"/>
                </a:solidFill>
                <a:latin typeface="BentonSans Light" panose="02000503000000020004" pitchFamily="2" charset="0"/>
              </a:rPr>
              <a:t>for all accounts in the hierarchy.</a:t>
            </a:r>
          </a:p>
          <a:p>
            <a:pPr marL="171450" indent="-171450">
              <a:buFont typeface="Arial" panose="020B0604020202020204" pitchFamily="34" charset="0"/>
              <a:buChar char="•"/>
            </a:pPr>
            <a:r>
              <a:rPr lang="en-US" sz="900" dirty="0">
                <a:solidFill>
                  <a:srgbClr val="C00000"/>
                </a:solidFill>
                <a:latin typeface="BentonSans Light" panose="02000503000000020004" pitchFamily="2" charset="0"/>
              </a:rPr>
              <a:t>In this example the hierarchy score would be 7.</a:t>
            </a:r>
          </a:p>
        </p:txBody>
      </p:sp>
      <p:sp>
        <p:nvSpPr>
          <p:cNvPr id="29" name="Rectangle 28">
            <a:extLst>
              <a:ext uri="{FF2B5EF4-FFF2-40B4-BE49-F238E27FC236}">
                <a16:creationId xmlns:a16="http://schemas.microsoft.com/office/drawing/2014/main" id="{CB548859-DD79-4056-84C4-1E625A3C1A79}"/>
              </a:ext>
            </a:extLst>
          </p:cNvPr>
          <p:cNvSpPr/>
          <p:nvPr/>
        </p:nvSpPr>
        <p:spPr>
          <a:xfrm>
            <a:off x="2796089" y="992608"/>
            <a:ext cx="1384420" cy="581439"/>
          </a:xfrm>
          <a:prstGeom prst="rect">
            <a:avLst/>
          </a:prstGeom>
          <a:noFill/>
          <a:ln w="12700">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D1E1B18-D919-4D5C-9A9D-95EBDCEC8893}"/>
              </a:ext>
            </a:extLst>
          </p:cNvPr>
          <p:cNvSpPr txBox="1"/>
          <p:nvPr/>
        </p:nvSpPr>
        <p:spPr>
          <a:xfrm>
            <a:off x="2843695" y="1041179"/>
            <a:ext cx="1336814" cy="492443"/>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Merchant account (level 06)</a:t>
            </a:r>
          </a:p>
          <a:p>
            <a:pPr algn="l"/>
            <a:r>
              <a:rPr lang="en-US" sz="800" dirty="0">
                <a:solidFill>
                  <a:schemeClr val="bg2"/>
                </a:solidFill>
                <a:latin typeface="BentonSans Light" panose="02000503000000020004" pitchFamily="2" charset="0"/>
              </a:rPr>
              <a:t>Acct Id 9491234567</a:t>
            </a:r>
          </a:p>
          <a:p>
            <a:pPr algn="l"/>
            <a:r>
              <a:rPr lang="en-US" sz="800" dirty="0">
                <a:solidFill>
                  <a:schemeClr val="bg2"/>
                </a:solidFill>
                <a:latin typeface="BentonSans Light" panose="02000503000000020004" pitchFamily="2" charset="0"/>
              </a:rPr>
              <a:t>Account Score 3</a:t>
            </a:r>
          </a:p>
          <a:p>
            <a:pPr algn="l"/>
            <a:endParaRPr lang="en-US" sz="800" b="0" i="0" dirty="0">
              <a:solidFill>
                <a:schemeClr val="bg2"/>
              </a:solidFill>
              <a:latin typeface="BentonSans Light" panose="02000503000000020004" pitchFamily="2" charset="0"/>
            </a:endParaRPr>
          </a:p>
        </p:txBody>
      </p:sp>
      <p:sp>
        <p:nvSpPr>
          <p:cNvPr id="31" name="Rectangle 30">
            <a:extLst>
              <a:ext uri="{FF2B5EF4-FFF2-40B4-BE49-F238E27FC236}">
                <a16:creationId xmlns:a16="http://schemas.microsoft.com/office/drawing/2014/main" id="{9BD39182-CD6C-4143-90C2-C68EC958FA89}"/>
              </a:ext>
            </a:extLst>
          </p:cNvPr>
          <p:cNvSpPr/>
          <p:nvPr/>
        </p:nvSpPr>
        <p:spPr>
          <a:xfrm>
            <a:off x="1369823" y="1990311"/>
            <a:ext cx="1426266" cy="581439"/>
          </a:xfrm>
          <a:prstGeom prst="rect">
            <a:avLst/>
          </a:prstGeom>
          <a:noFill/>
          <a:ln w="12700">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CF38D23-C1C1-4DE9-B9E1-21F1EDE168FC}"/>
              </a:ext>
            </a:extLst>
          </p:cNvPr>
          <p:cNvSpPr txBox="1"/>
          <p:nvPr/>
        </p:nvSpPr>
        <p:spPr>
          <a:xfrm>
            <a:off x="1459275" y="2049946"/>
            <a:ext cx="1336814" cy="369332"/>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Merchant Account (level 02)</a:t>
            </a:r>
          </a:p>
          <a:p>
            <a:pPr algn="l"/>
            <a:r>
              <a:rPr lang="en-US" sz="800" dirty="0">
                <a:solidFill>
                  <a:schemeClr val="bg2"/>
                </a:solidFill>
                <a:latin typeface="BentonSans Light" panose="02000503000000020004" pitchFamily="2" charset="0"/>
              </a:rPr>
              <a:t>Acct Id 9491234568</a:t>
            </a:r>
          </a:p>
          <a:p>
            <a:pPr algn="l"/>
            <a:r>
              <a:rPr lang="en-US" sz="800" dirty="0">
                <a:solidFill>
                  <a:schemeClr val="bg2"/>
                </a:solidFill>
                <a:latin typeface="BentonSans Light" panose="02000503000000020004" pitchFamily="2" charset="0"/>
              </a:rPr>
              <a:t>Account Score 7</a:t>
            </a:r>
            <a:endParaRPr lang="en-US" sz="800" b="0" i="0" dirty="0">
              <a:solidFill>
                <a:schemeClr val="bg2"/>
              </a:solidFill>
              <a:latin typeface="BentonSans Light" panose="02000503000000020004" pitchFamily="2" charset="0"/>
            </a:endParaRPr>
          </a:p>
        </p:txBody>
      </p:sp>
      <p:sp>
        <p:nvSpPr>
          <p:cNvPr id="41" name="Rectangle 40">
            <a:extLst>
              <a:ext uri="{FF2B5EF4-FFF2-40B4-BE49-F238E27FC236}">
                <a16:creationId xmlns:a16="http://schemas.microsoft.com/office/drawing/2014/main" id="{073A6CC9-C536-4D0C-95B0-15BE52FE9167}"/>
              </a:ext>
            </a:extLst>
          </p:cNvPr>
          <p:cNvSpPr/>
          <p:nvPr/>
        </p:nvSpPr>
        <p:spPr>
          <a:xfrm>
            <a:off x="4180015" y="1990311"/>
            <a:ext cx="1426266" cy="581439"/>
          </a:xfrm>
          <a:prstGeom prst="rect">
            <a:avLst/>
          </a:prstGeom>
          <a:noFill/>
          <a:ln w="12700">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E2CA9424-0793-4480-8B7F-C85F537B270A}"/>
              </a:ext>
            </a:extLst>
          </p:cNvPr>
          <p:cNvSpPr txBox="1"/>
          <p:nvPr/>
        </p:nvSpPr>
        <p:spPr>
          <a:xfrm>
            <a:off x="4269467" y="2049946"/>
            <a:ext cx="1336814" cy="369332"/>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Merchant account (level 02)</a:t>
            </a:r>
          </a:p>
          <a:p>
            <a:pPr algn="l"/>
            <a:r>
              <a:rPr lang="en-US" sz="800" dirty="0">
                <a:solidFill>
                  <a:schemeClr val="bg2"/>
                </a:solidFill>
                <a:latin typeface="BentonSans Light" panose="02000503000000020004" pitchFamily="2" charset="0"/>
              </a:rPr>
              <a:t>Acct Id 9491234569</a:t>
            </a:r>
          </a:p>
          <a:p>
            <a:pPr algn="l"/>
            <a:r>
              <a:rPr lang="en-US" sz="800" dirty="0">
                <a:solidFill>
                  <a:schemeClr val="bg2"/>
                </a:solidFill>
                <a:latin typeface="BentonSans Light" panose="02000503000000020004" pitchFamily="2" charset="0"/>
              </a:rPr>
              <a:t>Account Score 2</a:t>
            </a:r>
            <a:endParaRPr lang="en-US" sz="800" b="0" i="0" dirty="0">
              <a:solidFill>
                <a:schemeClr val="bg2"/>
              </a:solidFill>
              <a:latin typeface="BentonSans Light" panose="02000503000000020004" pitchFamily="2" charset="0"/>
            </a:endParaRPr>
          </a:p>
        </p:txBody>
      </p:sp>
      <p:cxnSp>
        <p:nvCxnSpPr>
          <p:cNvPr id="3" name="Connector: Elbow 2">
            <a:extLst>
              <a:ext uri="{FF2B5EF4-FFF2-40B4-BE49-F238E27FC236}">
                <a16:creationId xmlns:a16="http://schemas.microsoft.com/office/drawing/2014/main" id="{8DF6E805-1E7A-4517-9679-41C417C0F5E4}"/>
              </a:ext>
            </a:extLst>
          </p:cNvPr>
          <p:cNvCxnSpPr>
            <a:cxnSpLocks/>
            <a:stCxn id="29" idx="2"/>
            <a:endCxn id="31" idx="0"/>
          </p:cNvCxnSpPr>
          <p:nvPr/>
        </p:nvCxnSpPr>
        <p:spPr>
          <a:xfrm rot="5400000">
            <a:off x="2577496" y="1079508"/>
            <a:ext cx="416264" cy="1405343"/>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CB53FDAD-1CF3-4843-8A57-3EB72E1C1B54}"/>
              </a:ext>
            </a:extLst>
          </p:cNvPr>
          <p:cNvCxnSpPr>
            <a:cxnSpLocks/>
            <a:stCxn id="29" idx="2"/>
            <a:endCxn id="41" idx="0"/>
          </p:cNvCxnSpPr>
          <p:nvPr/>
        </p:nvCxnSpPr>
        <p:spPr>
          <a:xfrm rot="16200000" flipH="1">
            <a:off x="3982591" y="1079754"/>
            <a:ext cx="416264" cy="1404849"/>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76" name="Rectangle: Rounded Corners 75">
            <a:extLst>
              <a:ext uri="{FF2B5EF4-FFF2-40B4-BE49-F238E27FC236}">
                <a16:creationId xmlns:a16="http://schemas.microsoft.com/office/drawing/2014/main" id="{375558C3-B440-4BA7-AD64-6750EDC234B3}"/>
              </a:ext>
            </a:extLst>
          </p:cNvPr>
          <p:cNvSpPr/>
          <p:nvPr/>
        </p:nvSpPr>
        <p:spPr>
          <a:xfrm>
            <a:off x="1037064" y="916193"/>
            <a:ext cx="4813610" cy="1804705"/>
          </a:xfrm>
          <a:prstGeom prst="roundRect">
            <a:avLst/>
          </a:prstGeom>
          <a:noFill/>
          <a:ln w="25400">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783897"/>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AF3F1BAA-7708-410A-A817-75BC41E4E0FA}"/>
              </a:ext>
            </a:extLst>
          </p:cNvPr>
          <p:cNvSpPr txBox="1"/>
          <p:nvPr/>
        </p:nvSpPr>
        <p:spPr>
          <a:xfrm>
            <a:off x="825135" y="128334"/>
            <a:ext cx="9000946" cy="538609"/>
          </a:xfrm>
          <a:prstGeom prst="rect">
            <a:avLst/>
          </a:prstGeom>
          <a:noFill/>
        </p:spPr>
        <p:txBody>
          <a:bodyPr wrap="square" rtlCol="0">
            <a:spAutoFit/>
          </a:bodyPr>
          <a:lstStyle/>
          <a:p>
            <a:r>
              <a:rPr lang="en-US" sz="2900" dirty="0">
                <a:latin typeface="Guardian Egyp Regular" panose="02060503050503060803" pitchFamily="18" charset="77"/>
              </a:rPr>
              <a:t>Corporate Hierarchies </a:t>
            </a:r>
          </a:p>
        </p:txBody>
      </p:sp>
      <p:sp>
        <p:nvSpPr>
          <p:cNvPr id="4" name="Slide Number Placeholder 3">
            <a:extLst>
              <a:ext uri="{FF2B5EF4-FFF2-40B4-BE49-F238E27FC236}">
                <a16:creationId xmlns:a16="http://schemas.microsoft.com/office/drawing/2014/main" id="{7A2BB07B-8E40-4158-8B22-C025B9FC5403}"/>
              </a:ext>
            </a:extLst>
          </p:cNvPr>
          <p:cNvSpPr>
            <a:spLocks noGrp="1"/>
          </p:cNvSpPr>
          <p:nvPr>
            <p:ph type="sldNum" sz="quarter" idx="10"/>
          </p:nvPr>
        </p:nvSpPr>
        <p:spPr/>
        <p:txBody>
          <a:bodyPr/>
          <a:lstStyle/>
          <a:p>
            <a:pPr>
              <a:defRPr/>
            </a:pPr>
            <a:fld id="{920384AA-0A71-E644-AEED-65CD2253F2C8}" type="slidenum">
              <a:rPr lang="en-US" smtClean="0"/>
              <a:pPr>
                <a:defRPr/>
              </a:pPr>
              <a:t>12</a:t>
            </a:fld>
            <a:endParaRPr lang="en-US" dirty="0"/>
          </a:p>
        </p:txBody>
      </p:sp>
      <p:sp>
        <p:nvSpPr>
          <p:cNvPr id="9" name="TextBox 8">
            <a:extLst>
              <a:ext uri="{FF2B5EF4-FFF2-40B4-BE49-F238E27FC236}">
                <a16:creationId xmlns:a16="http://schemas.microsoft.com/office/drawing/2014/main" id="{79F9C4C9-CFD1-4900-90F6-B33F51233B94}"/>
              </a:ext>
            </a:extLst>
          </p:cNvPr>
          <p:cNvSpPr txBox="1"/>
          <p:nvPr/>
        </p:nvSpPr>
        <p:spPr>
          <a:xfrm>
            <a:off x="1261482" y="1060587"/>
            <a:ext cx="1617140" cy="1384995"/>
          </a:xfrm>
          <a:prstGeom prst="rect">
            <a:avLst/>
          </a:prstGeom>
          <a:noFill/>
        </p:spPr>
        <p:txBody>
          <a:bodyPr wrap="square" lIns="0" tIns="0" rIns="0" bIns="0" rtlCol="0">
            <a:spAutoFit/>
          </a:bodyPr>
          <a:lstStyle/>
          <a:p>
            <a:pPr algn="l"/>
            <a:endParaRPr lang="en-US" sz="900" b="0" i="0" dirty="0">
              <a:solidFill>
                <a:srgbClr val="C00000"/>
              </a:solidFill>
              <a:latin typeface="BentonSans Light" panose="02000503000000020004" pitchFamily="2" charset="0"/>
            </a:endParaRPr>
          </a:p>
          <a:p>
            <a:r>
              <a:rPr lang="en-US" sz="900" dirty="0">
                <a:solidFill>
                  <a:srgbClr val="C00000"/>
                </a:solidFill>
                <a:latin typeface="BentonSans Light" panose="02000503000000020004" pitchFamily="2" charset="0"/>
              </a:rPr>
              <a:t>In Corporate hierarchies, the highest </a:t>
            </a:r>
            <a:r>
              <a:rPr lang="en-US" sz="900" b="1" dirty="0">
                <a:solidFill>
                  <a:schemeClr val="tx1">
                    <a:lumMod val="75000"/>
                    <a:lumOff val="25000"/>
                  </a:schemeClr>
                </a:solidFill>
                <a:latin typeface="BentonSans Light" panose="02000503000000020004" pitchFamily="2" charset="0"/>
              </a:rPr>
              <a:t>Account Risk Score </a:t>
            </a:r>
            <a:r>
              <a:rPr lang="en-US" sz="900" dirty="0">
                <a:solidFill>
                  <a:srgbClr val="C00000"/>
                </a:solidFill>
                <a:latin typeface="BentonSans Light" panose="02000503000000020004" pitchFamily="2" charset="0"/>
              </a:rPr>
              <a:t>in the  MCA/BCA control hierarchy determines the </a:t>
            </a:r>
            <a:r>
              <a:rPr lang="en-US" sz="900" b="1" dirty="0">
                <a:solidFill>
                  <a:schemeClr val="tx1">
                    <a:lumMod val="75000"/>
                    <a:lumOff val="25000"/>
                  </a:schemeClr>
                </a:solidFill>
                <a:latin typeface="BentonSans Light" panose="02000503000000020004" pitchFamily="2" charset="0"/>
              </a:rPr>
              <a:t>Hierarchy Risk Score</a:t>
            </a:r>
            <a:r>
              <a:rPr lang="en-US" sz="900" dirty="0">
                <a:solidFill>
                  <a:schemeClr val="bg2">
                    <a:lumMod val="60000"/>
                    <a:lumOff val="40000"/>
                  </a:schemeClr>
                </a:solidFill>
                <a:latin typeface="BentonSans Light" panose="02000503000000020004" pitchFamily="2" charset="0"/>
              </a:rPr>
              <a:t> </a:t>
            </a:r>
            <a:r>
              <a:rPr lang="en-US" sz="900" dirty="0">
                <a:solidFill>
                  <a:srgbClr val="C00000"/>
                </a:solidFill>
                <a:latin typeface="BentonSans Light" panose="02000503000000020004" pitchFamily="2" charset="0"/>
              </a:rPr>
              <a:t>for all accounts in the hierarchy. In this example the score would be 3 .from account number</a:t>
            </a:r>
          </a:p>
          <a:p>
            <a:r>
              <a:rPr lang="en-US" sz="800" b="1" dirty="0">
                <a:solidFill>
                  <a:schemeClr val="bg2"/>
                </a:solidFill>
                <a:latin typeface="BentonSans Light" panose="02000503000000020004" pitchFamily="2" charset="0"/>
              </a:rPr>
              <a:t>371499567891023</a:t>
            </a:r>
            <a:endParaRPr lang="en-US" sz="800" b="1" i="0" dirty="0">
              <a:solidFill>
                <a:srgbClr val="C00000"/>
              </a:solidFill>
              <a:latin typeface="BentonSans Light" panose="02000503000000020004" pitchFamily="2" charset="0"/>
            </a:endParaRPr>
          </a:p>
        </p:txBody>
      </p:sp>
      <p:sp>
        <p:nvSpPr>
          <p:cNvPr id="26" name="Rectangle 25">
            <a:extLst>
              <a:ext uri="{FF2B5EF4-FFF2-40B4-BE49-F238E27FC236}">
                <a16:creationId xmlns:a16="http://schemas.microsoft.com/office/drawing/2014/main" id="{5EF8D8C7-960D-455D-A1BE-C5BF80919465}"/>
              </a:ext>
            </a:extLst>
          </p:cNvPr>
          <p:cNvSpPr/>
          <p:nvPr/>
        </p:nvSpPr>
        <p:spPr>
          <a:xfrm>
            <a:off x="2081641" y="3046649"/>
            <a:ext cx="1336814" cy="581439"/>
          </a:xfrm>
          <a:prstGeom prst="rect">
            <a:avLst/>
          </a:prstGeom>
          <a:noFill/>
          <a:ln w="12700">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BBF64462-2BE3-4501-A4E7-0D77CC23CBCE}"/>
              </a:ext>
            </a:extLst>
          </p:cNvPr>
          <p:cNvSpPr txBox="1"/>
          <p:nvPr/>
        </p:nvSpPr>
        <p:spPr>
          <a:xfrm>
            <a:off x="2171093" y="3106284"/>
            <a:ext cx="1247362" cy="369332"/>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Corp  Card</a:t>
            </a:r>
          </a:p>
          <a:p>
            <a:pPr algn="l"/>
            <a:r>
              <a:rPr lang="en-US" sz="800" dirty="0">
                <a:solidFill>
                  <a:schemeClr val="bg2"/>
                </a:solidFill>
                <a:latin typeface="BentonSans Light" panose="02000503000000020004" pitchFamily="2" charset="0"/>
              </a:rPr>
              <a:t>Acct Id 37149567891001</a:t>
            </a:r>
          </a:p>
          <a:p>
            <a:pPr algn="l"/>
            <a:r>
              <a:rPr lang="en-US" sz="800" dirty="0">
                <a:solidFill>
                  <a:schemeClr val="bg2"/>
                </a:solidFill>
                <a:latin typeface="BentonSans Light" panose="02000503000000020004" pitchFamily="2" charset="0"/>
              </a:rPr>
              <a:t>Account Score 5</a:t>
            </a:r>
            <a:endParaRPr lang="en-US" sz="800" b="0" i="0" dirty="0">
              <a:solidFill>
                <a:schemeClr val="bg2"/>
              </a:solidFill>
              <a:latin typeface="BentonSans Light" panose="02000503000000020004" pitchFamily="2" charset="0"/>
            </a:endParaRPr>
          </a:p>
        </p:txBody>
      </p:sp>
      <p:sp>
        <p:nvSpPr>
          <p:cNvPr id="29" name="Rectangle 28">
            <a:extLst>
              <a:ext uri="{FF2B5EF4-FFF2-40B4-BE49-F238E27FC236}">
                <a16:creationId xmlns:a16="http://schemas.microsoft.com/office/drawing/2014/main" id="{CB548859-DD79-4056-84C4-1E625A3C1A79}"/>
              </a:ext>
            </a:extLst>
          </p:cNvPr>
          <p:cNvSpPr/>
          <p:nvPr/>
        </p:nvSpPr>
        <p:spPr>
          <a:xfrm>
            <a:off x="3949471" y="1060587"/>
            <a:ext cx="1336814" cy="581439"/>
          </a:xfrm>
          <a:prstGeom prst="rect">
            <a:avLst/>
          </a:prstGeom>
          <a:noFill/>
          <a:ln w="12700">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D1E1B18-D919-4D5C-9A9D-95EBDCEC8893}"/>
              </a:ext>
            </a:extLst>
          </p:cNvPr>
          <p:cNvSpPr txBox="1"/>
          <p:nvPr/>
        </p:nvSpPr>
        <p:spPr>
          <a:xfrm>
            <a:off x="4038923" y="1120222"/>
            <a:ext cx="1247362" cy="492443"/>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Master Control account</a:t>
            </a:r>
          </a:p>
          <a:p>
            <a:pPr algn="l"/>
            <a:r>
              <a:rPr lang="en-US" sz="800" dirty="0">
                <a:solidFill>
                  <a:schemeClr val="bg2"/>
                </a:solidFill>
                <a:latin typeface="BentonSans Light" panose="02000503000000020004" pitchFamily="2" charset="0"/>
              </a:rPr>
              <a:t>Acct Id 371499567891012</a:t>
            </a:r>
          </a:p>
          <a:p>
            <a:pPr algn="l"/>
            <a:r>
              <a:rPr lang="en-US" sz="800" dirty="0">
                <a:solidFill>
                  <a:schemeClr val="bg2"/>
                </a:solidFill>
                <a:latin typeface="BentonSans Light" panose="02000503000000020004" pitchFamily="2" charset="0"/>
              </a:rPr>
              <a:t>Account Score 2</a:t>
            </a:r>
          </a:p>
          <a:p>
            <a:pPr algn="l"/>
            <a:endParaRPr lang="en-US" sz="800" b="0" i="0" dirty="0">
              <a:solidFill>
                <a:schemeClr val="bg2"/>
              </a:solidFill>
              <a:latin typeface="BentonSans Light" panose="02000503000000020004" pitchFamily="2" charset="0"/>
            </a:endParaRPr>
          </a:p>
        </p:txBody>
      </p:sp>
      <p:sp>
        <p:nvSpPr>
          <p:cNvPr id="31" name="Rectangle 30">
            <a:extLst>
              <a:ext uri="{FF2B5EF4-FFF2-40B4-BE49-F238E27FC236}">
                <a16:creationId xmlns:a16="http://schemas.microsoft.com/office/drawing/2014/main" id="{9BD39182-CD6C-4143-90C2-C68EC958FA89}"/>
              </a:ext>
            </a:extLst>
          </p:cNvPr>
          <p:cNvSpPr/>
          <p:nvPr/>
        </p:nvSpPr>
        <p:spPr>
          <a:xfrm>
            <a:off x="3012769" y="2053618"/>
            <a:ext cx="1336814" cy="581439"/>
          </a:xfrm>
          <a:prstGeom prst="rect">
            <a:avLst/>
          </a:prstGeom>
          <a:noFill/>
          <a:ln w="12700">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CF38D23-C1C1-4DE9-B9E1-21F1EDE168FC}"/>
              </a:ext>
            </a:extLst>
          </p:cNvPr>
          <p:cNvSpPr txBox="1"/>
          <p:nvPr/>
        </p:nvSpPr>
        <p:spPr>
          <a:xfrm>
            <a:off x="3102221" y="2113253"/>
            <a:ext cx="1247362" cy="369332"/>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Basic Control Account</a:t>
            </a:r>
          </a:p>
          <a:p>
            <a:pPr algn="l"/>
            <a:r>
              <a:rPr lang="en-US" sz="800" dirty="0">
                <a:solidFill>
                  <a:schemeClr val="bg2"/>
                </a:solidFill>
                <a:latin typeface="BentonSans Light" panose="02000503000000020004" pitchFamily="2" charset="0"/>
              </a:rPr>
              <a:t>Acct Id 371499567891023</a:t>
            </a:r>
          </a:p>
          <a:p>
            <a:pPr algn="l"/>
            <a:r>
              <a:rPr lang="en-US" sz="800" dirty="0">
                <a:solidFill>
                  <a:schemeClr val="bg2"/>
                </a:solidFill>
                <a:latin typeface="BentonSans Light" panose="02000503000000020004" pitchFamily="2" charset="0"/>
              </a:rPr>
              <a:t>Account Score 3</a:t>
            </a:r>
            <a:endParaRPr lang="en-US" sz="800" b="0" i="0" dirty="0">
              <a:solidFill>
                <a:schemeClr val="bg2"/>
              </a:solidFill>
              <a:latin typeface="BentonSans Light" panose="02000503000000020004" pitchFamily="2" charset="0"/>
            </a:endParaRPr>
          </a:p>
        </p:txBody>
      </p:sp>
      <p:sp>
        <p:nvSpPr>
          <p:cNvPr id="33" name="Rectangle 32">
            <a:extLst>
              <a:ext uri="{FF2B5EF4-FFF2-40B4-BE49-F238E27FC236}">
                <a16:creationId xmlns:a16="http://schemas.microsoft.com/office/drawing/2014/main" id="{746AFCD4-AB82-416A-9718-497D194FF2A6}"/>
              </a:ext>
            </a:extLst>
          </p:cNvPr>
          <p:cNvSpPr/>
          <p:nvPr/>
        </p:nvSpPr>
        <p:spPr>
          <a:xfrm>
            <a:off x="4008178" y="3046649"/>
            <a:ext cx="1336814" cy="581439"/>
          </a:xfrm>
          <a:prstGeom prst="rect">
            <a:avLst/>
          </a:prstGeom>
          <a:noFill/>
          <a:ln w="12700">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239382DE-58B6-4D05-AD8D-564DA2C19A4C}"/>
              </a:ext>
            </a:extLst>
          </p:cNvPr>
          <p:cNvSpPr txBox="1"/>
          <p:nvPr/>
        </p:nvSpPr>
        <p:spPr>
          <a:xfrm>
            <a:off x="4097630" y="3106284"/>
            <a:ext cx="1247362" cy="369332"/>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Corp Card</a:t>
            </a:r>
          </a:p>
          <a:p>
            <a:pPr algn="l"/>
            <a:r>
              <a:rPr lang="en-US" sz="800" dirty="0">
                <a:solidFill>
                  <a:schemeClr val="bg2"/>
                </a:solidFill>
                <a:latin typeface="BentonSans Light" panose="02000503000000020004" pitchFamily="2" charset="0"/>
              </a:rPr>
              <a:t>Acct Id 371499567771001</a:t>
            </a:r>
          </a:p>
          <a:p>
            <a:pPr algn="l"/>
            <a:r>
              <a:rPr lang="en-US" sz="800" dirty="0">
                <a:solidFill>
                  <a:schemeClr val="bg2"/>
                </a:solidFill>
                <a:latin typeface="BentonSans Light" panose="02000503000000020004" pitchFamily="2" charset="0"/>
              </a:rPr>
              <a:t>Account Score 5</a:t>
            </a:r>
            <a:endParaRPr lang="en-US" sz="800" b="0" i="0" dirty="0">
              <a:solidFill>
                <a:schemeClr val="bg2"/>
              </a:solidFill>
              <a:latin typeface="BentonSans Light" panose="02000503000000020004" pitchFamily="2" charset="0"/>
            </a:endParaRPr>
          </a:p>
        </p:txBody>
      </p:sp>
      <p:sp>
        <p:nvSpPr>
          <p:cNvPr id="35" name="Rectangle 34">
            <a:extLst>
              <a:ext uri="{FF2B5EF4-FFF2-40B4-BE49-F238E27FC236}">
                <a16:creationId xmlns:a16="http://schemas.microsoft.com/office/drawing/2014/main" id="{6C8A5802-4397-4A66-B469-A05B5CFB2B6A}"/>
              </a:ext>
            </a:extLst>
          </p:cNvPr>
          <p:cNvSpPr/>
          <p:nvPr/>
        </p:nvSpPr>
        <p:spPr>
          <a:xfrm>
            <a:off x="5912413" y="3044722"/>
            <a:ext cx="1336814" cy="581439"/>
          </a:xfrm>
          <a:prstGeom prst="rect">
            <a:avLst/>
          </a:prstGeom>
          <a:noFill/>
          <a:ln w="12700">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9FE36D97-299D-42AA-AEAA-84240B9C4623}"/>
              </a:ext>
            </a:extLst>
          </p:cNvPr>
          <p:cNvSpPr txBox="1"/>
          <p:nvPr/>
        </p:nvSpPr>
        <p:spPr>
          <a:xfrm>
            <a:off x="6001865" y="3104357"/>
            <a:ext cx="1247362" cy="369332"/>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Corp Card</a:t>
            </a:r>
          </a:p>
          <a:p>
            <a:pPr algn="l"/>
            <a:r>
              <a:rPr lang="en-US" sz="800" dirty="0">
                <a:solidFill>
                  <a:schemeClr val="bg2"/>
                </a:solidFill>
                <a:latin typeface="BentonSans Light" panose="02000503000000020004" pitchFamily="2" charset="0"/>
              </a:rPr>
              <a:t>Acct Id 371499444441001</a:t>
            </a:r>
          </a:p>
          <a:p>
            <a:pPr algn="l"/>
            <a:r>
              <a:rPr lang="en-US" sz="800" dirty="0">
                <a:solidFill>
                  <a:schemeClr val="bg2"/>
                </a:solidFill>
                <a:latin typeface="BentonSans Light" panose="02000503000000020004" pitchFamily="2" charset="0"/>
              </a:rPr>
              <a:t>Account Score 6</a:t>
            </a:r>
            <a:endParaRPr lang="en-US" sz="800" b="0" i="0" dirty="0">
              <a:solidFill>
                <a:schemeClr val="bg2"/>
              </a:solidFill>
              <a:latin typeface="BentonSans Light" panose="02000503000000020004" pitchFamily="2" charset="0"/>
            </a:endParaRPr>
          </a:p>
        </p:txBody>
      </p:sp>
      <p:sp>
        <p:nvSpPr>
          <p:cNvPr id="41" name="Rectangle 40">
            <a:extLst>
              <a:ext uri="{FF2B5EF4-FFF2-40B4-BE49-F238E27FC236}">
                <a16:creationId xmlns:a16="http://schemas.microsoft.com/office/drawing/2014/main" id="{073A6CC9-C536-4D0C-95B0-15BE52FE9167}"/>
              </a:ext>
            </a:extLst>
          </p:cNvPr>
          <p:cNvSpPr/>
          <p:nvPr/>
        </p:nvSpPr>
        <p:spPr>
          <a:xfrm>
            <a:off x="5912413" y="2053618"/>
            <a:ext cx="1336814" cy="581439"/>
          </a:xfrm>
          <a:prstGeom prst="rect">
            <a:avLst/>
          </a:prstGeom>
          <a:noFill/>
          <a:ln w="12700">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E2CA9424-0793-4480-8B7F-C85F537B270A}"/>
              </a:ext>
            </a:extLst>
          </p:cNvPr>
          <p:cNvSpPr txBox="1"/>
          <p:nvPr/>
        </p:nvSpPr>
        <p:spPr>
          <a:xfrm>
            <a:off x="6001865" y="2113253"/>
            <a:ext cx="1247362" cy="369332"/>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Basic Control Account</a:t>
            </a:r>
          </a:p>
          <a:p>
            <a:pPr algn="l"/>
            <a:r>
              <a:rPr lang="en-US" sz="800" dirty="0">
                <a:solidFill>
                  <a:schemeClr val="bg2"/>
                </a:solidFill>
                <a:latin typeface="BentonSans Light" panose="02000503000000020004" pitchFamily="2" charset="0"/>
              </a:rPr>
              <a:t>Acct Id 37149967891051</a:t>
            </a:r>
          </a:p>
          <a:p>
            <a:pPr algn="l"/>
            <a:r>
              <a:rPr lang="en-US" sz="800" dirty="0">
                <a:solidFill>
                  <a:schemeClr val="bg2"/>
                </a:solidFill>
                <a:latin typeface="BentonSans Light" panose="02000503000000020004" pitchFamily="2" charset="0"/>
              </a:rPr>
              <a:t>Account Score 2</a:t>
            </a:r>
            <a:endParaRPr lang="en-US" sz="800" b="0" i="0" dirty="0">
              <a:solidFill>
                <a:schemeClr val="bg2"/>
              </a:solidFill>
              <a:latin typeface="BentonSans Light" panose="02000503000000020004" pitchFamily="2" charset="0"/>
            </a:endParaRPr>
          </a:p>
        </p:txBody>
      </p:sp>
      <p:cxnSp>
        <p:nvCxnSpPr>
          <p:cNvPr id="3" name="Connector: Elbow 2">
            <a:extLst>
              <a:ext uri="{FF2B5EF4-FFF2-40B4-BE49-F238E27FC236}">
                <a16:creationId xmlns:a16="http://schemas.microsoft.com/office/drawing/2014/main" id="{8DF6E805-1E7A-4517-9679-41C417C0F5E4}"/>
              </a:ext>
            </a:extLst>
          </p:cNvPr>
          <p:cNvCxnSpPr>
            <a:cxnSpLocks/>
            <a:stCxn id="29" idx="2"/>
            <a:endCxn id="31" idx="0"/>
          </p:cNvCxnSpPr>
          <p:nvPr/>
        </p:nvCxnSpPr>
        <p:spPr>
          <a:xfrm rot="5400000">
            <a:off x="3943731" y="1379471"/>
            <a:ext cx="411592" cy="936702"/>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CB53FDAD-1CF3-4843-8A57-3EB72E1C1B54}"/>
              </a:ext>
            </a:extLst>
          </p:cNvPr>
          <p:cNvCxnSpPr>
            <a:cxnSpLocks/>
            <a:stCxn id="29" idx="2"/>
            <a:endCxn id="41" idx="0"/>
          </p:cNvCxnSpPr>
          <p:nvPr/>
        </p:nvCxnSpPr>
        <p:spPr>
          <a:xfrm rot="16200000" flipH="1">
            <a:off x="5393553" y="866351"/>
            <a:ext cx="411592" cy="1962942"/>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60F20345-3FC0-4FB1-9B63-E781F39EF00C}"/>
              </a:ext>
            </a:extLst>
          </p:cNvPr>
          <p:cNvCxnSpPr>
            <a:cxnSpLocks/>
            <a:stCxn id="31" idx="2"/>
            <a:endCxn id="26" idx="0"/>
          </p:cNvCxnSpPr>
          <p:nvPr/>
        </p:nvCxnSpPr>
        <p:spPr>
          <a:xfrm rot="5400000">
            <a:off x="3009816" y="2375289"/>
            <a:ext cx="411592" cy="931128"/>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6" name="Connector: Elbow 55">
            <a:extLst>
              <a:ext uri="{FF2B5EF4-FFF2-40B4-BE49-F238E27FC236}">
                <a16:creationId xmlns:a16="http://schemas.microsoft.com/office/drawing/2014/main" id="{E8F46F9E-AEAB-4906-A166-3BD7FE322505}"/>
              </a:ext>
            </a:extLst>
          </p:cNvPr>
          <p:cNvCxnSpPr>
            <a:cxnSpLocks/>
            <a:stCxn id="31" idx="2"/>
            <a:endCxn id="33" idx="0"/>
          </p:cNvCxnSpPr>
          <p:nvPr/>
        </p:nvCxnSpPr>
        <p:spPr>
          <a:xfrm rot="16200000" flipH="1">
            <a:off x="3973084" y="2343148"/>
            <a:ext cx="411592" cy="995409"/>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7" name="Connector: Elbow 56">
            <a:extLst>
              <a:ext uri="{FF2B5EF4-FFF2-40B4-BE49-F238E27FC236}">
                <a16:creationId xmlns:a16="http://schemas.microsoft.com/office/drawing/2014/main" id="{32DC7134-BA71-4D00-B708-B2800A32235F}"/>
              </a:ext>
            </a:extLst>
          </p:cNvPr>
          <p:cNvCxnSpPr>
            <a:cxnSpLocks/>
            <a:stCxn id="41" idx="2"/>
            <a:endCxn id="35" idx="0"/>
          </p:cNvCxnSpPr>
          <p:nvPr/>
        </p:nvCxnSpPr>
        <p:spPr>
          <a:xfrm rot="5400000">
            <a:off x="6375988" y="2839889"/>
            <a:ext cx="409665" cy="12700"/>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76" name="Rectangle: Rounded Corners 75">
            <a:extLst>
              <a:ext uri="{FF2B5EF4-FFF2-40B4-BE49-F238E27FC236}">
                <a16:creationId xmlns:a16="http://schemas.microsoft.com/office/drawing/2014/main" id="{375558C3-B440-4BA7-AD64-6750EDC234B3}"/>
              </a:ext>
            </a:extLst>
          </p:cNvPr>
          <p:cNvSpPr/>
          <p:nvPr/>
        </p:nvSpPr>
        <p:spPr>
          <a:xfrm>
            <a:off x="1037063" y="916193"/>
            <a:ext cx="6568069" cy="1804705"/>
          </a:xfrm>
          <a:prstGeom prst="roundRect">
            <a:avLst/>
          </a:prstGeom>
          <a:noFill/>
          <a:ln w="25400">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00069E56-5677-46BE-991B-1AE2697E497F}"/>
              </a:ext>
            </a:extLst>
          </p:cNvPr>
          <p:cNvSpPr txBox="1"/>
          <p:nvPr/>
        </p:nvSpPr>
        <p:spPr>
          <a:xfrm>
            <a:off x="1747987" y="3772482"/>
            <a:ext cx="6476037" cy="1107996"/>
          </a:xfrm>
          <a:prstGeom prst="rect">
            <a:avLst/>
          </a:prstGeom>
          <a:noFill/>
        </p:spPr>
        <p:txBody>
          <a:bodyPr wrap="square" lIns="0" tIns="0" rIns="0" bIns="0" rtlCol="0">
            <a:spAutoFit/>
          </a:bodyPr>
          <a:lstStyle/>
          <a:p>
            <a:pPr algn="l"/>
            <a:endParaRPr lang="en-US" sz="900" b="0" i="0" dirty="0">
              <a:solidFill>
                <a:srgbClr val="C00000"/>
              </a:solidFill>
              <a:latin typeface="BentonSans Light" panose="02000503000000020004" pitchFamily="2" charset="0"/>
            </a:endParaRPr>
          </a:p>
          <a:p>
            <a:r>
              <a:rPr lang="en-US" sz="900" dirty="0">
                <a:solidFill>
                  <a:srgbClr val="C00000"/>
                </a:solidFill>
                <a:latin typeface="BentonSans Light" panose="02000503000000020004" pitchFamily="2" charset="0"/>
              </a:rPr>
              <a:t>Despite all the individual corporate cards in this example having  </a:t>
            </a:r>
            <a:r>
              <a:rPr lang="en-US" sz="900" b="1" dirty="0">
                <a:solidFill>
                  <a:schemeClr val="tx1">
                    <a:lumMod val="75000"/>
                    <a:lumOff val="25000"/>
                  </a:schemeClr>
                </a:solidFill>
                <a:latin typeface="BentonSans Light" panose="02000503000000020004" pitchFamily="2" charset="0"/>
              </a:rPr>
              <a:t>Account Risk Scores </a:t>
            </a:r>
            <a:r>
              <a:rPr lang="en-US" sz="900" dirty="0">
                <a:solidFill>
                  <a:srgbClr val="C00000"/>
                </a:solidFill>
                <a:latin typeface="BentonSans Light" panose="02000503000000020004" pitchFamily="2" charset="0"/>
              </a:rPr>
              <a:t> that are higher than the any of the </a:t>
            </a:r>
            <a:r>
              <a:rPr lang="en-US" sz="900" b="1" dirty="0">
                <a:solidFill>
                  <a:schemeClr val="tx1">
                    <a:lumMod val="75000"/>
                    <a:lumOff val="25000"/>
                  </a:schemeClr>
                </a:solidFill>
                <a:latin typeface="BentonSans Light" panose="02000503000000020004" pitchFamily="2" charset="0"/>
              </a:rPr>
              <a:t>Account Risk Scores </a:t>
            </a:r>
            <a:r>
              <a:rPr lang="en-US" sz="900" dirty="0">
                <a:solidFill>
                  <a:srgbClr val="C00000"/>
                </a:solidFill>
                <a:latin typeface="BentonSans Light" panose="02000503000000020004" pitchFamily="2" charset="0"/>
              </a:rPr>
              <a:t>from the control account hierarchy. They do not affect the hierarchy score of the Master and Basic control accounts. However, they inherit their hierarchy score from the highest account risk score in the control account </a:t>
            </a:r>
            <a:r>
              <a:rPr lang="en-US" sz="900" dirty="0" err="1">
                <a:solidFill>
                  <a:srgbClr val="C00000"/>
                </a:solidFill>
                <a:latin typeface="BentonSans Light" panose="02000503000000020004" pitchFamily="2" charset="0"/>
              </a:rPr>
              <a:t>hierarchy.and</a:t>
            </a:r>
            <a:r>
              <a:rPr lang="en-US" sz="900" dirty="0">
                <a:solidFill>
                  <a:srgbClr val="C00000"/>
                </a:solidFill>
                <a:latin typeface="BentonSans Light" panose="02000503000000020004" pitchFamily="2" charset="0"/>
              </a:rPr>
              <a:t> would have a hierarchy score of 3</a:t>
            </a:r>
          </a:p>
          <a:p>
            <a:endParaRPr lang="en-US" sz="900" b="0" i="0" dirty="0">
              <a:solidFill>
                <a:srgbClr val="C00000"/>
              </a:solidFill>
              <a:latin typeface="BentonSans Light" panose="02000503000000020004" pitchFamily="2" charset="0"/>
            </a:endParaRPr>
          </a:p>
          <a:p>
            <a:r>
              <a:rPr lang="en-US" sz="900" dirty="0">
                <a:solidFill>
                  <a:srgbClr val="C00000"/>
                </a:solidFill>
                <a:latin typeface="BentonSans Light" panose="02000503000000020004" pitchFamily="2" charset="0"/>
              </a:rPr>
              <a:t>When reviews are scheduled on individual corporate cards, they use the </a:t>
            </a:r>
            <a:r>
              <a:rPr lang="en-US" sz="900" b="1" dirty="0">
                <a:solidFill>
                  <a:schemeClr val="tx1">
                    <a:lumMod val="75000"/>
                    <a:lumOff val="25000"/>
                  </a:schemeClr>
                </a:solidFill>
                <a:latin typeface="BentonSans Light" panose="02000503000000020004" pitchFamily="2" charset="0"/>
              </a:rPr>
              <a:t>Account Risk Score </a:t>
            </a:r>
            <a:r>
              <a:rPr lang="en-US" sz="900" dirty="0">
                <a:solidFill>
                  <a:srgbClr val="C00000"/>
                </a:solidFill>
                <a:latin typeface="BentonSans Light" panose="02000503000000020004" pitchFamily="2" charset="0"/>
              </a:rPr>
              <a:t>to determine the review </a:t>
            </a:r>
            <a:r>
              <a:rPr lang="en-US" sz="900" dirty="0" err="1">
                <a:solidFill>
                  <a:srgbClr val="C00000"/>
                </a:solidFill>
                <a:latin typeface="BentonSans Light" panose="02000503000000020004" pitchFamily="2" charset="0"/>
              </a:rPr>
              <a:t>frequency.instead</a:t>
            </a:r>
            <a:r>
              <a:rPr lang="en-US" sz="900" dirty="0">
                <a:solidFill>
                  <a:srgbClr val="C00000"/>
                </a:solidFill>
                <a:latin typeface="BentonSans Light" panose="02000503000000020004" pitchFamily="2" charset="0"/>
              </a:rPr>
              <a:t> of the </a:t>
            </a:r>
            <a:r>
              <a:rPr lang="en-US" sz="900" dirty="0">
                <a:solidFill>
                  <a:schemeClr val="tx1">
                    <a:lumMod val="75000"/>
                    <a:lumOff val="25000"/>
                  </a:schemeClr>
                </a:solidFill>
                <a:latin typeface="BentonSans Light" panose="02000503000000020004" pitchFamily="2" charset="0"/>
              </a:rPr>
              <a:t>Hierarchy Risk Score</a:t>
            </a:r>
            <a:r>
              <a:rPr lang="en-US" sz="900" dirty="0">
                <a:solidFill>
                  <a:srgbClr val="C00000"/>
                </a:solidFill>
                <a:latin typeface="BentonSans Light" panose="02000503000000020004" pitchFamily="2" charset="0"/>
              </a:rPr>
              <a:t>.</a:t>
            </a:r>
            <a:endParaRPr lang="en-US" sz="900" b="0" i="0" dirty="0">
              <a:solidFill>
                <a:srgbClr val="C00000"/>
              </a:solidFill>
              <a:latin typeface="BentonSans Light" panose="02000503000000020004" pitchFamily="2" charset="0"/>
            </a:endParaRPr>
          </a:p>
        </p:txBody>
      </p:sp>
    </p:spTree>
    <p:extLst>
      <p:ext uri="{BB962C8B-B14F-4D97-AF65-F5344CB8AC3E}">
        <p14:creationId xmlns:p14="http://schemas.microsoft.com/office/powerpoint/2010/main" val="3741552914"/>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A42AA58-6F66-42B3-BFF2-9E04510C7842}"/>
              </a:ext>
            </a:extLst>
          </p:cNvPr>
          <p:cNvSpPr>
            <a:spLocks noGrp="1"/>
          </p:cNvSpPr>
          <p:nvPr>
            <p:ph type="sldNum" sz="quarter" idx="10"/>
          </p:nvPr>
        </p:nvSpPr>
        <p:spPr/>
        <p:txBody>
          <a:bodyPr/>
          <a:lstStyle/>
          <a:p>
            <a:pPr>
              <a:defRPr/>
            </a:pPr>
            <a:fld id="{920384AA-0A71-E644-AEED-65CD2253F2C8}" type="slidenum">
              <a:rPr lang="en-US" smtClean="0"/>
              <a:pPr>
                <a:defRPr/>
              </a:pPr>
              <a:t>13</a:t>
            </a:fld>
            <a:endParaRPr lang="en-US" dirty="0"/>
          </a:p>
        </p:txBody>
      </p:sp>
      <p:sp>
        <p:nvSpPr>
          <p:cNvPr id="6" name="Title 1">
            <a:extLst>
              <a:ext uri="{FF2B5EF4-FFF2-40B4-BE49-F238E27FC236}">
                <a16:creationId xmlns:a16="http://schemas.microsoft.com/office/drawing/2014/main" id="{44FD3F03-D9C2-47E0-B450-8626B05AD393}"/>
              </a:ext>
            </a:extLst>
          </p:cNvPr>
          <p:cNvSpPr>
            <a:spLocks noGrp="1"/>
          </p:cNvSpPr>
          <p:nvPr>
            <p:ph type="title"/>
          </p:nvPr>
        </p:nvSpPr>
        <p:spPr>
          <a:xfrm>
            <a:off x="1146876" y="283110"/>
            <a:ext cx="7739565" cy="406797"/>
          </a:xfrm>
        </p:spPr>
        <p:txBody>
          <a:bodyPr/>
          <a:lstStyle/>
          <a:p>
            <a:r>
              <a:rPr lang="en-US" dirty="0"/>
              <a:t>How does the data feed the CRR? </a:t>
            </a:r>
          </a:p>
        </p:txBody>
      </p:sp>
      <p:sp>
        <p:nvSpPr>
          <p:cNvPr id="5" name="Text Placeholder 3">
            <a:extLst>
              <a:ext uri="{FF2B5EF4-FFF2-40B4-BE49-F238E27FC236}">
                <a16:creationId xmlns:a16="http://schemas.microsoft.com/office/drawing/2014/main" id="{D64A7A2B-4044-43D8-AFB3-78469F1B2172}"/>
              </a:ext>
            </a:extLst>
          </p:cNvPr>
          <p:cNvSpPr>
            <a:spLocks noGrp="1"/>
          </p:cNvSpPr>
          <p:nvPr>
            <p:ph type="body" sz="quarter" idx="11"/>
          </p:nvPr>
        </p:nvSpPr>
        <p:spPr>
          <a:xfrm>
            <a:off x="1146875" y="748782"/>
            <a:ext cx="7586465" cy="2487216"/>
          </a:xfrm>
        </p:spPr>
        <p:txBody>
          <a:bodyPr/>
          <a:lstStyle/>
          <a:p>
            <a:r>
              <a:rPr lang="en-US" dirty="0"/>
              <a:t>CADENCE receives its data from the different Systems of Record (SORs) and Source Systems which hold customer data and transactional data. </a:t>
            </a:r>
          </a:p>
          <a:p>
            <a:endParaRPr lang="en-US" dirty="0"/>
          </a:p>
          <a:p>
            <a:r>
              <a:rPr lang="en-US" dirty="0"/>
              <a:t>For example, for an SBS card CADENCE will receive the customer demographic information from GNA/Go2 as part of the application alongside the customer demographic data from </a:t>
            </a:r>
            <a:r>
              <a:rPr lang="en-US" dirty="0" err="1"/>
              <a:t>Globestar</a:t>
            </a:r>
            <a:r>
              <a:rPr lang="en-US" dirty="0"/>
              <a:t> for the account which is setup: </a:t>
            </a:r>
          </a:p>
        </p:txBody>
      </p:sp>
      <p:pic>
        <p:nvPicPr>
          <p:cNvPr id="2" name="Picture 1">
            <a:extLst>
              <a:ext uri="{FF2B5EF4-FFF2-40B4-BE49-F238E27FC236}">
                <a16:creationId xmlns:a16="http://schemas.microsoft.com/office/drawing/2014/main" id="{4B14B14E-C75F-480D-830E-ACC7A7A5BD2B}"/>
              </a:ext>
            </a:extLst>
          </p:cNvPr>
          <p:cNvPicPr>
            <a:picLocks noChangeAspect="1"/>
          </p:cNvPicPr>
          <p:nvPr/>
        </p:nvPicPr>
        <p:blipFill rotWithShape="1">
          <a:blip r:embed="rId2"/>
          <a:srcRect l="-372" t="57284" r="18847" b="14582"/>
          <a:stretch/>
        </p:blipFill>
        <p:spPr>
          <a:xfrm>
            <a:off x="1067885" y="2952888"/>
            <a:ext cx="7454609" cy="1380055"/>
          </a:xfrm>
          <a:prstGeom prst="rect">
            <a:avLst/>
          </a:prstGeom>
        </p:spPr>
      </p:pic>
    </p:spTree>
    <p:extLst>
      <p:ext uri="{BB962C8B-B14F-4D97-AF65-F5344CB8AC3E}">
        <p14:creationId xmlns:p14="http://schemas.microsoft.com/office/powerpoint/2010/main" val="681681914"/>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A42AA58-6F66-42B3-BFF2-9E04510C7842}"/>
              </a:ext>
            </a:extLst>
          </p:cNvPr>
          <p:cNvSpPr>
            <a:spLocks noGrp="1"/>
          </p:cNvSpPr>
          <p:nvPr>
            <p:ph type="sldNum" sz="quarter" idx="10"/>
          </p:nvPr>
        </p:nvSpPr>
        <p:spPr/>
        <p:txBody>
          <a:bodyPr/>
          <a:lstStyle/>
          <a:p>
            <a:pPr>
              <a:defRPr/>
            </a:pPr>
            <a:fld id="{920384AA-0A71-E644-AEED-65CD2253F2C8}" type="slidenum">
              <a:rPr lang="en-US" smtClean="0"/>
              <a:pPr>
                <a:defRPr/>
              </a:pPr>
              <a:t>14</a:t>
            </a:fld>
            <a:endParaRPr lang="en-US" dirty="0"/>
          </a:p>
        </p:txBody>
      </p:sp>
      <p:sp>
        <p:nvSpPr>
          <p:cNvPr id="6" name="Title 1">
            <a:extLst>
              <a:ext uri="{FF2B5EF4-FFF2-40B4-BE49-F238E27FC236}">
                <a16:creationId xmlns:a16="http://schemas.microsoft.com/office/drawing/2014/main" id="{44FD3F03-D9C2-47E0-B450-8626B05AD393}"/>
              </a:ext>
            </a:extLst>
          </p:cNvPr>
          <p:cNvSpPr>
            <a:spLocks noGrp="1"/>
          </p:cNvSpPr>
          <p:nvPr>
            <p:ph type="title"/>
          </p:nvPr>
        </p:nvSpPr>
        <p:spPr>
          <a:xfrm>
            <a:off x="1146876" y="283110"/>
            <a:ext cx="7739565" cy="406797"/>
          </a:xfrm>
        </p:spPr>
        <p:txBody>
          <a:bodyPr/>
          <a:lstStyle/>
          <a:p>
            <a:r>
              <a:rPr lang="en-US" dirty="0"/>
              <a:t>How does the data feed the CRR? </a:t>
            </a:r>
          </a:p>
        </p:txBody>
      </p:sp>
      <p:sp>
        <p:nvSpPr>
          <p:cNvPr id="5" name="Text Placeholder 3">
            <a:extLst>
              <a:ext uri="{FF2B5EF4-FFF2-40B4-BE49-F238E27FC236}">
                <a16:creationId xmlns:a16="http://schemas.microsoft.com/office/drawing/2014/main" id="{D64A7A2B-4044-43D8-AFB3-78469F1B2172}"/>
              </a:ext>
            </a:extLst>
          </p:cNvPr>
          <p:cNvSpPr>
            <a:spLocks noGrp="1"/>
          </p:cNvSpPr>
          <p:nvPr>
            <p:ph type="body" sz="quarter" idx="11"/>
          </p:nvPr>
        </p:nvSpPr>
        <p:spPr>
          <a:xfrm>
            <a:off x="1146876" y="707363"/>
            <a:ext cx="7586465" cy="2487216"/>
          </a:xfrm>
        </p:spPr>
        <p:txBody>
          <a:bodyPr/>
          <a:lstStyle/>
          <a:p>
            <a:r>
              <a:rPr lang="en-US" dirty="0"/>
              <a:t>CADENCE is not responsible when data is missing and it is the responsibility of the business to resolve data quality gaps where either data is not collected or is not being sent to CADENCE. </a:t>
            </a:r>
          </a:p>
          <a:p>
            <a:endParaRPr lang="en-US" dirty="0"/>
          </a:p>
          <a:p>
            <a:r>
              <a:rPr lang="en-US" dirty="0"/>
              <a:t> </a:t>
            </a:r>
          </a:p>
          <a:p>
            <a:endParaRPr lang="en-US" dirty="0"/>
          </a:p>
        </p:txBody>
      </p:sp>
      <p:graphicFrame>
        <p:nvGraphicFramePr>
          <p:cNvPr id="7" name="Table 6">
            <a:extLst>
              <a:ext uri="{FF2B5EF4-FFF2-40B4-BE49-F238E27FC236}">
                <a16:creationId xmlns:a16="http://schemas.microsoft.com/office/drawing/2014/main" id="{6D20364D-A343-43D0-8233-A7B5A4BFF7A4}"/>
              </a:ext>
            </a:extLst>
          </p:cNvPr>
          <p:cNvGraphicFramePr>
            <a:graphicFrameLocks noGrp="1"/>
          </p:cNvGraphicFramePr>
          <p:nvPr>
            <p:extLst>
              <p:ext uri="{D42A27DB-BD31-4B8C-83A1-F6EECF244321}">
                <p14:modId xmlns:p14="http://schemas.microsoft.com/office/powerpoint/2010/main" val="3090854602"/>
              </p:ext>
            </p:extLst>
          </p:nvPr>
        </p:nvGraphicFramePr>
        <p:xfrm>
          <a:off x="3381736" y="1594648"/>
          <a:ext cx="5173009" cy="3425821"/>
        </p:xfrm>
        <a:graphic>
          <a:graphicData uri="http://schemas.openxmlformats.org/drawingml/2006/table">
            <a:tbl>
              <a:tblPr/>
              <a:tblGrid>
                <a:gridCol w="515554">
                  <a:extLst>
                    <a:ext uri="{9D8B030D-6E8A-4147-A177-3AD203B41FA5}">
                      <a16:colId xmlns:a16="http://schemas.microsoft.com/office/drawing/2014/main" val="357826187"/>
                    </a:ext>
                  </a:extLst>
                </a:gridCol>
                <a:gridCol w="463124">
                  <a:extLst>
                    <a:ext uri="{9D8B030D-6E8A-4147-A177-3AD203B41FA5}">
                      <a16:colId xmlns:a16="http://schemas.microsoft.com/office/drawing/2014/main" val="1218027917"/>
                    </a:ext>
                  </a:extLst>
                </a:gridCol>
                <a:gridCol w="463124">
                  <a:extLst>
                    <a:ext uri="{9D8B030D-6E8A-4147-A177-3AD203B41FA5}">
                      <a16:colId xmlns:a16="http://schemas.microsoft.com/office/drawing/2014/main" val="2152766515"/>
                    </a:ext>
                  </a:extLst>
                </a:gridCol>
                <a:gridCol w="506815">
                  <a:extLst>
                    <a:ext uri="{9D8B030D-6E8A-4147-A177-3AD203B41FA5}">
                      <a16:colId xmlns:a16="http://schemas.microsoft.com/office/drawing/2014/main" val="2787097270"/>
                    </a:ext>
                  </a:extLst>
                </a:gridCol>
                <a:gridCol w="506815">
                  <a:extLst>
                    <a:ext uri="{9D8B030D-6E8A-4147-A177-3AD203B41FA5}">
                      <a16:colId xmlns:a16="http://schemas.microsoft.com/office/drawing/2014/main" val="2593908022"/>
                    </a:ext>
                  </a:extLst>
                </a:gridCol>
                <a:gridCol w="506815">
                  <a:extLst>
                    <a:ext uri="{9D8B030D-6E8A-4147-A177-3AD203B41FA5}">
                      <a16:colId xmlns:a16="http://schemas.microsoft.com/office/drawing/2014/main" val="3118293452"/>
                    </a:ext>
                  </a:extLst>
                </a:gridCol>
                <a:gridCol w="506815">
                  <a:extLst>
                    <a:ext uri="{9D8B030D-6E8A-4147-A177-3AD203B41FA5}">
                      <a16:colId xmlns:a16="http://schemas.microsoft.com/office/drawing/2014/main" val="1709742144"/>
                    </a:ext>
                  </a:extLst>
                </a:gridCol>
                <a:gridCol w="777699">
                  <a:extLst>
                    <a:ext uri="{9D8B030D-6E8A-4147-A177-3AD203B41FA5}">
                      <a16:colId xmlns:a16="http://schemas.microsoft.com/office/drawing/2014/main" val="2241815523"/>
                    </a:ext>
                  </a:extLst>
                </a:gridCol>
                <a:gridCol w="436909">
                  <a:extLst>
                    <a:ext uri="{9D8B030D-6E8A-4147-A177-3AD203B41FA5}">
                      <a16:colId xmlns:a16="http://schemas.microsoft.com/office/drawing/2014/main" val="3545974739"/>
                    </a:ext>
                  </a:extLst>
                </a:gridCol>
                <a:gridCol w="489339">
                  <a:extLst>
                    <a:ext uri="{9D8B030D-6E8A-4147-A177-3AD203B41FA5}">
                      <a16:colId xmlns:a16="http://schemas.microsoft.com/office/drawing/2014/main" val="3076248009"/>
                    </a:ext>
                  </a:extLst>
                </a:gridCol>
              </a:tblGrid>
              <a:tr h="634692">
                <a:tc>
                  <a:txBody>
                    <a:bodyPr/>
                    <a:lstStyle/>
                    <a:p>
                      <a:pPr algn="l" fontAlgn="t"/>
                      <a:r>
                        <a:rPr lang="en-GB" sz="700" b="0" i="0" u="none" strike="noStrike">
                          <a:solidFill>
                            <a:srgbClr val="000000"/>
                          </a:solidFill>
                          <a:effectLst/>
                          <a:latin typeface="Calibri" panose="020F0502020204030204" pitchFamily="34" charset="0"/>
                        </a:rPr>
                        <a:t>              Data</a:t>
                      </a: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        Element</a:t>
                      </a:r>
                      <a:br>
                        <a:rPr lang="en-GB" sz="700" b="0" i="0" u="none" strike="noStrike">
                          <a:solidFill>
                            <a:srgbClr val="000000"/>
                          </a:solidFill>
                          <a:effectLst/>
                          <a:latin typeface="Calibri" panose="020F0502020204030204" pitchFamily="34" charset="0"/>
                        </a:rPr>
                      </a:br>
                      <a:br>
                        <a:rPr lang="en-GB" sz="700" b="0" i="0" u="none" strike="noStrike">
                          <a:solidFill>
                            <a:srgbClr val="000000"/>
                          </a:solidFill>
                          <a:effectLst/>
                          <a:latin typeface="Calibri" panose="020F0502020204030204" pitchFamily="34" charset="0"/>
                        </a:rPr>
                      </a:br>
                      <a:br>
                        <a:rPr lang="en-GB" sz="700" b="0" i="0" u="none" strike="noStrike">
                          <a:solidFill>
                            <a:srgbClr val="000000"/>
                          </a:solidFill>
                          <a:effectLst/>
                          <a:latin typeface="Calibri" panose="020F0502020204030204" pitchFamily="34" charset="0"/>
                        </a:rPr>
                      </a:br>
                      <a:r>
                        <a:rPr lang="en-GB" sz="700" b="0" i="0" u="none" strike="noStrike">
                          <a:solidFill>
                            <a:srgbClr val="000000"/>
                          </a:solidFill>
                          <a:effectLst/>
                          <a:latin typeface="Calibri" panose="020F0502020204030204" pitchFamily="34" charset="0"/>
                        </a:rPr>
                        <a:t>Product</a:t>
                      </a:r>
                    </a:p>
                  </a:txBody>
                  <a:tcPr marL="5398" marR="5398" marT="5398"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solidFill>
                        <a:srgbClr val="000000"/>
                      </a:solidFill>
                      <a:prstDash val="solid"/>
                      <a:round/>
                      <a:headEnd type="none" w="med" len="med"/>
                      <a:tailEnd type="none" w="med" len="med"/>
                    </a:lnTlToBr>
                    <a:solidFill>
                      <a:srgbClr val="F2F2F2"/>
                    </a:solidFill>
                  </a:tcPr>
                </a:tc>
                <a:tc>
                  <a:txBody>
                    <a:bodyPr/>
                    <a:lstStyle/>
                    <a:p>
                      <a:pPr algn="l" fontAlgn="b"/>
                      <a:r>
                        <a:rPr lang="en-GB" sz="700" b="0" i="0" u="none" strike="noStrike" dirty="0">
                          <a:solidFill>
                            <a:srgbClr val="000000"/>
                          </a:solidFill>
                          <a:effectLst/>
                          <a:latin typeface="Calibri" panose="020F0502020204030204" pitchFamily="34" charset="0"/>
                        </a:rPr>
                        <a:t>Industry, source</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Number of Industries</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Percentage</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Structure, source</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Number of Structures</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Percentage</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Establishment date of the business, date of Incorporation, source</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Number of dates</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Percentage</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4198935167"/>
                  </a:ext>
                </a:extLst>
              </a:tr>
              <a:tr h="121134">
                <a:tc>
                  <a:txBody>
                    <a:bodyPr/>
                    <a:lstStyle/>
                    <a:p>
                      <a:pPr algn="l" fontAlgn="b"/>
                      <a:r>
                        <a:rPr lang="en-GB" sz="700" b="0" i="0" u="none" strike="noStrike">
                          <a:solidFill>
                            <a:srgbClr val="000000"/>
                          </a:solidFill>
                          <a:effectLst/>
                          <a:latin typeface="Calibri" panose="020F0502020204030204" pitchFamily="34" charset="0"/>
                        </a:rPr>
                        <a:t>CONS-CHRG</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N/A</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N/A</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N/A</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extLst>
                  <a:ext uri="{0D108BD9-81ED-4DB2-BD59-A6C34878D82A}">
                    <a16:rowId xmlns:a16="http://schemas.microsoft.com/office/drawing/2014/main" val="1985501203"/>
                  </a:ext>
                </a:extLst>
              </a:tr>
              <a:tr h="121134">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extLst>
                  <a:ext uri="{0D108BD9-81ED-4DB2-BD59-A6C34878D82A}">
                    <a16:rowId xmlns:a16="http://schemas.microsoft.com/office/drawing/2014/main" val="549436024"/>
                  </a:ext>
                </a:extLst>
              </a:tr>
              <a:tr h="121134">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253136346"/>
                  </a:ext>
                </a:extLst>
              </a:tr>
              <a:tr h="121134">
                <a:tc>
                  <a:txBody>
                    <a:bodyPr/>
                    <a:lstStyle/>
                    <a:p>
                      <a:pPr algn="l" fontAlgn="b"/>
                      <a:r>
                        <a:rPr lang="en-GB" sz="700" b="0" i="0" u="none" strike="noStrike">
                          <a:solidFill>
                            <a:srgbClr val="000000"/>
                          </a:solidFill>
                          <a:effectLst/>
                          <a:latin typeface="Calibri" panose="020F0502020204030204" pitchFamily="34" charset="0"/>
                        </a:rPr>
                        <a:t>CORP-BTA</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GDR-IRI</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FF0000"/>
                          </a:solidFill>
                          <a:effectLst/>
                          <a:latin typeface="Calibri" panose="020F0502020204030204" pitchFamily="34" charset="0"/>
                        </a:rPr>
                        <a:t>0.00%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GDR-IRI</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13450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100.00%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GDR-IRI</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FF0000"/>
                          </a:solidFill>
                          <a:effectLst/>
                          <a:latin typeface="Calibri" panose="020F0502020204030204" pitchFamily="34" charset="0"/>
                        </a:rPr>
                        <a:t>0.00%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extLst>
                  <a:ext uri="{0D108BD9-81ED-4DB2-BD59-A6C34878D82A}">
                    <a16:rowId xmlns:a16="http://schemas.microsoft.com/office/drawing/2014/main" val="1366589003"/>
                  </a:ext>
                </a:extLst>
              </a:tr>
              <a:tr h="121134">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FF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FF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2999975844"/>
                  </a:ext>
                </a:extLst>
              </a:tr>
              <a:tr h="121134">
                <a:tc>
                  <a:txBody>
                    <a:bodyPr/>
                    <a:lstStyle/>
                    <a:p>
                      <a:pPr algn="l" fontAlgn="b"/>
                      <a:r>
                        <a:rPr lang="en-GB" sz="700" b="0" i="0" u="none" strike="noStrike">
                          <a:solidFill>
                            <a:srgbClr val="000000"/>
                          </a:solidFill>
                          <a:effectLst/>
                          <a:latin typeface="Calibri" panose="020F0502020204030204" pitchFamily="34" charset="0"/>
                        </a:rPr>
                        <a:t>CORP-CARD</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GDR-IRI</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dirty="0">
                          <a:solidFill>
                            <a:srgbClr val="FF0000"/>
                          </a:solidFill>
                          <a:effectLst/>
                          <a:latin typeface="Calibri" panose="020F0502020204030204" pitchFamily="34" charset="0"/>
                        </a:rPr>
                        <a:t>0.00%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GDR-IRI</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179339</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100.00%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GDR-IRI</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FF0000"/>
                          </a:solidFill>
                          <a:effectLst/>
                          <a:latin typeface="Calibri" panose="020F0502020204030204" pitchFamily="34" charset="0"/>
                        </a:rPr>
                        <a:t>0.00%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extLst>
                  <a:ext uri="{0D108BD9-81ED-4DB2-BD59-A6C34878D82A}">
                    <a16:rowId xmlns:a16="http://schemas.microsoft.com/office/drawing/2014/main" val="2180933879"/>
                  </a:ext>
                </a:extLst>
              </a:tr>
              <a:tr h="121134">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FF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CADENCE</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43</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FF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752281786"/>
                  </a:ext>
                </a:extLst>
              </a:tr>
              <a:tr h="121134">
                <a:tc>
                  <a:txBody>
                    <a:bodyPr/>
                    <a:lstStyle/>
                    <a:p>
                      <a:pPr algn="l" fontAlgn="b"/>
                      <a:r>
                        <a:rPr lang="en-GB" sz="700" b="0" i="0" u="none" strike="noStrike">
                          <a:solidFill>
                            <a:srgbClr val="000000"/>
                          </a:solidFill>
                          <a:effectLst/>
                          <a:latin typeface="Calibri" panose="020F0502020204030204" pitchFamily="34" charset="0"/>
                        </a:rPr>
                        <a:t>CORP-CPC</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GDR-IRI</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FF0000"/>
                          </a:solidFill>
                          <a:effectLst/>
                          <a:latin typeface="Calibri" panose="020F0502020204030204" pitchFamily="34" charset="0"/>
                        </a:rPr>
                        <a:t>0.00%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GDR-IRI</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1979</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100.00%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GDR-IRI</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FF0000"/>
                          </a:solidFill>
                          <a:effectLst/>
                          <a:latin typeface="Calibri" panose="020F0502020204030204" pitchFamily="34" charset="0"/>
                        </a:rPr>
                        <a:t>0.00%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extLst>
                  <a:ext uri="{0D108BD9-81ED-4DB2-BD59-A6C34878D82A}">
                    <a16:rowId xmlns:a16="http://schemas.microsoft.com/office/drawing/2014/main" val="881791568"/>
                  </a:ext>
                </a:extLst>
              </a:tr>
              <a:tr h="121134">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FF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FF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1326928168"/>
                  </a:ext>
                </a:extLst>
              </a:tr>
              <a:tr h="121134">
                <a:tc>
                  <a:txBody>
                    <a:bodyPr/>
                    <a:lstStyle/>
                    <a:p>
                      <a:pPr algn="l" fontAlgn="b"/>
                      <a:r>
                        <a:rPr lang="en-GB" sz="700" b="0" i="0" u="none" strike="noStrike">
                          <a:solidFill>
                            <a:srgbClr val="000000"/>
                          </a:solidFill>
                          <a:effectLst/>
                          <a:latin typeface="Calibri" panose="020F0502020204030204" pitchFamily="34" charset="0"/>
                        </a:rPr>
                        <a:t>CORP-CTRL</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GDR-IRI</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FF0000"/>
                          </a:solidFill>
                          <a:effectLst/>
                          <a:latin typeface="Calibri" panose="020F0502020204030204" pitchFamily="34" charset="0"/>
                        </a:rPr>
                        <a:t>0.00%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GDR-IRI</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57454</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77.21%</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GDR-IRI</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FF0000"/>
                          </a:solidFill>
                          <a:effectLst/>
                          <a:latin typeface="Calibri" panose="020F0502020204030204" pitchFamily="34" charset="0"/>
                        </a:rPr>
                        <a:t>0.00%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extLst>
                  <a:ext uri="{0D108BD9-81ED-4DB2-BD59-A6C34878D82A}">
                    <a16:rowId xmlns:a16="http://schemas.microsoft.com/office/drawing/2014/main" val="2617991256"/>
                  </a:ext>
                </a:extLst>
              </a:tr>
              <a:tr h="121134">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FF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CADENCE</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12109</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FF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2604485169"/>
                  </a:ext>
                </a:extLst>
              </a:tr>
              <a:tr h="121134">
                <a:tc>
                  <a:txBody>
                    <a:bodyPr/>
                    <a:lstStyle/>
                    <a:p>
                      <a:pPr algn="l" fontAlgn="b"/>
                      <a:r>
                        <a:rPr lang="en-GB" sz="700" b="0" i="0" u="none" strike="noStrike">
                          <a:solidFill>
                            <a:srgbClr val="000000"/>
                          </a:solidFill>
                          <a:effectLst/>
                          <a:latin typeface="Calibri" panose="020F0502020204030204" pitchFamily="34" charset="0"/>
                        </a:rPr>
                        <a:t>CORP-LGT</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MySetups</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FF0000"/>
                          </a:solidFill>
                          <a:effectLst/>
                          <a:latin typeface="Calibri" panose="020F0502020204030204" pitchFamily="34" charset="0"/>
                        </a:rPr>
                        <a:t>0.00%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MySetups</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35544</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100.00%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MySetups</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FF0000"/>
                          </a:solidFill>
                          <a:effectLst/>
                          <a:latin typeface="Calibri" panose="020F0502020204030204" pitchFamily="34" charset="0"/>
                        </a:rPr>
                        <a:t>0.00%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extLst>
                  <a:ext uri="{0D108BD9-81ED-4DB2-BD59-A6C34878D82A}">
                    <a16:rowId xmlns:a16="http://schemas.microsoft.com/office/drawing/2014/main" val="3763439313"/>
                  </a:ext>
                </a:extLst>
              </a:tr>
              <a:tr h="121134">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FF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FF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508767090"/>
                  </a:ext>
                </a:extLst>
              </a:tr>
              <a:tr h="121134">
                <a:tc>
                  <a:txBody>
                    <a:bodyPr/>
                    <a:lstStyle/>
                    <a:p>
                      <a:pPr algn="l" fontAlgn="b"/>
                      <a:r>
                        <a:rPr lang="en-GB" sz="700" b="0" i="0" u="none" strike="noStrike">
                          <a:solidFill>
                            <a:srgbClr val="000000"/>
                          </a:solidFill>
                          <a:effectLst/>
                          <a:latin typeface="Calibri" panose="020F0502020204030204" pitchFamily="34" charset="0"/>
                        </a:rPr>
                        <a:t>CORP-PURC</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GDR-IRI</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FF0000"/>
                          </a:solidFill>
                          <a:effectLst/>
                          <a:latin typeface="Calibri" panose="020F0502020204030204" pitchFamily="34" charset="0"/>
                        </a:rPr>
                        <a:t>0.00%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GDR-IRI</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4370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100.00%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GDR-IRI</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FF0000"/>
                          </a:solidFill>
                          <a:effectLst/>
                          <a:latin typeface="Calibri" panose="020F0502020204030204" pitchFamily="34" charset="0"/>
                        </a:rPr>
                        <a:t>0.00%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extLst>
                  <a:ext uri="{0D108BD9-81ED-4DB2-BD59-A6C34878D82A}">
                    <a16:rowId xmlns:a16="http://schemas.microsoft.com/office/drawing/2014/main" val="1606359293"/>
                  </a:ext>
                </a:extLst>
              </a:tr>
              <a:tr h="121134">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FF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FF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1551815376"/>
                  </a:ext>
                </a:extLst>
              </a:tr>
              <a:tr h="121134">
                <a:tc>
                  <a:txBody>
                    <a:bodyPr/>
                    <a:lstStyle/>
                    <a:p>
                      <a:pPr algn="l" fontAlgn="b"/>
                      <a:r>
                        <a:rPr lang="en-GB" sz="700" b="0" i="0" u="none" strike="noStrike">
                          <a:solidFill>
                            <a:srgbClr val="000000"/>
                          </a:solidFill>
                          <a:effectLst/>
                          <a:latin typeface="Calibri" panose="020F0502020204030204" pitchFamily="34" charset="0"/>
                        </a:rPr>
                        <a:t>CORP-VPAY</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GDR-IRI</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FF0000"/>
                          </a:solidFill>
                          <a:effectLst/>
                          <a:latin typeface="Calibri" panose="020F0502020204030204" pitchFamily="34" charset="0"/>
                        </a:rPr>
                        <a:t>0.00%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GDR-IRI</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250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73.12%</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GDR-IRI</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FF0000"/>
                          </a:solidFill>
                          <a:effectLst/>
                          <a:latin typeface="Calibri" panose="020F0502020204030204" pitchFamily="34" charset="0"/>
                        </a:rPr>
                        <a:t>0.00%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extLst>
                  <a:ext uri="{0D108BD9-81ED-4DB2-BD59-A6C34878D82A}">
                    <a16:rowId xmlns:a16="http://schemas.microsoft.com/office/drawing/2014/main" val="2695504622"/>
                  </a:ext>
                </a:extLst>
              </a:tr>
              <a:tr h="121134">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FF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CADENCE</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362</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FF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517560624"/>
                  </a:ext>
                </a:extLst>
              </a:tr>
              <a:tr h="121134">
                <a:tc>
                  <a:txBody>
                    <a:bodyPr/>
                    <a:lstStyle/>
                    <a:p>
                      <a:pPr algn="l" fontAlgn="b"/>
                      <a:r>
                        <a:rPr lang="en-GB" sz="700" b="0" i="0" u="none" strike="noStrike">
                          <a:solidFill>
                            <a:srgbClr val="000000"/>
                          </a:solidFill>
                          <a:effectLst/>
                          <a:latin typeface="Calibri" panose="020F0502020204030204" pitchFamily="34" charset="0"/>
                        </a:rPr>
                        <a:t>SBS-CHRG</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GNAEMEA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24387</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60.71%</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iCLIC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27491</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r" fontAlgn="b"/>
                      <a:r>
                        <a:rPr lang="en-GB" sz="700" b="0" i="0" u="none" strike="noStrike">
                          <a:solidFill>
                            <a:srgbClr val="00B0F0"/>
                          </a:solidFill>
                          <a:effectLst/>
                          <a:latin typeface="Calibri" panose="020F0502020204030204" pitchFamily="34" charset="0"/>
                        </a:rPr>
                        <a:t>69.71%</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iCLIC</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29208</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B0F0"/>
                          </a:solidFill>
                          <a:effectLst/>
                          <a:latin typeface="Calibri" panose="020F0502020204030204" pitchFamily="34" charset="0"/>
                        </a:rPr>
                        <a:t>68.66%</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extLst>
                  <a:ext uri="{0D108BD9-81ED-4DB2-BD59-A6C34878D82A}">
                    <a16:rowId xmlns:a16="http://schemas.microsoft.com/office/drawing/2014/main" val="1689141996"/>
                  </a:ext>
                </a:extLst>
              </a:tr>
              <a:tr h="121134">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CADENCE</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1437</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CADENCE</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2163</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extLst>
                  <a:ext uri="{0D108BD9-81ED-4DB2-BD59-A6C34878D82A}">
                    <a16:rowId xmlns:a16="http://schemas.microsoft.com/office/drawing/2014/main" val="3198526956"/>
                  </a:ext>
                </a:extLst>
              </a:tr>
              <a:tr h="121134">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iCLIC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29821</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GCAPEMEA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6</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2EFDA"/>
                    </a:solidFill>
                  </a:tcPr>
                </a:tc>
                <a:extLst>
                  <a:ext uri="{0D108BD9-81ED-4DB2-BD59-A6C34878D82A}">
                    <a16:rowId xmlns:a16="http://schemas.microsoft.com/office/drawing/2014/main" val="3625016279"/>
                  </a:ext>
                </a:extLst>
              </a:tr>
              <a:tr h="121134">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GNAEMEA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2974</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2870320417"/>
                  </a:ext>
                </a:extLst>
              </a:tr>
              <a:tr h="121134">
                <a:tc>
                  <a:txBody>
                    <a:bodyPr/>
                    <a:lstStyle/>
                    <a:p>
                      <a:pPr algn="l" fontAlgn="b"/>
                      <a:r>
                        <a:rPr lang="en-GB" sz="700" b="0" i="0" u="none" strike="noStrike">
                          <a:solidFill>
                            <a:srgbClr val="000000"/>
                          </a:solidFill>
                          <a:effectLst/>
                          <a:latin typeface="Calibri" panose="020F0502020204030204" pitchFamily="34" charset="0"/>
                        </a:rPr>
                        <a:t>SE-DIR</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GENESIS</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626622</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98.41%</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GENESIS</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470380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99.72%</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GMDL</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tc>
                  <a:txBody>
                    <a:bodyPr/>
                    <a:lstStyle/>
                    <a:p>
                      <a:pPr algn="r" fontAlgn="b"/>
                      <a:r>
                        <a:rPr lang="en-GB" sz="700" b="0" i="0" u="none" strike="noStrike">
                          <a:solidFill>
                            <a:srgbClr val="FF0000"/>
                          </a:solidFill>
                          <a:effectLst/>
                          <a:latin typeface="Calibri" panose="020F0502020204030204" pitchFamily="34" charset="0"/>
                        </a:rPr>
                        <a:t>0.00%</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E2EFDA"/>
                    </a:solidFill>
                  </a:tcPr>
                </a:tc>
                <a:extLst>
                  <a:ext uri="{0D108BD9-81ED-4DB2-BD59-A6C34878D82A}">
                    <a16:rowId xmlns:a16="http://schemas.microsoft.com/office/drawing/2014/main" val="1260702232"/>
                  </a:ext>
                </a:extLst>
              </a:tr>
              <a:tr h="126181">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2F2F2"/>
                    </a:solidFill>
                  </a:tcPr>
                </a:tc>
                <a:tc>
                  <a:txBody>
                    <a:bodyPr/>
                    <a:lstStyle/>
                    <a:p>
                      <a:pPr algn="l" fontAlgn="b"/>
                      <a:r>
                        <a:rPr lang="en-GB" sz="700" b="0" i="0" u="none" strike="noStrike">
                          <a:solidFill>
                            <a:srgbClr val="000000"/>
                          </a:solidFill>
                          <a:effectLst/>
                          <a:latin typeface="Calibri" panose="020F0502020204030204" pitchFamily="34" charset="0"/>
                        </a:rPr>
                        <a:t>GMS3PTY</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2EFDA"/>
                    </a:solidFill>
                  </a:tcPr>
                </a:tc>
                <a:tc>
                  <a:txBody>
                    <a:bodyPr/>
                    <a:lstStyle/>
                    <a:p>
                      <a:pPr algn="r" fontAlgn="b"/>
                      <a:r>
                        <a:rPr lang="en-GB" sz="700" b="0" i="0" u="none" strike="noStrike">
                          <a:solidFill>
                            <a:srgbClr val="000000"/>
                          </a:solidFill>
                          <a:effectLst/>
                          <a:latin typeface="Calibri" panose="020F0502020204030204" pitchFamily="34" charset="0"/>
                        </a:rPr>
                        <a:t>6013</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GMS3PTY</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DEBF7"/>
                    </a:solidFill>
                  </a:tcPr>
                </a:tc>
                <a:tc>
                  <a:txBody>
                    <a:bodyPr/>
                    <a:lstStyle/>
                    <a:p>
                      <a:pPr algn="r" fontAlgn="b"/>
                      <a:r>
                        <a:rPr lang="en-GB" sz="700" b="0" i="0" u="none" strike="noStrike">
                          <a:solidFill>
                            <a:srgbClr val="000000"/>
                          </a:solidFill>
                          <a:effectLst/>
                          <a:latin typeface="Calibri" panose="020F0502020204030204" pitchFamily="34" charset="0"/>
                        </a:rPr>
                        <a:t>164553</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DEBF7"/>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a:solidFill>
                            <a:srgbClr val="00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2EFDA"/>
                    </a:solidFill>
                  </a:tcPr>
                </a:tc>
                <a:tc>
                  <a:txBody>
                    <a:bodyPr/>
                    <a:lstStyle/>
                    <a:p>
                      <a:pPr algn="l" fontAlgn="b"/>
                      <a:r>
                        <a:rPr lang="en-GB" sz="700" b="0" i="0" u="none" strike="noStrike" dirty="0">
                          <a:solidFill>
                            <a:srgbClr val="FF0000"/>
                          </a:solidFill>
                          <a:effectLst/>
                          <a:latin typeface="Calibri" panose="020F0502020204030204" pitchFamily="34" charset="0"/>
                        </a:rPr>
                        <a:t> </a:t>
                      </a:r>
                    </a:p>
                  </a:txBody>
                  <a:tcPr marL="5398" marR="5398" marT="539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810538241"/>
                  </a:ext>
                </a:extLst>
              </a:tr>
            </a:tbl>
          </a:graphicData>
        </a:graphic>
      </p:graphicFrame>
      <p:sp>
        <p:nvSpPr>
          <p:cNvPr id="8" name="Text Placeholder 3">
            <a:extLst>
              <a:ext uri="{FF2B5EF4-FFF2-40B4-BE49-F238E27FC236}">
                <a16:creationId xmlns:a16="http://schemas.microsoft.com/office/drawing/2014/main" id="{4EBCBC22-326D-4BD2-A9F6-17D55A9A1C56}"/>
              </a:ext>
            </a:extLst>
          </p:cNvPr>
          <p:cNvSpPr txBox="1">
            <a:spLocks/>
          </p:cNvSpPr>
          <p:nvPr/>
        </p:nvSpPr>
        <p:spPr bwMode="gray">
          <a:xfrm>
            <a:off x="884939" y="1682028"/>
            <a:ext cx="2572636" cy="248721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257175" indent="-257175" algn="l" defTabSz="342900" rtl="0" eaLnBrk="1" fontAlgn="base" hangingPunct="1">
              <a:lnSpc>
                <a:spcPct val="100000"/>
              </a:lnSpc>
              <a:spcBef>
                <a:spcPts val="0"/>
              </a:spcBef>
              <a:spcAft>
                <a:spcPts val="0"/>
              </a:spcAft>
              <a:buFont typeface="Arial" charset="0"/>
              <a:buNone/>
              <a:defRPr b="0" i="0" kern="1200">
                <a:solidFill>
                  <a:schemeClr val="bg2"/>
                </a:solidFill>
                <a:latin typeface="BentonSans Light" charset="0"/>
                <a:ea typeface="BentonSans Light" charset="0"/>
                <a:cs typeface="BentonSans Light" charset="0"/>
              </a:defRPr>
            </a:lvl1pPr>
            <a:lvl2pPr marL="170260" indent="-170260" algn="l" defTabSz="342900" rtl="0" eaLnBrk="1" fontAlgn="base" hangingPunct="1">
              <a:lnSpc>
                <a:spcPct val="100000"/>
              </a:lnSpc>
              <a:spcBef>
                <a:spcPts val="0"/>
              </a:spcBef>
              <a:spcAft>
                <a:spcPts val="0"/>
              </a:spcAft>
              <a:buFont typeface="Arial" charset="0"/>
              <a:buChar char="•"/>
              <a:defRPr sz="1350" b="0" i="0" kern="1200">
                <a:solidFill>
                  <a:schemeClr val="bg2"/>
                </a:solidFill>
                <a:latin typeface="BentonSans Light" charset="0"/>
                <a:ea typeface="BentonSans Light" charset="0"/>
                <a:cs typeface="BentonSans Light" charset="0"/>
              </a:defRPr>
            </a:lvl2pPr>
            <a:lvl3pPr marL="558404" indent="-216694" algn="l" defTabSz="342900" rtl="0" eaLnBrk="1" fontAlgn="base" hangingPunct="1">
              <a:lnSpc>
                <a:spcPct val="100000"/>
              </a:lnSpc>
              <a:spcBef>
                <a:spcPts val="0"/>
              </a:spcBef>
              <a:spcAft>
                <a:spcPts val="0"/>
              </a:spcAft>
              <a:buFont typeface="Arial" pitchFamily="34" charset="0"/>
              <a:buChar char="–"/>
              <a:defRPr b="0" i="0" kern="1200">
                <a:solidFill>
                  <a:schemeClr val="bg2"/>
                </a:solidFill>
                <a:latin typeface="BentonSans Light" charset="0"/>
                <a:ea typeface="BentonSans Light" charset="0"/>
                <a:cs typeface="BentonSans Light" charset="0"/>
              </a:defRPr>
            </a:lvl3pPr>
            <a:lvl4pPr marL="862013" indent="-171450" algn="l" defTabSz="342900" rtl="0" eaLnBrk="1" fontAlgn="base" hangingPunct="1">
              <a:lnSpc>
                <a:spcPct val="100000"/>
              </a:lnSpc>
              <a:spcBef>
                <a:spcPts val="0"/>
              </a:spcBef>
              <a:spcAft>
                <a:spcPts val="0"/>
              </a:spcAft>
              <a:buFont typeface="Arial"/>
              <a:buChar char="•"/>
              <a:defRPr sz="1200" b="0" i="0" kern="1200">
                <a:solidFill>
                  <a:schemeClr val="bg2"/>
                </a:solidFill>
                <a:latin typeface="BentonSans Light" charset="0"/>
                <a:ea typeface="BentonSans Light" charset="0"/>
                <a:cs typeface="BentonSans Light" charset="0"/>
              </a:defRPr>
            </a:lvl4pPr>
            <a:lvl5pPr marL="1197769" indent="-169069" algn="l" defTabSz="342900" rtl="0" eaLnBrk="1" fontAlgn="base" hangingPunct="1">
              <a:lnSpc>
                <a:spcPct val="100000"/>
              </a:lnSpc>
              <a:spcBef>
                <a:spcPts val="0"/>
              </a:spcBef>
              <a:spcAft>
                <a:spcPts val="0"/>
              </a:spcAft>
              <a:buFont typeface="Arial"/>
              <a:buChar char="−"/>
              <a:defRPr sz="1200" b="0" i="0" kern="1200">
                <a:solidFill>
                  <a:schemeClr val="bg2"/>
                </a:solidFill>
                <a:latin typeface="BentonSans Light" charset="0"/>
                <a:ea typeface="BentonSans Light" charset="0"/>
                <a:cs typeface="BentonSans Light"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r>
              <a:rPr lang="en-US" dirty="0"/>
              <a:t>Data Quality Example: </a:t>
            </a:r>
          </a:p>
          <a:p>
            <a:endParaRPr lang="en-US" dirty="0"/>
          </a:p>
          <a:p>
            <a:r>
              <a:rPr lang="en-US" dirty="0"/>
              <a:t> </a:t>
            </a:r>
          </a:p>
          <a:p>
            <a:endParaRPr lang="en-US" dirty="0"/>
          </a:p>
        </p:txBody>
      </p:sp>
    </p:spTree>
    <p:extLst>
      <p:ext uri="{BB962C8B-B14F-4D97-AF65-F5344CB8AC3E}">
        <p14:creationId xmlns:p14="http://schemas.microsoft.com/office/powerpoint/2010/main" val="1700241388"/>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A42AA58-6F66-42B3-BFF2-9E04510C7842}"/>
              </a:ext>
            </a:extLst>
          </p:cNvPr>
          <p:cNvSpPr>
            <a:spLocks noGrp="1"/>
          </p:cNvSpPr>
          <p:nvPr>
            <p:ph type="sldNum" sz="quarter" idx="10"/>
          </p:nvPr>
        </p:nvSpPr>
        <p:spPr/>
        <p:txBody>
          <a:bodyPr/>
          <a:lstStyle/>
          <a:p>
            <a:pPr>
              <a:defRPr/>
            </a:pPr>
            <a:fld id="{920384AA-0A71-E644-AEED-65CD2253F2C8}" type="slidenum">
              <a:rPr lang="en-US" smtClean="0"/>
              <a:pPr>
                <a:defRPr/>
              </a:pPr>
              <a:t>15</a:t>
            </a:fld>
            <a:endParaRPr lang="en-US" dirty="0"/>
          </a:p>
        </p:txBody>
      </p:sp>
      <p:sp>
        <p:nvSpPr>
          <p:cNvPr id="6" name="Title 1">
            <a:extLst>
              <a:ext uri="{FF2B5EF4-FFF2-40B4-BE49-F238E27FC236}">
                <a16:creationId xmlns:a16="http://schemas.microsoft.com/office/drawing/2014/main" id="{44FD3F03-D9C2-47E0-B450-8626B05AD393}"/>
              </a:ext>
            </a:extLst>
          </p:cNvPr>
          <p:cNvSpPr>
            <a:spLocks noGrp="1"/>
          </p:cNvSpPr>
          <p:nvPr>
            <p:ph type="title"/>
          </p:nvPr>
        </p:nvSpPr>
        <p:spPr>
          <a:xfrm>
            <a:off x="1146876" y="283110"/>
            <a:ext cx="7739565" cy="406797"/>
          </a:xfrm>
        </p:spPr>
        <p:txBody>
          <a:bodyPr/>
          <a:lstStyle/>
          <a:p>
            <a:r>
              <a:rPr lang="en-US" dirty="0"/>
              <a:t>How were the Enterprise thresholds and parameters determined? </a:t>
            </a:r>
          </a:p>
        </p:txBody>
      </p:sp>
      <p:sp>
        <p:nvSpPr>
          <p:cNvPr id="5" name="Text Placeholder 3">
            <a:extLst>
              <a:ext uri="{FF2B5EF4-FFF2-40B4-BE49-F238E27FC236}">
                <a16:creationId xmlns:a16="http://schemas.microsoft.com/office/drawing/2014/main" id="{D64A7A2B-4044-43D8-AFB3-78469F1B2172}"/>
              </a:ext>
            </a:extLst>
          </p:cNvPr>
          <p:cNvSpPr>
            <a:spLocks noGrp="1"/>
          </p:cNvSpPr>
          <p:nvPr>
            <p:ph type="body" sz="quarter" idx="11"/>
          </p:nvPr>
        </p:nvSpPr>
        <p:spPr>
          <a:xfrm>
            <a:off x="1146876" y="1163119"/>
            <a:ext cx="7586465" cy="2487216"/>
          </a:xfrm>
        </p:spPr>
        <p:txBody>
          <a:bodyPr/>
          <a:lstStyle/>
          <a:p>
            <a:r>
              <a:rPr lang="en-GB" dirty="0"/>
              <a:t>The weightings and thresholds are built to be relative to each other by design, so in any adjustments / localization this core principle needs to be taken into account. If a market see a factor as more risky in it’s market than the global standard then it can be adjusted up, but that means that other factors need to be adjusted down in their weighting or thresholds. </a:t>
            </a:r>
          </a:p>
          <a:p>
            <a:endParaRPr lang="en-GB" dirty="0"/>
          </a:p>
          <a:p>
            <a:r>
              <a:rPr lang="en-US" dirty="0"/>
              <a:t>GFCC RMO used production data to determine the level to set for each rule. An 80/10/10 % rule was used to look at what was normal across the portfolio.  Analysis was performed on 80% of the population matched and this made the lowest multiplier we then analysis was done on the next 10% matched for the medium multiplier and the last 10% for the highest multiplier.</a:t>
            </a:r>
          </a:p>
          <a:p>
            <a:endParaRPr lang="en-US" dirty="0"/>
          </a:p>
        </p:txBody>
      </p:sp>
    </p:spTree>
    <p:extLst>
      <p:ext uri="{BB962C8B-B14F-4D97-AF65-F5344CB8AC3E}">
        <p14:creationId xmlns:p14="http://schemas.microsoft.com/office/powerpoint/2010/main" val="2610754627"/>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A42AA58-6F66-42B3-BFF2-9E04510C7842}"/>
              </a:ext>
            </a:extLst>
          </p:cNvPr>
          <p:cNvSpPr>
            <a:spLocks noGrp="1"/>
          </p:cNvSpPr>
          <p:nvPr>
            <p:ph type="sldNum" sz="quarter" idx="10"/>
          </p:nvPr>
        </p:nvSpPr>
        <p:spPr/>
        <p:txBody>
          <a:bodyPr/>
          <a:lstStyle/>
          <a:p>
            <a:pPr>
              <a:defRPr/>
            </a:pPr>
            <a:fld id="{920384AA-0A71-E644-AEED-65CD2253F2C8}" type="slidenum">
              <a:rPr lang="en-US" smtClean="0"/>
              <a:pPr>
                <a:defRPr/>
              </a:pPr>
              <a:t>16</a:t>
            </a:fld>
            <a:endParaRPr lang="en-US" dirty="0"/>
          </a:p>
        </p:txBody>
      </p:sp>
      <p:sp>
        <p:nvSpPr>
          <p:cNvPr id="6" name="Title 1">
            <a:extLst>
              <a:ext uri="{FF2B5EF4-FFF2-40B4-BE49-F238E27FC236}">
                <a16:creationId xmlns:a16="http://schemas.microsoft.com/office/drawing/2014/main" id="{44FD3F03-D9C2-47E0-B450-8626B05AD393}"/>
              </a:ext>
            </a:extLst>
          </p:cNvPr>
          <p:cNvSpPr>
            <a:spLocks noGrp="1"/>
          </p:cNvSpPr>
          <p:nvPr>
            <p:ph type="title"/>
          </p:nvPr>
        </p:nvSpPr>
        <p:spPr>
          <a:xfrm>
            <a:off x="1146876" y="283110"/>
            <a:ext cx="7739565" cy="406797"/>
          </a:xfrm>
        </p:spPr>
        <p:txBody>
          <a:bodyPr/>
          <a:lstStyle/>
          <a:p>
            <a:r>
              <a:rPr lang="en-US" dirty="0"/>
              <a:t>What is a Fundamental Assessment and how does this process work? </a:t>
            </a:r>
          </a:p>
        </p:txBody>
      </p:sp>
      <p:sp>
        <p:nvSpPr>
          <p:cNvPr id="5" name="Text Placeholder 3">
            <a:extLst>
              <a:ext uri="{FF2B5EF4-FFF2-40B4-BE49-F238E27FC236}">
                <a16:creationId xmlns:a16="http://schemas.microsoft.com/office/drawing/2014/main" id="{D64A7A2B-4044-43D8-AFB3-78469F1B2172}"/>
              </a:ext>
            </a:extLst>
          </p:cNvPr>
          <p:cNvSpPr>
            <a:spLocks noGrp="1"/>
          </p:cNvSpPr>
          <p:nvPr>
            <p:ph type="body" sz="quarter" idx="11"/>
          </p:nvPr>
        </p:nvSpPr>
        <p:spPr>
          <a:xfrm>
            <a:off x="1146876" y="1163119"/>
            <a:ext cx="7586465" cy="2487216"/>
          </a:xfrm>
        </p:spPr>
        <p:txBody>
          <a:bodyPr/>
          <a:lstStyle/>
          <a:p>
            <a:r>
              <a:rPr lang="en-US" dirty="0"/>
              <a:t>For certain risk elements in the CRR there is an activity which takes place is called the Fundamental Assessment (FA). The FA performs an underlying assessment of data elements used in the CRR. These data elements include product/service, structure, acquisition channel, industry and geographic risk.  These risk factors are updated from Authoritative Guidance and internal knowledge, and are reviewed as necessary, at least on an annual basis. </a:t>
            </a:r>
          </a:p>
          <a:p>
            <a:endParaRPr lang="en-US" dirty="0"/>
          </a:p>
          <a:p>
            <a:r>
              <a:rPr lang="en-US" dirty="0"/>
              <a:t>For example, the FA for Structure assigns a risk rating of High, Medium or Low for each Legal Entity Structure we have on file in our customer base. </a:t>
            </a:r>
          </a:p>
          <a:p>
            <a:endParaRPr lang="en-US" dirty="0"/>
          </a:p>
          <a:p>
            <a:r>
              <a:rPr lang="en-US" dirty="0"/>
              <a:t>The risk rating assigned during the FA can be overridden at a market level if local regulatory guidance differs from the outcome in the FA</a:t>
            </a:r>
          </a:p>
          <a:p>
            <a:endParaRPr lang="en-GB" dirty="0"/>
          </a:p>
        </p:txBody>
      </p:sp>
    </p:spTree>
    <p:extLst>
      <p:ext uri="{BB962C8B-B14F-4D97-AF65-F5344CB8AC3E}">
        <p14:creationId xmlns:p14="http://schemas.microsoft.com/office/powerpoint/2010/main" val="3083662471"/>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A42AA58-6F66-42B3-BFF2-9E04510C7842}"/>
              </a:ext>
            </a:extLst>
          </p:cNvPr>
          <p:cNvSpPr>
            <a:spLocks noGrp="1"/>
          </p:cNvSpPr>
          <p:nvPr>
            <p:ph type="sldNum" sz="quarter" idx="10"/>
          </p:nvPr>
        </p:nvSpPr>
        <p:spPr/>
        <p:txBody>
          <a:bodyPr/>
          <a:lstStyle/>
          <a:p>
            <a:pPr>
              <a:defRPr/>
            </a:pPr>
            <a:fld id="{920384AA-0A71-E644-AEED-65CD2253F2C8}" type="slidenum">
              <a:rPr lang="en-US" smtClean="0"/>
              <a:pPr>
                <a:defRPr/>
              </a:pPr>
              <a:t>17</a:t>
            </a:fld>
            <a:endParaRPr lang="en-US" dirty="0"/>
          </a:p>
        </p:txBody>
      </p:sp>
      <p:sp>
        <p:nvSpPr>
          <p:cNvPr id="6" name="Title 1">
            <a:extLst>
              <a:ext uri="{FF2B5EF4-FFF2-40B4-BE49-F238E27FC236}">
                <a16:creationId xmlns:a16="http://schemas.microsoft.com/office/drawing/2014/main" id="{44FD3F03-D9C2-47E0-B450-8626B05AD393}"/>
              </a:ext>
            </a:extLst>
          </p:cNvPr>
          <p:cNvSpPr>
            <a:spLocks noGrp="1"/>
          </p:cNvSpPr>
          <p:nvPr>
            <p:ph type="title"/>
          </p:nvPr>
        </p:nvSpPr>
        <p:spPr>
          <a:xfrm>
            <a:off x="1146876" y="283110"/>
            <a:ext cx="7739565" cy="406797"/>
          </a:xfrm>
        </p:spPr>
        <p:txBody>
          <a:bodyPr/>
          <a:lstStyle/>
          <a:p>
            <a:r>
              <a:rPr lang="en-US" dirty="0"/>
              <a:t>Appendix</a:t>
            </a:r>
          </a:p>
        </p:txBody>
      </p:sp>
      <p:sp>
        <p:nvSpPr>
          <p:cNvPr id="5" name="Text Placeholder 3">
            <a:extLst>
              <a:ext uri="{FF2B5EF4-FFF2-40B4-BE49-F238E27FC236}">
                <a16:creationId xmlns:a16="http://schemas.microsoft.com/office/drawing/2014/main" id="{D64A7A2B-4044-43D8-AFB3-78469F1B2172}"/>
              </a:ext>
            </a:extLst>
          </p:cNvPr>
          <p:cNvSpPr>
            <a:spLocks noGrp="1"/>
          </p:cNvSpPr>
          <p:nvPr>
            <p:ph type="body" sz="quarter" idx="11"/>
          </p:nvPr>
        </p:nvSpPr>
        <p:spPr>
          <a:xfrm>
            <a:off x="1146876" y="934519"/>
            <a:ext cx="7586465" cy="2487216"/>
          </a:xfrm>
        </p:spPr>
        <p:txBody>
          <a:bodyPr/>
          <a:lstStyle/>
          <a:p>
            <a:pPr marL="285750" indent="-285750">
              <a:buFontTx/>
              <a:buChar char="-"/>
            </a:pPr>
            <a:r>
              <a:rPr lang="en-US" dirty="0"/>
              <a:t>HRO Inventory </a:t>
            </a:r>
          </a:p>
          <a:p>
            <a:pPr marL="0" indent="0"/>
            <a:endParaRPr lang="en-US" dirty="0"/>
          </a:p>
          <a:p>
            <a:pPr marL="285750" indent="-285750">
              <a:buFontTx/>
              <a:buChar char="-"/>
            </a:pPr>
            <a:r>
              <a:rPr lang="en-US" dirty="0"/>
              <a:t>France Data Analysis</a:t>
            </a:r>
          </a:p>
          <a:p>
            <a:pPr marL="0" indent="0"/>
            <a:endParaRPr lang="en-US" dirty="0"/>
          </a:p>
          <a:p>
            <a:pPr marL="285750" indent="-285750">
              <a:buFontTx/>
              <a:buChar char="-"/>
            </a:pPr>
            <a:r>
              <a:rPr lang="en-US" dirty="0"/>
              <a:t>CRR Enterprise Methodology </a:t>
            </a:r>
          </a:p>
          <a:p>
            <a:pPr marL="285750" indent="-285750">
              <a:buFontTx/>
              <a:buChar char="-"/>
            </a:pPr>
            <a:endParaRPr lang="en-US" dirty="0"/>
          </a:p>
          <a:p>
            <a:pPr marL="285750" indent="-285750">
              <a:buFontTx/>
              <a:buChar char="-"/>
            </a:pPr>
            <a:r>
              <a:rPr lang="en-US" dirty="0"/>
              <a:t>Customer Risk Scoring Matrix</a:t>
            </a:r>
          </a:p>
          <a:p>
            <a:pPr marL="0" indent="0"/>
            <a:endParaRPr lang="en-US" dirty="0"/>
          </a:p>
          <a:p>
            <a:pPr marL="285750" indent="-285750">
              <a:buFontTx/>
              <a:buChar char="-"/>
            </a:pPr>
            <a:r>
              <a:rPr lang="en-US" dirty="0"/>
              <a:t>RMO SharePoint page with details regarding each of the Fundamental Assessments: </a:t>
            </a:r>
          </a:p>
          <a:p>
            <a:pPr marL="0" indent="0"/>
            <a:r>
              <a:rPr lang="en-GB" u="sng" dirty="0">
                <a:hlinkClick r:id="rId2"/>
              </a:rPr>
              <a:t>https://spaces.aexp.com/teams/gce_dept/AML/SitePages/Home.aspx</a:t>
            </a:r>
            <a:endParaRPr lang="en-US" dirty="0"/>
          </a:p>
          <a:p>
            <a:endParaRPr lang="en-GB" dirty="0"/>
          </a:p>
        </p:txBody>
      </p:sp>
    </p:spTree>
    <p:extLst>
      <p:ext uri="{BB962C8B-B14F-4D97-AF65-F5344CB8AC3E}">
        <p14:creationId xmlns:p14="http://schemas.microsoft.com/office/powerpoint/2010/main" val="1463948583"/>
      </p:ext>
    </p:extLst>
  </p:cSld>
  <p:clrMapOvr>
    <a:masterClrMapping/>
  </p:clrMapOvr>
  <p:transition spd="slow"/>
</p:sld>
</file>

<file path=ppt/theme/theme1.xml><?xml version="1.0" encoding="utf-8"?>
<a:theme xmlns:a="http://schemas.openxmlformats.org/drawingml/2006/main" name="Enterprise CorpID version 2">
  <a:themeElements>
    <a:clrScheme name="Custom 124">
      <a:dk1>
        <a:srgbClr val="002663"/>
      </a:dk1>
      <a:lt1>
        <a:srgbClr val="FFFFFF"/>
      </a:lt1>
      <a:dk2>
        <a:srgbClr val="006AD2"/>
      </a:dk2>
      <a:lt2>
        <a:srgbClr val="162B73"/>
      </a:lt2>
      <a:accent1>
        <a:srgbClr val="0968CE"/>
      </a:accent1>
      <a:accent2>
        <a:srgbClr val="6F7879"/>
      </a:accent2>
      <a:accent3>
        <a:srgbClr val="13276E"/>
      </a:accent3>
      <a:accent4>
        <a:srgbClr val="D6E6FE"/>
      </a:accent4>
      <a:accent5>
        <a:srgbClr val="BECAF1"/>
      </a:accent5>
      <a:accent6>
        <a:srgbClr val="C7C8C7"/>
      </a:accent6>
      <a:hlink>
        <a:srgbClr val="0069D0"/>
      </a:hlink>
      <a:folHlink>
        <a:srgbClr val="00266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b="0" i="0" dirty="0" smtClean="0">
            <a:solidFill>
              <a:schemeClr val="bg2"/>
            </a:solidFill>
            <a:latin typeface="BentonSans Light" panose="02000503000000020004" pitchFamily="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EnterpriseCorpID_PPT_PRINTtemplate_v1</Template>
  <TotalTime>48041</TotalTime>
  <Words>3349</Words>
  <Application>Microsoft Office PowerPoint</Application>
  <PresentationFormat>On-screen Show (16:9)</PresentationFormat>
  <Paragraphs>809</Paragraphs>
  <Slides>17</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BentonSans Light</vt:lpstr>
      <vt:lpstr>BentonSans Medium</vt:lpstr>
      <vt:lpstr>Calibri</vt:lpstr>
      <vt:lpstr>Guardian Egyp</vt:lpstr>
      <vt:lpstr>Guardian Egyp Regular</vt:lpstr>
      <vt:lpstr>Verdana</vt:lpstr>
      <vt:lpstr>Wingdings</vt:lpstr>
      <vt:lpstr>Enterprise CorpID version 2</vt:lpstr>
      <vt:lpstr>New Customer Risk Methodology    </vt:lpstr>
      <vt:lpstr>New Customer Risk Rating Philosophy    The new approach divides the CRR into Risk Categories Each Risk Category is divided into Risk Elements </vt:lpstr>
      <vt:lpstr>Score Calculation </vt:lpstr>
      <vt:lpstr>PowerPoint Presentation</vt:lpstr>
      <vt:lpstr>Other Important points</vt:lpstr>
      <vt:lpstr>Risk Elements (Part 1) </vt:lpstr>
      <vt:lpstr>Risk Elements (Part 2) </vt:lpstr>
      <vt:lpstr>Risk Elements (Part 3) </vt:lpstr>
      <vt:lpstr>PowerPoint Presentation</vt:lpstr>
      <vt:lpstr>PowerPoint Presentation</vt:lpstr>
      <vt:lpstr>PowerPoint Presentation</vt:lpstr>
      <vt:lpstr>PowerPoint Presentation</vt:lpstr>
      <vt:lpstr>How does the data feed the CRR? </vt:lpstr>
      <vt:lpstr>How does the data feed the CRR? </vt:lpstr>
      <vt:lpstr>How were the Enterprise thresholds and parameters determined? </vt:lpstr>
      <vt:lpstr>What is a Fundamental Assessment and how does this process work? </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Title—Do not alter this design template</dc:title>
  <dc:creator>Jared Weinberger</dc:creator>
  <cp:lastModifiedBy>Tommy Colbert</cp:lastModifiedBy>
  <cp:revision>199</cp:revision>
  <cp:lastPrinted>2018-03-28T19:16:04Z</cp:lastPrinted>
  <dcterms:created xsi:type="dcterms:W3CDTF">2017-11-20T16:47:07Z</dcterms:created>
  <dcterms:modified xsi:type="dcterms:W3CDTF">2021-08-09T19:53:30Z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XPAuthor">
    <vt:lpwstr>Jeff Lathery</vt:lpwstr>
  </property>
  <property fmtid="{D5CDD505-2E9C-101B-9397-08002B2CF9AE}" pid="3" name="AXPDataClassification">
    <vt:lpwstr>AXP Internal</vt:lpwstr>
  </property>
  <property fmtid="{D5CDD505-2E9C-101B-9397-08002B2CF9AE}" pid="4" name="AXPDataClassificationForSearch">
    <vt:lpwstr>AXPInternal_UniqueSearchString</vt:lpwstr>
  </property>
  <property fmtid="{D5CDD505-2E9C-101B-9397-08002B2CF9AE}" pid="5" name="Jive_LatestUserAccountName">
    <vt:lpwstr>rmcrob</vt:lpwstr>
  </property>
  <property fmtid="{D5CDD505-2E9C-101B-9397-08002B2CF9AE}" pid="6" name="Offisync_ProviderInitializationData">
    <vt:lpwstr>https://square.americanexpress.com</vt:lpwstr>
  </property>
  <property fmtid="{D5CDD505-2E9C-101B-9397-08002B2CF9AE}" pid="7" name="Offisync_UniqueId">
    <vt:lpwstr>17731</vt:lpwstr>
  </property>
  <property fmtid="{D5CDD505-2E9C-101B-9397-08002B2CF9AE}" pid="8" name="Offisync_UpdateToken">
    <vt:lpwstr>2</vt:lpwstr>
  </property>
  <property fmtid="{D5CDD505-2E9C-101B-9397-08002B2CF9AE}" pid="9" name="Offisync_ServerID">
    <vt:lpwstr>1705d9cf-de7c-4d04-92a9-b248fa970c4a</vt:lpwstr>
  </property>
  <property fmtid="{D5CDD505-2E9C-101B-9397-08002B2CF9AE}" pid="10" name="Jive_VersionGuid">
    <vt:lpwstr>e206789c-ebb5-4f60-8888-8fed61f8f3a4</vt:lpwstr>
  </property>
</Properties>
</file>