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98" r:id="rId4"/>
    <p:sldMasterId id="2147484814" r:id="rId5"/>
  </p:sldMasterIdLst>
  <p:notesMasterIdLst>
    <p:notesMasterId r:id="rId16"/>
  </p:notesMasterIdLst>
  <p:handoutMasterIdLst>
    <p:handoutMasterId r:id="rId17"/>
  </p:handoutMasterIdLst>
  <p:sldIdLst>
    <p:sldId id="2147472450" r:id="rId6"/>
    <p:sldId id="2147480362" r:id="rId7"/>
    <p:sldId id="2147480361" r:id="rId8"/>
    <p:sldId id="2147381180" r:id="rId9"/>
    <p:sldId id="2147480367" r:id="rId10"/>
    <p:sldId id="2147381181" r:id="rId11"/>
    <p:sldId id="5386" r:id="rId12"/>
    <p:sldId id="2147480365" r:id="rId13"/>
    <p:sldId id="2147480366" r:id="rId14"/>
    <p:sldId id="2147480364" r:id="rId15"/>
  </p:sldIdLst>
  <p:sldSz cx="9144000" cy="5143500" type="screen16x9"/>
  <p:notesSz cx="7315200" cy="96012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360" userDrawn="1">
          <p15:clr>
            <a:srgbClr val="A4A3A4"/>
          </p15:clr>
        </p15:guide>
        <p15:guide id="4" pos="1896" userDrawn="1">
          <p15:clr>
            <a:srgbClr val="A4A3A4"/>
          </p15:clr>
        </p15:guide>
        <p15:guide id="5" pos="2064" userDrawn="1">
          <p15:clr>
            <a:srgbClr val="A4A3A4"/>
          </p15:clr>
        </p15:guide>
        <p15:guide id="6" pos="2808" userDrawn="1">
          <p15:clr>
            <a:srgbClr val="A4A3A4"/>
          </p15:clr>
        </p15:guide>
        <p15:guide id="7" pos="3000" userDrawn="1">
          <p15:clr>
            <a:srgbClr val="A4A3A4"/>
          </p15:clr>
        </p15:guide>
        <p15:guide id="8" pos="3686" userDrawn="1">
          <p15:clr>
            <a:srgbClr val="A4A3A4"/>
          </p15:clr>
        </p15:guide>
        <p15:guide id="9" pos="3859" userDrawn="1">
          <p15:clr>
            <a:srgbClr val="A4A3A4"/>
          </p15:clr>
        </p15:guide>
        <p15:guide id="10" pos="4656" userDrawn="1">
          <p15:clr>
            <a:srgbClr val="A4A3A4"/>
          </p15:clr>
        </p15:guide>
        <p15:guide id="11" pos="5664" userDrawn="1">
          <p15:clr>
            <a:srgbClr val="A4A3A4"/>
          </p15:clr>
        </p15:guide>
        <p15:guide id="12" orient="horz" pos="1020" userDrawn="1">
          <p15:clr>
            <a:srgbClr val="A4A3A4"/>
          </p15:clr>
        </p15:guide>
        <p15:guide id="14" orient="horz" pos="27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516533-9B66-7D2B-B835-EAA4283F012D}" name="Aayush Jain" initials="AJ" userId="S::aayush.jain@aexp.com::cd7211b8-f1f6-46fd-b0b0-517d0c92ec3e" providerId="AD"/>
  <p188:author id="{1E0D5943-470E-DD30-6AE4-5A9540E0F374}" name="Bomnae Hur" initials="BH" userId="S::bomnae.hur@aexp.com::ade28167-f889-45c3-9d97-b7e0644df626" providerId="AD"/>
  <p188:author id="{F8F25A52-CB0E-7FEE-5344-F2B43928327D}" name="Mary Patricia Cozzi" initials="MC" userId="S::mary.p.cozzi@aexp.com::17e0e4ff-d78f-49e3-aaf5-ddbc3276be71" providerId="AD"/>
  <p188:author id="{87F0636E-B930-64FF-380E-2A919D656006}" name="Suraj Madnani" initials="SM" userId="S::suraj.madnani@aexp.com::7ec42960-840f-4823-a924-1fe2cbeedd3f" providerId="AD"/>
  <p188:author id="{1CE31073-2A0A-403D-9588-5BE3E6DBCC09}" name="Anadi Bhalla" initials="AB" userId="S::anadi.bhalla@aexp.com::29184c89-4bd2-4e4d-a82e-f73bdf31f23d" providerId="AD"/>
  <p188:author id="{413CA287-C3CA-8E72-C689-8C0D5F139651}" name="Gregory A. Liss" initials="GL" userId="S::gregory.a.liss@aexp.com::fe3f9515-06e8-4be2-8cb9-12dbba0e6775" providerId="AD"/>
  <p188:author id="{820F3688-4E22-10BF-E8A7-CF7144F64A47}" name="Satakshi Gupta" initials="SG" userId="S::satakshi.gupta@aexp.com::33cce6a1-2840-4e7e-a48d-1263d95a4195" providerId="AD"/>
  <p188:author id="{656E69AE-F86B-B782-58DE-4291505341AF}" name="Sneha Venkataraman" initials="SV" userId="S::sneha.venkataraman@aexp.com::180f8939-73b8-4cc2-8315-272163c3ff09" providerId="AD"/>
  <p188:author id="{13A67AE4-2BAA-F160-F0B6-CFBC7A3E43BB}" name="Rhea N Banerjee" initials="RB" userId="S::rhea.n.banerjee@aexp.com::16db21db-ab60-4a7b-b687-22b7040cc535" providerId="AD"/>
  <p188:author id="{7048DEE7-2E20-8943-0B12-FB6621BFE4F5}" name="BRITANE AREGBESOLA" initials="BA" userId="S::BRITANE.AREGBESOLA1@aexp.com::738ba38c-bf2f-4cef-b378-03c5574e588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Patricia Cozzi" initials="" lastIdx="1" clrIdx="0">
    <p:extLst>
      <p:ext uri="{19B8F6BF-5375-455C-9EA6-DF929625EA0E}">
        <p15:presenceInfo xmlns:p15="http://schemas.microsoft.com/office/powerpoint/2012/main" userId="S::mary.p.cozzi@aexp.com::17e0e4ff-d78f-49e3-aaf5-ddbc3276be71" providerId="AD"/>
      </p:ext>
    </p:extLst>
  </p:cmAuthor>
  <p:cmAuthor id="2" name="Suraj Madnani" initials="SM" lastIdx="21" clrIdx="1">
    <p:extLst>
      <p:ext uri="{19B8F6BF-5375-455C-9EA6-DF929625EA0E}">
        <p15:presenceInfo xmlns:p15="http://schemas.microsoft.com/office/powerpoint/2012/main" userId="S::suraj.madnani@aexp.com::7ec42960-840f-4823-a924-1fe2cbeedd3f" providerId="AD"/>
      </p:ext>
    </p:extLst>
  </p:cmAuthor>
  <p:cmAuthor id="3" name="Rhea N Banerjee" initials="RB" lastIdx="4" clrIdx="2">
    <p:extLst>
      <p:ext uri="{19B8F6BF-5375-455C-9EA6-DF929625EA0E}">
        <p15:presenceInfo xmlns:p15="http://schemas.microsoft.com/office/powerpoint/2012/main" userId="S::rhea.n.banerjee@aexp.com::16db21db-ab60-4a7b-b687-22b7040cc535" providerId="AD"/>
      </p:ext>
    </p:extLst>
  </p:cmAuthor>
  <p:cmAuthor id="4" name="Anadi Bhalla" initials="AB" lastIdx="3" clrIdx="3">
    <p:extLst>
      <p:ext uri="{19B8F6BF-5375-455C-9EA6-DF929625EA0E}">
        <p15:presenceInfo xmlns:p15="http://schemas.microsoft.com/office/powerpoint/2012/main" userId="S::anadi.bhalla@aexp.com::29184c89-4bd2-4e4d-a82e-f73bdf31f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DF9CB"/>
    <a:srgbClr val="CCECFF"/>
    <a:srgbClr val="681C1C"/>
    <a:srgbClr val="47591D"/>
    <a:srgbClr val="00CCFF"/>
    <a:srgbClr val="CCFF99"/>
    <a:srgbClr val="E9E9EA"/>
    <a:srgbClr val="FFFFCC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506668-EA10-4DE9-8E64-1D60EBA73D92}" v="1" dt="2026-02-19T20:48:19.865"/>
  </p1510:revLst>
</p1510:revInfo>
</file>

<file path=ppt/tableStyles.xml><?xml version="1.0" encoding="utf-8"?>
<a:tblStyleLst xmlns:a="http://schemas.openxmlformats.org/drawingml/2006/main" def="{4387721D-A935-42BD-90D4-847FC8F4EC81}">
  <a:tblStyle styleId="{4387721D-A935-42BD-90D4-847FC8F4EC81}" styleName="Amex Table">
    <a:wholeTbl>
      <a:tcTxStyle>
        <a:fontRef idx="minor"/>
        <a:srgbClr val="53565A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53565A"/>
              </a:solidFill>
            </a:ln>
          </a:top>
          <a:bottom>
            <a:ln w="6350">
              <a:solidFill>
                <a:srgbClr val="53565A"/>
              </a:solidFill>
            </a:ln>
          </a:bottom>
          <a:insideH>
            <a:ln w="6350">
              <a:solidFill>
                <a:srgbClr val="53565A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Style>
        <a:tcBdr>
          <a:top>
            <a:ln w="19050">
              <a:solidFill>
                <a:srgbClr val="53565A"/>
              </a:solidFill>
            </a:ln>
          </a:top>
          <a:bottom>
            <a:ln>
              <a:noFill/>
            </a:ln>
          </a:bottom>
        </a:tcBdr>
      </a:tcStyle>
    </a:lastRow>
    <a:firstRow>
      <a:tcStyle>
        <a:tcBdr>
          <a:top>
            <a:ln>
              <a:noFill/>
            </a:ln>
          </a:top>
          <a:bottom>
            <a:ln w="19050">
              <a:solidFill>
                <a:srgbClr val="53565A"/>
              </a:solidFill>
            </a:ln>
          </a:bottom>
        </a:tcBdr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40" y="40"/>
      </p:cViewPr>
      <p:guideLst>
        <p:guide orient="horz" pos="420"/>
        <p:guide pos="2880"/>
        <p:guide pos="360"/>
        <p:guide pos="1896"/>
        <p:guide pos="2064"/>
        <p:guide pos="2808"/>
        <p:guide pos="3000"/>
        <p:guide pos="3686"/>
        <p:guide pos="3859"/>
        <p:guide pos="4656"/>
        <p:guide pos="5664"/>
        <p:guide orient="horz" pos="1020"/>
        <p:guide orient="horz" pos="27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A024A9-BFA6-AD4F-938A-F2F3F17ECB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>
              <a:latin typeface="Arial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77665-9EE1-E848-B93A-EEDACBB8BC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DF55F57-EA8A-164D-9550-113257393508}" type="datetimeFigureOut">
              <a:rPr lang="en-US" smtClean="0">
                <a:latin typeface="Arial" pitchFamily="34" charset="0"/>
              </a:rPr>
              <a:t>3/7/2026</a:t>
            </a:fld>
            <a:endParaRPr lang="en-US">
              <a:latin typeface="Arial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D095A-A179-0F4C-BD7E-A9918AFDF6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>
              <a:latin typeface="Arial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484DB-4C3B-2E4F-BFF5-D7B1B63AC8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C971E74-7C25-064A-A62E-E3EB940DB188}" type="slidenum">
              <a:rPr lang="en-US" smtClean="0">
                <a:latin typeface="Arial" pitchFamily="34" charset="0"/>
              </a:rPr>
              <a:t>‹#›</a:t>
            </a:fld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3170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11C6CBF5-2F6C-474C-924B-3785A9C3D985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3E42A818-9AB2-D645-83B9-FA6BBE713B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2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228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685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11430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1600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F4217-BED4-6C4D-91F9-FB468DF3068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8655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F4217-BED4-6C4D-91F9-FB468DF3068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272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F4217-BED4-6C4D-91F9-FB468DF3068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609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F4217-BED4-6C4D-91F9-FB468DF3068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457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F4217-BED4-6C4D-91F9-FB468DF3068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0609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ea typeface="+mn-ea"/>
              <a:cs typeface="+mn-cs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F4217-BED4-6C4D-91F9-FB468DF3068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69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F4217-BED4-6C4D-91F9-FB468DF3068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518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F4217-BED4-6C4D-91F9-FB468DF3068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52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o Busi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 userDrawn="1"/>
        </p:nvSpPr>
        <p:spPr bwMode="hidden">
          <a:xfrm>
            <a:off x="0" y="1077561"/>
            <a:ext cx="9144000" cy="4065939"/>
          </a:xfrm>
          <a:custGeom>
            <a:avLst/>
            <a:gdLst>
              <a:gd name="T0" fmla="*/ 946 w 19199"/>
              <a:gd name="T1" fmla="*/ 4165 h 8543"/>
              <a:gd name="T2" fmla="*/ 0 w 19199"/>
              <a:gd name="T3" fmla="*/ 5101 h 8543"/>
              <a:gd name="T4" fmla="*/ 285 w 19199"/>
              <a:gd name="T5" fmla="*/ 5150 h 8543"/>
              <a:gd name="T6" fmla="*/ 5087 w 19199"/>
              <a:gd name="T7" fmla="*/ 5007 h 8543"/>
              <a:gd name="T8" fmla="*/ 5087 w 19199"/>
              <a:gd name="T9" fmla="*/ 5242 h 8543"/>
              <a:gd name="T10" fmla="*/ 18942 w 19199"/>
              <a:gd name="T11" fmla="*/ 8543 h 8543"/>
              <a:gd name="T12" fmla="*/ 13742 w 19199"/>
              <a:gd name="T13" fmla="*/ 6947 h 8543"/>
              <a:gd name="T14" fmla="*/ 5087 w 19199"/>
              <a:gd name="T15" fmla="*/ 5604 h 8543"/>
              <a:gd name="T16" fmla="*/ 5087 w 19199"/>
              <a:gd name="T17" fmla="*/ 5839 h 8543"/>
              <a:gd name="T18" fmla="*/ 18041 w 19199"/>
              <a:gd name="T19" fmla="*/ 8543 h 8543"/>
              <a:gd name="T20" fmla="*/ 13742 w 19199"/>
              <a:gd name="T21" fmla="*/ 7544 h 8543"/>
              <a:gd name="T22" fmla="*/ 10691 w 19199"/>
              <a:gd name="T23" fmla="*/ 5474 h 8543"/>
              <a:gd name="T24" fmla="*/ 9229 w 19199"/>
              <a:gd name="T25" fmla="*/ 4165 h 8543"/>
              <a:gd name="T26" fmla="*/ 15758 w 19199"/>
              <a:gd name="T27" fmla="*/ 5619 h 8543"/>
              <a:gd name="T28" fmla="*/ 17025 w 19199"/>
              <a:gd name="T29" fmla="*/ 595 h 8543"/>
              <a:gd name="T30" fmla="*/ 17143 w 19199"/>
              <a:gd name="T31" fmla="*/ 1907 h 8543"/>
              <a:gd name="T32" fmla="*/ 16908 w 19199"/>
              <a:gd name="T33" fmla="*/ 1907 h 8543"/>
              <a:gd name="T34" fmla="*/ 17025 w 19199"/>
              <a:gd name="T35" fmla="*/ 831 h 8543"/>
              <a:gd name="T36" fmla="*/ 12144 w 19199"/>
              <a:gd name="T37" fmla="*/ 4880 h 8543"/>
              <a:gd name="T38" fmla="*/ 11681 w 19199"/>
              <a:gd name="T39" fmla="*/ 4709 h 8543"/>
              <a:gd name="T40" fmla="*/ 9929 w 19199"/>
              <a:gd name="T41" fmla="*/ 5452 h 8543"/>
              <a:gd name="T42" fmla="*/ 18698 w 19199"/>
              <a:gd name="T43" fmla="*/ 1907 h 8543"/>
              <a:gd name="T44" fmla="*/ 16729 w 19199"/>
              <a:gd name="T45" fmla="*/ 2940 h 8543"/>
              <a:gd name="T46" fmla="*/ 15402 w 19199"/>
              <a:gd name="T47" fmla="*/ 4122 h 8543"/>
              <a:gd name="T48" fmla="*/ 15608 w 19199"/>
              <a:gd name="T49" fmla="*/ 5049 h 8543"/>
              <a:gd name="T50" fmla="*/ 12290 w 19199"/>
              <a:gd name="T51" fmla="*/ 5696 h 8543"/>
              <a:gd name="T52" fmla="*/ 8973 w 19199"/>
              <a:gd name="T53" fmla="*/ 3745 h 8543"/>
              <a:gd name="T54" fmla="*/ 0 w 19199"/>
              <a:gd name="T55" fmla="*/ 4176 h 8543"/>
              <a:gd name="T56" fmla="*/ 1437 w 19199"/>
              <a:gd name="T57" fmla="*/ 3623 h 8543"/>
              <a:gd name="T58" fmla="*/ 9064 w 19199"/>
              <a:gd name="T59" fmla="*/ 5106 h 8543"/>
              <a:gd name="T60" fmla="*/ 8855 w 19199"/>
              <a:gd name="T61" fmla="*/ 3505 h 8543"/>
              <a:gd name="T62" fmla="*/ 11200 w 19199"/>
              <a:gd name="T63" fmla="*/ 4212 h 8543"/>
              <a:gd name="T64" fmla="*/ 13476 w 19199"/>
              <a:gd name="T65" fmla="*/ 3772 h 8543"/>
              <a:gd name="T66" fmla="*/ 15402 w 19199"/>
              <a:gd name="T67" fmla="*/ 3887 h 8543"/>
              <a:gd name="T68" fmla="*/ 17025 w 19199"/>
              <a:gd name="T69" fmla="*/ 0 h 8543"/>
              <a:gd name="T70" fmla="*/ 18934 w 19199"/>
              <a:gd name="T71" fmla="*/ 1907 h 8543"/>
              <a:gd name="T72" fmla="*/ 19199 w 19199"/>
              <a:gd name="T73" fmla="*/ 6150 h 8543"/>
              <a:gd name="T74" fmla="*/ 13742 w 19199"/>
              <a:gd name="T75" fmla="*/ 6575 h 8543"/>
              <a:gd name="T76" fmla="*/ 0 w 19199"/>
              <a:gd name="T77" fmla="*/ 5553 h 8543"/>
              <a:gd name="T78" fmla="*/ 0 w 19199"/>
              <a:gd name="T79" fmla="*/ 4528 h 8543"/>
              <a:gd name="T80" fmla="*/ 16631 w 19199"/>
              <a:gd name="T81" fmla="*/ 4282 h 8543"/>
              <a:gd name="T82" fmla="*/ 14059 w 19199"/>
              <a:gd name="T83" fmla="*/ 4151 h 8543"/>
              <a:gd name="T84" fmla="*/ 17025 w 19199"/>
              <a:gd name="T85" fmla="*/ 1427 h 8543"/>
              <a:gd name="T86" fmla="*/ 16311 w 19199"/>
              <a:gd name="T87" fmla="*/ 2024 h 8543"/>
              <a:gd name="T88" fmla="*/ 17740 w 19199"/>
              <a:gd name="T89" fmla="*/ 1907 h 8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9199" h="8543">
                <a:moveTo>
                  <a:pt x="285" y="5150"/>
                </a:moveTo>
                <a:lnTo>
                  <a:pt x="285" y="5150"/>
                </a:lnTo>
                <a:cubicBezTo>
                  <a:pt x="565" y="4868"/>
                  <a:pt x="792" y="4537"/>
                  <a:pt x="946" y="4165"/>
                </a:cubicBezTo>
                <a:cubicBezTo>
                  <a:pt x="950" y="4123"/>
                  <a:pt x="954" y="4080"/>
                  <a:pt x="957" y="4036"/>
                </a:cubicBezTo>
                <a:cubicBezTo>
                  <a:pt x="860" y="4071"/>
                  <a:pt x="770" y="4123"/>
                  <a:pt x="681" y="4188"/>
                </a:cubicBezTo>
                <a:cubicBezTo>
                  <a:pt x="518" y="4537"/>
                  <a:pt x="284" y="4845"/>
                  <a:pt x="0" y="5101"/>
                </a:cubicBezTo>
                <a:lnTo>
                  <a:pt x="0" y="5267"/>
                </a:lnTo>
                <a:cubicBezTo>
                  <a:pt x="48" y="5247"/>
                  <a:pt x="96" y="5227"/>
                  <a:pt x="145" y="5207"/>
                </a:cubicBezTo>
                <a:cubicBezTo>
                  <a:pt x="191" y="5188"/>
                  <a:pt x="239" y="5169"/>
                  <a:pt x="285" y="5150"/>
                </a:cubicBezTo>
                <a:close/>
                <a:moveTo>
                  <a:pt x="13742" y="6947"/>
                </a:moveTo>
                <a:lnTo>
                  <a:pt x="13742" y="6947"/>
                </a:lnTo>
                <a:cubicBezTo>
                  <a:pt x="10070" y="6947"/>
                  <a:pt x="9296" y="5007"/>
                  <a:pt x="5087" y="5007"/>
                </a:cubicBezTo>
                <a:cubicBezTo>
                  <a:pt x="2649" y="5007"/>
                  <a:pt x="1364" y="5658"/>
                  <a:pt x="0" y="6206"/>
                </a:cubicBezTo>
                <a:lnTo>
                  <a:pt x="0" y="6459"/>
                </a:lnTo>
                <a:cubicBezTo>
                  <a:pt x="1385" y="5908"/>
                  <a:pt x="2654" y="5242"/>
                  <a:pt x="5087" y="5242"/>
                </a:cubicBezTo>
                <a:cubicBezTo>
                  <a:pt x="9241" y="5242"/>
                  <a:pt x="10001" y="7182"/>
                  <a:pt x="13742" y="7182"/>
                </a:cubicBezTo>
                <a:cubicBezTo>
                  <a:pt x="15262" y="7182"/>
                  <a:pt x="16685" y="6655"/>
                  <a:pt x="17770" y="5695"/>
                </a:cubicBezTo>
                <a:lnTo>
                  <a:pt x="18942" y="8543"/>
                </a:lnTo>
                <a:lnTo>
                  <a:pt x="19196" y="8543"/>
                </a:lnTo>
                <a:lnTo>
                  <a:pt x="17859" y="5293"/>
                </a:lnTo>
                <a:cubicBezTo>
                  <a:pt x="16659" y="6419"/>
                  <a:pt x="15293" y="6947"/>
                  <a:pt x="13742" y="6947"/>
                </a:cubicBezTo>
                <a:close/>
                <a:moveTo>
                  <a:pt x="13742" y="7544"/>
                </a:moveTo>
                <a:lnTo>
                  <a:pt x="13742" y="7544"/>
                </a:lnTo>
                <a:cubicBezTo>
                  <a:pt x="9914" y="7544"/>
                  <a:pt x="9144" y="5604"/>
                  <a:pt x="5087" y="5604"/>
                </a:cubicBezTo>
                <a:cubicBezTo>
                  <a:pt x="2673" y="5604"/>
                  <a:pt x="1423" y="6291"/>
                  <a:pt x="0" y="6847"/>
                </a:cubicBezTo>
                <a:lnTo>
                  <a:pt x="0" y="7099"/>
                </a:lnTo>
                <a:cubicBezTo>
                  <a:pt x="1450" y="6540"/>
                  <a:pt x="2690" y="5839"/>
                  <a:pt x="5087" y="5839"/>
                </a:cubicBezTo>
                <a:cubicBezTo>
                  <a:pt x="9078" y="5839"/>
                  <a:pt x="9860" y="7779"/>
                  <a:pt x="13742" y="7779"/>
                </a:cubicBezTo>
                <a:cubicBezTo>
                  <a:pt x="15003" y="7779"/>
                  <a:pt x="16217" y="7443"/>
                  <a:pt x="17262" y="6807"/>
                </a:cubicBezTo>
                <a:lnTo>
                  <a:pt x="18041" y="8543"/>
                </a:lnTo>
                <a:lnTo>
                  <a:pt x="18298" y="8543"/>
                </a:lnTo>
                <a:lnTo>
                  <a:pt x="17365" y="6463"/>
                </a:lnTo>
                <a:cubicBezTo>
                  <a:pt x="16290" y="7150"/>
                  <a:pt x="15133" y="7544"/>
                  <a:pt x="13742" y="7544"/>
                </a:cubicBezTo>
                <a:close/>
                <a:moveTo>
                  <a:pt x="10030" y="5207"/>
                </a:moveTo>
                <a:lnTo>
                  <a:pt x="10030" y="5207"/>
                </a:lnTo>
                <a:cubicBezTo>
                  <a:pt x="10251" y="5298"/>
                  <a:pt x="10470" y="5388"/>
                  <a:pt x="10691" y="5474"/>
                </a:cubicBezTo>
                <a:cubicBezTo>
                  <a:pt x="10170" y="5175"/>
                  <a:pt x="9747" y="4730"/>
                  <a:pt x="9494" y="4188"/>
                </a:cubicBezTo>
                <a:cubicBezTo>
                  <a:pt x="9405" y="4123"/>
                  <a:pt x="9315" y="4071"/>
                  <a:pt x="9218" y="4036"/>
                </a:cubicBezTo>
                <a:cubicBezTo>
                  <a:pt x="9221" y="4080"/>
                  <a:pt x="9225" y="4123"/>
                  <a:pt x="9229" y="4165"/>
                </a:cubicBezTo>
                <a:cubicBezTo>
                  <a:pt x="9383" y="4537"/>
                  <a:pt x="9610" y="4868"/>
                  <a:pt x="9889" y="5150"/>
                </a:cubicBezTo>
                <a:cubicBezTo>
                  <a:pt x="9936" y="5169"/>
                  <a:pt x="9984" y="5188"/>
                  <a:pt x="10030" y="5207"/>
                </a:cubicBezTo>
                <a:close/>
                <a:moveTo>
                  <a:pt x="15758" y="5619"/>
                </a:moveTo>
                <a:lnTo>
                  <a:pt x="15758" y="5619"/>
                </a:lnTo>
                <a:cubicBezTo>
                  <a:pt x="17300" y="4956"/>
                  <a:pt x="18337" y="3465"/>
                  <a:pt x="18337" y="1906"/>
                </a:cubicBezTo>
                <a:cubicBezTo>
                  <a:pt x="18337" y="1184"/>
                  <a:pt x="17748" y="595"/>
                  <a:pt x="17025" y="595"/>
                </a:cubicBezTo>
                <a:cubicBezTo>
                  <a:pt x="16302" y="595"/>
                  <a:pt x="15714" y="1184"/>
                  <a:pt x="15714" y="1907"/>
                </a:cubicBezTo>
                <a:cubicBezTo>
                  <a:pt x="15714" y="2301"/>
                  <a:pt x="16034" y="2621"/>
                  <a:pt x="16428" y="2621"/>
                </a:cubicBezTo>
                <a:cubicBezTo>
                  <a:pt x="16822" y="2621"/>
                  <a:pt x="17143" y="2301"/>
                  <a:pt x="17143" y="1907"/>
                </a:cubicBezTo>
                <a:lnTo>
                  <a:pt x="17143" y="1789"/>
                </a:lnTo>
                <a:lnTo>
                  <a:pt x="16908" y="1789"/>
                </a:lnTo>
                <a:lnTo>
                  <a:pt x="16908" y="1907"/>
                </a:lnTo>
                <a:cubicBezTo>
                  <a:pt x="16908" y="2171"/>
                  <a:pt x="16693" y="2386"/>
                  <a:pt x="16428" y="2386"/>
                </a:cubicBezTo>
                <a:cubicBezTo>
                  <a:pt x="16164" y="2386"/>
                  <a:pt x="15949" y="2171"/>
                  <a:pt x="15949" y="1907"/>
                </a:cubicBezTo>
                <a:cubicBezTo>
                  <a:pt x="15949" y="1313"/>
                  <a:pt x="16432" y="831"/>
                  <a:pt x="17025" y="831"/>
                </a:cubicBezTo>
                <a:cubicBezTo>
                  <a:pt x="17619" y="831"/>
                  <a:pt x="18101" y="1313"/>
                  <a:pt x="18101" y="1907"/>
                </a:cubicBezTo>
                <a:cubicBezTo>
                  <a:pt x="18101" y="3372"/>
                  <a:pt x="17122" y="4777"/>
                  <a:pt x="15665" y="5402"/>
                </a:cubicBezTo>
                <a:cubicBezTo>
                  <a:pt x="14383" y="5953"/>
                  <a:pt x="13067" y="5757"/>
                  <a:pt x="12144" y="4880"/>
                </a:cubicBezTo>
                <a:cubicBezTo>
                  <a:pt x="12122" y="4859"/>
                  <a:pt x="12090" y="4827"/>
                  <a:pt x="12055" y="4789"/>
                </a:cubicBezTo>
                <a:cubicBezTo>
                  <a:pt x="11944" y="4753"/>
                  <a:pt x="11822" y="4724"/>
                  <a:pt x="11681" y="4706"/>
                </a:cubicBezTo>
                <a:cubicBezTo>
                  <a:pt x="11681" y="4707"/>
                  <a:pt x="11681" y="4708"/>
                  <a:pt x="11681" y="4709"/>
                </a:cubicBezTo>
                <a:cubicBezTo>
                  <a:pt x="11809" y="4884"/>
                  <a:pt x="11957" y="5027"/>
                  <a:pt x="11982" y="5051"/>
                </a:cubicBezTo>
                <a:cubicBezTo>
                  <a:pt x="12967" y="5987"/>
                  <a:pt x="14376" y="6212"/>
                  <a:pt x="15758" y="5619"/>
                </a:cubicBezTo>
                <a:close/>
                <a:moveTo>
                  <a:pt x="9929" y="5452"/>
                </a:moveTo>
                <a:lnTo>
                  <a:pt x="9929" y="5452"/>
                </a:lnTo>
                <a:cubicBezTo>
                  <a:pt x="11036" y="5909"/>
                  <a:pt x="12082" y="6340"/>
                  <a:pt x="13742" y="6340"/>
                </a:cubicBezTo>
                <a:cubicBezTo>
                  <a:pt x="16475" y="6340"/>
                  <a:pt x="18698" y="4351"/>
                  <a:pt x="18698" y="1907"/>
                </a:cubicBezTo>
                <a:cubicBezTo>
                  <a:pt x="18698" y="984"/>
                  <a:pt x="17948" y="234"/>
                  <a:pt x="17025" y="234"/>
                </a:cubicBezTo>
                <a:cubicBezTo>
                  <a:pt x="16103" y="234"/>
                  <a:pt x="15352" y="984"/>
                  <a:pt x="15352" y="1907"/>
                </a:cubicBezTo>
                <a:cubicBezTo>
                  <a:pt x="15352" y="2621"/>
                  <a:pt x="16039" y="3140"/>
                  <a:pt x="16729" y="2940"/>
                </a:cubicBezTo>
                <a:lnTo>
                  <a:pt x="16989" y="2865"/>
                </a:lnTo>
                <a:lnTo>
                  <a:pt x="16867" y="3106"/>
                </a:lnTo>
                <a:cubicBezTo>
                  <a:pt x="16545" y="3743"/>
                  <a:pt x="15997" y="4122"/>
                  <a:pt x="15402" y="4122"/>
                </a:cubicBezTo>
                <a:cubicBezTo>
                  <a:pt x="14796" y="4122"/>
                  <a:pt x="14501" y="3910"/>
                  <a:pt x="13713" y="3891"/>
                </a:cubicBezTo>
                <a:cubicBezTo>
                  <a:pt x="13743" y="4648"/>
                  <a:pt x="14043" y="5144"/>
                  <a:pt x="14795" y="5028"/>
                </a:cubicBezTo>
                <a:cubicBezTo>
                  <a:pt x="15114" y="5082"/>
                  <a:pt x="15357" y="5079"/>
                  <a:pt x="15608" y="5049"/>
                </a:cubicBezTo>
                <a:cubicBezTo>
                  <a:pt x="15205" y="5214"/>
                  <a:pt x="14764" y="5305"/>
                  <a:pt x="14302" y="5305"/>
                </a:cubicBezTo>
                <a:cubicBezTo>
                  <a:pt x="12815" y="5305"/>
                  <a:pt x="12763" y="4493"/>
                  <a:pt x="11435" y="4449"/>
                </a:cubicBezTo>
                <a:cubicBezTo>
                  <a:pt x="11449" y="5468"/>
                  <a:pt x="11748" y="5575"/>
                  <a:pt x="12290" y="5696"/>
                </a:cubicBezTo>
                <a:cubicBezTo>
                  <a:pt x="12495" y="5830"/>
                  <a:pt x="12711" y="5942"/>
                  <a:pt x="12936" y="6030"/>
                </a:cubicBezTo>
                <a:cubicBezTo>
                  <a:pt x="12521" y="5997"/>
                  <a:pt x="12072" y="5921"/>
                  <a:pt x="11653" y="5747"/>
                </a:cubicBezTo>
                <a:cubicBezTo>
                  <a:pt x="10325" y="5235"/>
                  <a:pt x="10073" y="3837"/>
                  <a:pt x="8973" y="3745"/>
                </a:cubicBezTo>
                <a:cubicBezTo>
                  <a:pt x="8977" y="4614"/>
                  <a:pt x="9131" y="5122"/>
                  <a:pt x="9929" y="5452"/>
                </a:cubicBezTo>
                <a:close/>
                <a:moveTo>
                  <a:pt x="0" y="4176"/>
                </a:moveTo>
                <a:lnTo>
                  <a:pt x="0" y="4176"/>
                </a:lnTo>
                <a:cubicBezTo>
                  <a:pt x="347" y="3802"/>
                  <a:pt x="724" y="3505"/>
                  <a:pt x="1320" y="3505"/>
                </a:cubicBezTo>
                <a:lnTo>
                  <a:pt x="1437" y="3505"/>
                </a:lnTo>
                <a:lnTo>
                  <a:pt x="1437" y="3623"/>
                </a:lnTo>
                <a:cubicBezTo>
                  <a:pt x="1437" y="4083"/>
                  <a:pt x="1436" y="4655"/>
                  <a:pt x="1111" y="5106"/>
                </a:cubicBezTo>
                <a:cubicBezTo>
                  <a:pt x="2134" y="4721"/>
                  <a:pt x="3310" y="4400"/>
                  <a:pt x="5087" y="4400"/>
                </a:cubicBezTo>
                <a:cubicBezTo>
                  <a:pt x="6865" y="4400"/>
                  <a:pt x="8041" y="4721"/>
                  <a:pt x="9064" y="5106"/>
                </a:cubicBezTo>
                <a:cubicBezTo>
                  <a:pt x="8739" y="4655"/>
                  <a:pt x="8737" y="4083"/>
                  <a:pt x="8737" y="3623"/>
                </a:cubicBezTo>
                <a:lnTo>
                  <a:pt x="8737" y="3505"/>
                </a:lnTo>
                <a:lnTo>
                  <a:pt x="8855" y="3505"/>
                </a:lnTo>
                <a:cubicBezTo>
                  <a:pt x="10057" y="3505"/>
                  <a:pt x="10370" y="4714"/>
                  <a:pt x="11344" y="5329"/>
                </a:cubicBezTo>
                <a:cubicBezTo>
                  <a:pt x="11217" y="5043"/>
                  <a:pt x="11200" y="4685"/>
                  <a:pt x="11200" y="4329"/>
                </a:cubicBezTo>
                <a:lnTo>
                  <a:pt x="11200" y="4212"/>
                </a:lnTo>
                <a:lnTo>
                  <a:pt x="11317" y="4212"/>
                </a:lnTo>
                <a:cubicBezTo>
                  <a:pt x="12696" y="4212"/>
                  <a:pt x="12844" y="4912"/>
                  <a:pt x="13911" y="5046"/>
                </a:cubicBezTo>
                <a:cubicBezTo>
                  <a:pt x="13626" y="4796"/>
                  <a:pt x="13476" y="4355"/>
                  <a:pt x="13476" y="3772"/>
                </a:cubicBezTo>
                <a:lnTo>
                  <a:pt x="13476" y="3654"/>
                </a:lnTo>
                <a:lnTo>
                  <a:pt x="13593" y="3654"/>
                </a:lnTo>
                <a:cubicBezTo>
                  <a:pt x="14501" y="3654"/>
                  <a:pt x="14809" y="3887"/>
                  <a:pt x="15402" y="3887"/>
                </a:cubicBezTo>
                <a:cubicBezTo>
                  <a:pt x="15838" y="3887"/>
                  <a:pt x="16248" y="3640"/>
                  <a:pt x="16532" y="3214"/>
                </a:cubicBezTo>
                <a:cubicBezTo>
                  <a:pt x="15766" y="3274"/>
                  <a:pt x="15117" y="2667"/>
                  <a:pt x="15117" y="1907"/>
                </a:cubicBezTo>
                <a:cubicBezTo>
                  <a:pt x="15117" y="855"/>
                  <a:pt x="15973" y="0"/>
                  <a:pt x="17025" y="0"/>
                </a:cubicBezTo>
                <a:cubicBezTo>
                  <a:pt x="18077" y="0"/>
                  <a:pt x="18933" y="854"/>
                  <a:pt x="18934" y="1906"/>
                </a:cubicBezTo>
                <a:lnTo>
                  <a:pt x="18934" y="1906"/>
                </a:lnTo>
                <a:lnTo>
                  <a:pt x="18934" y="1907"/>
                </a:lnTo>
                <a:lnTo>
                  <a:pt x="18934" y="1907"/>
                </a:lnTo>
                <a:cubicBezTo>
                  <a:pt x="18933" y="2653"/>
                  <a:pt x="18737" y="3358"/>
                  <a:pt x="18390" y="3984"/>
                </a:cubicBezTo>
                <a:lnTo>
                  <a:pt x="19199" y="6150"/>
                </a:lnTo>
                <a:lnTo>
                  <a:pt x="19199" y="6821"/>
                </a:lnTo>
                <a:lnTo>
                  <a:pt x="18235" y="4241"/>
                </a:lnTo>
                <a:cubicBezTo>
                  <a:pt x="17336" y="5635"/>
                  <a:pt x="15659" y="6575"/>
                  <a:pt x="13742" y="6575"/>
                </a:cubicBezTo>
                <a:cubicBezTo>
                  <a:pt x="10162" y="6575"/>
                  <a:pt x="9391" y="4635"/>
                  <a:pt x="5087" y="4635"/>
                </a:cubicBezTo>
                <a:cubicBezTo>
                  <a:pt x="2636" y="4635"/>
                  <a:pt x="1331" y="5265"/>
                  <a:pt x="0" y="5807"/>
                </a:cubicBezTo>
                <a:lnTo>
                  <a:pt x="0" y="5553"/>
                </a:lnTo>
                <a:cubicBezTo>
                  <a:pt x="81" y="5519"/>
                  <a:pt x="163" y="5486"/>
                  <a:pt x="245" y="5452"/>
                </a:cubicBezTo>
                <a:cubicBezTo>
                  <a:pt x="1044" y="5122"/>
                  <a:pt x="1197" y="4613"/>
                  <a:pt x="1202" y="3745"/>
                </a:cubicBezTo>
                <a:cubicBezTo>
                  <a:pt x="678" y="3789"/>
                  <a:pt x="346" y="4129"/>
                  <a:pt x="0" y="4528"/>
                </a:cubicBezTo>
                <a:lnTo>
                  <a:pt x="0" y="4176"/>
                </a:lnTo>
                <a:close/>
                <a:moveTo>
                  <a:pt x="16631" y="4282"/>
                </a:moveTo>
                <a:lnTo>
                  <a:pt x="16631" y="4282"/>
                </a:lnTo>
                <a:cubicBezTo>
                  <a:pt x="15835" y="4866"/>
                  <a:pt x="14797" y="4817"/>
                  <a:pt x="14044" y="4413"/>
                </a:cubicBezTo>
                <a:cubicBezTo>
                  <a:pt x="14014" y="4333"/>
                  <a:pt x="13990" y="4243"/>
                  <a:pt x="13973" y="4141"/>
                </a:cubicBezTo>
                <a:cubicBezTo>
                  <a:pt x="14004" y="4144"/>
                  <a:pt x="14031" y="4148"/>
                  <a:pt x="14059" y="4151"/>
                </a:cubicBezTo>
                <a:cubicBezTo>
                  <a:pt x="14580" y="4470"/>
                  <a:pt x="15623" y="4730"/>
                  <a:pt x="16492" y="4092"/>
                </a:cubicBezTo>
                <a:cubicBezTo>
                  <a:pt x="17126" y="3628"/>
                  <a:pt x="17505" y="2811"/>
                  <a:pt x="17505" y="1907"/>
                </a:cubicBezTo>
                <a:cubicBezTo>
                  <a:pt x="17505" y="1643"/>
                  <a:pt x="17290" y="1427"/>
                  <a:pt x="17025" y="1427"/>
                </a:cubicBezTo>
                <a:cubicBezTo>
                  <a:pt x="16761" y="1427"/>
                  <a:pt x="16546" y="1643"/>
                  <a:pt x="16546" y="1907"/>
                </a:cubicBezTo>
                <a:lnTo>
                  <a:pt x="16546" y="2024"/>
                </a:lnTo>
                <a:lnTo>
                  <a:pt x="16311" y="2024"/>
                </a:lnTo>
                <a:lnTo>
                  <a:pt x="16311" y="1907"/>
                </a:lnTo>
                <a:cubicBezTo>
                  <a:pt x="16311" y="1513"/>
                  <a:pt x="16631" y="1192"/>
                  <a:pt x="17025" y="1192"/>
                </a:cubicBezTo>
                <a:cubicBezTo>
                  <a:pt x="17419" y="1192"/>
                  <a:pt x="17740" y="1513"/>
                  <a:pt x="17740" y="1907"/>
                </a:cubicBezTo>
                <a:cubicBezTo>
                  <a:pt x="17740" y="2885"/>
                  <a:pt x="17325" y="3773"/>
                  <a:pt x="16631" y="4282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0423F-B7EF-7848-8C6C-5503B745FE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15212"/>
            <a:ext cx="6309043" cy="1459308"/>
          </a:xfrm>
        </p:spPr>
        <p:txBody>
          <a:bodyPr anchor="b">
            <a:noAutofit/>
          </a:bodyPr>
          <a:lstStyle>
            <a:lvl1pPr algn="l">
              <a:defRPr sz="4000" spc="-80" baseline="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CC53A-60A0-F740-8E06-61421EAF57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2011680"/>
            <a:ext cx="6309043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MONTH 00, 0000  |  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7D1B5C-558A-7A43-A7F3-CC5277A30B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255" y="4430395"/>
            <a:ext cx="550683" cy="550683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B1FB7CA6-5F4C-422B-AA51-D84AF0E03A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768"/>
          <a:stretch/>
        </p:blipFill>
        <p:spPr>
          <a:xfrm>
            <a:off x="939937" y="4349177"/>
            <a:ext cx="1422263" cy="64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8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3200400"/>
          </a:xfrm>
        </p:spPr>
        <p:txBody>
          <a:bodyPr numCol="2" spcCol="274320"/>
          <a:lstStyle>
            <a:lvl1pPr marL="228600" indent="-228600">
              <a:buClr>
                <a:schemeClr val="bg2"/>
              </a:buClr>
              <a:buSzPct val="100000"/>
              <a:buFont typeface="+mj-lt"/>
              <a:buAutoNum type="arabicPeriod"/>
              <a:defRPr/>
            </a:lvl1pPr>
            <a:lvl2pPr marL="402336">
              <a:defRPr/>
            </a:lvl2pPr>
            <a:lvl3pPr marL="566928">
              <a:defRPr/>
            </a:lvl3pPr>
            <a:lvl4pPr marL="740664">
              <a:defRPr/>
            </a:lvl4pPr>
            <a:lvl5pPr marL="914400">
              <a:defRPr/>
            </a:lvl5pPr>
            <a:lvl6pPr marL="1088136">
              <a:defRPr/>
            </a:lvl6pPr>
            <a:lvl7pPr marL="1261872">
              <a:defRPr/>
            </a:lvl7pPr>
            <a:lvl8pPr marL="1426464">
              <a:defRPr/>
            </a:lvl8pPr>
            <a:lvl9pPr marL="1600200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9C14FC2-5442-0E4A-9CB9-9FD6DC54B43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175295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3200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9A9FF4-EB32-FC40-843F-449DA17F0BE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9BE8A-2035-47E8-B249-15E28349317D}"/>
              </a:ext>
            </a:extLst>
          </p:cNvPr>
          <p:cNvSpPr/>
          <p:nvPr userDrawn="1"/>
        </p:nvSpPr>
        <p:spPr>
          <a:xfrm>
            <a:off x="228600" y="4552950"/>
            <a:ext cx="464820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48088-6487-41A9-B84F-B0EC44F9CC9B}"/>
              </a:ext>
            </a:extLst>
          </p:cNvPr>
          <p:cNvSpPr/>
          <p:nvPr userDrawn="1"/>
        </p:nvSpPr>
        <p:spPr>
          <a:xfrm>
            <a:off x="381000" y="4629150"/>
            <a:ext cx="4648200" cy="211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4607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3200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B35398-E1B3-2546-B218-1B4D44A9B68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8D614-66DF-41E2-B95D-9A03BC0131D8}"/>
              </a:ext>
            </a:extLst>
          </p:cNvPr>
          <p:cNvSpPr/>
          <p:nvPr userDrawn="1"/>
        </p:nvSpPr>
        <p:spPr>
          <a:xfrm>
            <a:off x="228600" y="4552950"/>
            <a:ext cx="464820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74D55-D6FE-460F-AFF3-B24853037444}"/>
              </a:ext>
            </a:extLst>
          </p:cNvPr>
          <p:cNvSpPr/>
          <p:nvPr userDrawn="1"/>
        </p:nvSpPr>
        <p:spPr>
          <a:xfrm>
            <a:off x="381000" y="4629150"/>
            <a:ext cx="4648200" cy="211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29608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0"/>
            <a:ext cx="8229600" cy="683895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397748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318" y="1231900"/>
            <a:ext cx="3977481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48A2052-F69F-B64D-8D67-954FF90BD29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14FE0-04EF-4F1D-B374-34BEF99A12D6}"/>
              </a:ext>
            </a:extLst>
          </p:cNvPr>
          <p:cNvSpPr/>
          <p:nvPr userDrawn="1"/>
        </p:nvSpPr>
        <p:spPr>
          <a:xfrm>
            <a:off x="228600" y="4552950"/>
            <a:ext cx="464820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6C7E6D-2EB0-449B-88D5-CC0B1105CE29}"/>
              </a:ext>
            </a:extLst>
          </p:cNvPr>
          <p:cNvSpPr/>
          <p:nvPr userDrawn="1"/>
        </p:nvSpPr>
        <p:spPr>
          <a:xfrm>
            <a:off x="381000" y="4629150"/>
            <a:ext cx="4648200" cy="211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4375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0"/>
            <a:ext cx="8229600" cy="409615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397748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318" y="1231900"/>
            <a:ext cx="3977481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E489A23-6554-5840-8066-5BFC6EAC0BB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422331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0"/>
            <a:ext cx="8229600" cy="683895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256163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184" y="1231900"/>
            <a:ext cx="256163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25166" y="1231900"/>
            <a:ext cx="2561633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623CFBB-3046-004A-B67F-D4AD933048D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272241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256163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184" y="1231900"/>
            <a:ext cx="256163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25166" y="1231900"/>
            <a:ext cx="2561633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DCE18C-4FAF-B84F-8867-AB8B41FDCAC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C341898-953B-314D-B027-B058B9167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129164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2560637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2476" y="1231900"/>
            <a:ext cx="5394324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1E0A160-49D3-2F46-85B7-81BC22D0474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352109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2560637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2476" y="1231900"/>
            <a:ext cx="5394324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59B34E4-1128-6E4F-A42E-FF25BFC2E1DE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23A37AC-0175-1049-94FB-D0C94274B33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31803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5394324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162" y="1231900"/>
            <a:ext cx="2560637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6C5BB9F-3E5B-4B4E-B888-0D80FBF678D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240456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0"/>
            <a:ext cx="5394324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162" y="1231900"/>
            <a:ext cx="2560637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140389-BD01-794D-86E4-AD478067964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8FB8487-A92B-AA4C-8540-5989A3C2EE6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361768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" y="1231900"/>
            <a:ext cx="8229600" cy="3203575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02F5C44-7028-5641-8899-2346A9584A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109951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0" y="1231900"/>
            <a:ext cx="8229600" cy="3203575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1F1BC6-8CCD-F34C-9AB4-02A7481BCEE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457200" y="821096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226658D-1F84-C54F-8C68-6D88C888DB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35081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328737" y="2783868"/>
            <a:ext cx="7815263" cy="1922463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09575"/>
            <a:ext cx="6950075" cy="1691639"/>
          </a:xfrm>
        </p:spPr>
        <p:txBody>
          <a:bodyPr anchor="b" anchorCtr="0"/>
          <a:lstStyle>
            <a:lvl1pPr>
              <a:defRPr sz="3200" spc="-60" baseline="0"/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2240280"/>
            <a:ext cx="3978275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49238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1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E01E55ED-B9BC-124E-93D5-EC36F4D89B7C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328737" y="2783868"/>
            <a:ext cx="7815263" cy="1922463"/>
          </a:xfrm>
          <a:custGeom>
            <a:avLst/>
            <a:gdLst>
              <a:gd name="T0" fmla="*/ 8350 w 16415"/>
              <a:gd name="T1" fmla="*/ 1167 h 4031"/>
              <a:gd name="T2" fmla="*/ 8005 w 16415"/>
              <a:gd name="T3" fmla="*/ 2128 h 4031"/>
              <a:gd name="T4" fmla="*/ 8883 w 16415"/>
              <a:gd name="T5" fmla="*/ 1905 h 4031"/>
              <a:gd name="T6" fmla="*/ 9866 w 16415"/>
              <a:gd name="T7" fmla="*/ 1832 h 4031"/>
              <a:gd name="T8" fmla="*/ 9058 w 16415"/>
              <a:gd name="T9" fmla="*/ 1879 h 4031"/>
              <a:gd name="T10" fmla="*/ 9862 w 16415"/>
              <a:gd name="T11" fmla="*/ 874 h 4031"/>
              <a:gd name="T12" fmla="*/ 7008 w 16415"/>
              <a:gd name="T13" fmla="*/ 1972 h 4031"/>
              <a:gd name="T14" fmla="*/ 7710 w 16415"/>
              <a:gd name="T15" fmla="*/ 1980 h 4031"/>
              <a:gd name="T16" fmla="*/ 7709 w 16415"/>
              <a:gd name="T17" fmla="*/ 1539 h 4031"/>
              <a:gd name="T18" fmla="*/ 11031 w 16415"/>
              <a:gd name="T19" fmla="*/ 1143 h 4031"/>
              <a:gd name="T20" fmla="*/ 11528 w 16415"/>
              <a:gd name="T21" fmla="*/ 1674 h 4031"/>
              <a:gd name="T22" fmla="*/ 11634 w 16415"/>
              <a:gd name="T23" fmla="*/ 2145 h 4031"/>
              <a:gd name="T24" fmla="*/ 11610 w 16415"/>
              <a:gd name="T25" fmla="*/ 1286 h 4031"/>
              <a:gd name="T26" fmla="*/ 3823 w 16415"/>
              <a:gd name="T27" fmla="*/ 2319 h 4031"/>
              <a:gd name="T28" fmla="*/ 2928 w 16415"/>
              <a:gd name="T29" fmla="*/ 3077 h 4031"/>
              <a:gd name="T30" fmla="*/ 3382 w 16415"/>
              <a:gd name="T31" fmla="*/ 2972 h 4031"/>
              <a:gd name="T32" fmla="*/ 3985 w 16415"/>
              <a:gd name="T33" fmla="*/ 3154 h 4031"/>
              <a:gd name="T34" fmla="*/ 11751 w 16415"/>
              <a:gd name="T35" fmla="*/ 2186 h 4031"/>
              <a:gd name="T36" fmla="*/ 12295 w 16415"/>
              <a:gd name="T37" fmla="*/ 1743 h 4031"/>
              <a:gd name="T38" fmla="*/ 12772 w 16415"/>
              <a:gd name="T39" fmla="*/ 2579 h 4031"/>
              <a:gd name="T40" fmla="*/ 11751 w 16415"/>
              <a:gd name="T41" fmla="*/ 2186 h 4031"/>
              <a:gd name="T42" fmla="*/ 6622 w 16415"/>
              <a:gd name="T43" fmla="*/ 1639 h 4031"/>
              <a:gd name="T44" fmla="*/ 5804 w 16415"/>
              <a:gd name="T45" fmla="*/ 2360 h 4031"/>
              <a:gd name="T46" fmla="*/ 6031 w 16415"/>
              <a:gd name="T47" fmla="*/ 2165 h 4031"/>
              <a:gd name="T48" fmla="*/ 5815 w 16415"/>
              <a:gd name="T49" fmla="*/ 1939 h 4031"/>
              <a:gd name="T50" fmla="*/ 5536 w 16415"/>
              <a:gd name="T51" fmla="*/ 2582 h 4031"/>
              <a:gd name="T52" fmla="*/ 5970 w 16415"/>
              <a:gd name="T53" fmla="*/ 2455 h 4031"/>
              <a:gd name="T54" fmla="*/ 4451 w 16415"/>
              <a:gd name="T55" fmla="*/ 2582 h 4031"/>
              <a:gd name="T56" fmla="*/ 4451 w 16415"/>
              <a:gd name="T57" fmla="*/ 2976 h 4031"/>
              <a:gd name="T58" fmla="*/ 4285 w 16415"/>
              <a:gd name="T59" fmla="*/ 2187 h 4031"/>
              <a:gd name="T60" fmla="*/ 2248 w 16415"/>
              <a:gd name="T61" fmla="*/ 2518 h 4031"/>
              <a:gd name="T62" fmla="*/ 2248 w 16415"/>
              <a:gd name="T63" fmla="*/ 2518 h 4031"/>
              <a:gd name="T64" fmla="*/ 1817 w 16415"/>
              <a:gd name="T65" fmla="*/ 2513 h 4031"/>
              <a:gd name="T66" fmla="*/ 2201 w 16415"/>
              <a:gd name="T67" fmla="*/ 1906 h 4031"/>
              <a:gd name="T68" fmla="*/ 15998 w 16415"/>
              <a:gd name="T69" fmla="*/ 2936 h 4031"/>
              <a:gd name="T70" fmla="*/ 15998 w 16415"/>
              <a:gd name="T71" fmla="*/ 2936 h 4031"/>
              <a:gd name="T72" fmla="*/ 16415 w 16415"/>
              <a:gd name="T73" fmla="*/ 1837 h 4031"/>
              <a:gd name="T74" fmla="*/ 1484 w 16415"/>
              <a:gd name="T75" fmla="*/ 1228 h 4031"/>
              <a:gd name="T76" fmla="*/ 15705 w 16415"/>
              <a:gd name="T77" fmla="*/ 3462 h 4031"/>
              <a:gd name="T78" fmla="*/ 9796 w 16415"/>
              <a:gd name="T79" fmla="*/ 2299 h 4031"/>
              <a:gd name="T80" fmla="*/ 3887 w 16415"/>
              <a:gd name="T81" fmla="*/ 1730 h 4031"/>
              <a:gd name="T82" fmla="*/ 13550 w 16415"/>
              <a:gd name="T83" fmla="*/ 2146 h 4031"/>
              <a:gd name="T84" fmla="*/ 13270 w 16415"/>
              <a:gd name="T85" fmla="*/ 1920 h 4031"/>
              <a:gd name="T86" fmla="*/ 12918 w 16415"/>
              <a:gd name="T87" fmla="*/ 2639 h 4031"/>
              <a:gd name="T88" fmla="*/ 13714 w 16415"/>
              <a:gd name="T89" fmla="*/ 2174 h 4031"/>
              <a:gd name="T90" fmla="*/ 16415 w 16415"/>
              <a:gd name="T91" fmla="*/ 2110 h 4031"/>
              <a:gd name="T92" fmla="*/ 16415 w 16415"/>
              <a:gd name="T93" fmla="*/ 2691 h 4031"/>
              <a:gd name="T94" fmla="*/ 16415 w 16415"/>
              <a:gd name="T95" fmla="*/ 3995 h 4031"/>
              <a:gd name="T96" fmla="*/ 3887 w 16415"/>
              <a:gd name="T97" fmla="*/ 4031 h 4031"/>
              <a:gd name="T98" fmla="*/ 9796 w 16415"/>
              <a:gd name="T99" fmla="*/ 0 h 4031"/>
              <a:gd name="T100" fmla="*/ 15705 w 16415"/>
              <a:gd name="T101" fmla="*/ 1484 h 4031"/>
              <a:gd name="T102" fmla="*/ 197 w 16415"/>
              <a:gd name="T103" fmla="*/ 2751 h 4031"/>
              <a:gd name="T104" fmla="*/ 16415 w 16415"/>
              <a:gd name="T105" fmla="*/ 3833 h 4031"/>
              <a:gd name="T106" fmla="*/ 15166 w 16415"/>
              <a:gd name="T107" fmla="*/ 2576 h 4031"/>
              <a:gd name="T108" fmla="*/ 15166 w 16415"/>
              <a:gd name="T109" fmla="*/ 2977 h 4031"/>
              <a:gd name="T110" fmla="*/ 15000 w 16415"/>
              <a:gd name="T111" fmla="*/ 2165 h 4031"/>
              <a:gd name="T112" fmla="*/ 14324 w 16415"/>
              <a:gd name="T113" fmla="*/ 2477 h 4031"/>
              <a:gd name="T114" fmla="*/ 14315 w 16415"/>
              <a:gd name="T115" fmla="*/ 2230 h 4031"/>
              <a:gd name="T116" fmla="*/ 14727 w 16415"/>
              <a:gd name="T117" fmla="*/ 2415 h 4031"/>
              <a:gd name="T118" fmla="*/ 14065 w 16415"/>
              <a:gd name="T119" fmla="*/ 2991 h 4031"/>
              <a:gd name="T120" fmla="*/ 14760 w 16415"/>
              <a:gd name="T121" fmla="*/ 3104 h 4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6415" h="4031">
                <a:moveTo>
                  <a:pt x="8553" y="1601"/>
                </a:moveTo>
                <a:lnTo>
                  <a:pt x="8553" y="1601"/>
                </a:lnTo>
                <a:cubicBezTo>
                  <a:pt x="8420" y="1626"/>
                  <a:pt x="8286" y="1662"/>
                  <a:pt x="8154" y="1710"/>
                </a:cubicBezTo>
                <a:cubicBezTo>
                  <a:pt x="8206" y="1564"/>
                  <a:pt x="8337" y="1201"/>
                  <a:pt x="8350" y="1167"/>
                </a:cubicBezTo>
                <a:cubicBezTo>
                  <a:pt x="8350" y="1167"/>
                  <a:pt x="8497" y="1482"/>
                  <a:pt x="8553" y="1601"/>
                </a:cubicBezTo>
                <a:close/>
                <a:moveTo>
                  <a:pt x="7806" y="2198"/>
                </a:moveTo>
                <a:lnTo>
                  <a:pt x="7806" y="2198"/>
                </a:lnTo>
                <a:cubicBezTo>
                  <a:pt x="7872" y="2174"/>
                  <a:pt x="7938" y="2151"/>
                  <a:pt x="8005" y="2128"/>
                </a:cubicBezTo>
                <a:cubicBezTo>
                  <a:pt x="8033" y="2050"/>
                  <a:pt x="8062" y="1969"/>
                  <a:pt x="8091" y="1889"/>
                </a:cubicBezTo>
                <a:cubicBezTo>
                  <a:pt x="8264" y="1820"/>
                  <a:pt x="8441" y="1769"/>
                  <a:pt x="8618" y="1739"/>
                </a:cubicBezTo>
                <a:cubicBezTo>
                  <a:pt x="8636" y="1778"/>
                  <a:pt x="8693" y="1899"/>
                  <a:pt x="8711" y="1938"/>
                </a:cubicBezTo>
                <a:cubicBezTo>
                  <a:pt x="8732" y="1932"/>
                  <a:pt x="8862" y="1909"/>
                  <a:pt x="8883" y="1905"/>
                </a:cubicBezTo>
                <a:cubicBezTo>
                  <a:pt x="8740" y="1608"/>
                  <a:pt x="8591" y="1306"/>
                  <a:pt x="8439" y="1007"/>
                </a:cubicBezTo>
                <a:cubicBezTo>
                  <a:pt x="8369" y="1022"/>
                  <a:pt x="8300" y="1038"/>
                  <a:pt x="8234" y="1055"/>
                </a:cubicBezTo>
                <a:cubicBezTo>
                  <a:pt x="8086" y="1440"/>
                  <a:pt x="7942" y="1825"/>
                  <a:pt x="7806" y="2198"/>
                </a:cubicBezTo>
                <a:close/>
                <a:moveTo>
                  <a:pt x="9866" y="1832"/>
                </a:moveTo>
                <a:lnTo>
                  <a:pt x="9866" y="1832"/>
                </a:lnTo>
                <a:cubicBezTo>
                  <a:pt x="9649" y="1579"/>
                  <a:pt x="9429" y="1337"/>
                  <a:pt x="9213" y="1102"/>
                </a:cubicBezTo>
                <a:cubicBezTo>
                  <a:pt x="9213" y="1355"/>
                  <a:pt x="9214" y="1608"/>
                  <a:pt x="9214" y="1860"/>
                </a:cubicBezTo>
                <a:cubicBezTo>
                  <a:pt x="9161" y="1866"/>
                  <a:pt x="9110" y="1872"/>
                  <a:pt x="9058" y="1879"/>
                </a:cubicBezTo>
                <a:lnTo>
                  <a:pt x="9058" y="910"/>
                </a:lnTo>
                <a:cubicBezTo>
                  <a:pt x="9119" y="904"/>
                  <a:pt x="9182" y="899"/>
                  <a:pt x="9245" y="894"/>
                </a:cubicBezTo>
                <a:cubicBezTo>
                  <a:pt x="9450" y="1114"/>
                  <a:pt x="9659" y="1340"/>
                  <a:pt x="9864" y="1576"/>
                </a:cubicBezTo>
                <a:cubicBezTo>
                  <a:pt x="9863" y="1342"/>
                  <a:pt x="9862" y="1108"/>
                  <a:pt x="9862" y="874"/>
                </a:cubicBezTo>
                <a:cubicBezTo>
                  <a:pt x="9914" y="875"/>
                  <a:pt x="9965" y="875"/>
                  <a:pt x="10016" y="877"/>
                </a:cubicBezTo>
                <a:lnTo>
                  <a:pt x="10016" y="1835"/>
                </a:lnTo>
                <a:cubicBezTo>
                  <a:pt x="9966" y="1833"/>
                  <a:pt x="9916" y="1832"/>
                  <a:pt x="9866" y="1832"/>
                </a:cubicBezTo>
                <a:close/>
                <a:moveTo>
                  <a:pt x="7008" y="1972"/>
                </a:moveTo>
                <a:lnTo>
                  <a:pt x="7008" y="1972"/>
                </a:lnTo>
                <a:cubicBezTo>
                  <a:pt x="7008" y="2193"/>
                  <a:pt x="7087" y="2335"/>
                  <a:pt x="7297" y="2266"/>
                </a:cubicBezTo>
                <a:cubicBezTo>
                  <a:pt x="7418" y="2227"/>
                  <a:pt x="7504" y="2140"/>
                  <a:pt x="7541" y="2023"/>
                </a:cubicBezTo>
                <a:lnTo>
                  <a:pt x="7710" y="1980"/>
                </a:lnTo>
                <a:cubicBezTo>
                  <a:pt x="7664" y="2186"/>
                  <a:pt x="7515" y="2350"/>
                  <a:pt x="7304" y="2418"/>
                </a:cubicBezTo>
                <a:cubicBezTo>
                  <a:pt x="7014" y="2512"/>
                  <a:pt x="6845" y="2339"/>
                  <a:pt x="6845" y="2023"/>
                </a:cubicBezTo>
                <a:cubicBezTo>
                  <a:pt x="6845" y="1700"/>
                  <a:pt x="7024" y="1433"/>
                  <a:pt x="7302" y="1343"/>
                </a:cubicBezTo>
                <a:cubicBezTo>
                  <a:pt x="7500" y="1279"/>
                  <a:pt x="7672" y="1333"/>
                  <a:pt x="7709" y="1539"/>
                </a:cubicBezTo>
                <a:lnTo>
                  <a:pt x="7553" y="1587"/>
                </a:lnTo>
                <a:cubicBezTo>
                  <a:pt x="7521" y="1476"/>
                  <a:pt x="7417" y="1467"/>
                  <a:pt x="7308" y="1503"/>
                </a:cubicBezTo>
                <a:cubicBezTo>
                  <a:pt x="7131" y="1560"/>
                  <a:pt x="7008" y="1796"/>
                  <a:pt x="7008" y="1972"/>
                </a:cubicBezTo>
                <a:close/>
                <a:moveTo>
                  <a:pt x="11031" y="1143"/>
                </a:moveTo>
                <a:lnTo>
                  <a:pt x="11031" y="1143"/>
                </a:lnTo>
                <a:lnTo>
                  <a:pt x="11031" y="1376"/>
                </a:lnTo>
                <a:cubicBezTo>
                  <a:pt x="11197" y="1415"/>
                  <a:pt x="11362" y="1461"/>
                  <a:pt x="11528" y="1514"/>
                </a:cubicBezTo>
                <a:lnTo>
                  <a:pt x="11528" y="1674"/>
                </a:lnTo>
                <a:cubicBezTo>
                  <a:pt x="11362" y="1621"/>
                  <a:pt x="11197" y="1575"/>
                  <a:pt x="11031" y="1536"/>
                </a:cubicBezTo>
                <a:lnTo>
                  <a:pt x="11031" y="1806"/>
                </a:lnTo>
                <a:cubicBezTo>
                  <a:pt x="11233" y="1854"/>
                  <a:pt x="11435" y="1912"/>
                  <a:pt x="11636" y="1980"/>
                </a:cubicBezTo>
                <a:cubicBezTo>
                  <a:pt x="11636" y="2035"/>
                  <a:pt x="11635" y="2090"/>
                  <a:pt x="11634" y="2145"/>
                </a:cubicBezTo>
                <a:cubicBezTo>
                  <a:pt x="11392" y="2062"/>
                  <a:pt x="11142" y="1990"/>
                  <a:pt x="10871" y="1936"/>
                </a:cubicBezTo>
                <a:lnTo>
                  <a:pt x="10871" y="954"/>
                </a:lnTo>
                <a:cubicBezTo>
                  <a:pt x="11138" y="997"/>
                  <a:pt x="11380" y="1055"/>
                  <a:pt x="11608" y="1122"/>
                </a:cubicBezTo>
                <a:cubicBezTo>
                  <a:pt x="11608" y="1177"/>
                  <a:pt x="11609" y="1231"/>
                  <a:pt x="11610" y="1286"/>
                </a:cubicBezTo>
                <a:cubicBezTo>
                  <a:pt x="11417" y="1229"/>
                  <a:pt x="11224" y="1181"/>
                  <a:pt x="11031" y="1143"/>
                </a:cubicBezTo>
                <a:close/>
                <a:moveTo>
                  <a:pt x="3820" y="3154"/>
                </a:moveTo>
                <a:lnTo>
                  <a:pt x="3820" y="3154"/>
                </a:lnTo>
                <a:cubicBezTo>
                  <a:pt x="3821" y="3005"/>
                  <a:pt x="3822" y="2436"/>
                  <a:pt x="3823" y="2319"/>
                </a:cubicBezTo>
                <a:cubicBezTo>
                  <a:pt x="3779" y="2440"/>
                  <a:pt x="3518" y="3024"/>
                  <a:pt x="3467" y="3139"/>
                </a:cubicBezTo>
                <a:cubicBezTo>
                  <a:pt x="3404" y="3135"/>
                  <a:pt x="3341" y="3129"/>
                  <a:pt x="3278" y="3123"/>
                </a:cubicBezTo>
                <a:cubicBezTo>
                  <a:pt x="3219" y="2981"/>
                  <a:pt x="2968" y="2379"/>
                  <a:pt x="2925" y="2260"/>
                </a:cubicBezTo>
                <a:cubicBezTo>
                  <a:pt x="2926" y="2373"/>
                  <a:pt x="2928" y="2905"/>
                  <a:pt x="2928" y="3077"/>
                </a:cubicBezTo>
                <a:cubicBezTo>
                  <a:pt x="2873" y="3068"/>
                  <a:pt x="2819" y="3058"/>
                  <a:pt x="2764" y="3047"/>
                </a:cubicBezTo>
                <a:lnTo>
                  <a:pt x="2771" y="2072"/>
                </a:lnTo>
                <a:cubicBezTo>
                  <a:pt x="2865" y="2093"/>
                  <a:pt x="2960" y="2112"/>
                  <a:pt x="3055" y="2128"/>
                </a:cubicBezTo>
                <a:cubicBezTo>
                  <a:pt x="3112" y="2273"/>
                  <a:pt x="3340" y="2856"/>
                  <a:pt x="3382" y="2972"/>
                </a:cubicBezTo>
                <a:lnTo>
                  <a:pt x="3694" y="2192"/>
                </a:lnTo>
                <a:cubicBezTo>
                  <a:pt x="3759" y="2195"/>
                  <a:pt x="3823" y="2198"/>
                  <a:pt x="3887" y="2198"/>
                </a:cubicBezTo>
                <a:cubicBezTo>
                  <a:pt x="3920" y="2198"/>
                  <a:pt x="3952" y="2197"/>
                  <a:pt x="3985" y="2196"/>
                </a:cubicBezTo>
                <a:lnTo>
                  <a:pt x="3985" y="3154"/>
                </a:lnTo>
                <a:cubicBezTo>
                  <a:pt x="3952" y="3154"/>
                  <a:pt x="3920" y="3156"/>
                  <a:pt x="3887" y="3156"/>
                </a:cubicBezTo>
                <a:cubicBezTo>
                  <a:pt x="3865" y="3156"/>
                  <a:pt x="3843" y="3154"/>
                  <a:pt x="3820" y="3154"/>
                </a:cubicBezTo>
                <a:close/>
                <a:moveTo>
                  <a:pt x="11751" y="2186"/>
                </a:moveTo>
                <a:lnTo>
                  <a:pt x="11751" y="2186"/>
                </a:lnTo>
                <a:lnTo>
                  <a:pt x="12156" y="1826"/>
                </a:lnTo>
                <a:lnTo>
                  <a:pt x="11783" y="1177"/>
                </a:lnTo>
                <a:cubicBezTo>
                  <a:pt x="11863" y="1204"/>
                  <a:pt x="11942" y="1231"/>
                  <a:pt x="12019" y="1259"/>
                </a:cubicBezTo>
                <a:lnTo>
                  <a:pt x="12295" y="1743"/>
                </a:lnTo>
                <a:lnTo>
                  <a:pt x="12562" y="1502"/>
                </a:lnTo>
                <a:lnTo>
                  <a:pt x="12738" y="1574"/>
                </a:lnTo>
                <a:lnTo>
                  <a:pt x="12378" y="1889"/>
                </a:lnTo>
                <a:lnTo>
                  <a:pt x="12772" y="2579"/>
                </a:lnTo>
                <a:lnTo>
                  <a:pt x="12529" y="2475"/>
                </a:lnTo>
                <a:lnTo>
                  <a:pt x="12241" y="1974"/>
                </a:lnTo>
                <a:lnTo>
                  <a:pt x="11923" y="2249"/>
                </a:lnTo>
                <a:cubicBezTo>
                  <a:pt x="11866" y="2228"/>
                  <a:pt x="11809" y="2207"/>
                  <a:pt x="11751" y="2186"/>
                </a:cubicBezTo>
                <a:close/>
                <a:moveTo>
                  <a:pt x="6466" y="2721"/>
                </a:moveTo>
                <a:lnTo>
                  <a:pt x="6466" y="2721"/>
                </a:lnTo>
                <a:lnTo>
                  <a:pt x="6466" y="1701"/>
                </a:lnTo>
                <a:cubicBezTo>
                  <a:pt x="6518" y="1680"/>
                  <a:pt x="6571" y="1660"/>
                  <a:pt x="6622" y="1639"/>
                </a:cubicBezTo>
                <a:lnTo>
                  <a:pt x="6622" y="2664"/>
                </a:lnTo>
                <a:cubicBezTo>
                  <a:pt x="6571" y="2683"/>
                  <a:pt x="6519" y="2702"/>
                  <a:pt x="6466" y="2721"/>
                </a:cubicBezTo>
                <a:close/>
                <a:moveTo>
                  <a:pt x="5804" y="2360"/>
                </a:moveTo>
                <a:lnTo>
                  <a:pt x="5804" y="2360"/>
                </a:lnTo>
                <a:cubicBezTo>
                  <a:pt x="5714" y="2381"/>
                  <a:pt x="5625" y="2400"/>
                  <a:pt x="5536" y="2418"/>
                </a:cubicBezTo>
                <a:lnTo>
                  <a:pt x="5536" y="2167"/>
                </a:lnTo>
                <a:cubicBezTo>
                  <a:pt x="5628" y="2146"/>
                  <a:pt x="5720" y="2124"/>
                  <a:pt x="5813" y="2099"/>
                </a:cubicBezTo>
                <a:cubicBezTo>
                  <a:pt x="5972" y="2056"/>
                  <a:pt x="6031" y="2049"/>
                  <a:pt x="6031" y="2165"/>
                </a:cubicBezTo>
                <a:cubicBezTo>
                  <a:pt x="6031" y="2216"/>
                  <a:pt x="5968" y="2316"/>
                  <a:pt x="5804" y="2360"/>
                </a:cubicBezTo>
                <a:close/>
                <a:moveTo>
                  <a:pt x="6212" y="2104"/>
                </a:moveTo>
                <a:lnTo>
                  <a:pt x="6212" y="2104"/>
                </a:lnTo>
                <a:cubicBezTo>
                  <a:pt x="6212" y="1919"/>
                  <a:pt x="6085" y="1866"/>
                  <a:pt x="5815" y="1939"/>
                </a:cubicBezTo>
                <a:cubicBezTo>
                  <a:pt x="5617" y="1991"/>
                  <a:pt x="5470" y="2020"/>
                  <a:pt x="5368" y="2043"/>
                </a:cubicBezTo>
                <a:lnTo>
                  <a:pt x="5368" y="3025"/>
                </a:lnTo>
                <a:cubicBezTo>
                  <a:pt x="5425" y="3014"/>
                  <a:pt x="5481" y="3002"/>
                  <a:pt x="5536" y="2990"/>
                </a:cubicBezTo>
                <a:lnTo>
                  <a:pt x="5536" y="2582"/>
                </a:lnTo>
                <a:cubicBezTo>
                  <a:pt x="5623" y="2563"/>
                  <a:pt x="5710" y="2542"/>
                  <a:pt x="5798" y="2520"/>
                </a:cubicBezTo>
                <a:cubicBezTo>
                  <a:pt x="5899" y="2631"/>
                  <a:pt x="6000" y="2739"/>
                  <a:pt x="6101" y="2843"/>
                </a:cubicBezTo>
                <a:cubicBezTo>
                  <a:pt x="6161" y="2824"/>
                  <a:pt x="6221" y="2805"/>
                  <a:pt x="6279" y="2786"/>
                </a:cubicBezTo>
                <a:cubicBezTo>
                  <a:pt x="6176" y="2679"/>
                  <a:pt x="6073" y="2569"/>
                  <a:pt x="5970" y="2455"/>
                </a:cubicBezTo>
                <a:cubicBezTo>
                  <a:pt x="6082" y="2396"/>
                  <a:pt x="6212" y="2287"/>
                  <a:pt x="6212" y="2104"/>
                </a:cubicBezTo>
                <a:close/>
                <a:moveTo>
                  <a:pt x="4451" y="2341"/>
                </a:moveTo>
                <a:lnTo>
                  <a:pt x="4451" y="2341"/>
                </a:lnTo>
                <a:lnTo>
                  <a:pt x="4451" y="2582"/>
                </a:lnTo>
                <a:cubicBezTo>
                  <a:pt x="4632" y="2569"/>
                  <a:pt x="4813" y="2549"/>
                  <a:pt x="4993" y="2521"/>
                </a:cubicBezTo>
                <a:lnTo>
                  <a:pt x="4993" y="2682"/>
                </a:lnTo>
                <a:cubicBezTo>
                  <a:pt x="4813" y="2709"/>
                  <a:pt x="4632" y="2729"/>
                  <a:pt x="4451" y="2742"/>
                </a:cubicBezTo>
                <a:lnTo>
                  <a:pt x="4451" y="2976"/>
                </a:lnTo>
                <a:cubicBezTo>
                  <a:pt x="4671" y="2965"/>
                  <a:pt x="4892" y="2943"/>
                  <a:pt x="5112" y="2911"/>
                </a:cubicBezTo>
                <a:cubicBezTo>
                  <a:pt x="5111" y="2963"/>
                  <a:pt x="5110" y="3016"/>
                  <a:pt x="5109" y="3068"/>
                </a:cubicBezTo>
                <a:cubicBezTo>
                  <a:pt x="4857" y="3107"/>
                  <a:pt x="4584" y="3133"/>
                  <a:pt x="4285" y="3146"/>
                </a:cubicBezTo>
                <a:lnTo>
                  <a:pt x="4285" y="2187"/>
                </a:lnTo>
                <a:cubicBezTo>
                  <a:pt x="4572" y="2172"/>
                  <a:pt x="4836" y="2142"/>
                  <a:pt x="5080" y="2100"/>
                </a:cubicBezTo>
                <a:cubicBezTo>
                  <a:pt x="5081" y="2156"/>
                  <a:pt x="5082" y="2211"/>
                  <a:pt x="5083" y="2267"/>
                </a:cubicBezTo>
                <a:cubicBezTo>
                  <a:pt x="4872" y="2302"/>
                  <a:pt x="4662" y="2327"/>
                  <a:pt x="4451" y="2341"/>
                </a:cubicBezTo>
                <a:close/>
                <a:moveTo>
                  <a:pt x="2248" y="2518"/>
                </a:moveTo>
                <a:lnTo>
                  <a:pt x="2248" y="2518"/>
                </a:lnTo>
                <a:cubicBezTo>
                  <a:pt x="2125" y="2475"/>
                  <a:pt x="2002" y="2428"/>
                  <a:pt x="1879" y="2375"/>
                </a:cubicBezTo>
                <a:cubicBezTo>
                  <a:pt x="1961" y="2193"/>
                  <a:pt x="2043" y="2012"/>
                  <a:pt x="2054" y="1984"/>
                </a:cubicBezTo>
                <a:lnTo>
                  <a:pt x="2248" y="2518"/>
                </a:lnTo>
                <a:close/>
                <a:moveTo>
                  <a:pt x="1562" y="2684"/>
                </a:moveTo>
                <a:lnTo>
                  <a:pt x="1562" y="2684"/>
                </a:lnTo>
                <a:cubicBezTo>
                  <a:pt x="1611" y="2705"/>
                  <a:pt x="1662" y="2724"/>
                  <a:pt x="1713" y="2744"/>
                </a:cubicBezTo>
                <a:cubicBezTo>
                  <a:pt x="1733" y="2699"/>
                  <a:pt x="1772" y="2612"/>
                  <a:pt x="1817" y="2513"/>
                </a:cubicBezTo>
                <a:cubicBezTo>
                  <a:pt x="1982" y="2582"/>
                  <a:pt x="2148" y="2643"/>
                  <a:pt x="2313" y="2695"/>
                </a:cubicBezTo>
                <a:lnTo>
                  <a:pt x="2412" y="2969"/>
                </a:lnTo>
                <a:cubicBezTo>
                  <a:pt x="2475" y="2985"/>
                  <a:pt x="2538" y="3000"/>
                  <a:pt x="2601" y="3014"/>
                </a:cubicBezTo>
                <a:lnTo>
                  <a:pt x="2201" y="1906"/>
                </a:lnTo>
                <a:cubicBezTo>
                  <a:pt x="2120" y="1877"/>
                  <a:pt x="2041" y="1846"/>
                  <a:pt x="1962" y="1813"/>
                </a:cubicBezTo>
                <a:lnTo>
                  <a:pt x="1562" y="2684"/>
                </a:lnTo>
                <a:close/>
                <a:moveTo>
                  <a:pt x="15998" y="2936"/>
                </a:moveTo>
                <a:lnTo>
                  <a:pt x="15998" y="2936"/>
                </a:lnTo>
                <a:lnTo>
                  <a:pt x="16193" y="2913"/>
                </a:lnTo>
                <a:cubicBezTo>
                  <a:pt x="16239" y="2981"/>
                  <a:pt x="16333" y="2999"/>
                  <a:pt x="16415" y="2993"/>
                </a:cubicBezTo>
                <a:lnTo>
                  <a:pt x="16415" y="3143"/>
                </a:lnTo>
                <a:cubicBezTo>
                  <a:pt x="16214" y="3162"/>
                  <a:pt x="16047" y="3083"/>
                  <a:pt x="15998" y="2936"/>
                </a:cubicBezTo>
                <a:close/>
                <a:moveTo>
                  <a:pt x="15705" y="1730"/>
                </a:moveTo>
                <a:lnTo>
                  <a:pt x="15705" y="1730"/>
                </a:lnTo>
                <a:cubicBezTo>
                  <a:pt x="15952" y="1730"/>
                  <a:pt x="16188" y="1712"/>
                  <a:pt x="16415" y="1677"/>
                </a:cubicBezTo>
                <a:lnTo>
                  <a:pt x="16415" y="1837"/>
                </a:lnTo>
                <a:cubicBezTo>
                  <a:pt x="16182" y="1873"/>
                  <a:pt x="15945" y="1891"/>
                  <a:pt x="15705" y="1891"/>
                </a:cubicBezTo>
                <a:cubicBezTo>
                  <a:pt x="13054" y="1891"/>
                  <a:pt x="12520" y="567"/>
                  <a:pt x="9796" y="567"/>
                </a:cubicBezTo>
                <a:cubicBezTo>
                  <a:pt x="7072" y="567"/>
                  <a:pt x="6537" y="1891"/>
                  <a:pt x="3887" y="1891"/>
                </a:cubicBezTo>
                <a:cubicBezTo>
                  <a:pt x="3026" y="1891"/>
                  <a:pt x="2197" y="1662"/>
                  <a:pt x="1484" y="1228"/>
                </a:cubicBezTo>
                <a:lnTo>
                  <a:pt x="837" y="2669"/>
                </a:lnTo>
                <a:cubicBezTo>
                  <a:pt x="1756" y="3188"/>
                  <a:pt x="2809" y="3462"/>
                  <a:pt x="3887" y="3462"/>
                </a:cubicBezTo>
                <a:cubicBezTo>
                  <a:pt x="6867" y="3462"/>
                  <a:pt x="7544" y="2138"/>
                  <a:pt x="9796" y="2138"/>
                </a:cubicBezTo>
                <a:cubicBezTo>
                  <a:pt x="12046" y="2138"/>
                  <a:pt x="12725" y="3462"/>
                  <a:pt x="15705" y="3462"/>
                </a:cubicBezTo>
                <a:cubicBezTo>
                  <a:pt x="15943" y="3462"/>
                  <a:pt x="16181" y="3449"/>
                  <a:pt x="16415" y="3422"/>
                </a:cubicBezTo>
                <a:lnTo>
                  <a:pt x="16415" y="3585"/>
                </a:lnTo>
                <a:cubicBezTo>
                  <a:pt x="16181" y="3610"/>
                  <a:pt x="15945" y="3623"/>
                  <a:pt x="15705" y="3623"/>
                </a:cubicBezTo>
                <a:cubicBezTo>
                  <a:pt x="12701" y="3623"/>
                  <a:pt x="11992" y="2299"/>
                  <a:pt x="9796" y="2299"/>
                </a:cubicBezTo>
                <a:cubicBezTo>
                  <a:pt x="7599" y="2299"/>
                  <a:pt x="6891" y="3623"/>
                  <a:pt x="3887" y="3623"/>
                </a:cubicBezTo>
                <a:cubicBezTo>
                  <a:pt x="2737" y="3623"/>
                  <a:pt x="1658" y="3332"/>
                  <a:pt x="631" y="2735"/>
                </a:cubicBezTo>
                <a:lnTo>
                  <a:pt x="1413" y="993"/>
                </a:lnTo>
                <a:cubicBezTo>
                  <a:pt x="2150" y="1463"/>
                  <a:pt x="2940" y="1730"/>
                  <a:pt x="3887" y="1730"/>
                </a:cubicBezTo>
                <a:cubicBezTo>
                  <a:pt x="6501" y="1730"/>
                  <a:pt x="7026" y="406"/>
                  <a:pt x="9796" y="406"/>
                </a:cubicBezTo>
                <a:cubicBezTo>
                  <a:pt x="12565" y="406"/>
                  <a:pt x="13091" y="1730"/>
                  <a:pt x="15705" y="1730"/>
                </a:cubicBezTo>
                <a:close/>
                <a:moveTo>
                  <a:pt x="13550" y="2146"/>
                </a:moveTo>
                <a:lnTo>
                  <a:pt x="13550" y="2146"/>
                </a:lnTo>
                <a:cubicBezTo>
                  <a:pt x="13550" y="2288"/>
                  <a:pt x="13439" y="2270"/>
                  <a:pt x="13270" y="2214"/>
                </a:cubicBezTo>
                <a:lnTo>
                  <a:pt x="13082" y="2155"/>
                </a:lnTo>
                <a:lnTo>
                  <a:pt x="13082" y="1861"/>
                </a:lnTo>
                <a:lnTo>
                  <a:pt x="13270" y="1920"/>
                </a:lnTo>
                <a:cubicBezTo>
                  <a:pt x="13443" y="1977"/>
                  <a:pt x="13550" y="2031"/>
                  <a:pt x="13550" y="2146"/>
                </a:cubicBezTo>
                <a:close/>
                <a:moveTo>
                  <a:pt x="12918" y="1640"/>
                </a:moveTo>
                <a:lnTo>
                  <a:pt x="12918" y="1640"/>
                </a:lnTo>
                <a:lnTo>
                  <a:pt x="12918" y="2639"/>
                </a:lnTo>
                <a:lnTo>
                  <a:pt x="13082" y="2701"/>
                </a:lnTo>
                <a:lnTo>
                  <a:pt x="13082" y="2310"/>
                </a:lnTo>
                <a:lnTo>
                  <a:pt x="13285" y="2375"/>
                </a:lnTo>
                <a:cubicBezTo>
                  <a:pt x="13582" y="2473"/>
                  <a:pt x="13714" y="2326"/>
                  <a:pt x="13714" y="2174"/>
                </a:cubicBezTo>
                <a:cubicBezTo>
                  <a:pt x="13714" y="2003"/>
                  <a:pt x="13620" y="1896"/>
                  <a:pt x="13414" y="1808"/>
                </a:cubicBezTo>
                <a:cubicBezTo>
                  <a:pt x="13356" y="1785"/>
                  <a:pt x="13252" y="1744"/>
                  <a:pt x="12918" y="1640"/>
                </a:cubicBezTo>
                <a:close/>
                <a:moveTo>
                  <a:pt x="16415" y="2110"/>
                </a:moveTo>
                <a:lnTo>
                  <a:pt x="16415" y="2110"/>
                </a:lnTo>
                <a:lnTo>
                  <a:pt x="16415" y="2253"/>
                </a:lnTo>
                <a:cubicBezTo>
                  <a:pt x="16278" y="2269"/>
                  <a:pt x="16193" y="2332"/>
                  <a:pt x="16193" y="2417"/>
                </a:cubicBezTo>
                <a:cubicBezTo>
                  <a:pt x="16193" y="2507"/>
                  <a:pt x="16292" y="2525"/>
                  <a:pt x="16415" y="2535"/>
                </a:cubicBezTo>
                <a:lnTo>
                  <a:pt x="16415" y="2691"/>
                </a:lnTo>
                <a:cubicBezTo>
                  <a:pt x="16410" y="2691"/>
                  <a:pt x="16404" y="2690"/>
                  <a:pt x="16398" y="2690"/>
                </a:cubicBezTo>
                <a:cubicBezTo>
                  <a:pt x="16285" y="2683"/>
                  <a:pt x="16003" y="2673"/>
                  <a:pt x="16003" y="2432"/>
                </a:cubicBezTo>
                <a:cubicBezTo>
                  <a:pt x="16003" y="2265"/>
                  <a:pt x="16165" y="2139"/>
                  <a:pt x="16415" y="2110"/>
                </a:cubicBezTo>
                <a:close/>
                <a:moveTo>
                  <a:pt x="16415" y="3995"/>
                </a:moveTo>
                <a:lnTo>
                  <a:pt x="16415" y="3995"/>
                </a:lnTo>
                <a:cubicBezTo>
                  <a:pt x="16181" y="4018"/>
                  <a:pt x="15944" y="4030"/>
                  <a:pt x="15705" y="4031"/>
                </a:cubicBezTo>
                <a:cubicBezTo>
                  <a:pt x="12676" y="4031"/>
                  <a:pt x="11815" y="2706"/>
                  <a:pt x="9796" y="2706"/>
                </a:cubicBezTo>
                <a:cubicBezTo>
                  <a:pt x="7775" y="2706"/>
                  <a:pt x="6915" y="4031"/>
                  <a:pt x="3887" y="4031"/>
                </a:cubicBezTo>
                <a:cubicBezTo>
                  <a:pt x="2504" y="4030"/>
                  <a:pt x="1193" y="3637"/>
                  <a:pt x="0" y="2810"/>
                </a:cubicBezTo>
                <a:lnTo>
                  <a:pt x="1076" y="194"/>
                </a:lnTo>
                <a:cubicBezTo>
                  <a:pt x="1895" y="963"/>
                  <a:pt x="2828" y="1323"/>
                  <a:pt x="3887" y="1323"/>
                </a:cubicBezTo>
                <a:cubicBezTo>
                  <a:pt x="6394" y="1323"/>
                  <a:pt x="6922" y="0"/>
                  <a:pt x="9796" y="0"/>
                </a:cubicBezTo>
                <a:cubicBezTo>
                  <a:pt x="12669" y="0"/>
                  <a:pt x="13197" y="1323"/>
                  <a:pt x="15705" y="1323"/>
                </a:cubicBezTo>
                <a:cubicBezTo>
                  <a:pt x="15948" y="1323"/>
                  <a:pt x="16185" y="1304"/>
                  <a:pt x="16415" y="1265"/>
                </a:cubicBezTo>
                <a:lnTo>
                  <a:pt x="16415" y="1426"/>
                </a:lnTo>
                <a:cubicBezTo>
                  <a:pt x="16183" y="1464"/>
                  <a:pt x="15946" y="1484"/>
                  <a:pt x="15705" y="1484"/>
                </a:cubicBezTo>
                <a:cubicBezTo>
                  <a:pt x="13151" y="1484"/>
                  <a:pt x="12632" y="159"/>
                  <a:pt x="9796" y="159"/>
                </a:cubicBezTo>
                <a:cubicBezTo>
                  <a:pt x="6959" y="159"/>
                  <a:pt x="6441" y="1484"/>
                  <a:pt x="3887" y="1484"/>
                </a:cubicBezTo>
                <a:cubicBezTo>
                  <a:pt x="2849" y="1484"/>
                  <a:pt x="1877" y="1124"/>
                  <a:pt x="1137" y="468"/>
                </a:cubicBezTo>
                <a:lnTo>
                  <a:pt x="197" y="2751"/>
                </a:lnTo>
                <a:cubicBezTo>
                  <a:pt x="1277" y="3483"/>
                  <a:pt x="2552" y="3870"/>
                  <a:pt x="3887" y="3870"/>
                </a:cubicBezTo>
                <a:cubicBezTo>
                  <a:pt x="6879" y="3870"/>
                  <a:pt x="7731" y="2545"/>
                  <a:pt x="9796" y="2545"/>
                </a:cubicBezTo>
                <a:cubicBezTo>
                  <a:pt x="11861" y="2545"/>
                  <a:pt x="12712" y="3870"/>
                  <a:pt x="15705" y="3870"/>
                </a:cubicBezTo>
                <a:cubicBezTo>
                  <a:pt x="15944" y="3870"/>
                  <a:pt x="16181" y="3857"/>
                  <a:pt x="16415" y="3833"/>
                </a:cubicBezTo>
                <a:lnTo>
                  <a:pt x="16415" y="3995"/>
                </a:lnTo>
                <a:close/>
                <a:moveTo>
                  <a:pt x="15166" y="2346"/>
                </a:moveTo>
                <a:lnTo>
                  <a:pt x="15166" y="2346"/>
                </a:lnTo>
                <a:lnTo>
                  <a:pt x="15166" y="2576"/>
                </a:lnTo>
                <a:cubicBezTo>
                  <a:pt x="15343" y="2590"/>
                  <a:pt x="15521" y="2597"/>
                  <a:pt x="15696" y="2597"/>
                </a:cubicBezTo>
                <a:lnTo>
                  <a:pt x="15696" y="2753"/>
                </a:lnTo>
                <a:cubicBezTo>
                  <a:pt x="15514" y="2753"/>
                  <a:pt x="15338" y="2746"/>
                  <a:pt x="15166" y="2732"/>
                </a:cubicBezTo>
                <a:lnTo>
                  <a:pt x="15166" y="2977"/>
                </a:lnTo>
                <a:cubicBezTo>
                  <a:pt x="15380" y="2995"/>
                  <a:pt x="15598" y="3002"/>
                  <a:pt x="15812" y="2998"/>
                </a:cubicBezTo>
                <a:cubicBezTo>
                  <a:pt x="15812" y="3010"/>
                  <a:pt x="15810" y="3140"/>
                  <a:pt x="15810" y="3152"/>
                </a:cubicBezTo>
                <a:cubicBezTo>
                  <a:pt x="15541" y="3157"/>
                  <a:pt x="15309" y="3152"/>
                  <a:pt x="15000" y="3127"/>
                </a:cubicBezTo>
                <a:lnTo>
                  <a:pt x="15000" y="2165"/>
                </a:lnTo>
                <a:cubicBezTo>
                  <a:pt x="15248" y="2189"/>
                  <a:pt x="15489" y="2200"/>
                  <a:pt x="15781" y="2196"/>
                </a:cubicBezTo>
                <a:cubicBezTo>
                  <a:pt x="15783" y="2308"/>
                  <a:pt x="15783" y="2332"/>
                  <a:pt x="15784" y="2359"/>
                </a:cubicBezTo>
                <a:cubicBezTo>
                  <a:pt x="15578" y="2363"/>
                  <a:pt x="15390" y="2361"/>
                  <a:pt x="15166" y="2346"/>
                </a:cubicBezTo>
                <a:close/>
                <a:moveTo>
                  <a:pt x="14324" y="2477"/>
                </a:moveTo>
                <a:lnTo>
                  <a:pt x="14324" y="2477"/>
                </a:lnTo>
                <a:lnTo>
                  <a:pt x="14065" y="2421"/>
                </a:lnTo>
                <a:lnTo>
                  <a:pt x="14065" y="2180"/>
                </a:lnTo>
                <a:lnTo>
                  <a:pt x="14315" y="2230"/>
                </a:lnTo>
                <a:cubicBezTo>
                  <a:pt x="14477" y="2261"/>
                  <a:pt x="14554" y="2281"/>
                  <a:pt x="14554" y="2389"/>
                </a:cubicBezTo>
                <a:cubicBezTo>
                  <a:pt x="14554" y="2504"/>
                  <a:pt x="14441" y="2499"/>
                  <a:pt x="14324" y="2477"/>
                </a:cubicBezTo>
                <a:close/>
                <a:moveTo>
                  <a:pt x="14727" y="2415"/>
                </a:moveTo>
                <a:lnTo>
                  <a:pt x="14727" y="2415"/>
                </a:lnTo>
                <a:cubicBezTo>
                  <a:pt x="14727" y="2230"/>
                  <a:pt x="14602" y="2120"/>
                  <a:pt x="14335" y="2069"/>
                </a:cubicBezTo>
                <a:cubicBezTo>
                  <a:pt x="14335" y="2069"/>
                  <a:pt x="14087" y="2014"/>
                  <a:pt x="13898" y="1961"/>
                </a:cubicBezTo>
                <a:lnTo>
                  <a:pt x="13898" y="2953"/>
                </a:lnTo>
                <a:cubicBezTo>
                  <a:pt x="13953" y="2966"/>
                  <a:pt x="14009" y="2979"/>
                  <a:pt x="14065" y="2991"/>
                </a:cubicBezTo>
                <a:lnTo>
                  <a:pt x="14065" y="2587"/>
                </a:lnTo>
                <a:lnTo>
                  <a:pt x="14279" y="2628"/>
                </a:lnTo>
                <a:lnTo>
                  <a:pt x="14546" y="3077"/>
                </a:lnTo>
                <a:cubicBezTo>
                  <a:pt x="14616" y="3087"/>
                  <a:pt x="14687" y="3096"/>
                  <a:pt x="14760" y="3104"/>
                </a:cubicBezTo>
                <a:lnTo>
                  <a:pt x="14485" y="2642"/>
                </a:lnTo>
                <a:cubicBezTo>
                  <a:pt x="14627" y="2629"/>
                  <a:pt x="14727" y="2561"/>
                  <a:pt x="14727" y="2415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09575"/>
            <a:ext cx="6950075" cy="1691639"/>
          </a:xfrm>
        </p:spPr>
        <p:txBody>
          <a:bodyPr anchor="b" anchorCtr="0"/>
          <a:lstStyle>
            <a:lvl1pPr>
              <a:defRPr sz="3200" spc="-6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2240280"/>
            <a:ext cx="3978275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61287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2455862" y="1566862"/>
            <a:ext cx="6688138" cy="3576638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09575"/>
            <a:ext cx="3978275" cy="1691639"/>
          </a:xfrm>
        </p:spPr>
        <p:txBody>
          <a:bodyPr rIns="137160" anchor="b" anchorCtr="0"/>
          <a:lstStyle>
            <a:lvl1pPr>
              <a:defRPr sz="3200" spc="-60" baseline="0"/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1" y="2240280"/>
            <a:ext cx="2835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78579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2 Blue">
    <p:bg>
      <p:bgPr>
        <a:solidFill>
          <a:srgbClr val="006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2455862" y="1566862"/>
            <a:ext cx="6688138" cy="3576638"/>
          </a:xfrm>
          <a:custGeom>
            <a:avLst/>
            <a:gdLst>
              <a:gd name="T0" fmla="*/ 8637 w 14020"/>
              <a:gd name="T1" fmla="*/ 1280 h 7492"/>
              <a:gd name="T2" fmla="*/ 8503 w 14020"/>
              <a:gd name="T3" fmla="*/ 4342 h 7492"/>
              <a:gd name="T4" fmla="*/ 10437 w 14020"/>
              <a:gd name="T5" fmla="*/ 7492 h 7492"/>
              <a:gd name="T6" fmla="*/ 7332 w 14020"/>
              <a:gd name="T7" fmla="*/ 6003 h 7492"/>
              <a:gd name="T8" fmla="*/ 9570 w 14020"/>
              <a:gd name="T9" fmla="*/ 6003 h 7492"/>
              <a:gd name="T10" fmla="*/ 9570 w 14020"/>
              <a:gd name="T11" fmla="*/ 6003 h 7492"/>
              <a:gd name="T12" fmla="*/ 11060 w 14020"/>
              <a:gd name="T13" fmla="*/ 4342 h 7492"/>
              <a:gd name="T14" fmla="*/ 10697 w 14020"/>
              <a:gd name="T15" fmla="*/ 5671 h 7492"/>
              <a:gd name="T16" fmla="*/ 10511 w 14020"/>
              <a:gd name="T17" fmla="*/ 4676 h 7492"/>
              <a:gd name="T18" fmla="*/ 12601 w 14020"/>
              <a:gd name="T19" fmla="*/ 5515 h 7492"/>
              <a:gd name="T20" fmla="*/ 12605 w 14020"/>
              <a:gd name="T21" fmla="*/ 4657 h 7492"/>
              <a:gd name="T22" fmla="*/ 12139 w 14020"/>
              <a:gd name="T23" fmla="*/ 6003 h 7492"/>
              <a:gd name="T24" fmla="*/ 14020 w 14020"/>
              <a:gd name="T25" fmla="*/ 5486 h 7492"/>
              <a:gd name="T26" fmla="*/ 13558 w 14020"/>
              <a:gd name="T27" fmla="*/ 5072 h 7492"/>
              <a:gd name="T28" fmla="*/ 13344 w 14020"/>
              <a:gd name="T29" fmla="*/ 5671 h 7492"/>
              <a:gd name="T30" fmla="*/ 7227 w 14020"/>
              <a:gd name="T31" fmla="*/ 0 h 7492"/>
              <a:gd name="T32" fmla="*/ 12347 w 14020"/>
              <a:gd name="T33" fmla="*/ 4342 h 7492"/>
              <a:gd name="T34" fmla="*/ 2813 w 14020"/>
              <a:gd name="T35" fmla="*/ 7492 h 7492"/>
              <a:gd name="T36" fmla="*/ 11619 w 14020"/>
              <a:gd name="T37" fmla="*/ 5671 h 7492"/>
              <a:gd name="T38" fmla="*/ 759 w 14020"/>
              <a:gd name="T39" fmla="*/ 4877 h 7492"/>
              <a:gd name="T40" fmla="*/ 1300 w 14020"/>
              <a:gd name="T41" fmla="*/ 4676 h 7492"/>
              <a:gd name="T42" fmla="*/ 454 w 14020"/>
              <a:gd name="T43" fmla="*/ 5449 h 7492"/>
              <a:gd name="T44" fmla="*/ 596 w 14020"/>
              <a:gd name="T45" fmla="*/ 5669 h 7492"/>
              <a:gd name="T46" fmla="*/ 2512 w 14020"/>
              <a:gd name="T47" fmla="*/ 5175 h 7492"/>
              <a:gd name="T48" fmla="*/ 2208 w 14020"/>
              <a:gd name="T49" fmla="*/ 5694 h 7492"/>
              <a:gd name="T50" fmla="*/ 9693 w 14020"/>
              <a:gd name="T51" fmla="*/ 4861 h 7492"/>
              <a:gd name="T52" fmla="*/ 9882 w 14020"/>
              <a:gd name="T53" fmla="*/ 5290 h 7492"/>
              <a:gd name="T54" fmla="*/ 9454 w 14020"/>
              <a:gd name="T55" fmla="*/ 5316 h 7492"/>
              <a:gd name="T56" fmla="*/ 10111 w 14020"/>
              <a:gd name="T57" fmla="*/ 4992 h 7492"/>
              <a:gd name="T58" fmla="*/ 5368 w 14020"/>
              <a:gd name="T59" fmla="*/ 1122 h 7492"/>
              <a:gd name="T60" fmla="*/ 4237 w 14020"/>
              <a:gd name="T61" fmla="*/ 5671 h 7492"/>
              <a:gd name="T62" fmla="*/ 4237 w 14020"/>
              <a:gd name="T63" fmla="*/ 4676 h 7492"/>
              <a:gd name="T64" fmla="*/ 3473 w 14020"/>
              <a:gd name="T65" fmla="*/ 4861 h 7492"/>
              <a:gd name="T66" fmla="*/ 3475 w 14020"/>
              <a:gd name="T67" fmla="*/ 4676 h 7492"/>
              <a:gd name="T68" fmla="*/ 3439 w 14020"/>
              <a:gd name="T69" fmla="*/ 5316 h 7492"/>
              <a:gd name="T70" fmla="*/ 4675 w 14020"/>
              <a:gd name="T71" fmla="*/ 4342 h 7492"/>
              <a:gd name="T72" fmla="*/ 4675 w 14020"/>
              <a:gd name="T73" fmla="*/ 4342 h 7492"/>
              <a:gd name="T74" fmla="*/ 5584 w 14020"/>
              <a:gd name="T75" fmla="*/ 5479 h 7492"/>
              <a:gd name="T76" fmla="*/ 6146 w 14020"/>
              <a:gd name="T77" fmla="*/ 5175 h 7492"/>
              <a:gd name="T78" fmla="*/ 5949 w 14020"/>
              <a:gd name="T79" fmla="*/ 6003 h 7492"/>
              <a:gd name="T80" fmla="*/ 5949 w 14020"/>
              <a:gd name="T81" fmla="*/ 6003 h 7492"/>
              <a:gd name="T82" fmla="*/ 6161 w 14020"/>
              <a:gd name="T83" fmla="*/ 4342 h 7492"/>
              <a:gd name="T84" fmla="*/ 3787 w 14020"/>
              <a:gd name="T85" fmla="*/ 7492 h 7492"/>
              <a:gd name="T86" fmla="*/ 7230 w 14020"/>
              <a:gd name="T87" fmla="*/ 5391 h 7492"/>
              <a:gd name="T88" fmla="*/ 7252 w 14020"/>
              <a:gd name="T89" fmla="*/ 4910 h 7492"/>
              <a:gd name="T90" fmla="*/ 7030 w 14020"/>
              <a:gd name="T91" fmla="*/ 4926 h 7492"/>
              <a:gd name="T92" fmla="*/ 7122 w 14020"/>
              <a:gd name="T93" fmla="*/ 1461 h 7492"/>
              <a:gd name="T94" fmla="*/ 8911 w 14020"/>
              <a:gd name="T95" fmla="*/ 4865 h 7492"/>
              <a:gd name="T96" fmla="*/ 8935 w 14020"/>
              <a:gd name="T97" fmla="*/ 5671 h 7492"/>
              <a:gd name="T98" fmla="*/ 8823 w 14020"/>
              <a:gd name="T99" fmla="*/ 5072 h 7492"/>
              <a:gd name="T100" fmla="*/ 8294 w 14020"/>
              <a:gd name="T101" fmla="*/ 6003 h 7492"/>
              <a:gd name="T102" fmla="*/ 4883 w 14020"/>
              <a:gd name="T103" fmla="*/ 6003 h 7492"/>
              <a:gd name="T104" fmla="*/ 4883 w 14020"/>
              <a:gd name="T105" fmla="*/ 6003 h 7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4020" h="7492">
                <a:moveTo>
                  <a:pt x="8409" y="1337"/>
                </a:moveTo>
                <a:lnTo>
                  <a:pt x="8409" y="1337"/>
                </a:lnTo>
                <a:cubicBezTo>
                  <a:pt x="9112" y="2098"/>
                  <a:pt x="9460" y="3312"/>
                  <a:pt x="9567" y="4342"/>
                </a:cubicBezTo>
                <a:lnTo>
                  <a:pt x="9778" y="4342"/>
                </a:lnTo>
                <a:cubicBezTo>
                  <a:pt x="9647" y="3061"/>
                  <a:pt x="9224" y="1963"/>
                  <a:pt x="8637" y="1280"/>
                </a:cubicBezTo>
                <a:cubicBezTo>
                  <a:pt x="8563" y="1301"/>
                  <a:pt x="8487" y="1320"/>
                  <a:pt x="8409" y="1337"/>
                </a:cubicBezTo>
                <a:close/>
                <a:moveTo>
                  <a:pt x="7771" y="1438"/>
                </a:moveTo>
                <a:lnTo>
                  <a:pt x="7771" y="1438"/>
                </a:lnTo>
                <a:cubicBezTo>
                  <a:pt x="8104" y="2268"/>
                  <a:pt x="8246" y="3445"/>
                  <a:pt x="8292" y="4342"/>
                </a:cubicBezTo>
                <a:lnTo>
                  <a:pt x="8503" y="4342"/>
                </a:lnTo>
                <a:cubicBezTo>
                  <a:pt x="8441" y="3141"/>
                  <a:pt x="8251" y="2102"/>
                  <a:pt x="7986" y="1413"/>
                </a:cubicBezTo>
                <a:cubicBezTo>
                  <a:pt x="7915" y="1423"/>
                  <a:pt x="7844" y="1431"/>
                  <a:pt x="7771" y="1438"/>
                </a:cubicBezTo>
                <a:close/>
                <a:moveTo>
                  <a:pt x="10853" y="6003"/>
                </a:moveTo>
                <a:lnTo>
                  <a:pt x="10853" y="6003"/>
                </a:lnTo>
                <a:cubicBezTo>
                  <a:pt x="10780" y="6535"/>
                  <a:pt x="10637" y="7036"/>
                  <a:pt x="10437" y="7492"/>
                </a:cubicBezTo>
                <a:lnTo>
                  <a:pt x="10666" y="7492"/>
                </a:lnTo>
                <a:cubicBezTo>
                  <a:pt x="10858" y="7033"/>
                  <a:pt x="10995" y="6532"/>
                  <a:pt x="11064" y="6003"/>
                </a:cubicBezTo>
                <a:lnTo>
                  <a:pt x="10853" y="6003"/>
                </a:lnTo>
                <a:close/>
                <a:moveTo>
                  <a:pt x="7332" y="6003"/>
                </a:moveTo>
                <a:lnTo>
                  <a:pt x="7332" y="6003"/>
                </a:lnTo>
                <a:lnTo>
                  <a:pt x="7122" y="6003"/>
                </a:lnTo>
                <a:lnTo>
                  <a:pt x="7122" y="7492"/>
                </a:lnTo>
                <a:lnTo>
                  <a:pt x="7332" y="7492"/>
                </a:lnTo>
                <a:lnTo>
                  <a:pt x="7332" y="6003"/>
                </a:lnTo>
                <a:close/>
                <a:moveTo>
                  <a:pt x="9570" y="6003"/>
                </a:moveTo>
                <a:lnTo>
                  <a:pt x="9570" y="6003"/>
                </a:lnTo>
                <a:cubicBezTo>
                  <a:pt x="9522" y="6484"/>
                  <a:pt x="9423" y="7000"/>
                  <a:pt x="9262" y="7492"/>
                </a:cubicBezTo>
                <a:lnTo>
                  <a:pt x="9482" y="7492"/>
                </a:lnTo>
                <a:cubicBezTo>
                  <a:pt x="9626" y="7038"/>
                  <a:pt x="9729" y="6536"/>
                  <a:pt x="9781" y="6003"/>
                </a:cubicBezTo>
                <a:lnTo>
                  <a:pt x="9570" y="6003"/>
                </a:lnTo>
                <a:close/>
                <a:moveTo>
                  <a:pt x="9295" y="1019"/>
                </a:moveTo>
                <a:lnTo>
                  <a:pt x="9295" y="1019"/>
                </a:lnTo>
                <a:cubicBezTo>
                  <a:pt x="9230" y="1055"/>
                  <a:pt x="9159" y="1089"/>
                  <a:pt x="9085" y="1122"/>
                </a:cubicBezTo>
                <a:cubicBezTo>
                  <a:pt x="9993" y="1805"/>
                  <a:pt x="10653" y="2971"/>
                  <a:pt x="10848" y="4342"/>
                </a:cubicBezTo>
                <a:lnTo>
                  <a:pt x="11060" y="4342"/>
                </a:lnTo>
                <a:cubicBezTo>
                  <a:pt x="10868" y="2943"/>
                  <a:pt x="10210" y="1747"/>
                  <a:pt x="9295" y="1019"/>
                </a:cubicBezTo>
                <a:close/>
                <a:moveTo>
                  <a:pt x="10511" y="4676"/>
                </a:moveTo>
                <a:lnTo>
                  <a:pt x="10511" y="4676"/>
                </a:lnTo>
                <a:lnTo>
                  <a:pt x="10279" y="4676"/>
                </a:lnTo>
                <a:lnTo>
                  <a:pt x="10697" y="5671"/>
                </a:lnTo>
                <a:lnTo>
                  <a:pt x="10960" y="5671"/>
                </a:lnTo>
                <a:lnTo>
                  <a:pt x="11378" y="4676"/>
                </a:lnTo>
                <a:lnTo>
                  <a:pt x="11143" y="4676"/>
                </a:lnTo>
                <a:lnTo>
                  <a:pt x="10834" y="5443"/>
                </a:lnTo>
                <a:lnTo>
                  <a:pt x="10511" y="4676"/>
                </a:lnTo>
                <a:close/>
                <a:moveTo>
                  <a:pt x="12601" y="5694"/>
                </a:moveTo>
                <a:lnTo>
                  <a:pt x="12601" y="5694"/>
                </a:lnTo>
                <a:cubicBezTo>
                  <a:pt x="12843" y="5694"/>
                  <a:pt x="13029" y="5573"/>
                  <a:pt x="13054" y="5330"/>
                </a:cubicBezTo>
                <a:lnTo>
                  <a:pt x="12823" y="5330"/>
                </a:lnTo>
                <a:cubicBezTo>
                  <a:pt x="12804" y="5447"/>
                  <a:pt x="12724" y="5515"/>
                  <a:pt x="12601" y="5515"/>
                </a:cubicBezTo>
                <a:cubicBezTo>
                  <a:pt x="12420" y="5515"/>
                  <a:pt x="12346" y="5355"/>
                  <a:pt x="12346" y="5175"/>
                </a:cubicBezTo>
                <a:cubicBezTo>
                  <a:pt x="12346" y="4966"/>
                  <a:pt x="12445" y="4836"/>
                  <a:pt x="12605" y="4836"/>
                </a:cubicBezTo>
                <a:cubicBezTo>
                  <a:pt x="12715" y="4836"/>
                  <a:pt x="12789" y="4893"/>
                  <a:pt x="12814" y="4988"/>
                </a:cubicBezTo>
                <a:lnTo>
                  <a:pt x="13045" y="4988"/>
                </a:lnTo>
                <a:cubicBezTo>
                  <a:pt x="13018" y="4789"/>
                  <a:pt x="12847" y="4657"/>
                  <a:pt x="12605" y="4657"/>
                </a:cubicBezTo>
                <a:cubicBezTo>
                  <a:pt x="12310" y="4657"/>
                  <a:pt x="12133" y="4851"/>
                  <a:pt x="12133" y="5175"/>
                </a:cubicBezTo>
                <a:cubicBezTo>
                  <a:pt x="12133" y="5500"/>
                  <a:pt x="12308" y="5694"/>
                  <a:pt x="12601" y="5694"/>
                </a:cubicBezTo>
                <a:close/>
                <a:moveTo>
                  <a:pt x="12353" y="6003"/>
                </a:moveTo>
                <a:lnTo>
                  <a:pt x="12353" y="6003"/>
                </a:lnTo>
                <a:lnTo>
                  <a:pt x="12139" y="6003"/>
                </a:lnTo>
                <a:cubicBezTo>
                  <a:pt x="12052" y="6532"/>
                  <a:pt x="11881" y="7032"/>
                  <a:pt x="11641" y="7492"/>
                </a:cubicBezTo>
                <a:lnTo>
                  <a:pt x="11879" y="7492"/>
                </a:lnTo>
                <a:cubicBezTo>
                  <a:pt x="12107" y="7030"/>
                  <a:pt x="12270" y="6530"/>
                  <a:pt x="12353" y="6003"/>
                </a:cubicBezTo>
                <a:close/>
                <a:moveTo>
                  <a:pt x="14020" y="5486"/>
                </a:moveTo>
                <a:lnTo>
                  <a:pt x="14020" y="5486"/>
                </a:lnTo>
                <a:lnTo>
                  <a:pt x="13558" y="5486"/>
                </a:lnTo>
                <a:lnTo>
                  <a:pt x="13558" y="5254"/>
                </a:lnTo>
                <a:lnTo>
                  <a:pt x="14020" y="5254"/>
                </a:lnTo>
                <a:lnTo>
                  <a:pt x="14020" y="5072"/>
                </a:lnTo>
                <a:lnTo>
                  <a:pt x="13558" y="5072"/>
                </a:lnTo>
                <a:lnTo>
                  <a:pt x="13558" y="4865"/>
                </a:lnTo>
                <a:lnTo>
                  <a:pt x="14020" y="4865"/>
                </a:lnTo>
                <a:lnTo>
                  <a:pt x="14020" y="4676"/>
                </a:lnTo>
                <a:lnTo>
                  <a:pt x="13344" y="4676"/>
                </a:lnTo>
                <a:lnTo>
                  <a:pt x="13344" y="5671"/>
                </a:lnTo>
                <a:lnTo>
                  <a:pt x="14020" y="5671"/>
                </a:lnTo>
                <a:lnTo>
                  <a:pt x="14020" y="5486"/>
                </a:lnTo>
                <a:close/>
                <a:moveTo>
                  <a:pt x="12347" y="4342"/>
                </a:moveTo>
                <a:lnTo>
                  <a:pt x="12347" y="4342"/>
                </a:lnTo>
                <a:cubicBezTo>
                  <a:pt x="11942" y="1879"/>
                  <a:pt x="9805" y="0"/>
                  <a:pt x="7227" y="0"/>
                </a:cubicBezTo>
                <a:cubicBezTo>
                  <a:pt x="4649" y="0"/>
                  <a:pt x="2511" y="1879"/>
                  <a:pt x="2107" y="4342"/>
                </a:cubicBezTo>
                <a:lnTo>
                  <a:pt x="2320" y="4342"/>
                </a:lnTo>
                <a:cubicBezTo>
                  <a:pt x="2724" y="1998"/>
                  <a:pt x="4769" y="209"/>
                  <a:pt x="7227" y="209"/>
                </a:cubicBezTo>
                <a:cubicBezTo>
                  <a:pt x="9684" y="209"/>
                  <a:pt x="11730" y="1998"/>
                  <a:pt x="12134" y="4342"/>
                </a:cubicBezTo>
                <a:lnTo>
                  <a:pt x="12347" y="4342"/>
                </a:lnTo>
                <a:close/>
                <a:moveTo>
                  <a:pt x="2314" y="6003"/>
                </a:moveTo>
                <a:lnTo>
                  <a:pt x="2314" y="6003"/>
                </a:lnTo>
                <a:lnTo>
                  <a:pt x="2101" y="6003"/>
                </a:lnTo>
                <a:cubicBezTo>
                  <a:pt x="2184" y="6530"/>
                  <a:pt x="2346" y="7030"/>
                  <a:pt x="2575" y="7492"/>
                </a:cubicBezTo>
                <a:lnTo>
                  <a:pt x="2813" y="7492"/>
                </a:lnTo>
                <a:cubicBezTo>
                  <a:pt x="2572" y="7032"/>
                  <a:pt x="2401" y="6532"/>
                  <a:pt x="2314" y="6003"/>
                </a:cubicBezTo>
                <a:close/>
                <a:moveTo>
                  <a:pt x="11829" y="4676"/>
                </a:moveTo>
                <a:lnTo>
                  <a:pt x="11829" y="4676"/>
                </a:lnTo>
                <a:lnTo>
                  <a:pt x="11619" y="4676"/>
                </a:lnTo>
                <a:lnTo>
                  <a:pt x="11619" y="5671"/>
                </a:lnTo>
                <a:lnTo>
                  <a:pt x="11829" y="5671"/>
                </a:lnTo>
                <a:lnTo>
                  <a:pt x="11829" y="4676"/>
                </a:lnTo>
                <a:close/>
                <a:moveTo>
                  <a:pt x="596" y="5669"/>
                </a:moveTo>
                <a:lnTo>
                  <a:pt x="596" y="5669"/>
                </a:lnTo>
                <a:cubicBezTo>
                  <a:pt x="603" y="5636"/>
                  <a:pt x="759" y="4889"/>
                  <a:pt x="759" y="4877"/>
                </a:cubicBezTo>
                <a:lnTo>
                  <a:pt x="762" y="4877"/>
                </a:lnTo>
                <a:lnTo>
                  <a:pt x="952" y="5669"/>
                </a:lnTo>
                <a:lnTo>
                  <a:pt x="1233" y="5669"/>
                </a:lnTo>
                <a:lnTo>
                  <a:pt x="1511" y="4676"/>
                </a:lnTo>
                <a:lnTo>
                  <a:pt x="1300" y="4676"/>
                </a:lnTo>
                <a:cubicBezTo>
                  <a:pt x="1270" y="4779"/>
                  <a:pt x="1103" y="5343"/>
                  <a:pt x="1090" y="5449"/>
                </a:cubicBezTo>
                <a:lnTo>
                  <a:pt x="1086" y="5449"/>
                </a:lnTo>
                <a:cubicBezTo>
                  <a:pt x="1086" y="5437"/>
                  <a:pt x="923" y="4709"/>
                  <a:pt x="916" y="4676"/>
                </a:cubicBezTo>
                <a:lnTo>
                  <a:pt x="604" y="4676"/>
                </a:lnTo>
                <a:cubicBezTo>
                  <a:pt x="598" y="4703"/>
                  <a:pt x="459" y="5424"/>
                  <a:pt x="454" y="5449"/>
                </a:cubicBezTo>
                <a:lnTo>
                  <a:pt x="449" y="5449"/>
                </a:lnTo>
                <a:cubicBezTo>
                  <a:pt x="436" y="5340"/>
                  <a:pt x="246" y="4781"/>
                  <a:pt x="210" y="4676"/>
                </a:cubicBezTo>
                <a:lnTo>
                  <a:pt x="0" y="4676"/>
                </a:lnTo>
                <a:lnTo>
                  <a:pt x="315" y="5669"/>
                </a:lnTo>
                <a:lnTo>
                  <a:pt x="596" y="5669"/>
                </a:lnTo>
                <a:close/>
                <a:moveTo>
                  <a:pt x="2208" y="4836"/>
                </a:moveTo>
                <a:lnTo>
                  <a:pt x="2208" y="4836"/>
                </a:lnTo>
                <a:cubicBezTo>
                  <a:pt x="2029" y="4836"/>
                  <a:pt x="1904" y="4976"/>
                  <a:pt x="1904" y="5175"/>
                </a:cubicBezTo>
                <a:cubicBezTo>
                  <a:pt x="1904" y="5375"/>
                  <a:pt x="2029" y="5515"/>
                  <a:pt x="2208" y="5515"/>
                </a:cubicBezTo>
                <a:cubicBezTo>
                  <a:pt x="2387" y="5515"/>
                  <a:pt x="2512" y="5375"/>
                  <a:pt x="2512" y="5175"/>
                </a:cubicBezTo>
                <a:cubicBezTo>
                  <a:pt x="2512" y="4976"/>
                  <a:pt x="2387" y="4836"/>
                  <a:pt x="2208" y="4836"/>
                </a:cubicBezTo>
                <a:close/>
                <a:moveTo>
                  <a:pt x="2208" y="4657"/>
                </a:moveTo>
                <a:lnTo>
                  <a:pt x="2208" y="4657"/>
                </a:lnTo>
                <a:cubicBezTo>
                  <a:pt x="2516" y="4657"/>
                  <a:pt x="2706" y="4852"/>
                  <a:pt x="2706" y="5175"/>
                </a:cubicBezTo>
                <a:cubicBezTo>
                  <a:pt x="2706" y="5498"/>
                  <a:pt x="2516" y="5694"/>
                  <a:pt x="2208" y="5694"/>
                </a:cubicBezTo>
                <a:cubicBezTo>
                  <a:pt x="1900" y="5694"/>
                  <a:pt x="1710" y="5498"/>
                  <a:pt x="1710" y="5175"/>
                </a:cubicBezTo>
                <a:cubicBezTo>
                  <a:pt x="1710" y="4853"/>
                  <a:pt x="1900" y="4657"/>
                  <a:pt x="2208" y="4657"/>
                </a:cubicBezTo>
                <a:close/>
                <a:moveTo>
                  <a:pt x="9886" y="4993"/>
                </a:moveTo>
                <a:lnTo>
                  <a:pt x="9886" y="4993"/>
                </a:lnTo>
                <a:cubicBezTo>
                  <a:pt x="9886" y="4903"/>
                  <a:pt x="9825" y="4861"/>
                  <a:pt x="9693" y="4861"/>
                </a:cubicBezTo>
                <a:lnTo>
                  <a:pt x="9454" y="4861"/>
                </a:lnTo>
                <a:lnTo>
                  <a:pt x="9454" y="5123"/>
                </a:lnTo>
                <a:lnTo>
                  <a:pt x="9689" y="5123"/>
                </a:lnTo>
                <a:cubicBezTo>
                  <a:pt x="9791" y="5123"/>
                  <a:pt x="9886" y="5107"/>
                  <a:pt x="9886" y="4993"/>
                </a:cubicBezTo>
                <a:close/>
                <a:moveTo>
                  <a:pt x="9882" y="5290"/>
                </a:moveTo>
                <a:lnTo>
                  <a:pt x="9882" y="5290"/>
                </a:lnTo>
                <a:lnTo>
                  <a:pt x="10144" y="5671"/>
                </a:lnTo>
                <a:lnTo>
                  <a:pt x="9892" y="5671"/>
                </a:lnTo>
                <a:cubicBezTo>
                  <a:pt x="9889" y="5667"/>
                  <a:pt x="9662" y="5321"/>
                  <a:pt x="9658" y="5316"/>
                </a:cubicBezTo>
                <a:lnTo>
                  <a:pt x="9454" y="5316"/>
                </a:lnTo>
                <a:lnTo>
                  <a:pt x="9454" y="5671"/>
                </a:lnTo>
                <a:lnTo>
                  <a:pt x="9240" y="5671"/>
                </a:lnTo>
                <a:lnTo>
                  <a:pt x="9240" y="4676"/>
                </a:lnTo>
                <a:lnTo>
                  <a:pt x="9694" y="4676"/>
                </a:lnTo>
                <a:cubicBezTo>
                  <a:pt x="9926" y="4676"/>
                  <a:pt x="10111" y="4758"/>
                  <a:pt x="10111" y="4992"/>
                </a:cubicBezTo>
                <a:cubicBezTo>
                  <a:pt x="10111" y="5138"/>
                  <a:pt x="10036" y="5244"/>
                  <a:pt x="9882" y="5290"/>
                </a:cubicBezTo>
                <a:close/>
                <a:moveTo>
                  <a:pt x="3394" y="4342"/>
                </a:moveTo>
                <a:lnTo>
                  <a:pt x="3394" y="4342"/>
                </a:lnTo>
                <a:lnTo>
                  <a:pt x="3606" y="4342"/>
                </a:lnTo>
                <a:cubicBezTo>
                  <a:pt x="3801" y="2971"/>
                  <a:pt x="4460" y="1805"/>
                  <a:pt x="5368" y="1122"/>
                </a:cubicBezTo>
                <a:cubicBezTo>
                  <a:pt x="5294" y="1089"/>
                  <a:pt x="5224" y="1055"/>
                  <a:pt x="5159" y="1019"/>
                </a:cubicBezTo>
                <a:cubicBezTo>
                  <a:pt x="4243" y="1747"/>
                  <a:pt x="3586" y="2943"/>
                  <a:pt x="3394" y="4342"/>
                </a:cubicBezTo>
                <a:close/>
                <a:moveTo>
                  <a:pt x="4237" y="4676"/>
                </a:moveTo>
                <a:lnTo>
                  <a:pt x="4237" y="4676"/>
                </a:lnTo>
                <a:lnTo>
                  <a:pt x="4237" y="5671"/>
                </a:lnTo>
                <a:lnTo>
                  <a:pt x="4992" y="5671"/>
                </a:lnTo>
                <a:lnTo>
                  <a:pt x="4992" y="5482"/>
                </a:lnTo>
                <a:lnTo>
                  <a:pt x="4443" y="5482"/>
                </a:lnTo>
                <a:lnTo>
                  <a:pt x="4443" y="4676"/>
                </a:lnTo>
                <a:lnTo>
                  <a:pt x="4237" y="4676"/>
                </a:lnTo>
                <a:close/>
                <a:moveTo>
                  <a:pt x="3234" y="5123"/>
                </a:moveTo>
                <a:lnTo>
                  <a:pt x="3234" y="5123"/>
                </a:lnTo>
                <a:lnTo>
                  <a:pt x="3469" y="5123"/>
                </a:lnTo>
                <a:cubicBezTo>
                  <a:pt x="3572" y="5123"/>
                  <a:pt x="3667" y="5107"/>
                  <a:pt x="3667" y="4993"/>
                </a:cubicBezTo>
                <a:cubicBezTo>
                  <a:pt x="3667" y="4903"/>
                  <a:pt x="3605" y="4861"/>
                  <a:pt x="3473" y="4861"/>
                </a:cubicBezTo>
                <a:lnTo>
                  <a:pt x="3234" y="4861"/>
                </a:lnTo>
                <a:lnTo>
                  <a:pt x="3234" y="5123"/>
                </a:lnTo>
                <a:close/>
                <a:moveTo>
                  <a:pt x="3021" y="4676"/>
                </a:moveTo>
                <a:lnTo>
                  <a:pt x="3021" y="4676"/>
                </a:lnTo>
                <a:lnTo>
                  <a:pt x="3475" y="4676"/>
                </a:lnTo>
                <a:cubicBezTo>
                  <a:pt x="3714" y="4676"/>
                  <a:pt x="3892" y="4754"/>
                  <a:pt x="3892" y="4992"/>
                </a:cubicBezTo>
                <a:cubicBezTo>
                  <a:pt x="3892" y="5138"/>
                  <a:pt x="3816" y="5244"/>
                  <a:pt x="3662" y="5290"/>
                </a:cubicBezTo>
                <a:lnTo>
                  <a:pt x="3925" y="5671"/>
                </a:lnTo>
                <a:lnTo>
                  <a:pt x="3673" y="5671"/>
                </a:lnTo>
                <a:cubicBezTo>
                  <a:pt x="3670" y="5667"/>
                  <a:pt x="3442" y="5321"/>
                  <a:pt x="3439" y="5316"/>
                </a:cubicBezTo>
                <a:lnTo>
                  <a:pt x="3234" y="5316"/>
                </a:lnTo>
                <a:lnTo>
                  <a:pt x="3234" y="5671"/>
                </a:lnTo>
                <a:lnTo>
                  <a:pt x="3021" y="5671"/>
                </a:lnTo>
                <a:lnTo>
                  <a:pt x="3021" y="4676"/>
                </a:lnTo>
                <a:close/>
                <a:moveTo>
                  <a:pt x="4675" y="4342"/>
                </a:moveTo>
                <a:lnTo>
                  <a:pt x="4675" y="4342"/>
                </a:lnTo>
                <a:lnTo>
                  <a:pt x="4886" y="4342"/>
                </a:lnTo>
                <a:cubicBezTo>
                  <a:pt x="4994" y="3310"/>
                  <a:pt x="5343" y="2097"/>
                  <a:pt x="6044" y="1337"/>
                </a:cubicBezTo>
                <a:cubicBezTo>
                  <a:pt x="5966" y="1320"/>
                  <a:pt x="5890" y="1301"/>
                  <a:pt x="5817" y="1280"/>
                </a:cubicBezTo>
                <a:cubicBezTo>
                  <a:pt x="5230" y="1963"/>
                  <a:pt x="4807" y="3061"/>
                  <a:pt x="4675" y="4342"/>
                </a:cubicBezTo>
                <a:close/>
                <a:moveTo>
                  <a:pt x="5584" y="4872"/>
                </a:moveTo>
                <a:lnTo>
                  <a:pt x="5584" y="4872"/>
                </a:lnTo>
                <a:lnTo>
                  <a:pt x="5461" y="4872"/>
                </a:lnTo>
                <a:lnTo>
                  <a:pt x="5461" y="5479"/>
                </a:lnTo>
                <a:lnTo>
                  <a:pt x="5584" y="5479"/>
                </a:lnTo>
                <a:cubicBezTo>
                  <a:pt x="5819" y="5479"/>
                  <a:pt x="5924" y="5385"/>
                  <a:pt x="5924" y="5175"/>
                </a:cubicBezTo>
                <a:cubicBezTo>
                  <a:pt x="5924" y="4965"/>
                  <a:pt x="5819" y="4872"/>
                  <a:pt x="5584" y="4872"/>
                </a:cubicBezTo>
                <a:close/>
                <a:moveTo>
                  <a:pt x="5587" y="4679"/>
                </a:moveTo>
                <a:lnTo>
                  <a:pt x="5587" y="4679"/>
                </a:lnTo>
                <a:cubicBezTo>
                  <a:pt x="5924" y="4679"/>
                  <a:pt x="6146" y="4840"/>
                  <a:pt x="6146" y="5175"/>
                </a:cubicBezTo>
                <a:cubicBezTo>
                  <a:pt x="6146" y="5511"/>
                  <a:pt x="5924" y="5671"/>
                  <a:pt x="5587" y="5671"/>
                </a:cubicBezTo>
                <a:lnTo>
                  <a:pt x="5247" y="5671"/>
                </a:lnTo>
                <a:lnTo>
                  <a:pt x="5247" y="4679"/>
                </a:lnTo>
                <a:lnTo>
                  <a:pt x="5587" y="4679"/>
                </a:lnTo>
                <a:close/>
                <a:moveTo>
                  <a:pt x="5949" y="6003"/>
                </a:moveTo>
                <a:lnTo>
                  <a:pt x="5949" y="6003"/>
                </a:lnTo>
                <a:cubicBezTo>
                  <a:pt x="5976" y="6536"/>
                  <a:pt x="6027" y="7038"/>
                  <a:pt x="6099" y="7492"/>
                </a:cubicBezTo>
                <a:lnTo>
                  <a:pt x="6311" y="7492"/>
                </a:lnTo>
                <a:cubicBezTo>
                  <a:pt x="6229" y="6977"/>
                  <a:pt x="6182" y="6455"/>
                  <a:pt x="6160" y="6003"/>
                </a:cubicBezTo>
                <a:lnTo>
                  <a:pt x="5949" y="6003"/>
                </a:lnTo>
                <a:close/>
                <a:moveTo>
                  <a:pt x="6686" y="1438"/>
                </a:moveTo>
                <a:lnTo>
                  <a:pt x="6686" y="1438"/>
                </a:lnTo>
                <a:cubicBezTo>
                  <a:pt x="6612" y="1431"/>
                  <a:pt x="6539" y="1423"/>
                  <a:pt x="6468" y="1413"/>
                </a:cubicBezTo>
                <a:cubicBezTo>
                  <a:pt x="6202" y="2102"/>
                  <a:pt x="6012" y="3141"/>
                  <a:pt x="5951" y="4342"/>
                </a:cubicBezTo>
                <a:lnTo>
                  <a:pt x="6161" y="4342"/>
                </a:lnTo>
                <a:cubicBezTo>
                  <a:pt x="6228" y="3058"/>
                  <a:pt x="6441" y="2056"/>
                  <a:pt x="6686" y="1438"/>
                </a:cubicBezTo>
                <a:close/>
                <a:moveTo>
                  <a:pt x="3601" y="6003"/>
                </a:moveTo>
                <a:lnTo>
                  <a:pt x="3601" y="6003"/>
                </a:lnTo>
                <a:lnTo>
                  <a:pt x="3389" y="6003"/>
                </a:lnTo>
                <a:cubicBezTo>
                  <a:pt x="3459" y="6532"/>
                  <a:pt x="3595" y="7033"/>
                  <a:pt x="3787" y="7492"/>
                </a:cubicBezTo>
                <a:lnTo>
                  <a:pt x="4016" y="7492"/>
                </a:lnTo>
                <a:cubicBezTo>
                  <a:pt x="3816" y="7036"/>
                  <a:pt x="3674" y="6535"/>
                  <a:pt x="3601" y="6003"/>
                </a:cubicBezTo>
                <a:close/>
                <a:moveTo>
                  <a:pt x="7435" y="5549"/>
                </a:moveTo>
                <a:lnTo>
                  <a:pt x="7435" y="5549"/>
                </a:lnTo>
                <a:cubicBezTo>
                  <a:pt x="7325" y="5549"/>
                  <a:pt x="7245" y="5503"/>
                  <a:pt x="7230" y="5391"/>
                </a:cubicBezTo>
                <a:lnTo>
                  <a:pt x="7005" y="5391"/>
                </a:lnTo>
                <a:cubicBezTo>
                  <a:pt x="7022" y="5622"/>
                  <a:pt x="7207" y="5721"/>
                  <a:pt x="7438" y="5721"/>
                </a:cubicBezTo>
                <a:cubicBezTo>
                  <a:pt x="7648" y="5721"/>
                  <a:pt x="7830" y="5614"/>
                  <a:pt x="7837" y="5404"/>
                </a:cubicBezTo>
                <a:cubicBezTo>
                  <a:pt x="7844" y="5188"/>
                  <a:pt x="7686" y="5144"/>
                  <a:pt x="7503" y="5094"/>
                </a:cubicBezTo>
                <a:cubicBezTo>
                  <a:pt x="7393" y="5064"/>
                  <a:pt x="7248" y="5024"/>
                  <a:pt x="7252" y="4910"/>
                </a:cubicBezTo>
                <a:cubicBezTo>
                  <a:pt x="7255" y="4830"/>
                  <a:pt x="7339" y="4797"/>
                  <a:pt x="7419" y="4799"/>
                </a:cubicBezTo>
                <a:cubicBezTo>
                  <a:pt x="7537" y="4803"/>
                  <a:pt x="7588" y="4860"/>
                  <a:pt x="7595" y="4952"/>
                </a:cubicBezTo>
                <a:lnTo>
                  <a:pt x="7815" y="4952"/>
                </a:lnTo>
                <a:cubicBezTo>
                  <a:pt x="7806" y="4723"/>
                  <a:pt x="7638" y="4630"/>
                  <a:pt x="7408" y="4630"/>
                </a:cubicBezTo>
                <a:cubicBezTo>
                  <a:pt x="7211" y="4630"/>
                  <a:pt x="7037" y="4732"/>
                  <a:pt x="7030" y="4926"/>
                </a:cubicBezTo>
                <a:cubicBezTo>
                  <a:pt x="7023" y="5153"/>
                  <a:pt x="7198" y="5196"/>
                  <a:pt x="7399" y="5253"/>
                </a:cubicBezTo>
                <a:cubicBezTo>
                  <a:pt x="7495" y="5281"/>
                  <a:pt x="7607" y="5312"/>
                  <a:pt x="7610" y="5409"/>
                </a:cubicBezTo>
                <a:cubicBezTo>
                  <a:pt x="7608" y="5488"/>
                  <a:pt x="7541" y="5549"/>
                  <a:pt x="7435" y="5549"/>
                </a:cubicBezTo>
                <a:close/>
                <a:moveTo>
                  <a:pt x="7122" y="1461"/>
                </a:moveTo>
                <a:lnTo>
                  <a:pt x="7122" y="1461"/>
                </a:lnTo>
                <a:lnTo>
                  <a:pt x="7122" y="4342"/>
                </a:lnTo>
                <a:lnTo>
                  <a:pt x="7332" y="4342"/>
                </a:lnTo>
                <a:lnTo>
                  <a:pt x="7332" y="1461"/>
                </a:lnTo>
                <a:cubicBezTo>
                  <a:pt x="7151" y="1464"/>
                  <a:pt x="7316" y="1464"/>
                  <a:pt x="7122" y="1461"/>
                </a:cubicBezTo>
                <a:close/>
                <a:moveTo>
                  <a:pt x="8911" y="4865"/>
                </a:moveTo>
                <a:lnTo>
                  <a:pt x="8911" y="4865"/>
                </a:lnTo>
                <a:lnTo>
                  <a:pt x="8911" y="4676"/>
                </a:lnTo>
                <a:lnTo>
                  <a:pt x="8147" y="4676"/>
                </a:lnTo>
                <a:lnTo>
                  <a:pt x="8147" y="5671"/>
                </a:lnTo>
                <a:lnTo>
                  <a:pt x="8935" y="5671"/>
                </a:lnTo>
                <a:lnTo>
                  <a:pt x="8935" y="5486"/>
                </a:lnTo>
                <a:lnTo>
                  <a:pt x="8361" y="5486"/>
                </a:lnTo>
                <a:lnTo>
                  <a:pt x="8361" y="5254"/>
                </a:lnTo>
                <a:lnTo>
                  <a:pt x="8823" y="5254"/>
                </a:lnTo>
                <a:lnTo>
                  <a:pt x="8823" y="5072"/>
                </a:lnTo>
                <a:lnTo>
                  <a:pt x="8361" y="5072"/>
                </a:lnTo>
                <a:lnTo>
                  <a:pt x="8361" y="4865"/>
                </a:lnTo>
                <a:lnTo>
                  <a:pt x="8911" y="4865"/>
                </a:lnTo>
                <a:close/>
                <a:moveTo>
                  <a:pt x="8294" y="6003"/>
                </a:moveTo>
                <a:lnTo>
                  <a:pt x="8294" y="6003"/>
                </a:lnTo>
                <a:cubicBezTo>
                  <a:pt x="8267" y="6553"/>
                  <a:pt x="8212" y="7052"/>
                  <a:pt x="8140" y="7492"/>
                </a:cubicBezTo>
                <a:lnTo>
                  <a:pt x="8355" y="7492"/>
                </a:lnTo>
                <a:cubicBezTo>
                  <a:pt x="8427" y="7038"/>
                  <a:pt x="8478" y="6536"/>
                  <a:pt x="8504" y="6003"/>
                </a:cubicBezTo>
                <a:lnTo>
                  <a:pt x="8294" y="6003"/>
                </a:lnTo>
                <a:close/>
                <a:moveTo>
                  <a:pt x="4883" y="6003"/>
                </a:moveTo>
                <a:lnTo>
                  <a:pt x="4883" y="6003"/>
                </a:lnTo>
                <a:cubicBezTo>
                  <a:pt x="4932" y="6483"/>
                  <a:pt x="5031" y="6999"/>
                  <a:pt x="5192" y="7492"/>
                </a:cubicBezTo>
                <a:lnTo>
                  <a:pt x="4972" y="7492"/>
                </a:lnTo>
                <a:cubicBezTo>
                  <a:pt x="4828" y="7038"/>
                  <a:pt x="4725" y="6536"/>
                  <a:pt x="4672" y="6003"/>
                </a:cubicBezTo>
                <a:lnTo>
                  <a:pt x="4883" y="6003"/>
                </a:lnTo>
                <a:close/>
              </a:path>
            </a:pathLst>
          </a:custGeom>
          <a:solidFill>
            <a:srgbClr val="0017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09575"/>
            <a:ext cx="3978275" cy="1691639"/>
          </a:xfrm>
        </p:spPr>
        <p:txBody>
          <a:bodyPr rIns="137160" anchor="b" anchorCtr="0"/>
          <a:lstStyle>
            <a:lvl1pPr>
              <a:defRPr sz="3200" spc="-6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1" y="2240280"/>
            <a:ext cx="2835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76616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9144000" cy="51435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09575"/>
            <a:ext cx="6950075" cy="1691639"/>
          </a:xfrm>
        </p:spPr>
        <p:txBody>
          <a:bodyPr rIns="137160" anchor="b" anchorCtr="0"/>
          <a:lstStyle>
            <a:lvl1pPr>
              <a:defRPr sz="3200" spc="-60" baseline="0"/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1" y="2240280"/>
            <a:ext cx="3978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3382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03 Gray">
    <p:bg>
      <p:bgPr>
        <a:solidFill>
          <a:srgbClr val="888B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0" y="0"/>
            <a:ext cx="9144000" cy="51435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09575"/>
            <a:ext cx="6950075" cy="1691639"/>
          </a:xfrm>
        </p:spPr>
        <p:txBody>
          <a:bodyPr rIns="137160" anchor="b" anchorCtr="0"/>
          <a:lstStyle>
            <a:lvl1pPr>
              <a:defRPr sz="3200" spc="-6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1" y="2240280"/>
            <a:ext cx="3978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12274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AE535-1AEF-404C-881C-960C2F20666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242999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FE97-439F-A649-87BE-06EB6810AC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DEE9E9B-0B20-AF4C-AFD2-7A8D1E18FC4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5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211990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Do Busines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2468880" y="3255264"/>
            <a:ext cx="6583680" cy="1885281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457200" y="1240530"/>
            <a:ext cx="3978275" cy="545541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-60" baseline="0">
                <a:solidFill>
                  <a:schemeClr val="bg2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914259"/>
            <a:ext cx="3978275" cy="25161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None/>
              <a:defRPr sz="1000">
                <a:solidFill>
                  <a:schemeClr val="tx1"/>
                </a:solidFill>
              </a:defRPr>
            </a:lvl2pPr>
            <a:lvl3pPr marL="176022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3pPr>
            <a:lvl4pPr marL="340614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4pPr>
            <a:lvl5pPr marL="51435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5pPr>
            <a:lvl6pPr marL="688086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6pPr>
            <a:lvl7pPr marL="852678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7pPr>
            <a:lvl8pPr marL="1026414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8pPr>
            <a:lvl9pPr marL="120015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contact information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D9407C-1BB1-4EDA-997D-68BA5AF172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255" y="4430395"/>
            <a:ext cx="550683" cy="550683"/>
          </a:xfrm>
          <a:prstGeom prst="rect">
            <a:avLst/>
          </a:prstGeom>
        </p:spPr>
      </p:pic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E79C0833-054F-44D6-AF24-2FE58439D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768"/>
          <a:stretch/>
        </p:blipFill>
        <p:spPr>
          <a:xfrm>
            <a:off x="939937" y="4349177"/>
            <a:ext cx="1422263" cy="64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9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Do Business - Blu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E8805632-84E3-CE4C-ABBB-A2841289972B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2468880" y="3255264"/>
            <a:ext cx="6583680" cy="1885281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006FC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953EBE-000A-4847-AECD-FAA20C0B0545}"/>
              </a:ext>
            </a:extLst>
          </p:cNvPr>
          <p:cNvSpPr txBox="1">
            <a:spLocks/>
          </p:cNvSpPr>
          <p:nvPr userDrawn="1"/>
        </p:nvSpPr>
        <p:spPr>
          <a:xfrm>
            <a:off x="457200" y="1240530"/>
            <a:ext cx="3978275" cy="545541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spc="-4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spc="-60" baseline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C8422-08BB-9643-8698-4BD671D332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914259"/>
            <a:ext cx="3978275" cy="25161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000">
                <a:solidFill>
                  <a:schemeClr val="bg2"/>
                </a:solidFill>
              </a:defRPr>
            </a:lvl1pPr>
            <a:lvl2pPr marL="0" indent="-171450">
              <a:lnSpc>
                <a:spcPct val="100000"/>
              </a:lnSpc>
              <a:spcBef>
                <a:spcPts val="0"/>
              </a:spcBef>
              <a:buSzPct val="120000"/>
              <a:buFont typeface="Arial" pitchFamily="34" charset="0"/>
              <a:buChar char="▪"/>
              <a:defRPr sz="1000">
                <a:solidFill>
                  <a:schemeClr val="bg2"/>
                </a:solidFill>
              </a:defRPr>
            </a:lvl2pPr>
            <a:lvl3pPr marL="347472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3pPr>
            <a:lvl4pPr marL="512064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4pPr>
            <a:lvl5pPr marL="685800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5pPr>
            <a:lvl6pPr marL="859536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6pPr>
            <a:lvl7pPr marL="1024128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7pPr>
            <a:lvl8pPr marL="1197864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8pPr>
            <a:lvl9pPr marL="1371600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Optional contact information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F3E707-9851-46A3-847F-50047CD1EA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255" y="4430395"/>
            <a:ext cx="550683" cy="550683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1D6B10A3-88F3-4E16-B8C1-60AC57243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30768"/>
          <a:stretch/>
        </p:blipFill>
        <p:spPr>
          <a:xfrm>
            <a:off x="939937" y="4349177"/>
            <a:ext cx="1422263" cy="64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3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387350" y="1197769"/>
            <a:ext cx="6508750" cy="248721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0826442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143000" y="0"/>
            <a:ext cx="8001000" cy="5143500"/>
          </a:xfrm>
        </p:spPr>
        <p:txBody>
          <a:bodyPr anchor="ctr">
            <a:noAutofit/>
          </a:bodyPr>
          <a:lstStyle>
            <a:lvl1pPr algn="l">
              <a:defRPr sz="3150" cap="none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006740" y="4794514"/>
            <a:ext cx="789202" cy="225955"/>
          </a:xfrm>
        </p:spPr>
        <p:txBody>
          <a:bodyPr/>
          <a:lstStyle/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38232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876" y="283110"/>
            <a:ext cx="7739565" cy="747596"/>
          </a:xfrm>
        </p:spPr>
        <p:txBody>
          <a:bodyPr/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354798" y="4904185"/>
            <a:ext cx="789202" cy="225955"/>
          </a:xfrm>
        </p:spPr>
        <p:txBody>
          <a:bodyPr/>
          <a:lstStyle/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146875" y="1197769"/>
            <a:ext cx="6121184" cy="248721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-1" y="0"/>
            <a:ext cx="759309" cy="51435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59308" cy="514350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 algn="ctr">
              <a:defRPr sz="800"/>
            </a:lvl1pPr>
          </a:lstStyle>
          <a:p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1927381491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533400" y="1047750"/>
            <a:ext cx="8077200" cy="365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5938A5-0ACC-427C-AEF3-E27FB116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AD45F-6A32-497C-AEBE-CA3CD9CD74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8F2ECC3E-F9C8-4882-A6CE-A429DCEF98A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324" y="4801234"/>
            <a:ext cx="8707438" cy="170816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bIns="0" anchor="b">
            <a:spAutoFit/>
          </a:bodyPr>
          <a:lstStyle>
            <a:lvl1pPr marL="0" indent="0">
              <a:buNone/>
              <a:defRPr lang="en-US" sz="900" i="1" dirty="0" smtClean="0">
                <a:solidFill>
                  <a:schemeClr val="bg1">
                    <a:lumMod val="50000"/>
                  </a:schemeClr>
                </a:solidFill>
                <a:latin typeface="BentonSans Regular" panose="02000503000000020004" pitchFamily="2" charset="0"/>
              </a:defRPr>
            </a:lvl1pPr>
          </a:lstStyle>
          <a:p>
            <a:pPr marL="0" lvl="0" indent="-115888">
              <a:lnSpc>
                <a:spcPct val="90000"/>
              </a:lnSpc>
              <a:spcBef>
                <a:spcPts val="300"/>
              </a:spcBef>
            </a:pPr>
            <a:r>
              <a:rPr lang="en-US"/>
              <a:t>Click to add a source or reference or note. </a:t>
            </a:r>
          </a:p>
        </p:txBody>
      </p:sp>
    </p:spTree>
    <p:extLst>
      <p:ext uri="{BB962C8B-B14F-4D97-AF65-F5344CB8AC3E}">
        <p14:creationId xmlns:p14="http://schemas.microsoft.com/office/powerpoint/2010/main" val="286850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2" y="1234440"/>
            <a:ext cx="6950075" cy="3200400"/>
          </a:xfrm>
        </p:spPr>
        <p:txBody>
          <a:bodyPr/>
          <a:lstStyle>
            <a:lvl1pPr marL="171442" indent="-171442">
              <a:buFont typeface="Arial" panose="020B0604020202020204" pitchFamily="34" charset="0"/>
              <a:buChar char="•"/>
              <a:defRPr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z="12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fld id="{E8FE1D80-0B15-46BA-B7F8-B6C93A045F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8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AF261-CD9D-6640-9F4C-135ADD5C2485}"/>
              </a:ext>
            </a:extLst>
          </p:cNvPr>
          <p:cNvSpPr txBox="1"/>
          <p:nvPr userDrawn="1"/>
        </p:nvSpPr>
        <p:spPr>
          <a:xfrm>
            <a:off x="4189343" y="495714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28588" indent="-128588">
              <a:lnSpc>
                <a:spcPct val="120000"/>
              </a:lnSpc>
              <a:spcBef>
                <a:spcPts val="675"/>
              </a:spcBef>
              <a:buSzPct val="120000"/>
              <a:buFont typeface="Arial" pitchFamily="34" charset="0"/>
              <a:buChar char="▪"/>
            </a:pP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0168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1" cy="3200400"/>
          </a:xfrm>
        </p:spPr>
        <p:txBody>
          <a:bodyPr numCol="2" spcCol="274320"/>
          <a:lstStyle>
            <a:lvl1pPr marL="228543" indent="-228543"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lvl1pPr>
            <a:lvl2pPr marL="402236">
              <a:defRPr sz="1100"/>
            </a:lvl2pPr>
            <a:lvl3pPr marL="566786">
              <a:defRPr sz="1000"/>
            </a:lvl3pPr>
            <a:lvl4pPr marL="740479">
              <a:defRPr sz="900"/>
            </a:lvl4pPr>
            <a:lvl5pPr marL="914171">
              <a:defRPr sz="800"/>
            </a:lvl5pPr>
            <a:lvl6pPr marL="1087864">
              <a:defRPr/>
            </a:lvl6pPr>
            <a:lvl7pPr marL="1261556">
              <a:defRPr/>
            </a:lvl7pPr>
            <a:lvl8pPr marL="1426108">
              <a:defRPr/>
            </a:lvl8pPr>
            <a:lvl9pPr marL="15998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8"/>
            <a:ext cx="8229601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2"/>
            <a:ext cx="8229601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54811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878" y="283111"/>
            <a:ext cx="7739565" cy="365934"/>
          </a:xfrm>
        </p:spPr>
        <p:txBody>
          <a:bodyPr/>
          <a:lstStyle>
            <a:lvl1pPr>
              <a:defRPr sz="29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146877" y="1197769"/>
            <a:ext cx="6121184" cy="2487216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0E820-90BE-48F3-A7DF-B068E2B1A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8006742" y="4794516"/>
            <a:ext cx="789202" cy="22595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>
                <a:solidFill>
                  <a:schemeClr val="tx2"/>
                </a:solidFill>
                <a:latin typeface="Guardian Egyp" charset="0"/>
                <a:ea typeface="Guardian Egyp" charset="0"/>
                <a:cs typeface="Guardian Egyp" charset="0"/>
              </a:defRPr>
            </a:lvl1pPr>
          </a:lstStyle>
          <a:p>
            <a:pPr>
              <a:defRPr/>
            </a:pPr>
            <a:fld id="{920384AA-0A71-E644-AEED-65CD2253F2C8}" type="slidenum">
              <a:rPr lang="en-US" smtClean="0">
                <a:solidFill>
                  <a:srgbClr val="006AD2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6A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019477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– Section Presentation 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D7C69E-850C-FC46-8BB4-06A04ABA30E9}"/>
              </a:ext>
            </a:extLst>
          </p:cNvPr>
          <p:cNvSpPr/>
          <p:nvPr userDrawn="1"/>
        </p:nvSpPr>
        <p:spPr>
          <a:xfrm>
            <a:off x="-878" y="4097855"/>
            <a:ext cx="9144879" cy="10456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300" b="0" i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B636C5B-94F4-AF4A-9ADD-19FA810F71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1" y="4459241"/>
            <a:ext cx="6309044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 b="1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Meeting Date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3F8A960-FA3E-5E46-A7A5-E0687C0534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4" y="1045648"/>
            <a:ext cx="7715249" cy="1354655"/>
          </a:xfrm>
        </p:spPr>
        <p:txBody>
          <a:bodyPr anchor="b">
            <a:noAutofit/>
          </a:bodyPr>
          <a:lstStyle>
            <a:lvl1pPr algn="l">
              <a:defRPr sz="3200" b="1" i="0" spc="-80" baseline="0">
                <a:solidFill>
                  <a:srgbClr val="006FC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1D6E434-B052-F749-B671-5AA030EFD9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999" t="-1230" r="7667" b="-8226"/>
          <a:stretch/>
        </p:blipFill>
        <p:spPr>
          <a:xfrm>
            <a:off x="6420164" y="3745345"/>
            <a:ext cx="2723836" cy="642840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6C17BC6-7160-6F48-9CBF-8923A0DBD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405670"/>
            <a:ext cx="8286748" cy="409837"/>
          </a:xfrm>
        </p:spPr>
        <p:txBody>
          <a:bodyPr/>
          <a:lstStyle>
            <a:lvl1pPr>
              <a:buNone/>
              <a:defRPr sz="18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AXP Nominating, Governance and Public Responsibility Committee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6A3A1-18C8-4DAD-B421-ED65D3C2CD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571750"/>
            <a:ext cx="4267200" cy="83820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59829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3" y="689341"/>
            <a:ext cx="8229601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1E2B5-3BF8-C144-BBDE-152D256C4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7803C43-3B54-C84E-916B-399CD8CC8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3" y="1234440"/>
            <a:ext cx="8229601" cy="3200400"/>
          </a:xfrm>
        </p:spPr>
        <p:txBody>
          <a:bodyPr/>
          <a:lstStyle>
            <a:lvl1pPr marL="344471" indent="-344471">
              <a:buFont typeface="+mj-lt"/>
              <a:buAutoNum type="arabicPeriod"/>
              <a:defRPr sz="1600" b="1"/>
            </a:lvl1pPr>
            <a:lvl2pPr marL="569885" indent="-223826">
              <a:buFont typeface="+mj-lt"/>
              <a:buAutoNum type="arabicPeriod"/>
              <a:defRPr sz="1400" b="1"/>
            </a:lvl2pPr>
            <a:lvl3pPr marL="801648" indent="-231764">
              <a:buFont typeface="+mj-lt"/>
              <a:buAutoNum type="arabicPeriod"/>
              <a:defRPr sz="1400"/>
            </a:lvl3pPr>
            <a:lvl4pPr marL="1027062" indent="-223826">
              <a:buFont typeface="+mj-lt"/>
              <a:buAutoNum type="arabicPeriod"/>
              <a:defRPr/>
            </a:lvl4pPr>
            <a:lvl5pPr marL="1258825" indent="-231764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D1C5A-2D9D-48A6-A829-F141DDD35F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E25AC-3645-4B9B-82AF-07918D5A49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1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– Executive Summary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7E56899-12A9-3D44-A589-2FB5D479D4F5}"/>
              </a:ext>
            </a:extLst>
          </p:cNvPr>
          <p:cNvSpPr>
            <a:spLocks noGrp="1"/>
          </p:cNvSpPr>
          <p:nvPr>
            <p:ph sz="half" idx="2"/>
          </p:nvPr>
        </p:nvSpPr>
        <p:spPr bwMode="gray">
          <a:xfrm>
            <a:off x="2171703" y="1304059"/>
            <a:ext cx="6515101" cy="91440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200" b="0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050" b="0" i="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900" b="0" i="0" dirty="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74C0B951-A319-CF49-A026-C57E1F71F1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67595" y="1304059"/>
            <a:ext cx="1589809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200" b="1" i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 defTabSz="514313" eaLnBrk="0" hangingPunct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85B0AC8-0C43-C141-A2E0-91552B2D7B86}"/>
              </a:ext>
            </a:extLst>
          </p:cNvPr>
          <p:cNvSpPr>
            <a:spLocks noGrp="1"/>
          </p:cNvSpPr>
          <p:nvPr>
            <p:ph sz="half" idx="14"/>
          </p:nvPr>
        </p:nvSpPr>
        <p:spPr bwMode="gray">
          <a:xfrm>
            <a:off x="2171703" y="2332759"/>
            <a:ext cx="6515101" cy="91440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200" b="0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050" b="0" i="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900" b="0" i="0" dirty="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1F17A922-B1A1-F040-A84C-DDF9A503DA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467595" y="2332759"/>
            <a:ext cx="1589809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200" b="1" i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 defTabSz="514313" eaLnBrk="0" hangingPunct="0"/>
            <a:r>
              <a:rPr lang="en-US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6B853A6-4542-CD47-A30C-3584C0CB035E}"/>
              </a:ext>
            </a:extLst>
          </p:cNvPr>
          <p:cNvSpPr>
            <a:spLocks noGrp="1"/>
          </p:cNvSpPr>
          <p:nvPr>
            <p:ph sz="half" idx="16"/>
          </p:nvPr>
        </p:nvSpPr>
        <p:spPr bwMode="gray">
          <a:xfrm>
            <a:off x="2171703" y="3371850"/>
            <a:ext cx="6515101" cy="91440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200" b="0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050" b="0" i="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900" b="0" i="0" dirty="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2CF3C4FE-3FDB-FE40-9F71-1D1F7686FB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467595" y="3371850"/>
            <a:ext cx="1589809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200" b="1" i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 defTabSz="514313" eaLnBrk="0" hangingPunct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DC513C-EC31-4694-8761-F9697C6B9D0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A124B-8891-4BEA-B9D4-B5107963C7D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1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– Executive Summary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7E56899-12A9-3D44-A589-2FB5D479D4F5}"/>
              </a:ext>
            </a:extLst>
          </p:cNvPr>
          <p:cNvSpPr>
            <a:spLocks noGrp="1"/>
          </p:cNvSpPr>
          <p:nvPr>
            <p:ph sz="half" idx="2"/>
          </p:nvPr>
        </p:nvSpPr>
        <p:spPr bwMode="gray">
          <a:xfrm>
            <a:off x="2171703" y="955966"/>
            <a:ext cx="6515101" cy="581891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200" b="0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050" b="0" i="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900" dirty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74C0B951-A319-CF49-A026-C57E1F71F1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67595" y="955966"/>
            <a:ext cx="1589809" cy="581891"/>
          </a:xfrm>
          <a:prstGeom prst="rect">
            <a:avLst/>
          </a:prstGeom>
          <a:solidFill>
            <a:srgbClr val="00175A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200" b="1" i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 defTabSz="514313" eaLnBrk="0" hangingPunct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85B0AC8-0C43-C141-A2E0-91552B2D7B86}"/>
              </a:ext>
            </a:extLst>
          </p:cNvPr>
          <p:cNvSpPr>
            <a:spLocks noGrp="1"/>
          </p:cNvSpPr>
          <p:nvPr>
            <p:ph sz="half" idx="14"/>
          </p:nvPr>
        </p:nvSpPr>
        <p:spPr bwMode="gray">
          <a:xfrm>
            <a:off x="2171703" y="1657350"/>
            <a:ext cx="6515101" cy="91440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200" b="0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050" b="0" i="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900" b="0" i="0" dirty="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1F17A922-B1A1-F040-A84C-DDF9A503DA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467595" y="1652154"/>
            <a:ext cx="1589809" cy="914400"/>
          </a:xfrm>
          <a:prstGeom prst="rect">
            <a:avLst/>
          </a:prstGeom>
          <a:solidFill>
            <a:srgbClr val="00175A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200" b="1" i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 defTabSz="514313" eaLnBrk="0" hangingPunct="0"/>
            <a:r>
              <a:rPr lang="en-US"/>
              <a:t>Click to edit Master text styles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2CF3C4FE-3FDB-FE40-9F71-1D1F7686FB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467595" y="2680854"/>
            <a:ext cx="1589809" cy="914400"/>
          </a:xfrm>
          <a:prstGeom prst="rect">
            <a:avLst/>
          </a:prstGeom>
          <a:solidFill>
            <a:srgbClr val="00175A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200" b="1" i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 defTabSz="514313" eaLnBrk="0" hangingPunct="0"/>
            <a:r>
              <a:rPr lang="en-US"/>
              <a:t>Click to edit Master text styles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F194AF4A-C14B-6E4E-804D-1AF4109496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467595" y="3709558"/>
            <a:ext cx="1589809" cy="581891"/>
          </a:xfrm>
          <a:prstGeom prst="rect">
            <a:avLst/>
          </a:prstGeom>
          <a:solidFill>
            <a:srgbClr val="00175A"/>
          </a:solidFill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200" b="1" i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ctr" defTabSz="514313" eaLnBrk="0" hangingPunct="0"/>
            <a:r>
              <a:rPr lang="en-US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AA73E28-34E3-B74C-8E4E-2DF436379E2F}"/>
              </a:ext>
            </a:extLst>
          </p:cNvPr>
          <p:cNvSpPr>
            <a:spLocks noGrp="1"/>
          </p:cNvSpPr>
          <p:nvPr>
            <p:ph sz="half" idx="19"/>
          </p:nvPr>
        </p:nvSpPr>
        <p:spPr bwMode="gray">
          <a:xfrm>
            <a:off x="2171703" y="2691246"/>
            <a:ext cx="6515101" cy="91440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200" b="0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050" b="0" i="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900" b="0" i="0" dirty="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52E6C9A-E85B-FB41-8C4E-C82E294B4C96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2171703" y="3725146"/>
            <a:ext cx="6515101" cy="581891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accent1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200" b="0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1050" b="0" i="0" dirty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900" dirty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A73CDD-E236-435B-B834-5AFC9477491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9323E-19FA-40B2-866E-6BAA02D1B83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A2068B8D-1178-0046-A10E-0A14A376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13935-9B95-45DA-8D48-B065C3B583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BC715-FB8B-4828-832F-D87FC2BAED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5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3" y="1234440"/>
            <a:ext cx="8229601" cy="3200400"/>
          </a:xfrm>
        </p:spPr>
        <p:txBody>
          <a:bodyPr/>
          <a:lstStyle>
            <a:lvl1pPr marL="231764" indent="-231764">
              <a:defRPr sz="1600" b="1"/>
            </a:lvl1pPr>
            <a:lvl2pPr marL="457178" indent="-231764">
              <a:defRPr sz="1600" b="1"/>
            </a:lvl2pPr>
            <a:lvl3pPr marL="688941" indent="-230177">
              <a:defRPr sz="1400"/>
            </a:lvl3pPr>
            <a:lvl4pPr marL="914355" indent="-231764">
              <a:defRPr/>
            </a:lvl4pPr>
            <a:lvl5pPr marL="1146117" indent="-230177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A7350-6AD1-4059-9C86-2358FC3D1E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EA62A-705D-4552-8491-E51E579DAD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2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3" y="1231905"/>
            <a:ext cx="3977482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321" y="1231905"/>
            <a:ext cx="3977481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3B8FB615-DB7A-104B-93E7-A67EB2198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3" y="268277"/>
            <a:ext cx="8229601" cy="683895"/>
          </a:xfrm>
        </p:spPr>
        <p:txBody>
          <a:bodyPr/>
          <a:lstStyle>
            <a:lvl1pPr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BC5F64-4984-4526-8354-2C4075B33F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1D5AB9-EA9A-4211-8FD8-A41F73328C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0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3" y="1231905"/>
            <a:ext cx="2561632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1186" y="1231905"/>
            <a:ext cx="2561632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E600721-B011-D04F-86A1-FAB48F2004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25170" y="1231905"/>
            <a:ext cx="2561633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73E83BF-CFD2-FB49-B313-D711CAD18F7C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457203" y="689341"/>
            <a:ext cx="8229601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13FE1-1087-5E48-B7BE-B3D37AA1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3" y="268277"/>
            <a:ext cx="8229601" cy="6838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59D027-FF25-42AC-A1D7-292A5CDCDE9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EC795-C85F-4F43-A84A-7893F64AF0A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3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bar Left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5" y="1231905"/>
            <a:ext cx="2560637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92477" y="1231905"/>
            <a:ext cx="5394324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99081E5-686A-0447-8CF8-8E6E6911EFD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3" y="689341"/>
            <a:ext cx="8229601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0786199-4A3C-A449-90C1-A955D849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3" y="268277"/>
            <a:ext cx="8229601" cy="6838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D523F0-C233-44EF-B59F-B99FF1D3FD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A8DBD-FDCD-4A02-B4FA-ACE61DA5E3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7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bar Right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2" y="1231905"/>
            <a:ext cx="5394324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166" y="1231905"/>
            <a:ext cx="2560637" cy="3203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5B4000E-6E77-724C-B6FC-857C6ADE204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3" y="689341"/>
            <a:ext cx="8229601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D143E31-E009-A045-8C0C-1921EF023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3" y="268277"/>
            <a:ext cx="8229601" cy="6838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E61794-2245-49AA-8B9A-57F58443C3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0FABC-AC54-44EB-BBFE-C41F23E3DA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7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– Divid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D7C69E-850C-FC46-8BB4-06A04ABA30E9}"/>
              </a:ext>
            </a:extLst>
          </p:cNvPr>
          <p:cNvSpPr/>
          <p:nvPr userDrawn="1"/>
        </p:nvSpPr>
        <p:spPr>
          <a:xfrm>
            <a:off x="-878" y="4097855"/>
            <a:ext cx="9144879" cy="10456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3300" b="0" i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1D6E434-B052-F749-B671-5AA030EFD9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999" t="-1230" r="7667" b="-8226"/>
          <a:stretch/>
        </p:blipFill>
        <p:spPr>
          <a:xfrm>
            <a:off x="6420164" y="3745345"/>
            <a:ext cx="2723836" cy="64284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124D4D2-E438-FF4E-AB69-3C33FEC003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4" y="1085850"/>
            <a:ext cx="4800599" cy="1015366"/>
          </a:xfrm>
        </p:spPr>
        <p:txBody>
          <a:bodyPr rIns="137160" anchor="b" anchorCtr="0"/>
          <a:lstStyle>
            <a:lvl1pPr>
              <a:defRPr sz="3200" b="1" i="0" spc="-60" baseline="0">
                <a:solidFill>
                  <a:srgbClr val="006FC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962D17B-CE57-5F4D-A09B-B945CE82E61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3" y="2240282"/>
            <a:ext cx="2835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baseline="0">
                <a:solidFill>
                  <a:srgbClr val="53565A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96650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– Divider Slid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EE167099-3154-E94D-9F68-2A6017417E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999" t="-1230" r="7667" b="-8226"/>
          <a:stretch/>
        </p:blipFill>
        <p:spPr>
          <a:xfrm>
            <a:off x="3736888" y="3374675"/>
            <a:ext cx="5407115" cy="1276109"/>
          </a:xfrm>
          <a:prstGeom prst="rect">
            <a:avLst/>
          </a:prstGeom>
        </p:spPr>
      </p:pic>
      <p:sp>
        <p:nvSpPr>
          <p:cNvPr id="29" name="Title 1">
            <a:extLst>
              <a:ext uri="{FF2B5EF4-FFF2-40B4-BE49-F238E27FC236}">
                <a16:creationId xmlns:a16="http://schemas.microsoft.com/office/drawing/2014/main" id="{18CAA519-C941-124F-9E55-70258E2030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4" y="1085850"/>
            <a:ext cx="4800599" cy="1015366"/>
          </a:xfrm>
        </p:spPr>
        <p:txBody>
          <a:bodyPr rIns="137160" anchor="b" anchorCtr="0"/>
          <a:lstStyle>
            <a:lvl1pPr>
              <a:defRPr sz="3600" b="1" i="0" spc="-6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4D0CBF9-69B6-AE44-AC04-592BBAEAEC1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3" y="2240282"/>
            <a:ext cx="2835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32185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– 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1" y="0"/>
            <a:ext cx="9144000" cy="51435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 b="0" i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921133-84F7-D74A-BCD6-D0648FCEF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4" y="1085850"/>
            <a:ext cx="4800599" cy="1015366"/>
          </a:xfrm>
        </p:spPr>
        <p:txBody>
          <a:bodyPr rIns="137160" anchor="b" anchorCtr="0"/>
          <a:lstStyle>
            <a:lvl1pPr>
              <a:defRPr sz="3600" b="1" i="0" spc="-60" baseline="0">
                <a:solidFill>
                  <a:srgbClr val="006FC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9927997-B28F-4048-93FE-745EC5B486F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3" y="2240282"/>
            <a:ext cx="2835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baseline="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38002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– Divider Slide">
    <p:bg>
      <p:bgPr>
        <a:solidFill>
          <a:srgbClr val="00175A">
            <a:alpha val="9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394928BC-ACC1-F744-BDCA-844252C7B843}"/>
              </a:ext>
            </a:extLst>
          </p:cNvPr>
          <p:cNvSpPr>
            <a:spLocks noEditPoints="1"/>
          </p:cNvSpPr>
          <p:nvPr userDrawn="1"/>
        </p:nvSpPr>
        <p:spPr bwMode="hidden">
          <a:xfrm>
            <a:off x="1" y="0"/>
            <a:ext cx="9144000" cy="51435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chemeClr val="bg1">
              <a:alpha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 b="0" i="0"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0989AE1-0E44-4C42-9884-C292D1378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4" y="1085850"/>
            <a:ext cx="4800599" cy="1015366"/>
          </a:xfrm>
        </p:spPr>
        <p:txBody>
          <a:bodyPr rIns="137160" anchor="b" anchorCtr="0"/>
          <a:lstStyle>
            <a:lvl1pPr>
              <a:defRPr sz="3600" b="1" i="0" spc="-6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09FB148-FCEA-9A4F-8387-61CED4FCA1F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3" y="2240282"/>
            <a:ext cx="2835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20563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6C46C2-A30D-174D-9851-D6AF87D937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203" y="1231905"/>
            <a:ext cx="8229601" cy="3203575"/>
          </a:xfrm>
          <a:solidFill>
            <a:srgbClr val="D9D9D6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 cap="all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11FDF6D-0871-9D42-BA3D-ED20C59B51E2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457203" y="689341"/>
            <a:ext cx="8229601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D27B427-1F23-774A-9C74-10C3534D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3" y="268277"/>
            <a:ext cx="8229601" cy="6838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E319E4-C2E1-4844-AEBA-302C0FAAE54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0B8B3-DA05-4D31-8926-3F63FE0DC5B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7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 – Full Book End Slide">
    <p:bg>
      <p:bgPr>
        <a:solidFill>
          <a:srgbClr val="0017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087A4E-0CEC-4643-B82A-2DA627EFE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39466" y="1912177"/>
            <a:ext cx="4865071" cy="131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0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 03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hidden">
          <a:xfrm>
            <a:off x="0" y="0"/>
            <a:ext cx="9144000" cy="5143500"/>
          </a:xfrm>
          <a:custGeom>
            <a:avLst/>
            <a:gdLst>
              <a:gd name="T0" fmla="*/ 17163 w 19200"/>
              <a:gd name="T1" fmla="*/ 6575 h 10809"/>
              <a:gd name="T2" fmla="*/ 17052 w 19200"/>
              <a:gd name="T3" fmla="*/ 6382 h 10809"/>
              <a:gd name="T4" fmla="*/ 18502 w 19200"/>
              <a:gd name="T5" fmla="*/ 6504 h 10809"/>
              <a:gd name="T6" fmla="*/ 19080 w 19200"/>
              <a:gd name="T7" fmla="*/ 6835 h 10809"/>
              <a:gd name="T8" fmla="*/ 3072 w 19200"/>
              <a:gd name="T9" fmla="*/ 5298 h 10809"/>
              <a:gd name="T10" fmla="*/ 3164 w 19200"/>
              <a:gd name="T11" fmla="*/ 5603 h 10809"/>
              <a:gd name="T12" fmla="*/ 7795 w 19200"/>
              <a:gd name="T13" fmla="*/ 0 h 10809"/>
              <a:gd name="T14" fmla="*/ 10034 w 19200"/>
              <a:gd name="T15" fmla="*/ 0 h 10809"/>
              <a:gd name="T16" fmla="*/ 15218 w 19200"/>
              <a:gd name="T17" fmla="*/ 3216 h 10809"/>
              <a:gd name="T18" fmla="*/ 16154 w 19200"/>
              <a:gd name="T19" fmla="*/ 3362 h 10809"/>
              <a:gd name="T20" fmla="*/ 10633 w 19200"/>
              <a:gd name="T21" fmla="*/ 2356 h 10809"/>
              <a:gd name="T22" fmla="*/ 12001 w 19200"/>
              <a:gd name="T23" fmla="*/ 770 h 10809"/>
              <a:gd name="T24" fmla="*/ 13981 w 19200"/>
              <a:gd name="T25" fmla="*/ 827 h 10809"/>
              <a:gd name="T26" fmla="*/ 6291 w 19200"/>
              <a:gd name="T27" fmla="*/ 5727 h 10809"/>
              <a:gd name="T28" fmla="*/ 6291 w 19200"/>
              <a:gd name="T29" fmla="*/ 9042 h 10809"/>
              <a:gd name="T30" fmla="*/ 5190 w 19200"/>
              <a:gd name="T31" fmla="*/ 2655 h 10809"/>
              <a:gd name="T32" fmla="*/ 4159 w 19200"/>
              <a:gd name="T33" fmla="*/ 7282 h 10809"/>
              <a:gd name="T34" fmla="*/ 3462 w 19200"/>
              <a:gd name="T35" fmla="*/ 7576 h 10809"/>
              <a:gd name="T36" fmla="*/ 4973 w 19200"/>
              <a:gd name="T37" fmla="*/ 0 h 10809"/>
              <a:gd name="T38" fmla="*/ 15381 w 19200"/>
              <a:gd name="T39" fmla="*/ 6525 h 10809"/>
              <a:gd name="T40" fmla="*/ 16342 w 19200"/>
              <a:gd name="T41" fmla="*/ 5679 h 10809"/>
              <a:gd name="T42" fmla="*/ 12099 w 19200"/>
              <a:gd name="T43" fmla="*/ 5524 h 10809"/>
              <a:gd name="T44" fmla="*/ 12569 w 19200"/>
              <a:gd name="T45" fmla="*/ 6527 h 10809"/>
              <a:gd name="T46" fmla="*/ 6418 w 19200"/>
              <a:gd name="T47" fmla="*/ 6864 h 10809"/>
              <a:gd name="T48" fmla="*/ 5498 w 19200"/>
              <a:gd name="T49" fmla="*/ 8069 h 10809"/>
              <a:gd name="T50" fmla="*/ 10735 w 19200"/>
              <a:gd name="T51" fmla="*/ 5754 h 10809"/>
              <a:gd name="T52" fmla="*/ 14267 w 19200"/>
              <a:gd name="T53" fmla="*/ 6393 h 10809"/>
              <a:gd name="T54" fmla="*/ 14072 w 19200"/>
              <a:gd name="T55" fmla="*/ 6389 h 10809"/>
              <a:gd name="T56" fmla="*/ 7025 w 19200"/>
              <a:gd name="T57" fmla="*/ 7878 h 10809"/>
              <a:gd name="T58" fmla="*/ 8797 w 19200"/>
              <a:gd name="T59" fmla="*/ 6737 h 10809"/>
              <a:gd name="T60" fmla="*/ 8778 w 19200"/>
              <a:gd name="T61" fmla="*/ 7285 h 10809"/>
              <a:gd name="T62" fmla="*/ 9851 w 19200"/>
              <a:gd name="T63" fmla="*/ 7472 h 10809"/>
              <a:gd name="T64" fmla="*/ 1599 w 19200"/>
              <a:gd name="T65" fmla="*/ 2604 h 10809"/>
              <a:gd name="T66" fmla="*/ 6619 w 19200"/>
              <a:gd name="T67" fmla="*/ 10090 h 10809"/>
              <a:gd name="T68" fmla="*/ 3374 w 19200"/>
              <a:gd name="T69" fmla="*/ 9872 h 10809"/>
              <a:gd name="T70" fmla="*/ 0 w 19200"/>
              <a:gd name="T71" fmla="*/ 8877 h 10809"/>
              <a:gd name="T72" fmla="*/ 1259 w 19200"/>
              <a:gd name="T73" fmla="*/ 10809 h 10809"/>
              <a:gd name="T74" fmla="*/ 906 w 19200"/>
              <a:gd name="T75" fmla="*/ 8456 h 10809"/>
              <a:gd name="T76" fmla="*/ 6086 w 19200"/>
              <a:gd name="T77" fmla="*/ 3235 h 10809"/>
              <a:gd name="T78" fmla="*/ 3904 w 19200"/>
              <a:gd name="T79" fmla="*/ 1884 h 10809"/>
              <a:gd name="T80" fmla="*/ 7711 w 19200"/>
              <a:gd name="T81" fmla="*/ 3891 h 10809"/>
              <a:gd name="T82" fmla="*/ 3270 w 19200"/>
              <a:gd name="T83" fmla="*/ 1249 h 10809"/>
              <a:gd name="T84" fmla="*/ 3058 w 19200"/>
              <a:gd name="T85" fmla="*/ 10809 h 10809"/>
              <a:gd name="T86" fmla="*/ 13980 w 19200"/>
              <a:gd name="T87" fmla="*/ 8057 h 10809"/>
              <a:gd name="T88" fmla="*/ 19200 w 19200"/>
              <a:gd name="T89" fmla="*/ 4981 h 10809"/>
              <a:gd name="T90" fmla="*/ 17513 w 19200"/>
              <a:gd name="T91" fmla="*/ 4091 h 10809"/>
              <a:gd name="T92" fmla="*/ 8446 w 19200"/>
              <a:gd name="T93" fmla="*/ 3297 h 10809"/>
              <a:gd name="T94" fmla="*/ 4176 w 19200"/>
              <a:gd name="T95" fmla="*/ 0 h 10809"/>
              <a:gd name="T96" fmla="*/ 5794 w 19200"/>
              <a:gd name="T97" fmla="*/ 4268 h 10809"/>
              <a:gd name="T98" fmla="*/ 2572 w 19200"/>
              <a:gd name="T99" fmla="*/ 0 h 10809"/>
              <a:gd name="T100" fmla="*/ 4401 w 19200"/>
              <a:gd name="T101" fmla="*/ 10809 h 10809"/>
              <a:gd name="T102" fmla="*/ 10301 w 19200"/>
              <a:gd name="T103" fmla="*/ 3256 h 10809"/>
              <a:gd name="T104" fmla="*/ 16105 w 19200"/>
              <a:gd name="T105" fmla="*/ 8817 h 10809"/>
              <a:gd name="T106" fmla="*/ 13876 w 19200"/>
              <a:gd name="T107" fmla="*/ 10393 h 10809"/>
              <a:gd name="T108" fmla="*/ 17179 w 19200"/>
              <a:gd name="T109" fmla="*/ 2356 h 10809"/>
              <a:gd name="T110" fmla="*/ 12942 w 19200"/>
              <a:gd name="T111" fmla="*/ 10809 h 10809"/>
              <a:gd name="T112" fmla="*/ 14929 w 19200"/>
              <a:gd name="T113" fmla="*/ 10474 h 10809"/>
              <a:gd name="T114" fmla="*/ 17374 w 19200"/>
              <a:gd name="T115" fmla="*/ 9309 h 10809"/>
              <a:gd name="T116" fmla="*/ 8709 w 19200"/>
              <a:gd name="T117" fmla="*/ 9862 h 10809"/>
              <a:gd name="T118" fmla="*/ 10755 w 19200"/>
              <a:gd name="T119" fmla="*/ 10809 h 10809"/>
              <a:gd name="T120" fmla="*/ 12001 w 19200"/>
              <a:gd name="T121" fmla="*/ 10760 h 10809"/>
              <a:gd name="T122" fmla="*/ 12825 w 19200"/>
              <a:gd name="T123" fmla="*/ 10514 h 108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200" h="10809">
                <a:moveTo>
                  <a:pt x="9021" y="0"/>
                </a:moveTo>
                <a:lnTo>
                  <a:pt x="9021" y="0"/>
                </a:lnTo>
                <a:lnTo>
                  <a:pt x="8809" y="0"/>
                </a:lnTo>
                <a:lnTo>
                  <a:pt x="8249" y="2990"/>
                </a:lnTo>
                <a:cubicBezTo>
                  <a:pt x="8339" y="2985"/>
                  <a:pt x="8394" y="2984"/>
                  <a:pt x="8463" y="2984"/>
                </a:cubicBezTo>
                <a:lnTo>
                  <a:pt x="9021" y="0"/>
                </a:lnTo>
                <a:close/>
                <a:moveTo>
                  <a:pt x="16748" y="6933"/>
                </a:moveTo>
                <a:lnTo>
                  <a:pt x="16748" y="6933"/>
                </a:lnTo>
                <a:lnTo>
                  <a:pt x="17163" y="6575"/>
                </a:lnTo>
                <a:lnTo>
                  <a:pt x="17538" y="7226"/>
                </a:lnTo>
                <a:lnTo>
                  <a:pt x="17853" y="7362"/>
                </a:lnTo>
                <a:lnTo>
                  <a:pt x="17341" y="6464"/>
                </a:lnTo>
                <a:lnTo>
                  <a:pt x="17810" y="6054"/>
                </a:lnTo>
                <a:lnTo>
                  <a:pt x="17581" y="5960"/>
                </a:lnTo>
                <a:lnTo>
                  <a:pt x="17233" y="6274"/>
                </a:lnTo>
                <a:lnTo>
                  <a:pt x="16874" y="5644"/>
                </a:lnTo>
                <a:cubicBezTo>
                  <a:pt x="16773" y="5608"/>
                  <a:pt x="16671" y="5572"/>
                  <a:pt x="16566" y="5538"/>
                </a:cubicBezTo>
                <a:lnTo>
                  <a:pt x="17052" y="6382"/>
                </a:lnTo>
                <a:lnTo>
                  <a:pt x="16525" y="6851"/>
                </a:lnTo>
                <a:cubicBezTo>
                  <a:pt x="16600" y="6877"/>
                  <a:pt x="16675" y="6905"/>
                  <a:pt x="16748" y="6933"/>
                </a:cubicBezTo>
                <a:close/>
                <a:moveTo>
                  <a:pt x="19200" y="250"/>
                </a:moveTo>
                <a:lnTo>
                  <a:pt x="19200" y="250"/>
                </a:lnTo>
                <a:lnTo>
                  <a:pt x="19153" y="0"/>
                </a:lnTo>
                <a:lnTo>
                  <a:pt x="18940" y="0"/>
                </a:lnTo>
                <a:lnTo>
                  <a:pt x="19200" y="1387"/>
                </a:lnTo>
                <a:lnTo>
                  <a:pt x="19200" y="250"/>
                </a:lnTo>
                <a:close/>
                <a:moveTo>
                  <a:pt x="18502" y="6504"/>
                </a:moveTo>
                <a:lnTo>
                  <a:pt x="18502" y="6504"/>
                </a:lnTo>
                <a:lnTo>
                  <a:pt x="18257" y="6427"/>
                </a:lnTo>
                <a:lnTo>
                  <a:pt x="18257" y="6810"/>
                </a:lnTo>
                <a:lnTo>
                  <a:pt x="18502" y="6887"/>
                </a:lnTo>
                <a:cubicBezTo>
                  <a:pt x="18722" y="6959"/>
                  <a:pt x="18867" y="6983"/>
                  <a:pt x="18867" y="6798"/>
                </a:cubicBezTo>
                <a:cubicBezTo>
                  <a:pt x="18867" y="6649"/>
                  <a:pt x="18728" y="6578"/>
                  <a:pt x="18502" y="6504"/>
                </a:cubicBezTo>
                <a:close/>
                <a:moveTo>
                  <a:pt x="18689" y="6358"/>
                </a:moveTo>
                <a:lnTo>
                  <a:pt x="18689" y="6358"/>
                </a:lnTo>
                <a:cubicBezTo>
                  <a:pt x="18957" y="6473"/>
                  <a:pt x="19080" y="6612"/>
                  <a:pt x="19080" y="6835"/>
                </a:cubicBezTo>
                <a:cubicBezTo>
                  <a:pt x="19080" y="7033"/>
                  <a:pt x="18908" y="7224"/>
                  <a:pt x="18522" y="7097"/>
                </a:cubicBezTo>
                <a:lnTo>
                  <a:pt x="18257" y="7011"/>
                </a:lnTo>
                <a:lnTo>
                  <a:pt x="18257" y="7520"/>
                </a:lnTo>
                <a:lnTo>
                  <a:pt x="18044" y="7440"/>
                </a:lnTo>
                <a:lnTo>
                  <a:pt x="18044" y="6140"/>
                </a:lnTo>
                <a:cubicBezTo>
                  <a:pt x="18479" y="6275"/>
                  <a:pt x="18614" y="6328"/>
                  <a:pt x="18689" y="6358"/>
                </a:cubicBezTo>
                <a:close/>
                <a:moveTo>
                  <a:pt x="6291" y="6258"/>
                </a:moveTo>
                <a:lnTo>
                  <a:pt x="6291" y="6258"/>
                </a:lnTo>
                <a:cubicBezTo>
                  <a:pt x="5059" y="6257"/>
                  <a:pt x="4031" y="5910"/>
                  <a:pt x="3072" y="5298"/>
                </a:cubicBezTo>
                <a:lnTo>
                  <a:pt x="2054" y="7565"/>
                </a:lnTo>
                <a:cubicBezTo>
                  <a:pt x="3391" y="8342"/>
                  <a:pt x="4795" y="8720"/>
                  <a:pt x="6291" y="8720"/>
                </a:cubicBezTo>
                <a:cubicBezTo>
                  <a:pt x="10201" y="8720"/>
                  <a:pt x="11122" y="6997"/>
                  <a:pt x="13980" y="6997"/>
                </a:cubicBezTo>
                <a:cubicBezTo>
                  <a:pt x="16116" y="6997"/>
                  <a:pt x="17171" y="7959"/>
                  <a:pt x="19200" y="8446"/>
                </a:cubicBezTo>
                <a:lnTo>
                  <a:pt x="19200" y="8231"/>
                </a:lnTo>
                <a:cubicBezTo>
                  <a:pt x="17207" y="7743"/>
                  <a:pt x="16161" y="6788"/>
                  <a:pt x="13980" y="6788"/>
                </a:cubicBezTo>
                <a:cubicBezTo>
                  <a:pt x="11051" y="6788"/>
                  <a:pt x="10170" y="8511"/>
                  <a:pt x="6291" y="8511"/>
                </a:cubicBezTo>
                <a:cubicBezTo>
                  <a:pt x="4888" y="8511"/>
                  <a:pt x="3518" y="8155"/>
                  <a:pt x="2322" y="7479"/>
                </a:cubicBezTo>
                <a:lnTo>
                  <a:pt x="3164" y="5603"/>
                </a:lnTo>
                <a:cubicBezTo>
                  <a:pt x="4092" y="6168"/>
                  <a:pt x="5171" y="6466"/>
                  <a:pt x="6291" y="6466"/>
                </a:cubicBezTo>
                <a:cubicBezTo>
                  <a:pt x="9740" y="6466"/>
                  <a:pt x="10436" y="4743"/>
                  <a:pt x="13981" y="4743"/>
                </a:cubicBezTo>
                <a:cubicBezTo>
                  <a:pt x="16483" y="4743"/>
                  <a:pt x="17566" y="5602"/>
                  <a:pt x="19200" y="6107"/>
                </a:cubicBezTo>
                <a:lnTo>
                  <a:pt x="19200" y="5888"/>
                </a:lnTo>
                <a:cubicBezTo>
                  <a:pt x="17600" y="5382"/>
                  <a:pt x="16508" y="4534"/>
                  <a:pt x="13981" y="4534"/>
                </a:cubicBezTo>
                <a:cubicBezTo>
                  <a:pt x="10376" y="4534"/>
                  <a:pt x="9693" y="6258"/>
                  <a:pt x="6291" y="6258"/>
                </a:cubicBezTo>
                <a:close/>
                <a:moveTo>
                  <a:pt x="8009" y="0"/>
                </a:moveTo>
                <a:lnTo>
                  <a:pt x="8009" y="0"/>
                </a:lnTo>
                <a:lnTo>
                  <a:pt x="7795" y="0"/>
                </a:lnTo>
                <a:lnTo>
                  <a:pt x="7044" y="3345"/>
                </a:lnTo>
                <a:cubicBezTo>
                  <a:pt x="7120" y="3303"/>
                  <a:pt x="7200" y="3261"/>
                  <a:pt x="7286" y="3221"/>
                </a:cubicBezTo>
                <a:lnTo>
                  <a:pt x="8009" y="0"/>
                </a:lnTo>
                <a:close/>
                <a:moveTo>
                  <a:pt x="10034" y="0"/>
                </a:moveTo>
                <a:lnTo>
                  <a:pt x="10034" y="0"/>
                </a:lnTo>
                <a:lnTo>
                  <a:pt x="9822" y="0"/>
                </a:lnTo>
                <a:lnTo>
                  <a:pt x="9390" y="2891"/>
                </a:lnTo>
                <a:cubicBezTo>
                  <a:pt x="9466" y="2819"/>
                  <a:pt x="9546" y="2751"/>
                  <a:pt x="9631" y="2688"/>
                </a:cubicBezTo>
                <a:lnTo>
                  <a:pt x="10034" y="0"/>
                </a:lnTo>
                <a:close/>
                <a:moveTo>
                  <a:pt x="6997" y="0"/>
                </a:moveTo>
                <a:lnTo>
                  <a:pt x="6997" y="0"/>
                </a:lnTo>
                <a:lnTo>
                  <a:pt x="6780" y="0"/>
                </a:lnTo>
                <a:lnTo>
                  <a:pt x="6126" y="2498"/>
                </a:lnTo>
                <a:cubicBezTo>
                  <a:pt x="6194" y="2494"/>
                  <a:pt x="6267" y="2491"/>
                  <a:pt x="6344" y="2490"/>
                </a:cubicBezTo>
                <a:lnTo>
                  <a:pt x="6997" y="0"/>
                </a:lnTo>
                <a:close/>
                <a:moveTo>
                  <a:pt x="15009" y="3195"/>
                </a:moveTo>
                <a:lnTo>
                  <a:pt x="15009" y="3195"/>
                </a:lnTo>
                <a:cubicBezTo>
                  <a:pt x="15080" y="3201"/>
                  <a:pt x="15150" y="3208"/>
                  <a:pt x="15218" y="3216"/>
                </a:cubicBezTo>
                <a:lnTo>
                  <a:pt x="15136" y="1017"/>
                </a:lnTo>
                <a:cubicBezTo>
                  <a:pt x="15068" y="1032"/>
                  <a:pt x="14998" y="1045"/>
                  <a:pt x="14929" y="1057"/>
                </a:cubicBezTo>
                <a:lnTo>
                  <a:pt x="15009" y="3195"/>
                </a:lnTo>
                <a:close/>
                <a:moveTo>
                  <a:pt x="16154" y="3362"/>
                </a:moveTo>
                <a:lnTo>
                  <a:pt x="16154" y="3362"/>
                </a:lnTo>
                <a:cubicBezTo>
                  <a:pt x="16226" y="3377"/>
                  <a:pt x="16297" y="3393"/>
                  <a:pt x="16367" y="3409"/>
                </a:cubicBezTo>
                <a:lnTo>
                  <a:pt x="16163" y="687"/>
                </a:lnTo>
                <a:cubicBezTo>
                  <a:pt x="16096" y="717"/>
                  <a:pt x="16028" y="744"/>
                  <a:pt x="15960" y="770"/>
                </a:cubicBezTo>
                <a:lnTo>
                  <a:pt x="16154" y="3362"/>
                </a:lnTo>
                <a:close/>
                <a:moveTo>
                  <a:pt x="13876" y="1137"/>
                </a:moveTo>
                <a:lnTo>
                  <a:pt x="13876" y="1137"/>
                </a:lnTo>
                <a:lnTo>
                  <a:pt x="13876" y="3152"/>
                </a:lnTo>
                <a:cubicBezTo>
                  <a:pt x="13911" y="3152"/>
                  <a:pt x="13945" y="3151"/>
                  <a:pt x="13981" y="3151"/>
                </a:cubicBezTo>
                <a:cubicBezTo>
                  <a:pt x="14016" y="3151"/>
                  <a:pt x="14050" y="3152"/>
                  <a:pt x="14085" y="3152"/>
                </a:cubicBezTo>
                <a:lnTo>
                  <a:pt x="14085" y="1137"/>
                </a:lnTo>
                <a:cubicBezTo>
                  <a:pt x="14050" y="1138"/>
                  <a:pt x="14016" y="1140"/>
                  <a:pt x="13981" y="1140"/>
                </a:cubicBezTo>
                <a:cubicBezTo>
                  <a:pt x="13945" y="1140"/>
                  <a:pt x="13911" y="1138"/>
                  <a:pt x="13876" y="1137"/>
                </a:cubicBezTo>
                <a:close/>
                <a:moveTo>
                  <a:pt x="10633" y="2356"/>
                </a:moveTo>
                <a:lnTo>
                  <a:pt x="10633" y="2356"/>
                </a:lnTo>
                <a:lnTo>
                  <a:pt x="10782" y="2356"/>
                </a:lnTo>
                <a:lnTo>
                  <a:pt x="11016" y="269"/>
                </a:lnTo>
                <a:cubicBezTo>
                  <a:pt x="10950" y="226"/>
                  <a:pt x="10885" y="182"/>
                  <a:pt x="10821" y="137"/>
                </a:cubicBezTo>
                <a:lnTo>
                  <a:pt x="10571" y="2358"/>
                </a:lnTo>
                <a:cubicBezTo>
                  <a:pt x="10592" y="2358"/>
                  <a:pt x="10612" y="2356"/>
                  <a:pt x="10633" y="2356"/>
                </a:cubicBezTo>
                <a:close/>
                <a:moveTo>
                  <a:pt x="11807" y="3362"/>
                </a:moveTo>
                <a:lnTo>
                  <a:pt x="11807" y="3362"/>
                </a:lnTo>
                <a:lnTo>
                  <a:pt x="12001" y="770"/>
                </a:lnTo>
                <a:cubicBezTo>
                  <a:pt x="11933" y="744"/>
                  <a:pt x="11865" y="717"/>
                  <a:pt x="11798" y="687"/>
                </a:cubicBezTo>
                <a:lnTo>
                  <a:pt x="11594" y="3409"/>
                </a:lnTo>
                <a:cubicBezTo>
                  <a:pt x="11664" y="3393"/>
                  <a:pt x="11735" y="3378"/>
                  <a:pt x="11807" y="3362"/>
                </a:cubicBezTo>
                <a:close/>
                <a:moveTo>
                  <a:pt x="16377" y="0"/>
                </a:moveTo>
                <a:lnTo>
                  <a:pt x="16377" y="0"/>
                </a:lnTo>
                <a:cubicBezTo>
                  <a:pt x="15666" y="393"/>
                  <a:pt x="14849" y="618"/>
                  <a:pt x="13981" y="618"/>
                </a:cubicBezTo>
                <a:cubicBezTo>
                  <a:pt x="13112" y="618"/>
                  <a:pt x="12295" y="393"/>
                  <a:pt x="11584" y="0"/>
                </a:cubicBezTo>
                <a:lnTo>
                  <a:pt x="11174" y="0"/>
                </a:lnTo>
                <a:cubicBezTo>
                  <a:pt x="11982" y="522"/>
                  <a:pt x="12946" y="827"/>
                  <a:pt x="13981" y="827"/>
                </a:cubicBezTo>
                <a:cubicBezTo>
                  <a:pt x="15015" y="827"/>
                  <a:pt x="15979" y="522"/>
                  <a:pt x="16787" y="0"/>
                </a:cubicBezTo>
                <a:lnTo>
                  <a:pt x="16377" y="0"/>
                </a:lnTo>
                <a:close/>
                <a:moveTo>
                  <a:pt x="12952" y="3195"/>
                </a:moveTo>
                <a:lnTo>
                  <a:pt x="12952" y="3195"/>
                </a:lnTo>
                <a:lnTo>
                  <a:pt x="13032" y="1057"/>
                </a:lnTo>
                <a:cubicBezTo>
                  <a:pt x="12963" y="1045"/>
                  <a:pt x="12893" y="1032"/>
                  <a:pt x="12825" y="1017"/>
                </a:cubicBezTo>
                <a:lnTo>
                  <a:pt x="12743" y="3216"/>
                </a:lnTo>
                <a:cubicBezTo>
                  <a:pt x="12811" y="3208"/>
                  <a:pt x="12881" y="3201"/>
                  <a:pt x="12952" y="3195"/>
                </a:cubicBezTo>
                <a:close/>
                <a:moveTo>
                  <a:pt x="6291" y="5727"/>
                </a:moveTo>
                <a:lnTo>
                  <a:pt x="6291" y="5727"/>
                </a:lnTo>
                <a:cubicBezTo>
                  <a:pt x="4914" y="5727"/>
                  <a:pt x="3700" y="5258"/>
                  <a:pt x="2633" y="4258"/>
                </a:cubicBezTo>
                <a:lnTo>
                  <a:pt x="1232" y="7663"/>
                </a:lnTo>
                <a:cubicBezTo>
                  <a:pt x="2786" y="8739"/>
                  <a:pt x="4492" y="9251"/>
                  <a:pt x="6291" y="9251"/>
                </a:cubicBezTo>
                <a:cubicBezTo>
                  <a:pt x="10232" y="9251"/>
                  <a:pt x="11352" y="7527"/>
                  <a:pt x="13980" y="7527"/>
                </a:cubicBezTo>
                <a:cubicBezTo>
                  <a:pt x="15959" y="7527"/>
                  <a:pt x="17083" y="8504"/>
                  <a:pt x="19200" y="8987"/>
                </a:cubicBezTo>
                <a:lnTo>
                  <a:pt x="19200" y="8771"/>
                </a:lnTo>
                <a:cubicBezTo>
                  <a:pt x="17122" y="8286"/>
                  <a:pt x="15995" y="7318"/>
                  <a:pt x="13980" y="7318"/>
                </a:cubicBezTo>
                <a:cubicBezTo>
                  <a:pt x="11294" y="7318"/>
                  <a:pt x="10185" y="9042"/>
                  <a:pt x="6291" y="9042"/>
                </a:cubicBezTo>
                <a:cubicBezTo>
                  <a:pt x="4553" y="9042"/>
                  <a:pt x="2895" y="8539"/>
                  <a:pt x="1490" y="7586"/>
                </a:cubicBezTo>
                <a:lnTo>
                  <a:pt x="2712" y="4615"/>
                </a:lnTo>
                <a:cubicBezTo>
                  <a:pt x="3676" y="5468"/>
                  <a:pt x="4941" y="5936"/>
                  <a:pt x="6291" y="5936"/>
                </a:cubicBezTo>
                <a:cubicBezTo>
                  <a:pt x="9615" y="5936"/>
                  <a:pt x="10290" y="4213"/>
                  <a:pt x="13981" y="4213"/>
                </a:cubicBezTo>
                <a:cubicBezTo>
                  <a:pt x="16541" y="4213"/>
                  <a:pt x="17650" y="5042"/>
                  <a:pt x="19200" y="5550"/>
                </a:cubicBezTo>
                <a:lnTo>
                  <a:pt x="19200" y="5329"/>
                </a:lnTo>
                <a:cubicBezTo>
                  <a:pt x="17682" y="4820"/>
                  <a:pt x="16555" y="4004"/>
                  <a:pt x="13981" y="4004"/>
                </a:cubicBezTo>
                <a:cubicBezTo>
                  <a:pt x="10242" y="4004"/>
                  <a:pt x="9554" y="5727"/>
                  <a:pt x="6291" y="5727"/>
                </a:cubicBezTo>
                <a:close/>
                <a:moveTo>
                  <a:pt x="5190" y="2655"/>
                </a:moveTo>
                <a:lnTo>
                  <a:pt x="5190" y="2655"/>
                </a:lnTo>
                <a:lnTo>
                  <a:pt x="5984" y="0"/>
                </a:lnTo>
                <a:lnTo>
                  <a:pt x="5766" y="0"/>
                </a:lnTo>
                <a:lnTo>
                  <a:pt x="4962" y="2689"/>
                </a:lnTo>
                <a:cubicBezTo>
                  <a:pt x="5039" y="2682"/>
                  <a:pt x="5114" y="2670"/>
                  <a:pt x="5190" y="2655"/>
                </a:cubicBezTo>
                <a:close/>
                <a:moveTo>
                  <a:pt x="3906" y="6587"/>
                </a:moveTo>
                <a:lnTo>
                  <a:pt x="3906" y="6587"/>
                </a:lnTo>
                <a:cubicBezTo>
                  <a:pt x="3891" y="6624"/>
                  <a:pt x="3785" y="6860"/>
                  <a:pt x="3679" y="7096"/>
                </a:cubicBezTo>
                <a:cubicBezTo>
                  <a:pt x="3839" y="7165"/>
                  <a:pt x="3999" y="7227"/>
                  <a:pt x="4159" y="7282"/>
                </a:cubicBezTo>
                <a:lnTo>
                  <a:pt x="3906" y="6587"/>
                </a:lnTo>
                <a:close/>
                <a:moveTo>
                  <a:pt x="3786" y="6365"/>
                </a:moveTo>
                <a:lnTo>
                  <a:pt x="3786" y="6365"/>
                </a:lnTo>
                <a:cubicBezTo>
                  <a:pt x="3889" y="6408"/>
                  <a:pt x="3992" y="6449"/>
                  <a:pt x="4098" y="6486"/>
                </a:cubicBezTo>
                <a:lnTo>
                  <a:pt x="4618" y="7928"/>
                </a:lnTo>
                <a:cubicBezTo>
                  <a:pt x="4535" y="7910"/>
                  <a:pt x="4454" y="7890"/>
                  <a:pt x="4372" y="7869"/>
                </a:cubicBezTo>
                <a:lnTo>
                  <a:pt x="4242" y="7513"/>
                </a:lnTo>
                <a:cubicBezTo>
                  <a:pt x="4028" y="7445"/>
                  <a:pt x="3813" y="7366"/>
                  <a:pt x="3598" y="7275"/>
                </a:cubicBezTo>
                <a:cubicBezTo>
                  <a:pt x="3539" y="7405"/>
                  <a:pt x="3488" y="7518"/>
                  <a:pt x="3462" y="7576"/>
                </a:cubicBezTo>
                <a:cubicBezTo>
                  <a:pt x="3396" y="7550"/>
                  <a:pt x="3330" y="7526"/>
                  <a:pt x="3265" y="7499"/>
                </a:cubicBezTo>
                <a:lnTo>
                  <a:pt x="3786" y="6365"/>
                </a:lnTo>
                <a:close/>
                <a:moveTo>
                  <a:pt x="0" y="4705"/>
                </a:moveTo>
                <a:lnTo>
                  <a:pt x="0" y="4705"/>
                </a:lnTo>
                <a:lnTo>
                  <a:pt x="1407" y="0"/>
                </a:lnTo>
                <a:lnTo>
                  <a:pt x="1189" y="0"/>
                </a:lnTo>
                <a:lnTo>
                  <a:pt x="0" y="3976"/>
                </a:lnTo>
                <a:lnTo>
                  <a:pt x="0" y="4705"/>
                </a:lnTo>
                <a:close/>
                <a:moveTo>
                  <a:pt x="4973" y="0"/>
                </a:moveTo>
                <a:lnTo>
                  <a:pt x="4973" y="0"/>
                </a:lnTo>
                <a:lnTo>
                  <a:pt x="4942" y="0"/>
                </a:lnTo>
                <a:cubicBezTo>
                  <a:pt x="4949" y="8"/>
                  <a:pt x="4957" y="17"/>
                  <a:pt x="4964" y="26"/>
                </a:cubicBezTo>
                <a:lnTo>
                  <a:pt x="4973" y="0"/>
                </a:lnTo>
                <a:close/>
                <a:moveTo>
                  <a:pt x="16342" y="5679"/>
                </a:moveTo>
                <a:lnTo>
                  <a:pt x="16342" y="5679"/>
                </a:lnTo>
                <a:cubicBezTo>
                  <a:pt x="16341" y="5608"/>
                  <a:pt x="16340" y="5537"/>
                  <a:pt x="16338" y="5466"/>
                </a:cubicBezTo>
                <a:cubicBezTo>
                  <a:pt x="16042" y="5378"/>
                  <a:pt x="15728" y="5303"/>
                  <a:pt x="15381" y="5248"/>
                </a:cubicBezTo>
                <a:lnTo>
                  <a:pt x="15381" y="6525"/>
                </a:lnTo>
                <a:cubicBezTo>
                  <a:pt x="15732" y="6596"/>
                  <a:pt x="16058" y="6690"/>
                  <a:pt x="16373" y="6797"/>
                </a:cubicBezTo>
                <a:cubicBezTo>
                  <a:pt x="16374" y="6726"/>
                  <a:pt x="16375" y="6654"/>
                  <a:pt x="16376" y="6582"/>
                </a:cubicBezTo>
                <a:cubicBezTo>
                  <a:pt x="16114" y="6494"/>
                  <a:pt x="15851" y="6419"/>
                  <a:pt x="15589" y="6356"/>
                </a:cubicBezTo>
                <a:lnTo>
                  <a:pt x="15589" y="6005"/>
                </a:lnTo>
                <a:cubicBezTo>
                  <a:pt x="15804" y="6056"/>
                  <a:pt x="16019" y="6116"/>
                  <a:pt x="16235" y="6184"/>
                </a:cubicBezTo>
                <a:lnTo>
                  <a:pt x="16235" y="5975"/>
                </a:lnTo>
                <a:cubicBezTo>
                  <a:pt x="16019" y="5907"/>
                  <a:pt x="15804" y="5847"/>
                  <a:pt x="15589" y="5796"/>
                </a:cubicBezTo>
                <a:lnTo>
                  <a:pt x="15589" y="5493"/>
                </a:lnTo>
                <a:cubicBezTo>
                  <a:pt x="15840" y="5543"/>
                  <a:pt x="16091" y="5605"/>
                  <a:pt x="16342" y="5679"/>
                </a:cubicBezTo>
                <a:close/>
                <a:moveTo>
                  <a:pt x="17896" y="3276"/>
                </a:moveTo>
                <a:lnTo>
                  <a:pt x="17896" y="3276"/>
                </a:lnTo>
                <a:cubicBezTo>
                  <a:pt x="17817" y="3218"/>
                  <a:pt x="17737" y="3172"/>
                  <a:pt x="17651" y="3141"/>
                </a:cubicBezTo>
                <a:cubicBezTo>
                  <a:pt x="17653" y="3180"/>
                  <a:pt x="17656" y="3218"/>
                  <a:pt x="17660" y="3256"/>
                </a:cubicBezTo>
                <a:cubicBezTo>
                  <a:pt x="17797" y="3586"/>
                  <a:pt x="17999" y="3880"/>
                  <a:pt x="18247" y="4130"/>
                </a:cubicBezTo>
                <a:cubicBezTo>
                  <a:pt x="18289" y="4147"/>
                  <a:pt x="18331" y="4165"/>
                  <a:pt x="18372" y="4182"/>
                </a:cubicBezTo>
                <a:cubicBezTo>
                  <a:pt x="18569" y="4263"/>
                  <a:pt x="18763" y="4343"/>
                  <a:pt x="18960" y="4419"/>
                </a:cubicBezTo>
                <a:cubicBezTo>
                  <a:pt x="18497" y="4153"/>
                  <a:pt x="18121" y="3758"/>
                  <a:pt x="17896" y="3276"/>
                </a:cubicBezTo>
                <a:close/>
                <a:moveTo>
                  <a:pt x="12099" y="5524"/>
                </a:moveTo>
                <a:lnTo>
                  <a:pt x="12099" y="5524"/>
                </a:lnTo>
                <a:cubicBezTo>
                  <a:pt x="12083" y="5569"/>
                  <a:pt x="11912" y="6041"/>
                  <a:pt x="11844" y="6230"/>
                </a:cubicBezTo>
                <a:cubicBezTo>
                  <a:pt x="12016" y="6169"/>
                  <a:pt x="12190" y="6121"/>
                  <a:pt x="12363" y="6089"/>
                </a:cubicBezTo>
                <a:cubicBezTo>
                  <a:pt x="12290" y="5935"/>
                  <a:pt x="12099" y="5524"/>
                  <a:pt x="12099" y="5524"/>
                </a:cubicBezTo>
                <a:close/>
                <a:moveTo>
                  <a:pt x="11948" y="5378"/>
                </a:moveTo>
                <a:lnTo>
                  <a:pt x="11948" y="5378"/>
                </a:lnTo>
                <a:cubicBezTo>
                  <a:pt x="12035" y="5356"/>
                  <a:pt x="12124" y="5336"/>
                  <a:pt x="12215" y="5316"/>
                </a:cubicBezTo>
                <a:cubicBezTo>
                  <a:pt x="12412" y="5705"/>
                  <a:pt x="12607" y="6098"/>
                  <a:pt x="12793" y="6485"/>
                </a:cubicBezTo>
                <a:cubicBezTo>
                  <a:pt x="12765" y="6490"/>
                  <a:pt x="12596" y="6520"/>
                  <a:pt x="12569" y="6527"/>
                </a:cubicBezTo>
                <a:cubicBezTo>
                  <a:pt x="12546" y="6477"/>
                  <a:pt x="12471" y="6319"/>
                  <a:pt x="12448" y="6269"/>
                </a:cubicBezTo>
                <a:cubicBezTo>
                  <a:pt x="12218" y="6308"/>
                  <a:pt x="11988" y="6374"/>
                  <a:pt x="11762" y="6463"/>
                </a:cubicBezTo>
                <a:cubicBezTo>
                  <a:pt x="11725" y="6568"/>
                  <a:pt x="11687" y="6673"/>
                  <a:pt x="11651" y="6775"/>
                </a:cubicBezTo>
                <a:cubicBezTo>
                  <a:pt x="11563" y="6805"/>
                  <a:pt x="11477" y="6835"/>
                  <a:pt x="11391" y="6866"/>
                </a:cubicBezTo>
                <a:cubicBezTo>
                  <a:pt x="11569" y="6380"/>
                  <a:pt x="11756" y="5880"/>
                  <a:pt x="11948" y="5378"/>
                </a:cubicBezTo>
                <a:close/>
                <a:moveTo>
                  <a:pt x="6291" y="8112"/>
                </a:moveTo>
                <a:lnTo>
                  <a:pt x="6291" y="8112"/>
                </a:lnTo>
                <a:cubicBezTo>
                  <a:pt x="6335" y="8112"/>
                  <a:pt x="6376" y="8111"/>
                  <a:pt x="6418" y="8110"/>
                </a:cubicBezTo>
                <a:lnTo>
                  <a:pt x="6418" y="6864"/>
                </a:lnTo>
                <a:cubicBezTo>
                  <a:pt x="6376" y="6864"/>
                  <a:pt x="6335" y="6866"/>
                  <a:pt x="6291" y="6866"/>
                </a:cubicBezTo>
                <a:cubicBezTo>
                  <a:pt x="6208" y="6866"/>
                  <a:pt x="6124" y="6862"/>
                  <a:pt x="6041" y="6858"/>
                </a:cubicBezTo>
                <a:lnTo>
                  <a:pt x="5634" y="7873"/>
                </a:lnTo>
                <a:cubicBezTo>
                  <a:pt x="5580" y="7722"/>
                  <a:pt x="5283" y="6964"/>
                  <a:pt x="5209" y="6775"/>
                </a:cubicBezTo>
                <a:cubicBezTo>
                  <a:pt x="5085" y="6754"/>
                  <a:pt x="4961" y="6729"/>
                  <a:pt x="4839" y="6702"/>
                </a:cubicBezTo>
                <a:lnTo>
                  <a:pt x="4830" y="7971"/>
                </a:lnTo>
                <a:cubicBezTo>
                  <a:pt x="4901" y="7985"/>
                  <a:pt x="4972" y="7998"/>
                  <a:pt x="5043" y="8009"/>
                </a:cubicBezTo>
                <a:cubicBezTo>
                  <a:pt x="5043" y="7786"/>
                  <a:pt x="5041" y="7094"/>
                  <a:pt x="5039" y="6947"/>
                </a:cubicBezTo>
                <a:cubicBezTo>
                  <a:pt x="5096" y="7101"/>
                  <a:pt x="5422" y="7885"/>
                  <a:pt x="5498" y="8069"/>
                </a:cubicBezTo>
                <a:cubicBezTo>
                  <a:pt x="5581" y="8078"/>
                  <a:pt x="5663" y="8085"/>
                  <a:pt x="5745" y="8091"/>
                </a:cubicBezTo>
                <a:cubicBezTo>
                  <a:pt x="5812" y="7941"/>
                  <a:pt x="6151" y="7181"/>
                  <a:pt x="6209" y="7023"/>
                </a:cubicBezTo>
                <a:cubicBezTo>
                  <a:pt x="6207" y="7175"/>
                  <a:pt x="6205" y="7916"/>
                  <a:pt x="6205" y="8110"/>
                </a:cubicBezTo>
                <a:cubicBezTo>
                  <a:pt x="6233" y="8110"/>
                  <a:pt x="6262" y="8112"/>
                  <a:pt x="6291" y="8112"/>
                </a:cubicBezTo>
                <a:close/>
                <a:moveTo>
                  <a:pt x="10743" y="5961"/>
                </a:moveTo>
                <a:lnTo>
                  <a:pt x="10743" y="5961"/>
                </a:lnTo>
                <a:cubicBezTo>
                  <a:pt x="10886" y="5915"/>
                  <a:pt x="11020" y="5927"/>
                  <a:pt x="11062" y="6071"/>
                </a:cubicBezTo>
                <a:lnTo>
                  <a:pt x="11265" y="6008"/>
                </a:lnTo>
                <a:cubicBezTo>
                  <a:pt x="11217" y="5741"/>
                  <a:pt x="10993" y="5670"/>
                  <a:pt x="10735" y="5754"/>
                </a:cubicBezTo>
                <a:cubicBezTo>
                  <a:pt x="10374" y="5870"/>
                  <a:pt x="10140" y="6218"/>
                  <a:pt x="10140" y="6639"/>
                </a:cubicBezTo>
                <a:cubicBezTo>
                  <a:pt x="10140" y="7049"/>
                  <a:pt x="10361" y="7275"/>
                  <a:pt x="10737" y="7153"/>
                </a:cubicBezTo>
                <a:cubicBezTo>
                  <a:pt x="11012" y="7064"/>
                  <a:pt x="11207" y="6850"/>
                  <a:pt x="11266" y="6582"/>
                </a:cubicBezTo>
                <a:lnTo>
                  <a:pt x="11046" y="6639"/>
                </a:lnTo>
                <a:cubicBezTo>
                  <a:pt x="10998" y="6791"/>
                  <a:pt x="10887" y="6904"/>
                  <a:pt x="10729" y="6955"/>
                </a:cubicBezTo>
                <a:cubicBezTo>
                  <a:pt x="10455" y="7044"/>
                  <a:pt x="10353" y="6859"/>
                  <a:pt x="10353" y="6572"/>
                </a:cubicBezTo>
                <a:cubicBezTo>
                  <a:pt x="10353" y="6342"/>
                  <a:pt x="10513" y="6035"/>
                  <a:pt x="10743" y="5961"/>
                </a:cubicBezTo>
                <a:close/>
                <a:moveTo>
                  <a:pt x="14267" y="6393"/>
                </a:moveTo>
                <a:lnTo>
                  <a:pt x="14267" y="6393"/>
                </a:lnTo>
                <a:lnTo>
                  <a:pt x="14267" y="5147"/>
                </a:lnTo>
                <a:cubicBezTo>
                  <a:pt x="14201" y="5145"/>
                  <a:pt x="14134" y="5144"/>
                  <a:pt x="14066" y="5144"/>
                </a:cubicBezTo>
                <a:cubicBezTo>
                  <a:pt x="14068" y="5448"/>
                  <a:pt x="14069" y="5752"/>
                  <a:pt x="14070" y="6057"/>
                </a:cubicBezTo>
                <a:cubicBezTo>
                  <a:pt x="13803" y="5749"/>
                  <a:pt x="13531" y="5455"/>
                  <a:pt x="13264" y="5169"/>
                </a:cubicBezTo>
                <a:cubicBezTo>
                  <a:pt x="13181" y="5175"/>
                  <a:pt x="13100" y="5182"/>
                  <a:pt x="13021" y="5190"/>
                </a:cubicBezTo>
                <a:lnTo>
                  <a:pt x="13021" y="6451"/>
                </a:lnTo>
                <a:cubicBezTo>
                  <a:pt x="13088" y="6442"/>
                  <a:pt x="13155" y="6434"/>
                  <a:pt x="13224" y="6427"/>
                </a:cubicBezTo>
                <a:cubicBezTo>
                  <a:pt x="13223" y="6098"/>
                  <a:pt x="13222" y="5769"/>
                  <a:pt x="13222" y="5440"/>
                </a:cubicBezTo>
                <a:cubicBezTo>
                  <a:pt x="13504" y="5745"/>
                  <a:pt x="13790" y="6060"/>
                  <a:pt x="14072" y="6389"/>
                </a:cubicBezTo>
                <a:cubicBezTo>
                  <a:pt x="14137" y="6390"/>
                  <a:pt x="14202" y="6391"/>
                  <a:pt x="14267" y="6393"/>
                </a:cubicBezTo>
                <a:close/>
                <a:moveTo>
                  <a:pt x="7847" y="6956"/>
                </a:moveTo>
                <a:lnTo>
                  <a:pt x="7847" y="6956"/>
                </a:lnTo>
                <a:cubicBezTo>
                  <a:pt x="7846" y="6883"/>
                  <a:pt x="7845" y="6811"/>
                  <a:pt x="7844" y="6738"/>
                </a:cubicBezTo>
                <a:cubicBezTo>
                  <a:pt x="7526" y="6793"/>
                  <a:pt x="7183" y="6832"/>
                  <a:pt x="6809" y="6852"/>
                </a:cubicBezTo>
                <a:lnTo>
                  <a:pt x="6809" y="8100"/>
                </a:lnTo>
                <a:cubicBezTo>
                  <a:pt x="7198" y="8083"/>
                  <a:pt x="7554" y="8048"/>
                  <a:pt x="7882" y="7999"/>
                </a:cubicBezTo>
                <a:cubicBezTo>
                  <a:pt x="7883" y="7930"/>
                  <a:pt x="7884" y="7862"/>
                  <a:pt x="7885" y="7794"/>
                </a:cubicBezTo>
                <a:cubicBezTo>
                  <a:pt x="7599" y="7836"/>
                  <a:pt x="7312" y="7864"/>
                  <a:pt x="7025" y="7878"/>
                </a:cubicBezTo>
                <a:lnTo>
                  <a:pt x="7025" y="7574"/>
                </a:lnTo>
                <a:cubicBezTo>
                  <a:pt x="7260" y="7557"/>
                  <a:pt x="7496" y="7531"/>
                  <a:pt x="7731" y="7495"/>
                </a:cubicBezTo>
                <a:lnTo>
                  <a:pt x="7731" y="7287"/>
                </a:lnTo>
                <a:cubicBezTo>
                  <a:pt x="7496" y="7323"/>
                  <a:pt x="7260" y="7349"/>
                  <a:pt x="7025" y="7365"/>
                </a:cubicBezTo>
                <a:lnTo>
                  <a:pt x="7025" y="7053"/>
                </a:lnTo>
                <a:cubicBezTo>
                  <a:pt x="7299" y="7033"/>
                  <a:pt x="7574" y="7001"/>
                  <a:pt x="7847" y="6956"/>
                </a:cubicBezTo>
                <a:close/>
                <a:moveTo>
                  <a:pt x="9082" y="6822"/>
                </a:moveTo>
                <a:lnTo>
                  <a:pt x="9082" y="6822"/>
                </a:lnTo>
                <a:cubicBezTo>
                  <a:pt x="9082" y="6672"/>
                  <a:pt x="9004" y="6682"/>
                  <a:pt x="8797" y="6737"/>
                </a:cubicBezTo>
                <a:cubicBezTo>
                  <a:pt x="8677" y="6769"/>
                  <a:pt x="8557" y="6798"/>
                  <a:pt x="8437" y="6825"/>
                </a:cubicBezTo>
                <a:lnTo>
                  <a:pt x="8437" y="7152"/>
                </a:lnTo>
                <a:cubicBezTo>
                  <a:pt x="8553" y="7129"/>
                  <a:pt x="8670" y="7104"/>
                  <a:pt x="8786" y="7076"/>
                </a:cubicBezTo>
                <a:cubicBezTo>
                  <a:pt x="8999" y="7019"/>
                  <a:pt x="9082" y="6890"/>
                  <a:pt x="9082" y="6822"/>
                </a:cubicBezTo>
                <a:close/>
                <a:moveTo>
                  <a:pt x="9002" y="7201"/>
                </a:moveTo>
                <a:lnTo>
                  <a:pt x="9002" y="7201"/>
                </a:lnTo>
                <a:cubicBezTo>
                  <a:pt x="9136" y="7349"/>
                  <a:pt x="9270" y="7492"/>
                  <a:pt x="9404" y="7631"/>
                </a:cubicBezTo>
                <a:cubicBezTo>
                  <a:pt x="9328" y="7656"/>
                  <a:pt x="9251" y="7681"/>
                  <a:pt x="9172" y="7705"/>
                </a:cubicBezTo>
                <a:cubicBezTo>
                  <a:pt x="9041" y="7569"/>
                  <a:pt x="8909" y="7430"/>
                  <a:pt x="8778" y="7285"/>
                </a:cubicBezTo>
                <a:cubicBezTo>
                  <a:pt x="8664" y="7314"/>
                  <a:pt x="8551" y="7341"/>
                  <a:pt x="8437" y="7365"/>
                </a:cubicBezTo>
                <a:lnTo>
                  <a:pt x="8437" y="7897"/>
                </a:lnTo>
                <a:cubicBezTo>
                  <a:pt x="8365" y="7913"/>
                  <a:pt x="8293" y="7928"/>
                  <a:pt x="8218" y="7942"/>
                </a:cubicBezTo>
                <a:lnTo>
                  <a:pt x="8218" y="6664"/>
                </a:lnTo>
                <a:cubicBezTo>
                  <a:pt x="8351" y="6635"/>
                  <a:pt x="8543" y="6597"/>
                  <a:pt x="8801" y="6529"/>
                </a:cubicBezTo>
                <a:cubicBezTo>
                  <a:pt x="9152" y="6434"/>
                  <a:pt x="9317" y="6503"/>
                  <a:pt x="9317" y="6743"/>
                </a:cubicBezTo>
                <a:cubicBezTo>
                  <a:pt x="9317" y="6982"/>
                  <a:pt x="9148" y="7123"/>
                  <a:pt x="9002" y="7201"/>
                </a:cubicBezTo>
                <a:close/>
                <a:moveTo>
                  <a:pt x="9851" y="7472"/>
                </a:moveTo>
                <a:lnTo>
                  <a:pt x="9851" y="7472"/>
                </a:lnTo>
                <a:lnTo>
                  <a:pt x="9851" y="6138"/>
                </a:lnTo>
                <a:cubicBezTo>
                  <a:pt x="9783" y="6165"/>
                  <a:pt x="9716" y="6192"/>
                  <a:pt x="9647" y="6219"/>
                </a:cubicBezTo>
                <a:lnTo>
                  <a:pt x="9647" y="7547"/>
                </a:lnTo>
                <a:cubicBezTo>
                  <a:pt x="9716" y="7522"/>
                  <a:pt x="9784" y="7497"/>
                  <a:pt x="9851" y="7472"/>
                </a:cubicBezTo>
                <a:close/>
                <a:moveTo>
                  <a:pt x="1493" y="2260"/>
                </a:moveTo>
                <a:lnTo>
                  <a:pt x="1493" y="2260"/>
                </a:lnTo>
                <a:lnTo>
                  <a:pt x="0" y="6699"/>
                </a:lnTo>
                <a:lnTo>
                  <a:pt x="0" y="7354"/>
                </a:lnTo>
                <a:lnTo>
                  <a:pt x="1599" y="2604"/>
                </a:lnTo>
                <a:cubicBezTo>
                  <a:pt x="1558" y="2490"/>
                  <a:pt x="1523" y="2376"/>
                  <a:pt x="1493" y="2260"/>
                </a:cubicBezTo>
                <a:close/>
                <a:moveTo>
                  <a:pt x="599" y="10809"/>
                </a:moveTo>
                <a:lnTo>
                  <a:pt x="599" y="10809"/>
                </a:lnTo>
                <a:lnTo>
                  <a:pt x="828" y="10809"/>
                </a:lnTo>
                <a:lnTo>
                  <a:pt x="1674" y="8922"/>
                </a:lnTo>
                <a:cubicBezTo>
                  <a:pt x="1613" y="8889"/>
                  <a:pt x="1551" y="8855"/>
                  <a:pt x="1491" y="8820"/>
                </a:cubicBezTo>
                <a:lnTo>
                  <a:pt x="599" y="10809"/>
                </a:lnTo>
                <a:close/>
                <a:moveTo>
                  <a:pt x="6619" y="10090"/>
                </a:moveTo>
                <a:lnTo>
                  <a:pt x="6619" y="10090"/>
                </a:lnTo>
                <a:cubicBezTo>
                  <a:pt x="6548" y="10091"/>
                  <a:pt x="6476" y="10092"/>
                  <a:pt x="6404" y="10093"/>
                </a:cubicBezTo>
                <a:lnTo>
                  <a:pt x="6591" y="10809"/>
                </a:lnTo>
                <a:lnTo>
                  <a:pt x="6807" y="10809"/>
                </a:lnTo>
                <a:lnTo>
                  <a:pt x="6619" y="10090"/>
                </a:lnTo>
                <a:close/>
                <a:moveTo>
                  <a:pt x="3374" y="9663"/>
                </a:moveTo>
                <a:lnTo>
                  <a:pt x="3374" y="9663"/>
                </a:lnTo>
                <a:cubicBezTo>
                  <a:pt x="2632" y="9663"/>
                  <a:pt x="2000" y="10143"/>
                  <a:pt x="1771" y="10809"/>
                </a:cubicBezTo>
                <a:lnTo>
                  <a:pt x="1994" y="10809"/>
                </a:lnTo>
                <a:cubicBezTo>
                  <a:pt x="2213" y="10261"/>
                  <a:pt x="2749" y="9872"/>
                  <a:pt x="3374" y="9872"/>
                </a:cubicBezTo>
                <a:cubicBezTo>
                  <a:pt x="3999" y="9872"/>
                  <a:pt x="4535" y="10261"/>
                  <a:pt x="4755" y="10809"/>
                </a:cubicBezTo>
                <a:lnTo>
                  <a:pt x="4977" y="10809"/>
                </a:lnTo>
                <a:cubicBezTo>
                  <a:pt x="4748" y="10143"/>
                  <a:pt x="4116" y="9663"/>
                  <a:pt x="3374" y="9663"/>
                </a:cubicBezTo>
                <a:close/>
                <a:moveTo>
                  <a:pt x="0" y="8877"/>
                </a:moveTo>
                <a:lnTo>
                  <a:pt x="0" y="8877"/>
                </a:lnTo>
                <a:lnTo>
                  <a:pt x="0" y="9474"/>
                </a:lnTo>
                <a:lnTo>
                  <a:pt x="491" y="8161"/>
                </a:lnTo>
                <a:cubicBezTo>
                  <a:pt x="432" y="8117"/>
                  <a:pt x="375" y="8072"/>
                  <a:pt x="317" y="8027"/>
                </a:cubicBezTo>
                <a:lnTo>
                  <a:pt x="0" y="8877"/>
                </a:lnTo>
                <a:close/>
                <a:moveTo>
                  <a:pt x="5546" y="10065"/>
                </a:moveTo>
                <a:lnTo>
                  <a:pt x="5546" y="10065"/>
                </a:lnTo>
                <a:cubicBezTo>
                  <a:pt x="5471" y="10060"/>
                  <a:pt x="5396" y="10052"/>
                  <a:pt x="5321" y="10044"/>
                </a:cubicBezTo>
                <a:lnTo>
                  <a:pt x="5550" y="10809"/>
                </a:lnTo>
                <a:lnTo>
                  <a:pt x="5768" y="10809"/>
                </a:lnTo>
                <a:lnTo>
                  <a:pt x="5546" y="10065"/>
                </a:lnTo>
                <a:close/>
                <a:moveTo>
                  <a:pt x="2075" y="9130"/>
                </a:moveTo>
                <a:lnTo>
                  <a:pt x="2075" y="9130"/>
                </a:lnTo>
                <a:lnTo>
                  <a:pt x="1259" y="10809"/>
                </a:lnTo>
                <a:lnTo>
                  <a:pt x="1491" y="10809"/>
                </a:lnTo>
                <a:lnTo>
                  <a:pt x="2265" y="9218"/>
                </a:lnTo>
                <a:cubicBezTo>
                  <a:pt x="2201" y="9189"/>
                  <a:pt x="2138" y="9160"/>
                  <a:pt x="2075" y="9130"/>
                </a:cubicBezTo>
                <a:close/>
                <a:moveTo>
                  <a:pt x="0" y="10659"/>
                </a:moveTo>
                <a:lnTo>
                  <a:pt x="0" y="10659"/>
                </a:lnTo>
                <a:lnTo>
                  <a:pt x="0" y="10809"/>
                </a:lnTo>
                <a:lnTo>
                  <a:pt x="164" y="10809"/>
                </a:lnTo>
                <a:lnTo>
                  <a:pt x="1084" y="8573"/>
                </a:lnTo>
                <a:cubicBezTo>
                  <a:pt x="1024" y="8534"/>
                  <a:pt x="965" y="8495"/>
                  <a:pt x="906" y="8456"/>
                </a:cubicBezTo>
                <a:lnTo>
                  <a:pt x="0" y="10659"/>
                </a:lnTo>
                <a:close/>
                <a:moveTo>
                  <a:pt x="4009" y="1354"/>
                </a:moveTo>
                <a:lnTo>
                  <a:pt x="4009" y="1354"/>
                </a:lnTo>
                <a:lnTo>
                  <a:pt x="4009" y="1249"/>
                </a:lnTo>
                <a:cubicBezTo>
                  <a:pt x="4009" y="899"/>
                  <a:pt x="3724" y="615"/>
                  <a:pt x="3374" y="615"/>
                </a:cubicBezTo>
                <a:cubicBezTo>
                  <a:pt x="3024" y="615"/>
                  <a:pt x="2739" y="899"/>
                  <a:pt x="2739" y="1249"/>
                </a:cubicBezTo>
                <a:cubicBezTo>
                  <a:pt x="2739" y="2119"/>
                  <a:pt x="3107" y="2908"/>
                  <a:pt x="3724" y="3360"/>
                </a:cubicBezTo>
                <a:cubicBezTo>
                  <a:pt x="4424" y="3873"/>
                  <a:pt x="5347" y="3839"/>
                  <a:pt x="6023" y="3476"/>
                </a:cubicBezTo>
                <a:cubicBezTo>
                  <a:pt x="6050" y="3405"/>
                  <a:pt x="6071" y="3325"/>
                  <a:pt x="6086" y="3235"/>
                </a:cubicBezTo>
                <a:cubicBezTo>
                  <a:pt x="6059" y="3237"/>
                  <a:pt x="6035" y="3241"/>
                  <a:pt x="6009" y="3244"/>
                </a:cubicBezTo>
                <a:cubicBezTo>
                  <a:pt x="5547" y="3526"/>
                  <a:pt x="4621" y="3758"/>
                  <a:pt x="3848" y="3191"/>
                </a:cubicBezTo>
                <a:cubicBezTo>
                  <a:pt x="3285" y="2778"/>
                  <a:pt x="2948" y="2052"/>
                  <a:pt x="2948" y="1249"/>
                </a:cubicBezTo>
                <a:cubicBezTo>
                  <a:pt x="2948" y="1015"/>
                  <a:pt x="3139" y="824"/>
                  <a:pt x="3374" y="824"/>
                </a:cubicBezTo>
                <a:cubicBezTo>
                  <a:pt x="3609" y="824"/>
                  <a:pt x="3800" y="1015"/>
                  <a:pt x="3800" y="1249"/>
                </a:cubicBezTo>
                <a:lnTo>
                  <a:pt x="3800" y="1354"/>
                </a:lnTo>
                <a:lnTo>
                  <a:pt x="4009" y="1354"/>
                </a:lnTo>
                <a:close/>
                <a:moveTo>
                  <a:pt x="3904" y="1884"/>
                </a:moveTo>
                <a:lnTo>
                  <a:pt x="3904" y="1884"/>
                </a:lnTo>
                <a:cubicBezTo>
                  <a:pt x="4254" y="1884"/>
                  <a:pt x="4539" y="1599"/>
                  <a:pt x="4539" y="1249"/>
                </a:cubicBezTo>
                <a:cubicBezTo>
                  <a:pt x="4539" y="607"/>
                  <a:pt x="4017" y="84"/>
                  <a:pt x="3374" y="84"/>
                </a:cubicBezTo>
                <a:cubicBezTo>
                  <a:pt x="2732" y="84"/>
                  <a:pt x="2209" y="607"/>
                  <a:pt x="2209" y="1249"/>
                </a:cubicBezTo>
                <a:cubicBezTo>
                  <a:pt x="2209" y="2633"/>
                  <a:pt x="3130" y="3959"/>
                  <a:pt x="4500" y="4547"/>
                </a:cubicBezTo>
                <a:cubicBezTo>
                  <a:pt x="5741" y="5080"/>
                  <a:pt x="6989" y="4865"/>
                  <a:pt x="7855" y="4043"/>
                </a:cubicBezTo>
                <a:cubicBezTo>
                  <a:pt x="7877" y="4021"/>
                  <a:pt x="8008" y="3894"/>
                  <a:pt x="8122" y="3739"/>
                </a:cubicBezTo>
                <a:cubicBezTo>
                  <a:pt x="8122" y="3738"/>
                  <a:pt x="8122" y="3737"/>
                  <a:pt x="8122" y="3736"/>
                </a:cubicBezTo>
                <a:cubicBezTo>
                  <a:pt x="7997" y="3752"/>
                  <a:pt x="7889" y="3778"/>
                  <a:pt x="7791" y="3810"/>
                </a:cubicBezTo>
                <a:cubicBezTo>
                  <a:pt x="7759" y="3844"/>
                  <a:pt x="7731" y="3872"/>
                  <a:pt x="7711" y="3891"/>
                </a:cubicBezTo>
                <a:cubicBezTo>
                  <a:pt x="6891" y="4670"/>
                  <a:pt x="5721" y="4844"/>
                  <a:pt x="4583" y="4355"/>
                </a:cubicBezTo>
                <a:cubicBezTo>
                  <a:pt x="3288" y="3799"/>
                  <a:pt x="2418" y="2551"/>
                  <a:pt x="2418" y="1249"/>
                </a:cubicBezTo>
                <a:cubicBezTo>
                  <a:pt x="2418" y="722"/>
                  <a:pt x="2847" y="293"/>
                  <a:pt x="3374" y="293"/>
                </a:cubicBezTo>
                <a:cubicBezTo>
                  <a:pt x="3901" y="293"/>
                  <a:pt x="4330" y="722"/>
                  <a:pt x="4330" y="1249"/>
                </a:cubicBezTo>
                <a:cubicBezTo>
                  <a:pt x="4330" y="1484"/>
                  <a:pt x="4139" y="1675"/>
                  <a:pt x="3904" y="1675"/>
                </a:cubicBezTo>
                <a:cubicBezTo>
                  <a:pt x="3670" y="1675"/>
                  <a:pt x="3479" y="1484"/>
                  <a:pt x="3479" y="1249"/>
                </a:cubicBezTo>
                <a:lnTo>
                  <a:pt x="3479" y="1145"/>
                </a:lnTo>
                <a:lnTo>
                  <a:pt x="3270" y="1145"/>
                </a:lnTo>
                <a:lnTo>
                  <a:pt x="3270" y="1249"/>
                </a:lnTo>
                <a:cubicBezTo>
                  <a:pt x="3270" y="1599"/>
                  <a:pt x="3554" y="1884"/>
                  <a:pt x="3904" y="1884"/>
                </a:cubicBezTo>
                <a:close/>
                <a:moveTo>
                  <a:pt x="340" y="0"/>
                </a:moveTo>
                <a:lnTo>
                  <a:pt x="340" y="0"/>
                </a:lnTo>
                <a:lnTo>
                  <a:pt x="124" y="0"/>
                </a:lnTo>
                <a:lnTo>
                  <a:pt x="0" y="475"/>
                </a:lnTo>
                <a:lnTo>
                  <a:pt x="0" y="1300"/>
                </a:lnTo>
                <a:lnTo>
                  <a:pt x="340" y="0"/>
                </a:lnTo>
                <a:close/>
                <a:moveTo>
                  <a:pt x="3058" y="10809"/>
                </a:moveTo>
                <a:lnTo>
                  <a:pt x="3058" y="10809"/>
                </a:lnTo>
                <a:lnTo>
                  <a:pt x="3690" y="10809"/>
                </a:lnTo>
                <a:cubicBezTo>
                  <a:pt x="3597" y="10755"/>
                  <a:pt x="3489" y="10724"/>
                  <a:pt x="3374" y="10724"/>
                </a:cubicBezTo>
                <a:cubicBezTo>
                  <a:pt x="3259" y="10724"/>
                  <a:pt x="3151" y="10755"/>
                  <a:pt x="3058" y="10809"/>
                </a:cubicBezTo>
                <a:close/>
                <a:moveTo>
                  <a:pt x="1679" y="1249"/>
                </a:moveTo>
                <a:lnTo>
                  <a:pt x="1679" y="1249"/>
                </a:lnTo>
                <a:cubicBezTo>
                  <a:pt x="1679" y="1912"/>
                  <a:pt x="1853" y="2538"/>
                  <a:pt x="2162" y="3094"/>
                </a:cubicBezTo>
                <a:lnTo>
                  <a:pt x="432" y="7720"/>
                </a:lnTo>
                <a:cubicBezTo>
                  <a:pt x="2182" y="9124"/>
                  <a:pt x="4238" y="9781"/>
                  <a:pt x="6291" y="9781"/>
                </a:cubicBezTo>
                <a:cubicBezTo>
                  <a:pt x="10315" y="9781"/>
                  <a:pt x="11538" y="8057"/>
                  <a:pt x="13980" y="8057"/>
                </a:cubicBezTo>
                <a:cubicBezTo>
                  <a:pt x="15836" y="8057"/>
                  <a:pt x="16988" y="9052"/>
                  <a:pt x="19200" y="9530"/>
                </a:cubicBezTo>
                <a:lnTo>
                  <a:pt x="19200" y="9316"/>
                </a:lnTo>
                <a:cubicBezTo>
                  <a:pt x="17026" y="8836"/>
                  <a:pt x="15875" y="7848"/>
                  <a:pt x="13980" y="7848"/>
                </a:cubicBezTo>
                <a:cubicBezTo>
                  <a:pt x="11477" y="7848"/>
                  <a:pt x="10272" y="9572"/>
                  <a:pt x="6291" y="9572"/>
                </a:cubicBezTo>
                <a:cubicBezTo>
                  <a:pt x="4242" y="9572"/>
                  <a:pt x="2253" y="8890"/>
                  <a:pt x="681" y="7651"/>
                </a:cubicBezTo>
                <a:lnTo>
                  <a:pt x="2299" y="3323"/>
                </a:lnTo>
                <a:cubicBezTo>
                  <a:pt x="3098" y="4562"/>
                  <a:pt x="4587" y="5397"/>
                  <a:pt x="6291" y="5397"/>
                </a:cubicBezTo>
                <a:cubicBezTo>
                  <a:pt x="9472" y="5397"/>
                  <a:pt x="10157" y="3674"/>
                  <a:pt x="13981" y="3674"/>
                </a:cubicBezTo>
                <a:cubicBezTo>
                  <a:pt x="16581" y="3674"/>
                  <a:pt x="17730" y="4471"/>
                  <a:pt x="19200" y="4981"/>
                </a:cubicBezTo>
                <a:lnTo>
                  <a:pt x="19200" y="4759"/>
                </a:lnTo>
                <a:cubicBezTo>
                  <a:pt x="18887" y="4648"/>
                  <a:pt x="18588" y="4525"/>
                  <a:pt x="18283" y="4399"/>
                </a:cubicBezTo>
                <a:cubicBezTo>
                  <a:pt x="17574" y="4106"/>
                  <a:pt x="17437" y="3655"/>
                  <a:pt x="17433" y="2883"/>
                </a:cubicBezTo>
                <a:cubicBezTo>
                  <a:pt x="18212" y="2948"/>
                  <a:pt x="18512" y="3750"/>
                  <a:pt x="19200" y="4304"/>
                </a:cubicBezTo>
                <a:lnTo>
                  <a:pt x="19200" y="4027"/>
                </a:lnTo>
                <a:cubicBezTo>
                  <a:pt x="18578" y="3457"/>
                  <a:pt x="18243" y="2669"/>
                  <a:pt x="17328" y="2669"/>
                </a:cubicBezTo>
                <a:lnTo>
                  <a:pt x="17224" y="2669"/>
                </a:lnTo>
                <a:lnTo>
                  <a:pt x="17224" y="2774"/>
                </a:lnTo>
                <a:cubicBezTo>
                  <a:pt x="17224" y="3183"/>
                  <a:pt x="17225" y="3691"/>
                  <a:pt x="17513" y="4091"/>
                </a:cubicBezTo>
                <a:cubicBezTo>
                  <a:pt x="16605" y="3750"/>
                  <a:pt x="15560" y="3465"/>
                  <a:pt x="13981" y="3465"/>
                </a:cubicBezTo>
                <a:cubicBezTo>
                  <a:pt x="12402" y="3465"/>
                  <a:pt x="11356" y="3750"/>
                  <a:pt x="10448" y="4091"/>
                </a:cubicBezTo>
                <a:cubicBezTo>
                  <a:pt x="10736" y="3691"/>
                  <a:pt x="10738" y="3183"/>
                  <a:pt x="10738" y="2774"/>
                </a:cubicBezTo>
                <a:lnTo>
                  <a:pt x="10738" y="2669"/>
                </a:lnTo>
                <a:lnTo>
                  <a:pt x="10633" y="2669"/>
                </a:lnTo>
                <a:cubicBezTo>
                  <a:pt x="9565" y="2669"/>
                  <a:pt x="9287" y="3743"/>
                  <a:pt x="8421" y="4290"/>
                </a:cubicBezTo>
                <a:cubicBezTo>
                  <a:pt x="8535" y="4036"/>
                  <a:pt x="8550" y="3718"/>
                  <a:pt x="8550" y="3402"/>
                </a:cubicBezTo>
                <a:lnTo>
                  <a:pt x="8550" y="3297"/>
                </a:lnTo>
                <a:lnTo>
                  <a:pt x="8446" y="3297"/>
                </a:lnTo>
                <a:cubicBezTo>
                  <a:pt x="7221" y="3297"/>
                  <a:pt x="7088" y="3919"/>
                  <a:pt x="6141" y="4039"/>
                </a:cubicBezTo>
                <a:cubicBezTo>
                  <a:pt x="6394" y="3816"/>
                  <a:pt x="6528" y="3425"/>
                  <a:pt x="6528" y="2906"/>
                </a:cubicBezTo>
                <a:lnTo>
                  <a:pt x="6528" y="2802"/>
                </a:lnTo>
                <a:lnTo>
                  <a:pt x="6423" y="2802"/>
                </a:lnTo>
                <a:cubicBezTo>
                  <a:pt x="5617" y="2802"/>
                  <a:pt x="5343" y="3009"/>
                  <a:pt x="4816" y="3009"/>
                </a:cubicBezTo>
                <a:cubicBezTo>
                  <a:pt x="4429" y="3009"/>
                  <a:pt x="4065" y="2789"/>
                  <a:pt x="3812" y="2411"/>
                </a:cubicBezTo>
                <a:cubicBezTo>
                  <a:pt x="4493" y="2464"/>
                  <a:pt x="5070" y="1925"/>
                  <a:pt x="5070" y="1249"/>
                </a:cubicBezTo>
                <a:cubicBezTo>
                  <a:pt x="5070" y="755"/>
                  <a:pt x="4857" y="309"/>
                  <a:pt x="4518" y="0"/>
                </a:cubicBezTo>
                <a:lnTo>
                  <a:pt x="4176" y="0"/>
                </a:lnTo>
                <a:cubicBezTo>
                  <a:pt x="4587" y="264"/>
                  <a:pt x="4861" y="725"/>
                  <a:pt x="4861" y="1249"/>
                </a:cubicBezTo>
                <a:cubicBezTo>
                  <a:pt x="4861" y="1885"/>
                  <a:pt x="4249" y="2345"/>
                  <a:pt x="3638" y="2168"/>
                </a:cubicBezTo>
                <a:lnTo>
                  <a:pt x="3407" y="2101"/>
                </a:lnTo>
                <a:lnTo>
                  <a:pt x="3515" y="2315"/>
                </a:lnTo>
                <a:cubicBezTo>
                  <a:pt x="3801" y="2880"/>
                  <a:pt x="4287" y="3218"/>
                  <a:pt x="4816" y="3218"/>
                </a:cubicBezTo>
                <a:cubicBezTo>
                  <a:pt x="5354" y="3218"/>
                  <a:pt x="5617" y="3029"/>
                  <a:pt x="6317" y="3012"/>
                </a:cubicBezTo>
                <a:cubicBezTo>
                  <a:pt x="6290" y="3680"/>
                  <a:pt x="6025" y="4126"/>
                  <a:pt x="5356" y="4023"/>
                </a:cubicBezTo>
                <a:cubicBezTo>
                  <a:pt x="5073" y="4070"/>
                  <a:pt x="4855" y="4068"/>
                  <a:pt x="4633" y="4041"/>
                </a:cubicBezTo>
                <a:cubicBezTo>
                  <a:pt x="4991" y="4187"/>
                  <a:pt x="5383" y="4268"/>
                  <a:pt x="5794" y="4268"/>
                </a:cubicBezTo>
                <a:cubicBezTo>
                  <a:pt x="7116" y="4268"/>
                  <a:pt x="7160" y="3547"/>
                  <a:pt x="8341" y="3508"/>
                </a:cubicBezTo>
                <a:cubicBezTo>
                  <a:pt x="8328" y="4434"/>
                  <a:pt x="8042" y="4513"/>
                  <a:pt x="7581" y="4616"/>
                </a:cubicBezTo>
                <a:cubicBezTo>
                  <a:pt x="7399" y="4735"/>
                  <a:pt x="7207" y="4835"/>
                  <a:pt x="7007" y="4913"/>
                </a:cubicBezTo>
                <a:cubicBezTo>
                  <a:pt x="7376" y="4883"/>
                  <a:pt x="7775" y="4816"/>
                  <a:pt x="8148" y="4661"/>
                </a:cubicBezTo>
                <a:cubicBezTo>
                  <a:pt x="9328" y="4207"/>
                  <a:pt x="9551" y="2964"/>
                  <a:pt x="10529" y="2883"/>
                </a:cubicBezTo>
                <a:cubicBezTo>
                  <a:pt x="10525" y="3653"/>
                  <a:pt x="10388" y="4106"/>
                  <a:pt x="9679" y="4399"/>
                </a:cubicBezTo>
                <a:cubicBezTo>
                  <a:pt x="8695" y="4805"/>
                  <a:pt x="7766" y="5188"/>
                  <a:pt x="6291" y="5188"/>
                </a:cubicBezTo>
                <a:cubicBezTo>
                  <a:pt x="3863" y="5188"/>
                  <a:pt x="1888" y="3421"/>
                  <a:pt x="1888" y="1249"/>
                </a:cubicBezTo>
                <a:cubicBezTo>
                  <a:pt x="1888" y="725"/>
                  <a:pt x="2161" y="264"/>
                  <a:pt x="2572" y="0"/>
                </a:cubicBezTo>
                <a:lnTo>
                  <a:pt x="2230" y="0"/>
                </a:lnTo>
                <a:cubicBezTo>
                  <a:pt x="1892" y="309"/>
                  <a:pt x="1679" y="755"/>
                  <a:pt x="1679" y="1249"/>
                </a:cubicBezTo>
                <a:close/>
                <a:moveTo>
                  <a:pt x="3374" y="10194"/>
                </a:moveTo>
                <a:lnTo>
                  <a:pt x="3374" y="10194"/>
                </a:lnTo>
                <a:cubicBezTo>
                  <a:pt x="2931" y="10194"/>
                  <a:pt x="2544" y="10443"/>
                  <a:pt x="2347" y="10809"/>
                </a:cubicBezTo>
                <a:lnTo>
                  <a:pt x="2593" y="10809"/>
                </a:lnTo>
                <a:cubicBezTo>
                  <a:pt x="2766" y="10563"/>
                  <a:pt x="3052" y="10403"/>
                  <a:pt x="3374" y="10403"/>
                </a:cubicBezTo>
                <a:cubicBezTo>
                  <a:pt x="3697" y="10403"/>
                  <a:pt x="3982" y="10563"/>
                  <a:pt x="4155" y="10809"/>
                </a:cubicBezTo>
                <a:lnTo>
                  <a:pt x="4401" y="10809"/>
                </a:lnTo>
                <a:cubicBezTo>
                  <a:pt x="4204" y="10443"/>
                  <a:pt x="3818" y="10194"/>
                  <a:pt x="3374" y="10194"/>
                </a:cubicBezTo>
                <a:close/>
                <a:moveTo>
                  <a:pt x="10301" y="3256"/>
                </a:moveTo>
                <a:lnTo>
                  <a:pt x="10301" y="3256"/>
                </a:lnTo>
                <a:cubicBezTo>
                  <a:pt x="10305" y="3218"/>
                  <a:pt x="10308" y="3180"/>
                  <a:pt x="10311" y="3141"/>
                </a:cubicBezTo>
                <a:cubicBezTo>
                  <a:pt x="10224" y="3172"/>
                  <a:pt x="10144" y="3218"/>
                  <a:pt x="10066" y="3276"/>
                </a:cubicBezTo>
                <a:cubicBezTo>
                  <a:pt x="9840" y="3758"/>
                  <a:pt x="9465" y="4153"/>
                  <a:pt x="9002" y="4419"/>
                </a:cubicBezTo>
                <a:cubicBezTo>
                  <a:pt x="9198" y="4343"/>
                  <a:pt x="9393" y="4263"/>
                  <a:pt x="9589" y="4182"/>
                </a:cubicBezTo>
                <a:cubicBezTo>
                  <a:pt x="9630" y="4165"/>
                  <a:pt x="9673" y="4147"/>
                  <a:pt x="9714" y="4130"/>
                </a:cubicBezTo>
                <a:cubicBezTo>
                  <a:pt x="9962" y="3880"/>
                  <a:pt x="10164" y="3586"/>
                  <a:pt x="10301" y="3256"/>
                </a:cubicBezTo>
                <a:close/>
                <a:moveTo>
                  <a:pt x="18036" y="10809"/>
                </a:moveTo>
                <a:lnTo>
                  <a:pt x="18036" y="10809"/>
                </a:lnTo>
                <a:lnTo>
                  <a:pt x="18247" y="10809"/>
                </a:lnTo>
                <a:lnTo>
                  <a:pt x="18419" y="9657"/>
                </a:lnTo>
                <a:cubicBezTo>
                  <a:pt x="18351" y="9638"/>
                  <a:pt x="18283" y="9618"/>
                  <a:pt x="18217" y="9598"/>
                </a:cubicBezTo>
                <a:lnTo>
                  <a:pt x="18036" y="10809"/>
                </a:lnTo>
                <a:close/>
                <a:moveTo>
                  <a:pt x="16309" y="8894"/>
                </a:moveTo>
                <a:lnTo>
                  <a:pt x="16309" y="8894"/>
                </a:lnTo>
                <a:cubicBezTo>
                  <a:pt x="16241" y="8868"/>
                  <a:pt x="16173" y="8842"/>
                  <a:pt x="16105" y="8817"/>
                </a:cubicBezTo>
                <a:lnTo>
                  <a:pt x="15960" y="10760"/>
                </a:lnTo>
                <a:cubicBezTo>
                  <a:pt x="16000" y="10776"/>
                  <a:pt x="16040" y="10792"/>
                  <a:pt x="16080" y="10809"/>
                </a:cubicBezTo>
                <a:lnTo>
                  <a:pt x="16166" y="10809"/>
                </a:lnTo>
                <a:lnTo>
                  <a:pt x="16309" y="8894"/>
                </a:lnTo>
                <a:close/>
                <a:moveTo>
                  <a:pt x="14085" y="8375"/>
                </a:moveTo>
                <a:lnTo>
                  <a:pt x="14085" y="8375"/>
                </a:lnTo>
                <a:cubicBezTo>
                  <a:pt x="14050" y="8374"/>
                  <a:pt x="14016" y="8371"/>
                  <a:pt x="13981" y="8371"/>
                </a:cubicBezTo>
                <a:cubicBezTo>
                  <a:pt x="13945" y="8371"/>
                  <a:pt x="13911" y="8374"/>
                  <a:pt x="13876" y="8375"/>
                </a:cubicBezTo>
                <a:lnTo>
                  <a:pt x="13876" y="10393"/>
                </a:lnTo>
                <a:cubicBezTo>
                  <a:pt x="13911" y="10393"/>
                  <a:pt x="13945" y="10391"/>
                  <a:pt x="13981" y="10391"/>
                </a:cubicBezTo>
                <a:cubicBezTo>
                  <a:pt x="14016" y="10391"/>
                  <a:pt x="14050" y="10393"/>
                  <a:pt x="14085" y="10393"/>
                </a:cubicBezTo>
                <a:lnTo>
                  <a:pt x="14085" y="8375"/>
                </a:lnTo>
                <a:close/>
                <a:moveTo>
                  <a:pt x="19200" y="10809"/>
                </a:moveTo>
                <a:lnTo>
                  <a:pt x="19200" y="10809"/>
                </a:lnTo>
                <a:lnTo>
                  <a:pt x="19200" y="10144"/>
                </a:lnTo>
                <a:lnTo>
                  <a:pt x="19075" y="10809"/>
                </a:lnTo>
                <a:lnTo>
                  <a:pt x="19200" y="10809"/>
                </a:lnTo>
                <a:close/>
                <a:moveTo>
                  <a:pt x="17179" y="2356"/>
                </a:moveTo>
                <a:lnTo>
                  <a:pt x="17179" y="2356"/>
                </a:lnTo>
                <a:lnTo>
                  <a:pt x="17328" y="2356"/>
                </a:lnTo>
                <a:cubicBezTo>
                  <a:pt x="17349" y="2356"/>
                  <a:pt x="17369" y="2358"/>
                  <a:pt x="17390" y="2358"/>
                </a:cubicBezTo>
                <a:lnTo>
                  <a:pt x="17141" y="137"/>
                </a:lnTo>
                <a:cubicBezTo>
                  <a:pt x="17076" y="182"/>
                  <a:pt x="17011" y="226"/>
                  <a:pt x="16945" y="269"/>
                </a:cubicBezTo>
                <a:lnTo>
                  <a:pt x="17179" y="2356"/>
                </a:lnTo>
                <a:close/>
                <a:moveTo>
                  <a:pt x="13981" y="10704"/>
                </a:moveTo>
                <a:lnTo>
                  <a:pt x="13981" y="10704"/>
                </a:lnTo>
                <a:cubicBezTo>
                  <a:pt x="13625" y="10704"/>
                  <a:pt x="13277" y="10740"/>
                  <a:pt x="12942" y="10809"/>
                </a:cubicBezTo>
                <a:lnTo>
                  <a:pt x="15019" y="10809"/>
                </a:lnTo>
                <a:cubicBezTo>
                  <a:pt x="14684" y="10740"/>
                  <a:pt x="14336" y="10704"/>
                  <a:pt x="13981" y="10704"/>
                </a:cubicBezTo>
                <a:close/>
                <a:moveTo>
                  <a:pt x="7670" y="10022"/>
                </a:moveTo>
                <a:lnTo>
                  <a:pt x="7670" y="10022"/>
                </a:lnTo>
                <a:cubicBezTo>
                  <a:pt x="7601" y="10030"/>
                  <a:pt x="7532" y="10037"/>
                  <a:pt x="7461" y="10044"/>
                </a:cubicBezTo>
                <a:lnTo>
                  <a:pt x="7632" y="10809"/>
                </a:lnTo>
                <a:lnTo>
                  <a:pt x="7846" y="10809"/>
                </a:lnTo>
                <a:lnTo>
                  <a:pt x="7670" y="10022"/>
                </a:lnTo>
                <a:close/>
                <a:moveTo>
                  <a:pt x="14929" y="10474"/>
                </a:moveTo>
                <a:lnTo>
                  <a:pt x="14929" y="10474"/>
                </a:lnTo>
                <a:cubicBezTo>
                  <a:pt x="14998" y="10486"/>
                  <a:pt x="15068" y="10499"/>
                  <a:pt x="15136" y="10514"/>
                </a:cubicBezTo>
                <a:lnTo>
                  <a:pt x="15210" y="8532"/>
                </a:lnTo>
                <a:cubicBezTo>
                  <a:pt x="15142" y="8515"/>
                  <a:pt x="15073" y="8497"/>
                  <a:pt x="15003" y="8482"/>
                </a:cubicBezTo>
                <a:lnTo>
                  <a:pt x="14929" y="10474"/>
                </a:lnTo>
                <a:close/>
                <a:moveTo>
                  <a:pt x="16996" y="10809"/>
                </a:moveTo>
                <a:lnTo>
                  <a:pt x="16996" y="10809"/>
                </a:lnTo>
                <a:lnTo>
                  <a:pt x="17206" y="10809"/>
                </a:lnTo>
                <a:lnTo>
                  <a:pt x="17374" y="9309"/>
                </a:lnTo>
                <a:cubicBezTo>
                  <a:pt x="17307" y="9283"/>
                  <a:pt x="17239" y="9258"/>
                  <a:pt x="17173" y="9232"/>
                </a:cubicBezTo>
                <a:lnTo>
                  <a:pt x="16996" y="10809"/>
                </a:lnTo>
                <a:close/>
                <a:moveTo>
                  <a:pt x="18330" y="2688"/>
                </a:moveTo>
                <a:lnTo>
                  <a:pt x="18330" y="2688"/>
                </a:lnTo>
                <a:cubicBezTo>
                  <a:pt x="18415" y="2751"/>
                  <a:pt x="18496" y="2819"/>
                  <a:pt x="18571" y="2891"/>
                </a:cubicBezTo>
                <a:lnTo>
                  <a:pt x="18139" y="0"/>
                </a:lnTo>
                <a:lnTo>
                  <a:pt x="17927" y="0"/>
                </a:lnTo>
                <a:lnTo>
                  <a:pt x="18330" y="2688"/>
                </a:lnTo>
                <a:close/>
                <a:moveTo>
                  <a:pt x="8709" y="9862"/>
                </a:moveTo>
                <a:lnTo>
                  <a:pt x="8709" y="9862"/>
                </a:lnTo>
                <a:cubicBezTo>
                  <a:pt x="8641" y="9876"/>
                  <a:pt x="8573" y="9889"/>
                  <a:pt x="8504" y="9902"/>
                </a:cubicBezTo>
                <a:lnTo>
                  <a:pt x="8673" y="10809"/>
                </a:lnTo>
                <a:lnTo>
                  <a:pt x="8886" y="10809"/>
                </a:lnTo>
                <a:lnTo>
                  <a:pt x="8709" y="9862"/>
                </a:lnTo>
                <a:close/>
                <a:moveTo>
                  <a:pt x="10788" y="9232"/>
                </a:moveTo>
                <a:lnTo>
                  <a:pt x="10788" y="9232"/>
                </a:lnTo>
                <a:cubicBezTo>
                  <a:pt x="10722" y="9258"/>
                  <a:pt x="10654" y="9283"/>
                  <a:pt x="10587" y="9309"/>
                </a:cubicBezTo>
                <a:lnTo>
                  <a:pt x="10755" y="10809"/>
                </a:lnTo>
                <a:lnTo>
                  <a:pt x="10965" y="10809"/>
                </a:lnTo>
                <a:lnTo>
                  <a:pt x="10788" y="9232"/>
                </a:lnTo>
                <a:close/>
                <a:moveTo>
                  <a:pt x="9744" y="9598"/>
                </a:moveTo>
                <a:lnTo>
                  <a:pt x="9744" y="9598"/>
                </a:lnTo>
                <a:cubicBezTo>
                  <a:pt x="9678" y="9618"/>
                  <a:pt x="9610" y="9638"/>
                  <a:pt x="9542" y="9657"/>
                </a:cubicBezTo>
                <a:lnTo>
                  <a:pt x="9714" y="10809"/>
                </a:lnTo>
                <a:lnTo>
                  <a:pt x="9925" y="10809"/>
                </a:lnTo>
                <a:lnTo>
                  <a:pt x="9744" y="9598"/>
                </a:lnTo>
                <a:close/>
                <a:moveTo>
                  <a:pt x="12001" y="10760"/>
                </a:moveTo>
                <a:lnTo>
                  <a:pt x="12001" y="10760"/>
                </a:lnTo>
                <a:lnTo>
                  <a:pt x="11856" y="8817"/>
                </a:lnTo>
                <a:cubicBezTo>
                  <a:pt x="11788" y="8842"/>
                  <a:pt x="11720" y="8868"/>
                  <a:pt x="11652" y="8894"/>
                </a:cubicBezTo>
                <a:lnTo>
                  <a:pt x="11795" y="10809"/>
                </a:lnTo>
                <a:lnTo>
                  <a:pt x="11881" y="10809"/>
                </a:lnTo>
                <a:cubicBezTo>
                  <a:pt x="11921" y="10792"/>
                  <a:pt x="11961" y="10776"/>
                  <a:pt x="12001" y="10760"/>
                </a:cubicBezTo>
                <a:close/>
                <a:moveTo>
                  <a:pt x="13032" y="10474"/>
                </a:moveTo>
                <a:lnTo>
                  <a:pt x="13032" y="10474"/>
                </a:lnTo>
                <a:cubicBezTo>
                  <a:pt x="12963" y="10486"/>
                  <a:pt x="12893" y="10499"/>
                  <a:pt x="12825" y="10514"/>
                </a:cubicBezTo>
                <a:lnTo>
                  <a:pt x="12751" y="8532"/>
                </a:lnTo>
                <a:cubicBezTo>
                  <a:pt x="12819" y="8514"/>
                  <a:pt x="12888" y="8497"/>
                  <a:pt x="12958" y="8482"/>
                </a:cubicBezTo>
                <a:lnTo>
                  <a:pt x="13032" y="10474"/>
                </a:ln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C90E9-8548-4F44-A404-4532EB3B4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2" y="409577"/>
            <a:ext cx="6950075" cy="1691639"/>
          </a:xfrm>
        </p:spPr>
        <p:txBody>
          <a:bodyPr rIns="137160" anchor="b" anchorCtr="0"/>
          <a:lstStyle>
            <a:lvl1pPr>
              <a:defRPr sz="3200" spc="-60" baseline="0"/>
            </a:lvl1pPr>
          </a:lstStyle>
          <a:p>
            <a:r>
              <a:rPr lang="en-US"/>
              <a:t>Section header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7319C-9A3D-6A49-8F17-E79484E3827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3" y="2240282"/>
            <a:ext cx="3978274" cy="45626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None/>
              <a:defRPr sz="1000" cap="all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201670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rizontal Content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 bwMode="gray">
          <a:xfrm>
            <a:off x="2245082" y="882157"/>
            <a:ext cx="6365517" cy="118872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2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200" dirty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>
              <a:spcBef>
                <a:spcPts val="600"/>
              </a:spcBef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 bwMode="gray">
          <a:xfrm>
            <a:off x="529991" y="882157"/>
            <a:ext cx="1603611" cy="1188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600" b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BentonSans Bold" panose="02000503000000020004" pitchFamily="2" charset="0"/>
              </a:defRPr>
            </a:lvl1pPr>
          </a:lstStyle>
          <a:p>
            <a:pPr marL="0" lvl="0" algn="ctr" defTabSz="685732" eaLnBrk="0" hangingPunct="0"/>
            <a:r>
              <a:rPr lang="en-US"/>
              <a:t>Click to edit Master text styles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2245082" y="2198290"/>
            <a:ext cx="6365517" cy="118872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2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200" dirty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>
              <a:spcBef>
                <a:spcPts val="600"/>
              </a:spcBef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6"/>
          <p:cNvSpPr>
            <a:spLocks noGrp="1"/>
          </p:cNvSpPr>
          <p:nvPr>
            <p:ph type="body" sz="quarter" idx="16"/>
          </p:nvPr>
        </p:nvSpPr>
        <p:spPr bwMode="gray">
          <a:xfrm>
            <a:off x="529991" y="2198290"/>
            <a:ext cx="1603611" cy="1188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600" b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BentonSans Bold" panose="02000503000000020004" pitchFamily="2" charset="0"/>
              </a:defRPr>
            </a:lvl1pPr>
          </a:lstStyle>
          <a:p>
            <a:pPr marL="0" lvl="0" algn="ctr" defTabSz="685732" eaLnBrk="0" hangingPunct="0"/>
            <a:r>
              <a:rPr lang="en-US"/>
              <a:t>Click to edit Master text styles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7" hasCustomPrompt="1"/>
          </p:nvPr>
        </p:nvSpPr>
        <p:spPr bwMode="gray">
          <a:xfrm>
            <a:off x="2245082" y="3514422"/>
            <a:ext cx="6365517" cy="118872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2"/>
            </a:solidFill>
          </a:ln>
          <a:effec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none"/>
        </p:style>
        <p:txBody>
          <a:bodyPr vert="horz" lIns="91440" tIns="45720" rIns="91440" bIns="45720" rtlCol="0">
            <a:noAutofit/>
          </a:bodyPr>
          <a:lstStyle>
            <a:lvl1pPr>
              <a:defRPr lang="en-US" sz="1600" dirty="0"/>
            </a:lvl1pPr>
            <a:lvl2pPr>
              <a:defRPr lang="en-US" sz="1400" dirty="0"/>
            </a:lvl2pPr>
            <a:lvl3pPr>
              <a:defRPr lang="en-US" sz="1200" dirty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>
              <a:spcBef>
                <a:spcPts val="600"/>
              </a:spcBef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6"/>
          <p:cNvSpPr>
            <a:spLocks noGrp="1"/>
          </p:cNvSpPr>
          <p:nvPr>
            <p:ph type="body" sz="quarter" idx="18"/>
          </p:nvPr>
        </p:nvSpPr>
        <p:spPr bwMode="gray">
          <a:xfrm>
            <a:off x="529991" y="3514422"/>
            <a:ext cx="1603611" cy="1188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45720" rIns="45720" anchor="ctr">
            <a:sp3d/>
          </a:bodyPr>
          <a:lstStyle>
            <a:lvl1pPr marL="0" indent="0" algn="ctr">
              <a:buNone/>
              <a:defRPr lang="es-CL" sz="1600" b="0" dirty="0">
                <a:ln w="12700" cmpd="sng">
                  <a:noFill/>
                  <a:prstDash val="solid"/>
                </a:ln>
                <a:solidFill>
                  <a:schemeClr val="bg1"/>
                </a:solidFill>
                <a:latin typeface="BentonSans Bold" panose="02000503000000020004" pitchFamily="2" charset="0"/>
              </a:defRPr>
            </a:lvl1pPr>
          </a:lstStyle>
          <a:p>
            <a:pPr marL="0" lvl="0" algn="ctr" defTabSz="685732" eaLnBrk="0" hangingPunct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5D37B-1A91-435A-87FF-3A46197B7F2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defRPr/>
            </a:pPr>
            <a:fld id="{920384AA-0A71-E644-AEED-65CD2253F2C8}" type="slidenum">
              <a:rPr lang="en-US" smtClean="0">
                <a:solidFill>
                  <a:srgbClr val="FFFFFF">
                    <a:lumMod val="75000"/>
                  </a:srgbClr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FFFFFF">
                  <a:lumMod val="75000"/>
                </a:srgbClr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4D265-BCCE-4E9C-9D86-B4902849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072F5A1A-FBBD-4FD2-AF51-2336ECE5799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324" y="4847403"/>
            <a:ext cx="8707438" cy="124650"/>
          </a:xfr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bIns="0" anchor="b">
            <a:spAutoFit/>
          </a:bodyPr>
          <a:lstStyle>
            <a:lvl1pPr marL="0" indent="0">
              <a:buNone/>
              <a:defRPr lang="en-US" sz="900" i="1" dirty="0" smtClean="0">
                <a:solidFill>
                  <a:schemeClr val="bg1">
                    <a:lumMod val="50000"/>
                  </a:schemeClr>
                </a:solidFill>
                <a:latin typeface="BentonSans Regular" panose="02000503000000020004" pitchFamily="2" charset="0"/>
              </a:defRPr>
            </a:lvl1pPr>
          </a:lstStyle>
          <a:p>
            <a:pPr marL="0" lvl="0" indent="-115876">
              <a:lnSpc>
                <a:spcPct val="90000"/>
              </a:lnSpc>
              <a:spcBef>
                <a:spcPts val="300"/>
              </a:spcBef>
            </a:pPr>
            <a:r>
              <a:rPr lang="en-US"/>
              <a:t>Click to add a source or reference or note. </a:t>
            </a:r>
          </a:p>
        </p:txBody>
      </p:sp>
    </p:spTree>
    <p:extLst>
      <p:ext uri="{BB962C8B-B14F-4D97-AF65-F5344CB8AC3E}">
        <p14:creationId xmlns:p14="http://schemas.microsoft.com/office/powerpoint/2010/main" val="131931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One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4" y="1234440"/>
            <a:ext cx="6950075" cy="3200400"/>
          </a:xfrm>
        </p:spPr>
        <p:txBody>
          <a:bodyPr/>
          <a:lstStyle>
            <a:lvl1pPr marL="171434" indent="-171434">
              <a:buFont typeface="Arial" panose="020B0604020202020204" pitchFamily="34" charset="0"/>
              <a:buChar char="•"/>
              <a:defRPr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lang="en-US" sz="1200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fld id="{E8FE1D80-0B15-46BA-B7F8-B6C93A045F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AEB0BD-88C3-E14D-9931-51C84CB22D5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8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cap="none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6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AF261-CD9D-6640-9F4C-135ADD5C2485}"/>
              </a:ext>
            </a:extLst>
          </p:cNvPr>
          <p:cNvSpPr txBox="1"/>
          <p:nvPr userDrawn="1"/>
        </p:nvSpPr>
        <p:spPr>
          <a:xfrm>
            <a:off x="4189343" y="495714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28582" indent="-128582">
              <a:lnSpc>
                <a:spcPct val="120000"/>
              </a:lnSpc>
              <a:spcBef>
                <a:spcPts val="675"/>
              </a:spcBef>
              <a:buSzPct val="120000"/>
              <a:buFont typeface="Arial" pitchFamily="34" charset="0"/>
              <a:buChar char="▪"/>
            </a:pP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98557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3200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9A9FF4-EB32-FC40-843F-449DA17F0BE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6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9BE8A-2035-47E8-B249-15E28349317D}"/>
              </a:ext>
            </a:extLst>
          </p:cNvPr>
          <p:cNvSpPr/>
          <p:nvPr userDrawn="1"/>
        </p:nvSpPr>
        <p:spPr>
          <a:xfrm>
            <a:off x="228600" y="4552950"/>
            <a:ext cx="464820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48088-6487-41A9-B84F-B0EC44F9CC9B}"/>
              </a:ext>
            </a:extLst>
          </p:cNvPr>
          <p:cNvSpPr/>
          <p:nvPr userDrawn="1"/>
        </p:nvSpPr>
        <p:spPr>
          <a:xfrm>
            <a:off x="381000" y="4629151"/>
            <a:ext cx="4648200" cy="211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42714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3200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9A9FF4-EB32-FC40-843F-449DA17F0BE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7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9BE8A-2035-47E8-B249-15E28349317D}"/>
              </a:ext>
            </a:extLst>
          </p:cNvPr>
          <p:cNvSpPr/>
          <p:nvPr userDrawn="1"/>
        </p:nvSpPr>
        <p:spPr>
          <a:xfrm>
            <a:off x="228600" y="4552950"/>
            <a:ext cx="464820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48088-6487-41A9-B84F-B0EC44F9CC9B}"/>
              </a:ext>
            </a:extLst>
          </p:cNvPr>
          <p:cNvSpPr/>
          <p:nvPr userDrawn="1"/>
        </p:nvSpPr>
        <p:spPr>
          <a:xfrm>
            <a:off x="381000" y="4629152"/>
            <a:ext cx="4648200" cy="211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39551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231901"/>
            <a:ext cx="5394324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163" y="1231901"/>
            <a:ext cx="2560637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6C5BB9F-3E5B-4B4E-B888-0D80FBF678D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6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30795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9E654-125C-4F8B-A7B8-25E7AB190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483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6FDF6-B9A7-5F49-B175-D05D85135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3200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8BEA0-B852-C147-BBD3-C95859B2A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B5E1D0-AE0A-0143-9707-C16062905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9A9FF4-EB32-FC40-843F-449DA17F0BE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6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49BE8A-2035-47E8-B249-15E28349317D}"/>
              </a:ext>
            </a:extLst>
          </p:cNvPr>
          <p:cNvSpPr/>
          <p:nvPr userDrawn="1"/>
        </p:nvSpPr>
        <p:spPr>
          <a:xfrm>
            <a:off x="228600" y="4552950"/>
            <a:ext cx="464820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48088-6487-41A9-B84F-B0EC44F9CC9B}"/>
              </a:ext>
            </a:extLst>
          </p:cNvPr>
          <p:cNvSpPr/>
          <p:nvPr userDrawn="1"/>
        </p:nvSpPr>
        <p:spPr>
          <a:xfrm>
            <a:off x="381000" y="4629151"/>
            <a:ext cx="4648200" cy="211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5281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409615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2" y="1231901"/>
            <a:ext cx="397748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318" y="1231901"/>
            <a:ext cx="3977481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C7B7800-7190-394B-947C-B8A7D81D5A47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821097"/>
            <a:ext cx="8229600" cy="274280"/>
          </a:xfrm>
        </p:spPr>
        <p:txBody>
          <a:bodyPr tIns="18288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buNone/>
              <a:defRPr sz="1000" cap="all" spc="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Slide subtitle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E489A23-6554-5840-8066-5BFC6EAC0BB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6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385362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83F4-60A8-C949-A8DD-B3528604A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11481"/>
            <a:ext cx="8229600" cy="683895"/>
          </a:xfrm>
        </p:spPr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61E-684B-C244-94A3-0231FA64E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2" y="1231901"/>
            <a:ext cx="3977482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78C27-CA07-1947-9DFE-5ED58D75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318" y="1231901"/>
            <a:ext cx="3977481" cy="3203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E17CDA-1AF2-FE4D-A470-5F5803C691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48A2052-F69F-B64D-8D67-954FF90BD29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6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14FE0-04EF-4F1D-B374-34BEF99A12D6}"/>
              </a:ext>
            </a:extLst>
          </p:cNvPr>
          <p:cNvSpPr/>
          <p:nvPr userDrawn="1"/>
        </p:nvSpPr>
        <p:spPr>
          <a:xfrm>
            <a:off x="228600" y="4552950"/>
            <a:ext cx="4648200" cy="40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6C7E6D-2EB0-449B-88D5-CC0B1105CE29}"/>
              </a:ext>
            </a:extLst>
          </p:cNvPr>
          <p:cNvSpPr/>
          <p:nvPr userDrawn="1"/>
        </p:nvSpPr>
        <p:spPr>
          <a:xfrm>
            <a:off x="381000" y="4629151"/>
            <a:ext cx="4648200" cy="211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6836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26A3B-A09F-2F48-89B5-88F69CD0D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1BBA-E035-AC4A-9970-B27091D75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AE535-1AEF-404C-881C-960C2F20666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638800" y="4838066"/>
            <a:ext cx="838200" cy="79162"/>
          </a:xfrm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pPr lvl="0"/>
            <a:r>
              <a:rPr lang="en-US"/>
              <a:t>AXP Internal</a:t>
            </a:r>
          </a:p>
        </p:txBody>
      </p:sp>
    </p:spTree>
    <p:extLst>
      <p:ext uri="{BB962C8B-B14F-4D97-AF65-F5344CB8AC3E}">
        <p14:creationId xmlns:p14="http://schemas.microsoft.com/office/powerpoint/2010/main" val="31591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E4BB1FAD-9694-0C46-BC4D-8ADFA81F1051}"/>
              </a:ext>
            </a:extLst>
          </p:cNvPr>
          <p:cNvSpPr>
            <a:spLocks noChangeAspect="1" noEditPoints="1"/>
          </p:cNvSpPr>
          <p:nvPr userDrawn="1"/>
        </p:nvSpPr>
        <p:spPr bwMode="hidden">
          <a:xfrm>
            <a:off x="4315968" y="3930650"/>
            <a:ext cx="4235450" cy="1212850"/>
          </a:xfrm>
          <a:custGeom>
            <a:avLst/>
            <a:gdLst>
              <a:gd name="T0" fmla="*/ 1026 w 8880"/>
              <a:gd name="T1" fmla="*/ 2537 h 2537"/>
              <a:gd name="T2" fmla="*/ 3177 w 8880"/>
              <a:gd name="T3" fmla="*/ 2109 h 2537"/>
              <a:gd name="T4" fmla="*/ 5328 w 8880"/>
              <a:gd name="T5" fmla="*/ 2537 h 2537"/>
              <a:gd name="T6" fmla="*/ 1026 w 8880"/>
              <a:gd name="T7" fmla="*/ 2537 h 2537"/>
              <a:gd name="T8" fmla="*/ 551 w 8880"/>
              <a:gd name="T9" fmla="*/ 2537 h 2537"/>
              <a:gd name="T10" fmla="*/ 5803 w 8880"/>
              <a:gd name="T11" fmla="*/ 2537 h 2537"/>
              <a:gd name="T12" fmla="*/ 5126 w 8880"/>
              <a:gd name="T13" fmla="*/ 2193 h 2537"/>
              <a:gd name="T14" fmla="*/ 5819 w 8880"/>
              <a:gd name="T15" fmla="*/ 2312 h 2537"/>
              <a:gd name="T16" fmla="*/ 6076 w 8880"/>
              <a:gd name="T17" fmla="*/ 2292 h 2537"/>
              <a:gd name="T18" fmla="*/ 6885 w 8880"/>
              <a:gd name="T19" fmla="*/ 2134 h 2537"/>
              <a:gd name="T20" fmla="*/ 7084 w 8880"/>
              <a:gd name="T21" fmla="*/ 2023 h 2537"/>
              <a:gd name="T22" fmla="*/ 7328 w 8880"/>
              <a:gd name="T23" fmla="*/ 1658 h 2537"/>
              <a:gd name="T24" fmla="*/ 7967 w 8880"/>
              <a:gd name="T25" fmla="*/ 1152 h 2537"/>
              <a:gd name="T26" fmla="*/ 7308 w 8880"/>
              <a:gd name="T27" fmla="*/ 767 h 2537"/>
              <a:gd name="T28" fmla="*/ 8655 w 8880"/>
              <a:gd name="T29" fmla="*/ 767 h 2537"/>
              <a:gd name="T30" fmla="*/ 7358 w 8880"/>
              <a:gd name="T31" fmla="*/ 2537 h 2537"/>
              <a:gd name="T32" fmla="*/ 8779 w 8880"/>
              <a:gd name="T33" fmla="*/ 2537 h 2537"/>
              <a:gd name="T34" fmla="*/ 8531 w 8880"/>
              <a:gd name="T35" fmla="*/ 1602 h 2537"/>
              <a:gd name="T36" fmla="*/ 8750 w 8880"/>
              <a:gd name="T37" fmla="*/ 767 h 2537"/>
              <a:gd name="T38" fmla="*/ 8750 w 8880"/>
              <a:gd name="T39" fmla="*/ 766 h 2537"/>
              <a:gd name="T40" fmla="*/ 7214 w 8880"/>
              <a:gd name="T41" fmla="*/ 767 h 2537"/>
              <a:gd name="T42" fmla="*/ 7328 w 8880"/>
              <a:gd name="T43" fmla="*/ 1564 h 2537"/>
              <a:gd name="T44" fmla="*/ 6553 w 8880"/>
              <a:gd name="T45" fmla="*/ 1470 h 2537"/>
              <a:gd name="T46" fmla="*/ 6728 w 8880"/>
              <a:gd name="T47" fmla="*/ 2030 h 2537"/>
              <a:gd name="T48" fmla="*/ 5637 w 8880"/>
              <a:gd name="T49" fmla="*/ 1694 h 2537"/>
              <a:gd name="T50" fmla="*/ 5695 w 8880"/>
              <a:gd name="T51" fmla="*/ 2144 h 2537"/>
              <a:gd name="T52" fmla="*/ 4646 w 8880"/>
              <a:gd name="T53" fmla="*/ 1410 h 2537"/>
              <a:gd name="T54" fmla="*/ 4777 w 8880"/>
              <a:gd name="T55" fmla="*/ 2054 h 2537"/>
              <a:gd name="T56" fmla="*/ 1225 w 8880"/>
              <a:gd name="T57" fmla="*/ 2195 h 2537"/>
              <a:gd name="T58" fmla="*/ 551 w 8880"/>
              <a:gd name="T59" fmla="*/ 2537 h 2537"/>
              <a:gd name="T60" fmla="*/ 4950 w 8880"/>
              <a:gd name="T61" fmla="*/ 1685 h 2537"/>
              <a:gd name="T62" fmla="*/ 4844 w 8880"/>
              <a:gd name="T63" fmla="*/ 1675 h 2537"/>
              <a:gd name="T64" fmla="*/ 5166 w 8880"/>
              <a:gd name="T65" fmla="*/ 2095 h 2537"/>
              <a:gd name="T66" fmla="*/ 4950 w 8880"/>
              <a:gd name="T67" fmla="*/ 1685 h 2537"/>
              <a:gd name="T68" fmla="*/ 6017 w 8880"/>
              <a:gd name="T69" fmla="*/ 1963 h 2537"/>
              <a:gd name="T70" fmla="*/ 5831 w 8880"/>
              <a:gd name="T71" fmla="*/ 1893 h 2537"/>
              <a:gd name="T72" fmla="*/ 5952 w 8880"/>
              <a:gd name="T73" fmla="*/ 2032 h 2537"/>
              <a:gd name="T74" fmla="*/ 8509 w 8880"/>
              <a:gd name="T75" fmla="*/ 766 h 2537"/>
              <a:gd name="T76" fmla="*/ 7454 w 8880"/>
              <a:gd name="T77" fmla="*/ 767 h 2537"/>
              <a:gd name="T78" fmla="*/ 8029 w 8880"/>
              <a:gd name="T79" fmla="*/ 767 h 2537"/>
              <a:gd name="T80" fmla="*/ 7934 w 8880"/>
              <a:gd name="T81" fmla="*/ 719 h 2537"/>
              <a:gd name="T82" fmla="*/ 7741 w 8880"/>
              <a:gd name="T83" fmla="*/ 959 h 2537"/>
              <a:gd name="T84" fmla="*/ 7982 w 8880"/>
              <a:gd name="T85" fmla="*/ 333 h 2537"/>
              <a:gd name="T86" fmla="*/ 7434 w 8880"/>
              <a:gd name="T87" fmla="*/ 2173 h 2537"/>
              <a:gd name="T88" fmla="*/ 7767 w 8880"/>
              <a:gd name="T89" fmla="*/ 1646 h 2537"/>
              <a:gd name="T90" fmla="*/ 6788 w 8880"/>
              <a:gd name="T91" fmla="*/ 1670 h 2537"/>
              <a:gd name="T92" fmla="*/ 6782 w 8880"/>
              <a:gd name="T93" fmla="*/ 1775 h 2537"/>
              <a:gd name="T94" fmla="*/ 8269 w 8880"/>
              <a:gd name="T95" fmla="*/ 767 h 2537"/>
              <a:gd name="T96" fmla="*/ 7694 w 8880"/>
              <a:gd name="T97" fmla="*/ 767 h 2537"/>
              <a:gd name="T98" fmla="*/ 7789 w 8880"/>
              <a:gd name="T99" fmla="*/ 814 h 2537"/>
              <a:gd name="T100" fmla="*/ 7982 w 8880"/>
              <a:gd name="T101" fmla="*/ 574 h 2537"/>
              <a:gd name="T102" fmla="*/ 7767 w 8880"/>
              <a:gd name="T103" fmla="*/ 1646 h 2537"/>
              <a:gd name="T104" fmla="*/ 1668 w 8880"/>
              <a:gd name="T105" fmla="*/ 2537 h 2537"/>
              <a:gd name="T106" fmla="*/ 3177 w 8880"/>
              <a:gd name="T107" fmla="*/ 2349 h 2537"/>
              <a:gd name="T108" fmla="*/ 4686 w 8880"/>
              <a:gd name="T109" fmla="*/ 2537 h 2537"/>
              <a:gd name="T110" fmla="*/ 1668 w 8880"/>
              <a:gd name="T111" fmla="*/ 2537 h 2537"/>
              <a:gd name="T112" fmla="*/ 8317 w 8880"/>
              <a:gd name="T113" fmla="*/ 2129 h 2537"/>
              <a:gd name="T114" fmla="*/ 8383 w 8880"/>
              <a:gd name="T115" fmla="*/ 2537 h 2537"/>
              <a:gd name="T116" fmla="*/ 7946 w 8880"/>
              <a:gd name="T117" fmla="*/ 2537 h 2537"/>
              <a:gd name="T118" fmla="*/ 8317 w 8880"/>
              <a:gd name="T119" fmla="*/ 2129 h 25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880" h="2537">
                <a:moveTo>
                  <a:pt x="1026" y="2537"/>
                </a:moveTo>
                <a:lnTo>
                  <a:pt x="1026" y="2537"/>
                </a:lnTo>
                <a:lnTo>
                  <a:pt x="1280" y="2537"/>
                </a:lnTo>
                <a:cubicBezTo>
                  <a:pt x="1783" y="2330"/>
                  <a:pt x="2286" y="2109"/>
                  <a:pt x="3177" y="2109"/>
                </a:cubicBezTo>
                <a:cubicBezTo>
                  <a:pt x="4068" y="2109"/>
                  <a:pt x="4571" y="2330"/>
                  <a:pt x="5074" y="2537"/>
                </a:cubicBezTo>
                <a:lnTo>
                  <a:pt x="5328" y="2537"/>
                </a:lnTo>
                <a:cubicBezTo>
                  <a:pt x="4739" y="2310"/>
                  <a:pt x="4220" y="2014"/>
                  <a:pt x="3177" y="2014"/>
                </a:cubicBezTo>
                <a:cubicBezTo>
                  <a:pt x="2134" y="2014"/>
                  <a:pt x="1616" y="2310"/>
                  <a:pt x="1026" y="2537"/>
                </a:cubicBezTo>
                <a:close/>
                <a:moveTo>
                  <a:pt x="551" y="2537"/>
                </a:moveTo>
                <a:lnTo>
                  <a:pt x="551" y="2537"/>
                </a:lnTo>
                <a:cubicBezTo>
                  <a:pt x="1357" y="2323"/>
                  <a:pt x="1850" y="1865"/>
                  <a:pt x="3177" y="1865"/>
                </a:cubicBezTo>
                <a:cubicBezTo>
                  <a:pt x="4504" y="1865"/>
                  <a:pt x="4997" y="2323"/>
                  <a:pt x="5803" y="2537"/>
                </a:cubicBezTo>
                <a:lnTo>
                  <a:pt x="6355" y="2537"/>
                </a:lnTo>
                <a:cubicBezTo>
                  <a:pt x="5856" y="2494"/>
                  <a:pt x="5499" y="2347"/>
                  <a:pt x="5126" y="2193"/>
                </a:cubicBezTo>
                <a:cubicBezTo>
                  <a:pt x="4805" y="2061"/>
                  <a:pt x="4743" y="1856"/>
                  <a:pt x="4741" y="1506"/>
                </a:cubicBezTo>
                <a:cubicBezTo>
                  <a:pt x="5184" y="1543"/>
                  <a:pt x="5285" y="2106"/>
                  <a:pt x="5819" y="2312"/>
                </a:cubicBezTo>
                <a:cubicBezTo>
                  <a:pt x="5988" y="2382"/>
                  <a:pt x="6169" y="2413"/>
                  <a:pt x="6336" y="2426"/>
                </a:cubicBezTo>
                <a:cubicBezTo>
                  <a:pt x="6245" y="2391"/>
                  <a:pt x="6158" y="2346"/>
                  <a:pt x="6076" y="2292"/>
                </a:cubicBezTo>
                <a:cubicBezTo>
                  <a:pt x="5858" y="2243"/>
                  <a:pt x="5737" y="2200"/>
                  <a:pt x="5732" y="1790"/>
                </a:cubicBezTo>
                <a:cubicBezTo>
                  <a:pt x="6266" y="1807"/>
                  <a:pt x="6287" y="2134"/>
                  <a:pt x="6885" y="2134"/>
                </a:cubicBezTo>
                <a:cubicBezTo>
                  <a:pt x="7071" y="2134"/>
                  <a:pt x="7249" y="2097"/>
                  <a:pt x="7411" y="2031"/>
                </a:cubicBezTo>
                <a:cubicBezTo>
                  <a:pt x="7310" y="2043"/>
                  <a:pt x="7212" y="2044"/>
                  <a:pt x="7084" y="2023"/>
                </a:cubicBezTo>
                <a:cubicBezTo>
                  <a:pt x="6781" y="2069"/>
                  <a:pt x="6661" y="1870"/>
                  <a:pt x="6649" y="1565"/>
                </a:cubicBezTo>
                <a:cubicBezTo>
                  <a:pt x="6966" y="1573"/>
                  <a:pt x="7084" y="1658"/>
                  <a:pt x="7328" y="1658"/>
                </a:cubicBezTo>
                <a:cubicBezTo>
                  <a:pt x="7568" y="1658"/>
                  <a:pt x="7788" y="1505"/>
                  <a:pt x="7918" y="1249"/>
                </a:cubicBezTo>
                <a:lnTo>
                  <a:pt x="7967" y="1152"/>
                </a:lnTo>
                <a:lnTo>
                  <a:pt x="7862" y="1183"/>
                </a:lnTo>
                <a:cubicBezTo>
                  <a:pt x="7585" y="1263"/>
                  <a:pt x="7308" y="1054"/>
                  <a:pt x="7308" y="767"/>
                </a:cubicBezTo>
                <a:cubicBezTo>
                  <a:pt x="7308" y="395"/>
                  <a:pt x="7610" y="93"/>
                  <a:pt x="7982" y="93"/>
                </a:cubicBezTo>
                <a:cubicBezTo>
                  <a:pt x="8353" y="93"/>
                  <a:pt x="8655" y="395"/>
                  <a:pt x="8655" y="767"/>
                </a:cubicBezTo>
                <a:cubicBezTo>
                  <a:pt x="8655" y="1678"/>
                  <a:pt x="7887" y="2431"/>
                  <a:pt x="6900" y="2537"/>
                </a:cubicBezTo>
                <a:lnTo>
                  <a:pt x="7358" y="2537"/>
                </a:lnTo>
                <a:cubicBezTo>
                  <a:pt x="7828" y="2387"/>
                  <a:pt x="8221" y="2089"/>
                  <a:pt x="8468" y="1706"/>
                </a:cubicBezTo>
                <a:lnTo>
                  <a:pt x="8779" y="2537"/>
                </a:lnTo>
                <a:lnTo>
                  <a:pt x="8880" y="2537"/>
                </a:lnTo>
                <a:lnTo>
                  <a:pt x="8531" y="1602"/>
                </a:lnTo>
                <a:cubicBezTo>
                  <a:pt x="8670" y="1350"/>
                  <a:pt x="8749" y="1067"/>
                  <a:pt x="8750" y="767"/>
                </a:cubicBezTo>
                <a:lnTo>
                  <a:pt x="8750" y="767"/>
                </a:lnTo>
                <a:lnTo>
                  <a:pt x="8750" y="766"/>
                </a:lnTo>
                <a:lnTo>
                  <a:pt x="8750" y="766"/>
                </a:lnTo>
                <a:cubicBezTo>
                  <a:pt x="8749" y="343"/>
                  <a:pt x="8405" y="0"/>
                  <a:pt x="7982" y="0"/>
                </a:cubicBezTo>
                <a:cubicBezTo>
                  <a:pt x="7558" y="0"/>
                  <a:pt x="7214" y="343"/>
                  <a:pt x="7214" y="767"/>
                </a:cubicBezTo>
                <a:cubicBezTo>
                  <a:pt x="7214" y="1073"/>
                  <a:pt x="7475" y="1317"/>
                  <a:pt x="7783" y="1293"/>
                </a:cubicBezTo>
                <a:cubicBezTo>
                  <a:pt x="7669" y="1464"/>
                  <a:pt x="7504" y="1564"/>
                  <a:pt x="7328" y="1564"/>
                </a:cubicBezTo>
                <a:cubicBezTo>
                  <a:pt x="7089" y="1564"/>
                  <a:pt x="6965" y="1470"/>
                  <a:pt x="6600" y="1470"/>
                </a:cubicBezTo>
                <a:lnTo>
                  <a:pt x="6553" y="1470"/>
                </a:lnTo>
                <a:lnTo>
                  <a:pt x="6553" y="1517"/>
                </a:lnTo>
                <a:cubicBezTo>
                  <a:pt x="6553" y="1752"/>
                  <a:pt x="6614" y="1929"/>
                  <a:pt x="6728" y="2030"/>
                </a:cubicBezTo>
                <a:cubicBezTo>
                  <a:pt x="6299" y="1976"/>
                  <a:pt x="6239" y="1694"/>
                  <a:pt x="5684" y="1694"/>
                </a:cubicBezTo>
                <a:lnTo>
                  <a:pt x="5637" y="1694"/>
                </a:lnTo>
                <a:lnTo>
                  <a:pt x="5637" y="1742"/>
                </a:lnTo>
                <a:cubicBezTo>
                  <a:pt x="5637" y="1885"/>
                  <a:pt x="5644" y="2029"/>
                  <a:pt x="5695" y="2144"/>
                </a:cubicBezTo>
                <a:cubicBezTo>
                  <a:pt x="5303" y="1896"/>
                  <a:pt x="5177" y="1410"/>
                  <a:pt x="4693" y="1410"/>
                </a:cubicBezTo>
                <a:lnTo>
                  <a:pt x="4646" y="1410"/>
                </a:lnTo>
                <a:lnTo>
                  <a:pt x="4646" y="1457"/>
                </a:lnTo>
                <a:cubicBezTo>
                  <a:pt x="4646" y="1642"/>
                  <a:pt x="4647" y="1873"/>
                  <a:pt x="4777" y="2054"/>
                </a:cubicBezTo>
                <a:cubicBezTo>
                  <a:pt x="4366" y="1899"/>
                  <a:pt x="3892" y="1770"/>
                  <a:pt x="3177" y="1770"/>
                </a:cubicBezTo>
                <a:cubicBezTo>
                  <a:pt x="2252" y="1770"/>
                  <a:pt x="1730" y="1986"/>
                  <a:pt x="1225" y="2195"/>
                </a:cubicBezTo>
                <a:cubicBezTo>
                  <a:pt x="853" y="2348"/>
                  <a:pt x="498" y="2494"/>
                  <a:pt x="0" y="2537"/>
                </a:cubicBezTo>
                <a:lnTo>
                  <a:pt x="551" y="2537"/>
                </a:lnTo>
                <a:close/>
                <a:moveTo>
                  <a:pt x="4950" y="1685"/>
                </a:moveTo>
                <a:lnTo>
                  <a:pt x="4950" y="1685"/>
                </a:lnTo>
                <a:cubicBezTo>
                  <a:pt x="4915" y="1658"/>
                  <a:pt x="4879" y="1638"/>
                  <a:pt x="4839" y="1623"/>
                </a:cubicBezTo>
                <a:cubicBezTo>
                  <a:pt x="4841" y="1641"/>
                  <a:pt x="4842" y="1658"/>
                  <a:pt x="4844" y="1675"/>
                </a:cubicBezTo>
                <a:cubicBezTo>
                  <a:pt x="4906" y="1825"/>
                  <a:pt x="4997" y="1958"/>
                  <a:pt x="5110" y="2072"/>
                </a:cubicBezTo>
                <a:cubicBezTo>
                  <a:pt x="5128" y="2079"/>
                  <a:pt x="5148" y="2087"/>
                  <a:pt x="5166" y="2095"/>
                </a:cubicBezTo>
                <a:cubicBezTo>
                  <a:pt x="5255" y="2131"/>
                  <a:pt x="5343" y="2168"/>
                  <a:pt x="5432" y="2202"/>
                </a:cubicBezTo>
                <a:cubicBezTo>
                  <a:pt x="5223" y="2082"/>
                  <a:pt x="5052" y="1903"/>
                  <a:pt x="4950" y="1685"/>
                </a:cubicBezTo>
                <a:close/>
                <a:moveTo>
                  <a:pt x="6017" y="1963"/>
                </a:moveTo>
                <a:lnTo>
                  <a:pt x="6017" y="1963"/>
                </a:lnTo>
                <a:cubicBezTo>
                  <a:pt x="6008" y="1955"/>
                  <a:pt x="5995" y="1942"/>
                  <a:pt x="5981" y="1926"/>
                </a:cubicBezTo>
                <a:cubicBezTo>
                  <a:pt x="5936" y="1912"/>
                  <a:pt x="5888" y="1900"/>
                  <a:pt x="5831" y="1893"/>
                </a:cubicBezTo>
                <a:cubicBezTo>
                  <a:pt x="5831" y="1893"/>
                  <a:pt x="5831" y="1894"/>
                  <a:pt x="5831" y="1894"/>
                </a:cubicBezTo>
                <a:cubicBezTo>
                  <a:pt x="5882" y="1965"/>
                  <a:pt x="5942" y="2022"/>
                  <a:pt x="5952" y="2032"/>
                </a:cubicBezTo>
                <a:cubicBezTo>
                  <a:pt x="6348" y="2409"/>
                  <a:pt x="6915" y="2499"/>
                  <a:pt x="7471" y="2260"/>
                </a:cubicBezTo>
                <a:cubicBezTo>
                  <a:pt x="8092" y="1994"/>
                  <a:pt x="8509" y="1394"/>
                  <a:pt x="8509" y="766"/>
                </a:cubicBezTo>
                <a:cubicBezTo>
                  <a:pt x="8509" y="476"/>
                  <a:pt x="8273" y="239"/>
                  <a:pt x="7982" y="239"/>
                </a:cubicBezTo>
                <a:cubicBezTo>
                  <a:pt x="7691" y="239"/>
                  <a:pt x="7454" y="476"/>
                  <a:pt x="7454" y="767"/>
                </a:cubicBezTo>
                <a:cubicBezTo>
                  <a:pt x="7454" y="925"/>
                  <a:pt x="7583" y="1054"/>
                  <a:pt x="7741" y="1054"/>
                </a:cubicBezTo>
                <a:cubicBezTo>
                  <a:pt x="7900" y="1054"/>
                  <a:pt x="8029" y="925"/>
                  <a:pt x="8029" y="767"/>
                </a:cubicBezTo>
                <a:lnTo>
                  <a:pt x="8029" y="719"/>
                </a:lnTo>
                <a:lnTo>
                  <a:pt x="7934" y="719"/>
                </a:lnTo>
                <a:lnTo>
                  <a:pt x="7934" y="767"/>
                </a:lnTo>
                <a:cubicBezTo>
                  <a:pt x="7934" y="873"/>
                  <a:pt x="7848" y="959"/>
                  <a:pt x="7741" y="959"/>
                </a:cubicBezTo>
                <a:cubicBezTo>
                  <a:pt x="7635" y="959"/>
                  <a:pt x="7548" y="873"/>
                  <a:pt x="7548" y="767"/>
                </a:cubicBezTo>
                <a:cubicBezTo>
                  <a:pt x="7548" y="528"/>
                  <a:pt x="7743" y="333"/>
                  <a:pt x="7982" y="333"/>
                </a:cubicBezTo>
                <a:cubicBezTo>
                  <a:pt x="8220" y="333"/>
                  <a:pt x="8415" y="528"/>
                  <a:pt x="8415" y="767"/>
                </a:cubicBezTo>
                <a:cubicBezTo>
                  <a:pt x="8415" y="1356"/>
                  <a:pt x="8021" y="1922"/>
                  <a:pt x="7434" y="2173"/>
                </a:cubicBezTo>
                <a:cubicBezTo>
                  <a:pt x="6918" y="2395"/>
                  <a:pt x="6389" y="2316"/>
                  <a:pt x="6017" y="1963"/>
                </a:cubicBezTo>
                <a:close/>
                <a:moveTo>
                  <a:pt x="7767" y="1646"/>
                </a:moveTo>
                <a:lnTo>
                  <a:pt x="7767" y="1646"/>
                </a:lnTo>
                <a:cubicBezTo>
                  <a:pt x="7417" y="1903"/>
                  <a:pt x="6998" y="1798"/>
                  <a:pt x="6788" y="1670"/>
                </a:cubicBezTo>
                <a:cubicBezTo>
                  <a:pt x="6776" y="1669"/>
                  <a:pt x="6765" y="1667"/>
                  <a:pt x="6753" y="1666"/>
                </a:cubicBezTo>
                <a:cubicBezTo>
                  <a:pt x="6760" y="1707"/>
                  <a:pt x="6769" y="1743"/>
                  <a:pt x="6782" y="1775"/>
                </a:cubicBezTo>
                <a:cubicBezTo>
                  <a:pt x="7085" y="1938"/>
                  <a:pt x="7503" y="1957"/>
                  <a:pt x="7823" y="1723"/>
                </a:cubicBezTo>
                <a:cubicBezTo>
                  <a:pt x="8102" y="1518"/>
                  <a:pt x="8269" y="1160"/>
                  <a:pt x="8269" y="767"/>
                </a:cubicBezTo>
                <a:cubicBezTo>
                  <a:pt x="8269" y="608"/>
                  <a:pt x="8140" y="479"/>
                  <a:pt x="7982" y="479"/>
                </a:cubicBezTo>
                <a:cubicBezTo>
                  <a:pt x="7823" y="479"/>
                  <a:pt x="7694" y="608"/>
                  <a:pt x="7694" y="767"/>
                </a:cubicBezTo>
                <a:lnTo>
                  <a:pt x="7694" y="814"/>
                </a:lnTo>
                <a:lnTo>
                  <a:pt x="7789" y="814"/>
                </a:lnTo>
                <a:lnTo>
                  <a:pt x="7789" y="767"/>
                </a:lnTo>
                <a:cubicBezTo>
                  <a:pt x="7789" y="660"/>
                  <a:pt x="7875" y="574"/>
                  <a:pt x="7982" y="574"/>
                </a:cubicBezTo>
                <a:cubicBezTo>
                  <a:pt x="8088" y="574"/>
                  <a:pt x="8174" y="660"/>
                  <a:pt x="8174" y="767"/>
                </a:cubicBezTo>
                <a:cubicBezTo>
                  <a:pt x="8174" y="1130"/>
                  <a:pt x="8022" y="1459"/>
                  <a:pt x="7767" y="1646"/>
                </a:cubicBezTo>
                <a:close/>
                <a:moveTo>
                  <a:pt x="1668" y="2537"/>
                </a:moveTo>
                <a:lnTo>
                  <a:pt x="1668" y="2537"/>
                </a:lnTo>
                <a:lnTo>
                  <a:pt x="1950" y="2537"/>
                </a:lnTo>
                <a:cubicBezTo>
                  <a:pt x="2282" y="2429"/>
                  <a:pt x="2664" y="2349"/>
                  <a:pt x="3177" y="2349"/>
                </a:cubicBezTo>
                <a:cubicBezTo>
                  <a:pt x="3690" y="2349"/>
                  <a:pt x="4072" y="2429"/>
                  <a:pt x="4404" y="2537"/>
                </a:cubicBezTo>
                <a:lnTo>
                  <a:pt x="4686" y="2537"/>
                </a:lnTo>
                <a:cubicBezTo>
                  <a:pt x="4288" y="2384"/>
                  <a:pt x="3842" y="2254"/>
                  <a:pt x="3177" y="2254"/>
                </a:cubicBezTo>
                <a:cubicBezTo>
                  <a:pt x="2512" y="2254"/>
                  <a:pt x="2067" y="2384"/>
                  <a:pt x="1668" y="2537"/>
                </a:cubicBezTo>
                <a:close/>
                <a:moveTo>
                  <a:pt x="8317" y="2129"/>
                </a:moveTo>
                <a:lnTo>
                  <a:pt x="8317" y="2129"/>
                </a:lnTo>
                <a:lnTo>
                  <a:pt x="8485" y="2537"/>
                </a:lnTo>
                <a:lnTo>
                  <a:pt x="8383" y="2537"/>
                </a:lnTo>
                <a:lnTo>
                  <a:pt x="8281" y="2291"/>
                </a:lnTo>
                <a:cubicBezTo>
                  <a:pt x="8177" y="2384"/>
                  <a:pt x="8065" y="2466"/>
                  <a:pt x="7946" y="2537"/>
                </a:cubicBezTo>
                <a:lnTo>
                  <a:pt x="7748" y="2537"/>
                </a:lnTo>
                <a:cubicBezTo>
                  <a:pt x="7947" y="2434"/>
                  <a:pt x="8137" y="2298"/>
                  <a:pt x="8317" y="2129"/>
                </a:cubicBezTo>
                <a:close/>
              </a:path>
            </a:pathLst>
          </a:custGeom>
          <a:solidFill>
            <a:srgbClr val="D9D9D6">
              <a:alpha val="25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1480"/>
            <a:ext cx="8229600" cy="6838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440"/>
            <a:ext cx="8229600" cy="3200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D89777B4-3265-5B40-8D1C-2A120F13E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29600" y="4723130"/>
            <a:ext cx="457200" cy="22987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4" r:id="rId1"/>
    <p:sldLayoutId id="2147484767" r:id="rId2"/>
    <p:sldLayoutId id="2147484785" r:id="rId3"/>
    <p:sldLayoutId id="2147484766" r:id="rId4"/>
    <p:sldLayoutId id="2147484787" r:id="rId5"/>
    <p:sldLayoutId id="2147484768" r:id="rId6"/>
    <p:sldLayoutId id="2147484765" r:id="rId7"/>
    <p:sldLayoutId id="2147484769" r:id="rId8"/>
    <p:sldLayoutId id="2147484770" r:id="rId9"/>
    <p:sldLayoutId id="2147484772" r:id="rId10"/>
    <p:sldLayoutId id="2147484771" r:id="rId11"/>
    <p:sldLayoutId id="2147484773" r:id="rId12"/>
    <p:sldLayoutId id="2147484774" r:id="rId13"/>
    <p:sldLayoutId id="2147484775" r:id="rId14"/>
    <p:sldLayoutId id="2147484786" r:id="rId15"/>
    <p:sldLayoutId id="2147484793" r:id="rId16"/>
    <p:sldLayoutId id="2147484791" r:id="rId17"/>
    <p:sldLayoutId id="2147483688" r:id="rId18"/>
    <p:sldLayoutId id="2147484792" r:id="rId19"/>
    <p:sldLayoutId id="2147484764" r:id="rId20"/>
    <p:sldLayoutId id="2147484788" r:id="rId21"/>
    <p:sldLayoutId id="2147484789" r:id="rId22"/>
    <p:sldLayoutId id="2147484776" r:id="rId23"/>
    <p:sldLayoutId id="2147484790" r:id="rId24"/>
    <p:sldLayoutId id="2147484808" r:id="rId25"/>
    <p:sldLayoutId id="2147484777" r:id="rId26"/>
    <p:sldLayoutId id="2147484778" r:id="rId27"/>
    <p:sldLayoutId id="2147484780" r:id="rId28"/>
    <p:sldLayoutId id="2147484032" r:id="rId29"/>
    <p:sldLayoutId id="2147484809" r:id="rId30"/>
    <p:sldLayoutId id="2147484810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 spc="-4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900"/>
        </a:spcBef>
        <a:buSzPct val="120000"/>
        <a:buFont typeface="Arial" panose="020B0604020202020204" pitchFamily="34" charset="0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7472" indent="-171450" algn="l" defTabSz="6858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" indent="-171450" algn="l" defTabSz="6858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1450" algn="l" defTabSz="6858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24128" indent="-171450" algn="l" defTabSz="6858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97864" indent="-171450" algn="l" defTabSz="6858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71450" algn="l" defTabSz="6858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45336" indent="-171450" algn="l" defTabSz="685800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5472" userDrawn="1">
          <p15:clr>
            <a:srgbClr val="F26B43"/>
          </p15:clr>
        </p15:guide>
        <p15:guide id="4" orient="horz" pos="776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1901" userDrawn="1">
          <p15:clr>
            <a:srgbClr val="F26B43"/>
          </p15:clr>
        </p15:guide>
        <p15:guide id="8" pos="2074" userDrawn="1">
          <p15:clr>
            <a:srgbClr val="F26B43"/>
          </p15:clr>
        </p15:guide>
        <p15:guide id="11" pos="3859" userDrawn="1">
          <p15:clr>
            <a:srgbClr val="F26B43"/>
          </p15:clr>
        </p15:guide>
        <p15:guide id="12" pos="3686" userDrawn="1">
          <p15:clr>
            <a:srgbClr val="F26B43"/>
          </p15:clr>
        </p15:guide>
        <p15:guide id="13" pos="4666" userDrawn="1">
          <p15:clr>
            <a:srgbClr val="F26B43"/>
          </p15:clr>
        </p15:guide>
        <p15:guide id="14" orient="horz" pos="2794" userDrawn="1">
          <p15:clr>
            <a:srgbClr val="F26B43"/>
          </p15:clr>
        </p15:guide>
        <p15:guide id="15" pos="2794" userDrawn="1">
          <p15:clr>
            <a:srgbClr val="F26B43"/>
          </p15:clr>
        </p15:guide>
        <p15:guide id="16" pos="296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808FED-0359-6A45-8A9C-E946B719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3" y="268277"/>
            <a:ext cx="8229601" cy="6838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DB908-AC83-8040-9BEE-F0D0260A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3" y="1234440"/>
            <a:ext cx="8229601" cy="3200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F1528-7B0A-4E4B-96AD-9E22A65534CD}"/>
              </a:ext>
            </a:extLst>
          </p:cNvPr>
          <p:cNvSpPr txBox="1"/>
          <p:nvPr userDrawn="1"/>
        </p:nvSpPr>
        <p:spPr>
          <a:xfrm>
            <a:off x="7144871" y="49754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71447" indent="-171447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200" b="0" i="0"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3E4D4-DC9D-49FD-9ABD-B2BD3C6D6E70}"/>
              </a:ext>
            </a:extLst>
          </p:cNvPr>
          <p:cNvSpPr txBox="1"/>
          <p:nvPr userDrawn="1"/>
        </p:nvSpPr>
        <p:spPr>
          <a:xfrm>
            <a:off x="3200400" y="4936066"/>
            <a:ext cx="2743200" cy="15028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AXP Restricted</a:t>
            </a:r>
          </a:p>
        </p:txBody>
      </p:sp>
      <p:sp>
        <p:nvSpPr>
          <p:cNvPr id="11" name="Slide Number Placeholder 20">
            <a:extLst>
              <a:ext uri="{FF2B5EF4-FFF2-40B4-BE49-F238E27FC236}">
                <a16:creationId xmlns:a16="http://schemas.microsoft.com/office/drawing/2014/main" id="{09856C0E-E82C-4619-8A0F-B09E750A6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7199" y="4817873"/>
            <a:ext cx="914400" cy="25188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>
                <a:solidFill>
                  <a:schemeClr val="bg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fld id="{E59C716A-E560-2D44-8739-72D446B232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961A4A4-240D-4DEC-95F8-83D2CAC8E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3" y="4492109"/>
            <a:ext cx="8229601" cy="38311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00" i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4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5" r:id="rId1"/>
    <p:sldLayoutId id="2147484816" r:id="rId2"/>
    <p:sldLayoutId id="2147484817" r:id="rId3"/>
    <p:sldLayoutId id="2147484818" r:id="rId4"/>
    <p:sldLayoutId id="2147484819" r:id="rId5"/>
    <p:sldLayoutId id="2147484820" r:id="rId6"/>
    <p:sldLayoutId id="2147484821" r:id="rId7"/>
    <p:sldLayoutId id="2147484822" r:id="rId8"/>
    <p:sldLayoutId id="2147484823" r:id="rId9"/>
    <p:sldLayoutId id="2147484824" r:id="rId10"/>
    <p:sldLayoutId id="2147484825" r:id="rId11"/>
    <p:sldLayoutId id="2147484826" r:id="rId12"/>
    <p:sldLayoutId id="2147484827" r:id="rId13"/>
    <p:sldLayoutId id="2147484828" r:id="rId14"/>
    <p:sldLayoutId id="2147484829" r:id="rId15"/>
    <p:sldLayoutId id="2147484830" r:id="rId16"/>
    <p:sldLayoutId id="2147484831" r:id="rId17"/>
    <p:sldLayoutId id="2147484832" r:id="rId18"/>
    <p:sldLayoutId id="2147484833" r:id="rId19"/>
    <p:sldLayoutId id="2147484834" r:id="rId20"/>
    <p:sldLayoutId id="2147484835" r:id="rId21"/>
    <p:sldLayoutId id="2147484836" r:id="rId22"/>
    <p:sldLayoutId id="2147484837" r:id="rId23"/>
    <p:sldLayoutId id="2147484838" r:id="rId24"/>
    <p:sldLayoutId id="2147484839" r:id="rId25"/>
    <p:sldLayoutId id="2147484840" r:id="rId26"/>
    <p:sldLayoutId id="2147484841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400" b="1" i="0" kern="1200" spc="-40" baseline="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7" indent="-171447" algn="l" defTabSz="685783" rtl="0" eaLnBrk="1" latinLnBrk="0" hangingPunct="1">
        <a:lnSpc>
          <a:spcPct val="120000"/>
        </a:lnSpc>
        <a:spcBef>
          <a:spcPts val="900"/>
        </a:spcBef>
        <a:buSzPct val="120000"/>
        <a:buFont typeface="Arial" panose="020B0604020202020204" pitchFamily="34" charset="0"/>
        <a:buChar char="▪"/>
        <a:defRPr sz="12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7462" indent="-171447" algn="l" defTabSz="685783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12054" indent="-171447" algn="l" defTabSz="685783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85783" indent="-171447" algn="l" defTabSz="685783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59516" indent="-171447" algn="l" defTabSz="685783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024103" indent="-171447" algn="l" defTabSz="685783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197834" indent="-171447" algn="l" defTabSz="685783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1371567" indent="-171447" algn="l" defTabSz="685783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1545296" indent="-171447" algn="l" defTabSz="685783" rtl="0" eaLnBrk="1" latinLnBrk="0" hangingPunct="1">
        <a:lnSpc>
          <a:spcPct val="120000"/>
        </a:lnSpc>
        <a:spcBef>
          <a:spcPts val="3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0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7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60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50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0" algn="l" defTabSz="685783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4">
          <p15:clr>
            <a:srgbClr val="F26B43"/>
          </p15:clr>
        </p15:guide>
        <p15:guide id="2" pos="384">
          <p15:clr>
            <a:srgbClr val="F26B43"/>
          </p15:clr>
        </p15:guide>
        <p15:guide id="3" pos="7296">
          <p15:clr>
            <a:srgbClr val="F26B43"/>
          </p15:clr>
        </p15:guide>
        <p15:guide id="4" orient="horz" pos="1035">
          <p15:clr>
            <a:srgbClr val="F26B43"/>
          </p15:clr>
        </p15:guide>
        <p15:guide id="6" pos="3840">
          <p15:clr>
            <a:srgbClr val="F26B43"/>
          </p15:clr>
        </p15:guide>
        <p15:guide id="7" pos="2535">
          <p15:clr>
            <a:srgbClr val="F26B43"/>
          </p15:clr>
        </p15:guide>
        <p15:guide id="8" pos="2767">
          <p15:clr>
            <a:srgbClr val="F26B43"/>
          </p15:clr>
        </p15:guide>
        <p15:guide id="11" pos="5145">
          <p15:clr>
            <a:srgbClr val="F26B43"/>
          </p15:clr>
        </p15:guide>
        <p15:guide id="12" pos="4915">
          <p15:clr>
            <a:srgbClr val="F26B43"/>
          </p15:clr>
        </p15:guide>
        <p15:guide id="13" pos="6223">
          <p15:clr>
            <a:srgbClr val="F26B43"/>
          </p15:clr>
        </p15:guide>
        <p15:guide id="14" orient="horz" pos="3725">
          <p15:clr>
            <a:srgbClr val="F26B43"/>
          </p15:clr>
        </p15:guide>
        <p15:guide id="15" pos="3725">
          <p15:clr>
            <a:srgbClr val="F26B43"/>
          </p15:clr>
        </p15:guide>
        <p15:guide id="16" pos="39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strategywiki.org/wiki/File:Check_mark.svg" TargetMode="Externa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9.png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32B4-9988-4227-783D-DE6970B7F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61212"/>
            <a:ext cx="8448040" cy="1459308"/>
          </a:xfrm>
        </p:spPr>
        <p:txBody>
          <a:bodyPr/>
          <a:lstStyle/>
          <a:p>
            <a:r>
              <a:rPr lang="en-US" dirty="0"/>
              <a:t>CDD Build vs. Buy Evaluation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61CC5-5A79-8618-E9DA-FBBBC62556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September , 2024</a:t>
            </a:r>
          </a:p>
        </p:txBody>
      </p:sp>
    </p:spTree>
    <p:extLst>
      <p:ext uri="{BB962C8B-B14F-4D97-AF65-F5344CB8AC3E}">
        <p14:creationId xmlns:p14="http://schemas.microsoft.com/office/powerpoint/2010/main" val="120789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Oval 63">
            <a:extLst>
              <a:ext uri="{FF2B5EF4-FFF2-40B4-BE49-F238E27FC236}">
                <a16:creationId xmlns:a16="http://schemas.microsoft.com/office/drawing/2014/main" id="{005749F7-E35A-5D36-6D04-B5DEBA8E20C9}"/>
              </a:ext>
            </a:extLst>
          </p:cNvPr>
          <p:cNvSpPr/>
          <p:nvPr/>
        </p:nvSpPr>
        <p:spPr>
          <a:xfrm>
            <a:off x="8048344" y="2368017"/>
            <a:ext cx="1076931" cy="1681605"/>
          </a:xfrm>
          <a:prstGeom prst="ellipse">
            <a:avLst/>
          </a:prstGeom>
          <a:solidFill>
            <a:srgbClr val="EDF9CB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116B63-15B7-3ACE-AD34-5011E02237A9}"/>
              </a:ext>
            </a:extLst>
          </p:cNvPr>
          <p:cNvSpPr/>
          <p:nvPr/>
        </p:nvSpPr>
        <p:spPr>
          <a:xfrm>
            <a:off x="212716" y="2810443"/>
            <a:ext cx="1396436" cy="99739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8232" tIns="1785112" rIns="78232" bIns="931672" numCol="1" spcCol="127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9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C9E4D-7281-1EDF-8598-18F9B30BB550}"/>
              </a:ext>
            </a:extLst>
          </p:cNvPr>
          <p:cNvSpPr/>
          <p:nvPr/>
        </p:nvSpPr>
        <p:spPr>
          <a:xfrm>
            <a:off x="164380" y="1574358"/>
            <a:ext cx="1438817" cy="99739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8232" tIns="1785112" rIns="78232" bIns="931672" numCol="1" spcCol="127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90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8748" y="192023"/>
            <a:ext cx="8586556" cy="374904"/>
          </a:xfrm>
        </p:spPr>
        <p:txBody>
          <a:bodyPr/>
          <a:lstStyle/>
          <a:p>
            <a:r>
              <a:rPr lang="en-US" sz="2800" dirty="0"/>
              <a:t>CDD Platform Option Evaluation &amp; Final Recommendation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FD810-5C60-20B2-2160-0BEC9D45B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F76105-87B4-8CCE-1D6B-6C6C862D9812}"/>
              </a:ext>
            </a:extLst>
          </p:cNvPr>
          <p:cNvSpPr/>
          <p:nvPr/>
        </p:nvSpPr>
        <p:spPr>
          <a:xfrm>
            <a:off x="1032292" y="6063596"/>
            <a:ext cx="2733977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211D6D54-C896-7166-C39D-D4707A143C4D}"/>
              </a:ext>
            </a:extLst>
          </p:cNvPr>
          <p:cNvSpPr txBox="1">
            <a:spLocks/>
          </p:cNvSpPr>
          <p:nvPr/>
        </p:nvSpPr>
        <p:spPr>
          <a:xfrm>
            <a:off x="8735304" y="4943874"/>
            <a:ext cx="457200" cy="2298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8FE1D80-0B15-46BA-B7F8-B6C93A045F20}" type="slidenum">
              <a:rPr lang="en-US" sz="1000">
                <a:solidFill>
                  <a:srgbClr val="006FCF"/>
                </a:solidFill>
              </a:rPr>
              <a:pPr algn="r"/>
              <a:t>2</a:t>
            </a:fld>
            <a:endParaRPr lang="en-US" sz="1000">
              <a:solidFill>
                <a:srgbClr val="006FC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9A6365-7350-6672-D24E-E964513D8BFF}"/>
              </a:ext>
            </a:extLst>
          </p:cNvPr>
          <p:cNvSpPr txBox="1"/>
          <p:nvPr/>
        </p:nvSpPr>
        <p:spPr>
          <a:xfrm>
            <a:off x="164380" y="589766"/>
            <a:ext cx="8748762" cy="4972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rgbClr val="002060"/>
                </a:solidFill>
              </a:rPr>
              <a:t>Our team, in collaboration with the Compliance and tech teams, performed a rigorous evaluation of the industry leading vendors in the CDD space and compared them to our in-house option and proposed the final recommendation . 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682BFE-BA0C-4E09-BD2A-89FAAEC7705F}"/>
              </a:ext>
            </a:extLst>
          </p:cNvPr>
          <p:cNvSpPr/>
          <p:nvPr/>
        </p:nvSpPr>
        <p:spPr>
          <a:xfrm>
            <a:off x="201255" y="4049622"/>
            <a:ext cx="1396436" cy="99739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8232" tIns="1785112" rIns="78232" bIns="931672" numCol="1" spcCol="127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9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866C1B-60A0-B124-F42A-6C536847A382}"/>
              </a:ext>
            </a:extLst>
          </p:cNvPr>
          <p:cNvSpPr txBox="1"/>
          <p:nvPr/>
        </p:nvSpPr>
        <p:spPr>
          <a:xfrm>
            <a:off x="718837" y="4220334"/>
            <a:ext cx="457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Shortlisted vendors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for deep dives &amp;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 demos to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identify top 2 vendors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for POC</a:t>
            </a:r>
          </a:p>
          <a:p>
            <a:pPr algn="ctr">
              <a:buSzPct val="120000"/>
            </a:pPr>
            <a:endParaRPr lang="en-US" sz="1000" dirty="0">
              <a:solidFill>
                <a:schemeClr val="bg1"/>
              </a:solidFill>
            </a:endParaRPr>
          </a:p>
          <a:p>
            <a:pPr algn="ctr">
              <a:buSzPct val="120000"/>
            </a:pPr>
            <a:endParaRPr lang="en-US" sz="1000" dirty="0">
              <a:solidFill>
                <a:schemeClr val="bg1"/>
              </a:solidFill>
            </a:endParaRP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marL="171450" indent="-171450" algn="ctr">
              <a:buSzPct val="120000"/>
              <a:buFont typeface="Arial" pitchFamily="34" charset="0"/>
              <a:buChar char="▪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DEB7DAB-6DB8-5988-3FC4-207713F08630}"/>
              </a:ext>
            </a:extLst>
          </p:cNvPr>
          <p:cNvSpPr/>
          <p:nvPr/>
        </p:nvSpPr>
        <p:spPr>
          <a:xfrm>
            <a:off x="71939" y="3872233"/>
            <a:ext cx="349858" cy="354777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>
                <a:lumMod val="50000"/>
                <a:lumOff val="50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3AB226D-31BD-2170-2575-0A35726303E7}"/>
              </a:ext>
            </a:extLst>
          </p:cNvPr>
          <p:cNvSpPr/>
          <p:nvPr/>
        </p:nvSpPr>
        <p:spPr>
          <a:xfrm>
            <a:off x="41777" y="2637803"/>
            <a:ext cx="349858" cy="354777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>
                <a:lumMod val="50000"/>
                <a:lumOff val="50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9C5BBC2-F7A2-7372-20EB-8A934DB502E8}"/>
              </a:ext>
            </a:extLst>
          </p:cNvPr>
          <p:cNvSpPr/>
          <p:nvPr/>
        </p:nvSpPr>
        <p:spPr>
          <a:xfrm>
            <a:off x="55659" y="1423283"/>
            <a:ext cx="349858" cy="354777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>
                <a:lumMod val="50000"/>
                <a:lumOff val="50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8D30A8-52AA-6392-BC27-49A9BA9B3863}"/>
              </a:ext>
            </a:extLst>
          </p:cNvPr>
          <p:cNvSpPr txBox="1"/>
          <p:nvPr/>
        </p:nvSpPr>
        <p:spPr>
          <a:xfrm>
            <a:off x="436371" y="1786446"/>
            <a:ext cx="100541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Defined high-level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 requirements for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Enhanced CDD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platform </a:t>
            </a:r>
          </a:p>
          <a:p>
            <a:pPr marL="171450" indent="-171450">
              <a:lnSpc>
                <a:spcPct val="120000"/>
              </a:lnSpc>
              <a:spcBef>
                <a:spcPts val="900"/>
              </a:spcBef>
              <a:buSzPct val="120000"/>
              <a:buFont typeface="Arial" pitchFamily="34" charset="0"/>
              <a:buChar char="▪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4250D-27B2-5A01-6D5F-A5BB1D8AD2C9}"/>
              </a:ext>
            </a:extLst>
          </p:cNvPr>
          <p:cNvSpPr txBox="1"/>
          <p:nvPr/>
        </p:nvSpPr>
        <p:spPr>
          <a:xfrm>
            <a:off x="392814" y="2937923"/>
            <a:ext cx="1109247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Researched &amp;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 identified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potential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vendors offering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CDD solutions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 </a:t>
            </a:r>
          </a:p>
          <a:p>
            <a:pPr marL="171450" indent="-171450" algn="ctr">
              <a:buSzPct val="120000"/>
              <a:buFont typeface="Arial" pitchFamily="34" charset="0"/>
              <a:buChar char="▪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8B599-4A0B-F3E9-40E3-6149A6CCB1FD}"/>
              </a:ext>
            </a:extLst>
          </p:cNvPr>
          <p:cNvSpPr/>
          <p:nvPr/>
        </p:nvSpPr>
        <p:spPr>
          <a:xfrm>
            <a:off x="1714612" y="1555511"/>
            <a:ext cx="1396436" cy="99739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8232" tIns="1785112" rIns="78232" bIns="931672" numCol="1" spcCol="127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7F1FE-5D1A-E925-86A6-FB54600F902F}"/>
              </a:ext>
            </a:extLst>
          </p:cNvPr>
          <p:cNvSpPr txBox="1"/>
          <p:nvPr/>
        </p:nvSpPr>
        <p:spPr>
          <a:xfrm>
            <a:off x="1878383" y="1697544"/>
            <a:ext cx="1109247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Top 2 vendors( i.e.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NICE Actimize &amp;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Symphony  AI) &amp; Amex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completed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 in-house POC</a:t>
            </a:r>
          </a:p>
          <a:p>
            <a:pPr marL="171450" indent="-171450" algn="ctr">
              <a:buSzPct val="120000"/>
              <a:buFont typeface="Arial" pitchFamily="34" charset="0"/>
              <a:buChar char="▪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8E3D972-7211-87EA-8453-9D7CF46E36F8}"/>
              </a:ext>
            </a:extLst>
          </p:cNvPr>
          <p:cNvSpPr/>
          <p:nvPr/>
        </p:nvSpPr>
        <p:spPr>
          <a:xfrm>
            <a:off x="1602831" y="1395706"/>
            <a:ext cx="349858" cy="354777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>
                <a:lumMod val="50000"/>
                <a:lumOff val="50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68E67B-7FE4-0A5F-F331-407B717E8F0D}"/>
              </a:ext>
            </a:extLst>
          </p:cNvPr>
          <p:cNvSpPr/>
          <p:nvPr/>
        </p:nvSpPr>
        <p:spPr>
          <a:xfrm>
            <a:off x="1714612" y="2799750"/>
            <a:ext cx="1396436" cy="99739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8232" tIns="1785112" rIns="78232" bIns="931672" numCol="1" spcCol="1270" anchor="ctr" anchorCtr="0">
            <a:noAutofit/>
          </a:bodyPr>
          <a:lstStyle/>
          <a:p>
            <a:pPr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FA0155-DD20-BE58-2F54-D8F16562A915}"/>
              </a:ext>
            </a:extLst>
          </p:cNvPr>
          <p:cNvSpPr txBox="1"/>
          <p:nvPr/>
        </p:nvSpPr>
        <p:spPr>
          <a:xfrm>
            <a:off x="1832560" y="3015451"/>
            <a:ext cx="1208422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Comparison between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In-House vs. Vendor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Platforms based </a:t>
            </a:r>
          </a:p>
          <a:p>
            <a:pPr algn="ctr">
              <a:buSzPct val="120000"/>
            </a:pPr>
            <a:r>
              <a:rPr lang="en-US" sz="1000" dirty="0">
                <a:solidFill>
                  <a:schemeClr val="bg1"/>
                </a:solidFill>
              </a:rPr>
              <a:t>on POC</a:t>
            </a:r>
          </a:p>
          <a:p>
            <a:pPr marL="171450" indent="-171450" algn="ctr">
              <a:buSzPct val="120000"/>
              <a:buFont typeface="Arial" pitchFamily="34" charset="0"/>
              <a:buChar char="▪"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93673E-4622-A412-9003-F86FDF485DD0}"/>
              </a:ext>
            </a:extLst>
          </p:cNvPr>
          <p:cNvSpPr/>
          <p:nvPr/>
        </p:nvSpPr>
        <p:spPr>
          <a:xfrm>
            <a:off x="1664444" y="2647932"/>
            <a:ext cx="349858" cy="354777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2">
                <a:lumMod val="50000"/>
                <a:lumOff val="50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CC1BDAB-E59E-47D9-8480-48B32156EB51}"/>
              </a:ext>
            </a:extLst>
          </p:cNvPr>
          <p:cNvSpPr/>
          <p:nvPr/>
        </p:nvSpPr>
        <p:spPr>
          <a:xfrm>
            <a:off x="7838042" y="2387218"/>
            <a:ext cx="184849" cy="1909191"/>
          </a:xfrm>
          <a:prstGeom prst="rightArrow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C3378D-BE21-602E-23D1-F80066DA9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08" y="3147137"/>
            <a:ext cx="654651" cy="396436"/>
          </a:xfrm>
          <a:prstGeom prst="rect">
            <a:avLst/>
          </a:prstGeom>
          <a:noFill/>
          <a:ln>
            <a:solidFill>
              <a:srgbClr val="44546A">
                <a:lumMod val="75000"/>
              </a:srgb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81BFB9-A59B-34E4-C200-1296C289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98" y="2785872"/>
            <a:ext cx="996865" cy="317030"/>
          </a:xfrm>
          <a:prstGeom prst="rect">
            <a:avLst/>
          </a:prstGeom>
          <a:noFill/>
          <a:ln>
            <a:solidFill>
              <a:srgbClr val="44546A">
                <a:lumMod val="75000"/>
              </a:srgbClr>
            </a:solidFill>
          </a:ln>
        </p:spPr>
      </p:pic>
      <p:sp>
        <p:nvSpPr>
          <p:cNvPr id="25" name="Flowchart: Extract 24">
            <a:extLst>
              <a:ext uri="{FF2B5EF4-FFF2-40B4-BE49-F238E27FC236}">
                <a16:creationId xmlns:a16="http://schemas.microsoft.com/office/drawing/2014/main" id="{F8EDDF4F-5243-0403-4614-C2FF70DF2AAF}"/>
              </a:ext>
            </a:extLst>
          </p:cNvPr>
          <p:cNvSpPr/>
          <p:nvPr/>
        </p:nvSpPr>
        <p:spPr>
          <a:xfrm rot="5400000">
            <a:off x="5453148" y="3317805"/>
            <a:ext cx="2481173" cy="257402"/>
          </a:xfrm>
          <a:prstGeom prst="flowChartExtra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C048E1E-BE22-AF5C-E4AE-9AEC4098D637}"/>
              </a:ext>
            </a:extLst>
          </p:cNvPr>
          <p:cNvGrpSpPr/>
          <p:nvPr/>
        </p:nvGrpSpPr>
        <p:grpSpPr>
          <a:xfrm>
            <a:off x="6797297" y="3594502"/>
            <a:ext cx="996865" cy="982245"/>
            <a:chOff x="7344077" y="3624090"/>
            <a:chExt cx="1153051" cy="982245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DDAF3F0-464E-9509-AD10-9EBF7ABE9E33}"/>
                </a:ext>
              </a:extLst>
            </p:cNvPr>
            <p:cNvGrpSpPr/>
            <p:nvPr/>
          </p:nvGrpSpPr>
          <p:grpSpPr>
            <a:xfrm>
              <a:off x="7344077" y="3624090"/>
              <a:ext cx="1153051" cy="982245"/>
              <a:chOff x="3941521" y="3609710"/>
              <a:chExt cx="1153051" cy="982245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9CAF61CA-8982-E144-A296-3739D5EA9F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1521" y="3609710"/>
                <a:ext cx="563463" cy="525045"/>
              </a:xfrm>
              <a:prstGeom prst="rect">
                <a:avLst/>
              </a:prstGeom>
            </p:spPr>
          </p:pic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CC5804C-FFB1-C3F4-B17A-6276AFD28320}"/>
                  </a:ext>
                </a:extLst>
              </p:cNvPr>
              <p:cNvSpPr txBox="1"/>
              <p:nvPr/>
            </p:nvSpPr>
            <p:spPr>
              <a:xfrm>
                <a:off x="4479446" y="3677555"/>
                <a:ext cx="615126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900"/>
                  </a:spcBef>
                  <a:buSzPct val="120000"/>
                </a:pPr>
                <a:r>
                  <a:rPr lang="en-US" sz="900" dirty="0"/>
                  <a:t>In-House</a:t>
                </a:r>
              </a:p>
              <a:p>
                <a:pPr>
                  <a:lnSpc>
                    <a:spcPct val="120000"/>
                  </a:lnSpc>
                  <a:buSzPct val="120000"/>
                </a:pPr>
                <a:r>
                  <a:rPr lang="en-US" sz="900" dirty="0"/>
                  <a:t> Build </a:t>
                </a:r>
              </a:p>
            </p:txBody>
          </p:sp>
        </p:grp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3ABFC10-75A0-C4C6-358F-EB279FBCD83E}"/>
                </a:ext>
              </a:extLst>
            </p:cNvPr>
            <p:cNvSpPr/>
            <p:nvPr/>
          </p:nvSpPr>
          <p:spPr>
            <a:xfrm>
              <a:off x="7406652" y="3624090"/>
              <a:ext cx="1087881" cy="49724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</p:grp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B6B6D7A6-E24D-6308-2B15-418ED77CC38D}"/>
              </a:ext>
            </a:extLst>
          </p:cNvPr>
          <p:cNvSpPr/>
          <p:nvPr/>
        </p:nvSpPr>
        <p:spPr>
          <a:xfrm>
            <a:off x="3085371" y="2887008"/>
            <a:ext cx="274571" cy="985225"/>
          </a:xfrm>
          <a:prstGeom prst="rightArrow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9C5800B-B041-0C67-B037-AF02C835479D}"/>
              </a:ext>
            </a:extLst>
          </p:cNvPr>
          <p:cNvGrpSpPr/>
          <p:nvPr/>
        </p:nvGrpSpPr>
        <p:grpSpPr>
          <a:xfrm>
            <a:off x="8087285" y="3079292"/>
            <a:ext cx="1018487" cy="982245"/>
            <a:chOff x="7406652" y="3624090"/>
            <a:chExt cx="1090476" cy="98224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2D0EFAC-C57F-7FA7-CDF0-99EF3A4AE902}"/>
                </a:ext>
              </a:extLst>
            </p:cNvPr>
            <p:cNvSpPr/>
            <p:nvPr/>
          </p:nvSpPr>
          <p:spPr>
            <a:xfrm>
              <a:off x="7406652" y="3624090"/>
              <a:ext cx="1087881" cy="4972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8AD1CEE-66A7-9B9C-3C65-35EB8882BADE}"/>
                </a:ext>
              </a:extLst>
            </p:cNvPr>
            <p:cNvGrpSpPr/>
            <p:nvPr/>
          </p:nvGrpSpPr>
          <p:grpSpPr>
            <a:xfrm>
              <a:off x="7409287" y="3647887"/>
              <a:ext cx="1087841" cy="958448"/>
              <a:chOff x="4006731" y="3633507"/>
              <a:chExt cx="1087841" cy="958448"/>
            </a:xfrm>
          </p:grpSpPr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3C49674A-5F62-9E49-A066-2AAD54F81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6731" y="3633507"/>
                <a:ext cx="472715" cy="440484"/>
              </a:xfrm>
              <a:prstGeom prst="rect">
                <a:avLst/>
              </a:prstGeom>
            </p:spPr>
          </p:pic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AF31C52-E5BA-7FB4-499A-5A8E8F89C930}"/>
                  </a:ext>
                </a:extLst>
              </p:cNvPr>
              <p:cNvSpPr txBox="1"/>
              <p:nvPr/>
            </p:nvSpPr>
            <p:spPr>
              <a:xfrm>
                <a:off x="4479446" y="3677555"/>
                <a:ext cx="615126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900"/>
                  </a:spcBef>
                  <a:buSzPct val="120000"/>
                </a:pPr>
                <a:r>
                  <a:rPr lang="en-US" sz="1050" dirty="0"/>
                  <a:t>In-House</a:t>
                </a:r>
              </a:p>
              <a:p>
                <a:pPr>
                  <a:lnSpc>
                    <a:spcPct val="120000"/>
                  </a:lnSpc>
                  <a:buSzPct val="120000"/>
                </a:pPr>
                <a:r>
                  <a:rPr lang="en-US" sz="1050" dirty="0"/>
                  <a:t> Build </a:t>
                </a:r>
              </a:p>
            </p:txBody>
          </p:sp>
        </p:grp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7DAD7387-2C36-39CA-CEF9-30A824104A1B}"/>
              </a:ext>
            </a:extLst>
          </p:cNvPr>
          <p:cNvSpPr txBox="1"/>
          <p:nvPr/>
        </p:nvSpPr>
        <p:spPr>
          <a:xfrm>
            <a:off x="8195694" y="2610177"/>
            <a:ext cx="76501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120000"/>
              </a:lnSpc>
              <a:buSzPct val="120000"/>
            </a:pPr>
            <a:r>
              <a:rPr lang="en-US" sz="1000" b="1" dirty="0">
                <a:solidFill>
                  <a:schemeClr val="tx2"/>
                </a:solidFill>
              </a:rPr>
              <a:t>Our </a:t>
            </a:r>
          </a:p>
          <a:p>
            <a:pPr algn="ctr">
              <a:lnSpc>
                <a:spcPct val="120000"/>
              </a:lnSpc>
              <a:buSzPct val="120000"/>
            </a:pPr>
            <a:r>
              <a:rPr lang="en-US" sz="1000" b="1" dirty="0">
                <a:solidFill>
                  <a:schemeClr val="tx2"/>
                </a:solidFill>
              </a:rPr>
              <a:t>Recommendation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002B656-0490-4C4B-A397-7A0E3A3716B4}"/>
              </a:ext>
            </a:extLst>
          </p:cNvPr>
          <p:cNvGrpSpPr/>
          <p:nvPr/>
        </p:nvGrpSpPr>
        <p:grpSpPr>
          <a:xfrm>
            <a:off x="5026646" y="1632823"/>
            <a:ext cx="1583295" cy="3151991"/>
            <a:chOff x="5340088" y="1480111"/>
            <a:chExt cx="1863791" cy="3151991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6FAECF1-61E2-E070-9ADC-1A237BB91763}"/>
                </a:ext>
              </a:extLst>
            </p:cNvPr>
            <p:cNvSpPr/>
            <p:nvPr/>
          </p:nvSpPr>
          <p:spPr>
            <a:xfrm>
              <a:off x="5340088" y="1891374"/>
              <a:ext cx="1863791" cy="2740728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 dirty="0"/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21FD22FF-EB44-62A8-3ADF-A28B5D7A504D}"/>
                </a:ext>
              </a:extLst>
            </p:cNvPr>
            <p:cNvSpPr/>
            <p:nvPr/>
          </p:nvSpPr>
          <p:spPr>
            <a:xfrm>
              <a:off x="5431576" y="2021151"/>
              <a:ext cx="1680813" cy="248117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9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681E28F-2231-8FF6-BEEE-373477C518E0}"/>
                </a:ext>
              </a:extLst>
            </p:cNvPr>
            <p:cNvGrpSpPr/>
            <p:nvPr/>
          </p:nvGrpSpPr>
          <p:grpSpPr>
            <a:xfrm>
              <a:off x="5584287" y="2175351"/>
              <a:ext cx="1404276" cy="2199108"/>
              <a:chOff x="7688301" y="1160942"/>
              <a:chExt cx="1404276" cy="2199108"/>
            </a:xfrm>
          </p:grpSpPr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DD46342C-3AA7-CF50-00A1-675A1D64ED34}"/>
                  </a:ext>
                </a:extLst>
              </p:cNvPr>
              <p:cNvSpPr/>
              <p:nvPr/>
            </p:nvSpPr>
            <p:spPr>
              <a:xfrm>
                <a:off x="7688301" y="3023560"/>
                <a:ext cx="1404268" cy="336490"/>
              </a:xfrm>
              <a:prstGeom prst="roundRect">
                <a:avLst/>
              </a:prstGeom>
              <a:solidFill>
                <a:srgbClr val="D0D0CE">
                  <a:alpha val="80000"/>
                </a:srgb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2"/>
                    </a:solidFill>
                  </a:rPr>
                  <a:t>Ease of Implementation</a:t>
                </a:r>
              </a:p>
            </p:txBody>
          </p: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26F41A4A-9E07-A6E2-C51F-3DF2C2C742FA}"/>
                  </a:ext>
                </a:extLst>
              </p:cNvPr>
              <p:cNvSpPr/>
              <p:nvPr/>
            </p:nvSpPr>
            <p:spPr>
              <a:xfrm>
                <a:off x="7688301" y="1902190"/>
                <a:ext cx="1404270" cy="336490"/>
              </a:xfrm>
              <a:prstGeom prst="roundRect">
                <a:avLst/>
              </a:prstGeom>
              <a:solidFill>
                <a:srgbClr val="D0D0CE">
                  <a:alpha val="80000"/>
                </a:srgb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900" dirty="0">
                    <a:solidFill>
                      <a:schemeClr val="tx2"/>
                    </a:solidFill>
                  </a:rPr>
                  <a:t>Market Localization</a:t>
                </a:r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4A5466BC-1911-B16A-7FAB-ADB226A0B95B}"/>
                  </a:ext>
                </a:extLst>
              </p:cNvPr>
              <p:cNvSpPr/>
              <p:nvPr/>
            </p:nvSpPr>
            <p:spPr>
              <a:xfrm>
                <a:off x="7688302" y="1533745"/>
                <a:ext cx="1404270" cy="336490"/>
              </a:xfrm>
              <a:prstGeom prst="roundRect">
                <a:avLst/>
              </a:prstGeom>
              <a:solidFill>
                <a:srgbClr val="D0D0CE">
                  <a:alpha val="80000"/>
                </a:srgb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900" dirty="0">
                    <a:solidFill>
                      <a:schemeClr val="tx2"/>
                    </a:solidFill>
                  </a:rPr>
                  <a:t>Ease of Rule Configuration</a:t>
                </a:r>
              </a:p>
            </p:txBody>
          </p:sp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D632B75E-8A61-B4BC-1061-70DDDB5D6B7D}"/>
                  </a:ext>
                </a:extLst>
              </p:cNvPr>
              <p:cNvSpPr/>
              <p:nvPr/>
            </p:nvSpPr>
            <p:spPr>
              <a:xfrm>
                <a:off x="7688302" y="1160942"/>
                <a:ext cx="1404270" cy="336490"/>
              </a:xfrm>
              <a:prstGeom prst="roundRect">
                <a:avLst/>
              </a:prstGeom>
              <a:solidFill>
                <a:srgbClr val="D0D0CE">
                  <a:alpha val="80000"/>
                </a:srgb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900" dirty="0">
                    <a:solidFill>
                      <a:schemeClr val="tx2"/>
                    </a:solidFill>
                  </a:rPr>
                  <a:t>Centralized lists</a:t>
                </a:r>
              </a:p>
            </p:txBody>
          </p: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B29867F4-76E8-58E7-15B1-A05B5397C8A0}"/>
                  </a:ext>
                </a:extLst>
              </p:cNvPr>
              <p:cNvSpPr/>
              <p:nvPr/>
            </p:nvSpPr>
            <p:spPr>
              <a:xfrm>
                <a:off x="7688308" y="2278420"/>
                <a:ext cx="1404269" cy="336490"/>
              </a:xfrm>
              <a:prstGeom prst="roundRect">
                <a:avLst/>
              </a:prstGeom>
              <a:solidFill>
                <a:srgbClr val="D0D0CE">
                  <a:alpha val="80000"/>
                </a:srgb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2"/>
                    </a:solidFill>
                  </a:rPr>
                  <a:t>Sandbox</a:t>
                </a:r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56F01EDF-5C7D-7F00-CD53-561E0DAC99FF}"/>
                  </a:ext>
                </a:extLst>
              </p:cNvPr>
              <p:cNvSpPr/>
              <p:nvPr/>
            </p:nvSpPr>
            <p:spPr>
              <a:xfrm>
                <a:off x="7688301" y="2650167"/>
                <a:ext cx="1404268" cy="336490"/>
              </a:xfrm>
              <a:prstGeom prst="roundRect">
                <a:avLst/>
              </a:prstGeom>
              <a:solidFill>
                <a:srgbClr val="D0D0CE">
                  <a:alpha val="80000"/>
                </a:srgbClr>
              </a:solidFill>
              <a:ln>
                <a:noFill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chemeClr val="tx2"/>
                    </a:solidFill>
                  </a:rPr>
                  <a:t>Audit Log Changes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68093FE-E09E-EA34-994A-CDED49E1F263}"/>
                </a:ext>
              </a:extLst>
            </p:cNvPr>
            <p:cNvSpPr txBox="1"/>
            <p:nvPr/>
          </p:nvSpPr>
          <p:spPr>
            <a:xfrm>
              <a:off x="5544502" y="1480111"/>
              <a:ext cx="1404268" cy="9144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>
                <a:lnSpc>
                  <a:spcPct val="120000"/>
                </a:lnSpc>
                <a:buSzPct val="120000"/>
              </a:pPr>
              <a:r>
                <a:rPr lang="en-US" sz="1100" b="1" dirty="0">
                  <a:solidFill>
                    <a:schemeClr val="tx2"/>
                  </a:solidFill>
                </a:rPr>
                <a:t>Business</a:t>
              </a:r>
            </a:p>
            <a:p>
              <a:pPr algn="ctr">
                <a:lnSpc>
                  <a:spcPct val="120000"/>
                </a:lnSpc>
                <a:buSzPct val="120000"/>
              </a:pPr>
              <a:r>
                <a:rPr lang="en-US" sz="1100" b="1" dirty="0">
                  <a:solidFill>
                    <a:schemeClr val="tx2"/>
                  </a:solidFill>
                </a:rPr>
                <a:t>Comparison Criteria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3C3CC73-2A26-09FD-C97B-6062815527B8}"/>
              </a:ext>
            </a:extLst>
          </p:cNvPr>
          <p:cNvGrpSpPr/>
          <p:nvPr/>
        </p:nvGrpSpPr>
        <p:grpSpPr>
          <a:xfrm>
            <a:off x="3350754" y="1010366"/>
            <a:ext cx="1583295" cy="4132474"/>
            <a:chOff x="3350754" y="1097827"/>
            <a:chExt cx="1583295" cy="413247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3A85B6C-DDD5-4C28-3871-0C6A62AB3611}"/>
                </a:ext>
              </a:extLst>
            </p:cNvPr>
            <p:cNvGrpSpPr/>
            <p:nvPr/>
          </p:nvGrpSpPr>
          <p:grpSpPr>
            <a:xfrm>
              <a:off x="3350754" y="1097827"/>
              <a:ext cx="1583295" cy="4132474"/>
              <a:chOff x="5340088" y="972465"/>
              <a:chExt cx="1863791" cy="3659638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B9204AE9-2E50-757D-F3AC-2A9D254405B8}"/>
                  </a:ext>
                </a:extLst>
              </p:cNvPr>
              <p:cNvSpPr/>
              <p:nvPr/>
            </p:nvSpPr>
            <p:spPr>
              <a:xfrm>
                <a:off x="5340088" y="1327730"/>
                <a:ext cx="1863791" cy="3304373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accent1"/>
                </a:solidFill>
                <a:prstDash val="dash"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S" sz="1200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1E439C55-E773-3189-954D-85515AB4F7B1}"/>
                  </a:ext>
                </a:extLst>
              </p:cNvPr>
              <p:cNvSpPr/>
              <p:nvPr/>
            </p:nvSpPr>
            <p:spPr>
              <a:xfrm>
                <a:off x="5431576" y="1394472"/>
                <a:ext cx="1680813" cy="314740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  <a:prstDash val="dash"/>
              </a:ln>
            </p:spPr>
            <p:style>
              <a:lnRef idx="0">
                <a:schemeClr val="accent1"/>
              </a:lnRef>
              <a:fillRef idx="1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00000"/>
                  </a:lnSpc>
                </a:pPr>
                <a:endParaRPr lang="en-US" sz="1200" dirty="0"/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92A1E4EC-89A4-D5A4-BF1D-6DFE31844F2F}"/>
                  </a:ext>
                </a:extLst>
              </p:cNvPr>
              <p:cNvGrpSpPr/>
              <p:nvPr/>
            </p:nvGrpSpPr>
            <p:grpSpPr>
              <a:xfrm>
                <a:off x="5485371" y="1432489"/>
                <a:ext cx="1627018" cy="1044580"/>
                <a:chOff x="7589385" y="418080"/>
                <a:chExt cx="1627018" cy="1044580"/>
              </a:xfrm>
            </p:grpSpPr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718686FA-7734-F72B-11CD-ECF360EFDDF6}"/>
                    </a:ext>
                  </a:extLst>
                </p:cNvPr>
                <p:cNvSpPr/>
                <p:nvPr/>
              </p:nvSpPr>
              <p:spPr>
                <a:xfrm>
                  <a:off x="7589385" y="1315280"/>
                  <a:ext cx="1577369" cy="147380"/>
                </a:xfrm>
                <a:prstGeom prst="roundRect">
                  <a:avLst/>
                </a:prstGeom>
                <a:solidFill>
                  <a:srgbClr val="D0D0CE">
                    <a:alpha val="80000"/>
                  </a:srgbClr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2"/>
                      </a:solidFill>
                    </a:rPr>
                    <a:t>Operational Monitoring</a:t>
                  </a:r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6DBA1B6F-25EA-6639-2965-DA7D63856783}"/>
                    </a:ext>
                  </a:extLst>
                </p:cNvPr>
                <p:cNvSpPr/>
                <p:nvPr/>
              </p:nvSpPr>
              <p:spPr>
                <a:xfrm>
                  <a:off x="7682702" y="789638"/>
                  <a:ext cx="1404270" cy="150011"/>
                </a:xfrm>
                <a:prstGeom prst="roundRect">
                  <a:avLst/>
                </a:prstGeom>
                <a:solidFill>
                  <a:srgbClr val="D0D0CE">
                    <a:alpha val="80000"/>
                  </a:srgbClr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800" dirty="0">
                      <a:solidFill>
                        <a:schemeClr val="tx2"/>
                      </a:solidFill>
                    </a:rPr>
                    <a:t>Set Up</a:t>
                  </a:r>
                </a:p>
              </p:txBody>
            </p: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671154C5-2AAC-C938-E315-F741A72BC181}"/>
                    </a:ext>
                  </a:extLst>
                </p:cNvPr>
                <p:cNvSpPr/>
                <p:nvPr/>
              </p:nvSpPr>
              <p:spPr>
                <a:xfrm>
                  <a:off x="7589385" y="591145"/>
                  <a:ext cx="1627018" cy="170075"/>
                </a:xfrm>
                <a:prstGeom prst="roundRect">
                  <a:avLst/>
                </a:prstGeom>
                <a:solidFill>
                  <a:srgbClr val="D0D0CE">
                    <a:alpha val="80000"/>
                  </a:srgbClr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800" dirty="0">
                      <a:solidFill>
                        <a:schemeClr val="tx2"/>
                      </a:solidFill>
                    </a:rPr>
                    <a:t>Integration with AXP Ecosystem</a:t>
                  </a:r>
                </a:p>
              </p:txBody>
            </p:sp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E382D150-598F-8388-E100-DF2C29FDBACF}"/>
                    </a:ext>
                  </a:extLst>
                </p:cNvPr>
                <p:cNvSpPr/>
                <p:nvPr/>
              </p:nvSpPr>
              <p:spPr>
                <a:xfrm>
                  <a:off x="7680549" y="418080"/>
                  <a:ext cx="1404270" cy="150011"/>
                </a:xfrm>
                <a:prstGeom prst="roundRect">
                  <a:avLst/>
                </a:prstGeom>
                <a:solidFill>
                  <a:srgbClr val="D0D0CE">
                    <a:alpha val="80000"/>
                  </a:srgbClr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800" dirty="0">
                      <a:solidFill>
                        <a:schemeClr val="tx2"/>
                      </a:solidFill>
                    </a:rPr>
                    <a:t>Architecture</a:t>
                  </a:r>
                </a:p>
              </p:txBody>
            </p:sp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CC148DD7-049E-873D-2E30-C479432B08F5}"/>
                    </a:ext>
                  </a:extLst>
                </p:cNvPr>
                <p:cNvSpPr/>
                <p:nvPr/>
              </p:nvSpPr>
              <p:spPr>
                <a:xfrm>
                  <a:off x="7673661" y="959524"/>
                  <a:ext cx="1404270" cy="150011"/>
                </a:xfrm>
                <a:prstGeom prst="roundRect">
                  <a:avLst/>
                </a:prstGeom>
                <a:solidFill>
                  <a:srgbClr val="D0D0CE">
                    <a:alpha val="80000"/>
                  </a:srgbClr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2"/>
                      </a:solidFill>
                    </a:rPr>
                    <a:t>Configurability</a:t>
                  </a:r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18922771-469E-579C-3888-6C7FF7EC3167}"/>
                    </a:ext>
                  </a:extLst>
                </p:cNvPr>
                <p:cNvSpPr/>
                <p:nvPr/>
              </p:nvSpPr>
              <p:spPr>
                <a:xfrm>
                  <a:off x="7683243" y="1135185"/>
                  <a:ext cx="1404268" cy="150011"/>
                </a:xfrm>
                <a:prstGeom prst="roundRect">
                  <a:avLst/>
                </a:prstGeom>
                <a:solidFill>
                  <a:srgbClr val="D0D0CE">
                    <a:alpha val="80000"/>
                  </a:srgbClr>
                </a:solidFill>
                <a:ln>
                  <a:noFill/>
                </a:ln>
              </p:spPr>
              <p:style>
                <a:lnRef idx="0">
                  <a:schemeClr val="accent1"/>
                </a:lnRef>
                <a:fillRef idx="1">
                  <a:schemeClr val="accent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2"/>
                      </a:solidFill>
                    </a:rPr>
                    <a:t>Platform Scalability</a:t>
                  </a:r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C6D8627-39E1-89CA-AF33-133DCA3DBA56}"/>
                  </a:ext>
                </a:extLst>
              </p:cNvPr>
              <p:cNvSpPr txBox="1"/>
              <p:nvPr/>
            </p:nvSpPr>
            <p:spPr>
              <a:xfrm>
                <a:off x="5566608" y="972465"/>
                <a:ext cx="1404268" cy="9144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lnSpc>
                    <a:spcPct val="120000"/>
                  </a:lnSpc>
                  <a:buSzPct val="120000"/>
                </a:pPr>
                <a:r>
                  <a:rPr lang="en-US" sz="1100" b="1" dirty="0">
                    <a:solidFill>
                      <a:schemeClr val="tx2"/>
                    </a:solidFill>
                  </a:rPr>
                  <a:t>Tech</a:t>
                </a:r>
              </a:p>
              <a:p>
                <a:pPr algn="ctr">
                  <a:lnSpc>
                    <a:spcPct val="120000"/>
                  </a:lnSpc>
                  <a:buSzPct val="120000"/>
                </a:pPr>
                <a:r>
                  <a:rPr lang="en-US" sz="1100" b="1" dirty="0">
                    <a:solidFill>
                      <a:schemeClr val="tx2"/>
                    </a:solidFill>
                  </a:rPr>
                  <a:t>Comparison Criteria</a:t>
                </a:r>
              </a:p>
            </p:txBody>
          </p:sp>
        </p:grp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6276D5B8-C4B2-75A0-017B-F0A5D98DDC9E}"/>
                </a:ext>
              </a:extLst>
            </p:cNvPr>
            <p:cNvSpPr/>
            <p:nvPr/>
          </p:nvSpPr>
          <p:spPr>
            <a:xfrm>
              <a:off x="3557790" y="3799073"/>
              <a:ext cx="1192929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Data Preparation</a:t>
              </a: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5DF58A75-73D9-0E91-8EC3-08A715F95EE9}"/>
                </a:ext>
              </a:extLst>
            </p:cNvPr>
            <p:cNvSpPr/>
            <p:nvPr/>
          </p:nvSpPr>
          <p:spPr>
            <a:xfrm>
              <a:off x="3543181" y="3219582"/>
              <a:ext cx="1192931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800" dirty="0">
                  <a:solidFill>
                    <a:schemeClr val="tx2"/>
                  </a:solidFill>
                </a:rPr>
                <a:t>Availability</a:t>
              </a: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BC8074F2-2438-955C-D321-C4317553AE2A}"/>
                </a:ext>
              </a:extLst>
            </p:cNvPr>
            <p:cNvSpPr/>
            <p:nvPr/>
          </p:nvSpPr>
          <p:spPr>
            <a:xfrm>
              <a:off x="3543182" y="3016488"/>
              <a:ext cx="1192931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800" dirty="0">
                  <a:solidFill>
                    <a:schemeClr val="tx2"/>
                  </a:solidFill>
                </a:rPr>
                <a:t>Alerting</a:t>
              </a: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F94D915-A5B3-0A49-5AD7-18AEBB2EBE7B}"/>
                </a:ext>
              </a:extLst>
            </p:cNvPr>
            <p:cNvSpPr/>
            <p:nvPr/>
          </p:nvSpPr>
          <p:spPr>
            <a:xfrm>
              <a:off x="3556716" y="2827103"/>
              <a:ext cx="1192931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800" dirty="0">
                  <a:solidFill>
                    <a:schemeClr val="tx2"/>
                  </a:solidFill>
                </a:rPr>
                <a:t>Logging</a:t>
              </a: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265B1477-D497-F71F-3F28-8FD1EBFF767C}"/>
                </a:ext>
              </a:extLst>
            </p:cNvPr>
            <p:cNvSpPr/>
            <p:nvPr/>
          </p:nvSpPr>
          <p:spPr>
            <a:xfrm>
              <a:off x="3543182" y="3411192"/>
              <a:ext cx="1192931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Statelessness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A4B6308C-50E7-055E-7142-C714C0FD9A0E}"/>
                </a:ext>
              </a:extLst>
            </p:cNvPr>
            <p:cNvSpPr/>
            <p:nvPr/>
          </p:nvSpPr>
          <p:spPr>
            <a:xfrm>
              <a:off x="3559006" y="3603185"/>
              <a:ext cx="1192929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Security</a:t>
              </a: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DB1B4FEE-1FF1-C739-202E-9E1044DE6D47}"/>
                </a:ext>
              </a:extLst>
            </p:cNvPr>
            <p:cNvSpPr/>
            <p:nvPr/>
          </p:nvSpPr>
          <p:spPr>
            <a:xfrm>
              <a:off x="3572696" y="4981821"/>
              <a:ext cx="1192929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Infrastructure Cost</a:t>
              </a:r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57141F1A-1146-74D1-B337-A7B3B1612387}"/>
                </a:ext>
              </a:extLst>
            </p:cNvPr>
            <p:cNvSpPr/>
            <p:nvPr/>
          </p:nvSpPr>
          <p:spPr>
            <a:xfrm>
              <a:off x="3491038" y="4385592"/>
              <a:ext cx="1330400" cy="173584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800" dirty="0">
                  <a:solidFill>
                    <a:schemeClr val="tx2"/>
                  </a:solidFill>
                </a:rPr>
                <a:t>Data Integration &amp; exchange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3657403B-2ADC-530B-8B06-14CAF153CFAD}"/>
                </a:ext>
              </a:extLst>
            </p:cNvPr>
            <p:cNvSpPr/>
            <p:nvPr/>
          </p:nvSpPr>
          <p:spPr>
            <a:xfrm>
              <a:off x="3480230" y="4206685"/>
              <a:ext cx="1330400" cy="140598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800" dirty="0">
                  <a:solidFill>
                    <a:schemeClr val="tx2"/>
                  </a:solidFill>
                </a:rPr>
                <a:t>Output Data Publication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0F3D6457-EF38-02E8-B621-85B8C7DD118A}"/>
                </a:ext>
              </a:extLst>
            </p:cNvPr>
            <p:cNvSpPr/>
            <p:nvPr/>
          </p:nvSpPr>
          <p:spPr>
            <a:xfrm>
              <a:off x="3571622" y="4002167"/>
              <a:ext cx="1192931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800" dirty="0">
                  <a:solidFill>
                    <a:schemeClr val="tx2"/>
                  </a:solidFill>
                </a:rPr>
                <a:t>Data Processing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D763D6AA-29B2-CD9D-021E-6329378BF421}"/>
                </a:ext>
              </a:extLst>
            </p:cNvPr>
            <p:cNvSpPr/>
            <p:nvPr/>
          </p:nvSpPr>
          <p:spPr>
            <a:xfrm>
              <a:off x="3558088" y="4593940"/>
              <a:ext cx="1192931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Data Analytics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B0603448-6EFF-AA30-6134-6EBE6E808EBE}"/>
                </a:ext>
              </a:extLst>
            </p:cNvPr>
            <p:cNvSpPr/>
            <p:nvPr/>
          </p:nvSpPr>
          <p:spPr>
            <a:xfrm>
              <a:off x="3573912" y="4785933"/>
              <a:ext cx="1192929" cy="163956"/>
            </a:xfrm>
            <a:prstGeom prst="roundRect">
              <a:avLst/>
            </a:prstGeom>
            <a:solidFill>
              <a:srgbClr val="D0D0CE">
                <a:alpha val="80000"/>
              </a:srgbClr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2"/>
                  </a:solidFill>
                </a:rPr>
                <a:t>Product upgrades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0743820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4048" y="146304"/>
            <a:ext cx="8333137" cy="374904"/>
          </a:xfrm>
        </p:spPr>
        <p:txBody>
          <a:bodyPr/>
          <a:lstStyle/>
          <a:p>
            <a:r>
              <a:rPr lang="en-US" sz="2800" dirty="0"/>
              <a:t>Evaluation Methodology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FD810-5C60-20B2-2160-0BEC9D45B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A6CCB8-EB76-D2ED-05EA-E8196DD86093}"/>
              </a:ext>
            </a:extLst>
          </p:cNvPr>
          <p:cNvSpPr/>
          <p:nvPr/>
        </p:nvSpPr>
        <p:spPr>
          <a:xfrm>
            <a:off x="392792" y="2835082"/>
            <a:ext cx="734902" cy="19312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sz="800">
                <a:solidFill>
                  <a:schemeClr val="tx2"/>
                </a:solidFill>
                <a:latin typeface="BentonSans Regular "/>
              </a:rPr>
              <a:t>Feb 2024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048676-F1E8-9F14-D388-C9F6F4A3808A}"/>
              </a:ext>
            </a:extLst>
          </p:cNvPr>
          <p:cNvSpPr/>
          <p:nvPr/>
        </p:nvSpPr>
        <p:spPr>
          <a:xfrm>
            <a:off x="4843608" y="4539457"/>
            <a:ext cx="1151875" cy="45774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800">
                <a:solidFill>
                  <a:schemeClr val="tx2"/>
                </a:solidFill>
              </a:rPr>
              <a:t>Final comparison with in-house POC build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0A90096-91FA-8BAA-E1F8-24E2782FF7D0}"/>
              </a:ext>
            </a:extLst>
          </p:cNvPr>
          <p:cNvSpPr/>
          <p:nvPr/>
        </p:nvSpPr>
        <p:spPr>
          <a:xfrm>
            <a:off x="4408202" y="4675842"/>
            <a:ext cx="483250" cy="153888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AA41CC-C217-7AA7-BE78-AFC612681720}"/>
              </a:ext>
            </a:extLst>
          </p:cNvPr>
          <p:cNvGrpSpPr/>
          <p:nvPr/>
        </p:nvGrpSpPr>
        <p:grpSpPr>
          <a:xfrm>
            <a:off x="3501839" y="642757"/>
            <a:ext cx="5391166" cy="1747611"/>
            <a:chOff x="3172655" y="642757"/>
            <a:chExt cx="5391166" cy="174761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F78463B-0F5A-B0A6-5EE9-26BB7B46D781}"/>
                </a:ext>
              </a:extLst>
            </p:cNvPr>
            <p:cNvSpPr/>
            <p:nvPr/>
          </p:nvSpPr>
          <p:spPr>
            <a:xfrm>
              <a:off x="3172655" y="642757"/>
              <a:ext cx="942068" cy="1747611"/>
            </a:xfrm>
            <a:custGeom>
              <a:avLst/>
              <a:gdLst>
                <a:gd name="connsiteX0" fmla="*/ 0 w 1784151"/>
                <a:gd name="connsiteY0" fmla="*/ 178415 h 4267200"/>
                <a:gd name="connsiteX1" fmla="*/ 178415 w 1784151"/>
                <a:gd name="connsiteY1" fmla="*/ 0 h 4267200"/>
                <a:gd name="connsiteX2" fmla="*/ 1605736 w 1784151"/>
                <a:gd name="connsiteY2" fmla="*/ 0 h 4267200"/>
                <a:gd name="connsiteX3" fmla="*/ 1784151 w 1784151"/>
                <a:gd name="connsiteY3" fmla="*/ 178415 h 4267200"/>
                <a:gd name="connsiteX4" fmla="*/ 1784151 w 1784151"/>
                <a:gd name="connsiteY4" fmla="*/ 4088785 h 4267200"/>
                <a:gd name="connsiteX5" fmla="*/ 1605736 w 1784151"/>
                <a:gd name="connsiteY5" fmla="*/ 4267200 h 4267200"/>
                <a:gd name="connsiteX6" fmla="*/ 178415 w 1784151"/>
                <a:gd name="connsiteY6" fmla="*/ 4267200 h 4267200"/>
                <a:gd name="connsiteX7" fmla="*/ 0 w 1784151"/>
                <a:gd name="connsiteY7" fmla="*/ 4088785 h 4267200"/>
                <a:gd name="connsiteX8" fmla="*/ 0 w 1784151"/>
                <a:gd name="connsiteY8" fmla="*/ 178415 h 42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151" h="4267200">
                  <a:moveTo>
                    <a:pt x="0" y="178415"/>
                  </a:moveTo>
                  <a:cubicBezTo>
                    <a:pt x="0" y="79879"/>
                    <a:pt x="79879" y="0"/>
                    <a:pt x="178415" y="0"/>
                  </a:cubicBezTo>
                  <a:lnTo>
                    <a:pt x="1605736" y="0"/>
                  </a:lnTo>
                  <a:cubicBezTo>
                    <a:pt x="1704272" y="0"/>
                    <a:pt x="1784151" y="79879"/>
                    <a:pt x="1784151" y="178415"/>
                  </a:cubicBezTo>
                  <a:lnTo>
                    <a:pt x="1784151" y="4088785"/>
                  </a:lnTo>
                  <a:cubicBezTo>
                    <a:pt x="1784151" y="4187321"/>
                    <a:pt x="1704272" y="4267200"/>
                    <a:pt x="1605736" y="4267200"/>
                  </a:cubicBezTo>
                  <a:lnTo>
                    <a:pt x="178415" y="4267200"/>
                  </a:lnTo>
                  <a:cubicBezTo>
                    <a:pt x="79879" y="4267200"/>
                    <a:pt x="0" y="4187321"/>
                    <a:pt x="0" y="4088785"/>
                  </a:cubicBezTo>
                  <a:lnTo>
                    <a:pt x="0" y="178415"/>
                  </a:lnTo>
                  <a:close/>
                </a:path>
              </a:pathLst>
            </a:custGeom>
            <a:solidFill>
              <a:schemeClr val="tx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8232" tIns="1785112" rIns="78232" bIns="93167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/>
                <a:t>Configurable computational logic to calculate CRR</a:t>
              </a:r>
            </a:p>
          </p:txBody>
        </p:sp>
        <p:sp>
          <p:nvSpPr>
            <p:cNvPr id="7" name="Oval 6" descr="Male profile with solid fill">
              <a:extLst>
                <a:ext uri="{FF2B5EF4-FFF2-40B4-BE49-F238E27FC236}">
                  <a16:creationId xmlns:a16="http://schemas.microsoft.com/office/drawing/2014/main" id="{DF293A98-A03B-E675-5C2B-CD6A18444D21}"/>
                </a:ext>
              </a:extLst>
            </p:cNvPr>
            <p:cNvSpPr/>
            <p:nvPr/>
          </p:nvSpPr>
          <p:spPr>
            <a:xfrm>
              <a:off x="3338745" y="747614"/>
              <a:ext cx="688050" cy="581954"/>
            </a:xfrm>
            <a:prstGeom prst="ellipse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E94A5D1-799D-E7ED-4EB2-4F87E7146CB2}"/>
                </a:ext>
              </a:extLst>
            </p:cNvPr>
            <p:cNvSpPr/>
            <p:nvPr/>
          </p:nvSpPr>
          <p:spPr>
            <a:xfrm>
              <a:off x="4140639" y="642757"/>
              <a:ext cx="863903" cy="1747611"/>
            </a:xfrm>
            <a:custGeom>
              <a:avLst/>
              <a:gdLst>
                <a:gd name="connsiteX0" fmla="*/ 0 w 1784151"/>
                <a:gd name="connsiteY0" fmla="*/ 178415 h 4267200"/>
                <a:gd name="connsiteX1" fmla="*/ 178415 w 1784151"/>
                <a:gd name="connsiteY1" fmla="*/ 0 h 4267200"/>
                <a:gd name="connsiteX2" fmla="*/ 1605736 w 1784151"/>
                <a:gd name="connsiteY2" fmla="*/ 0 h 4267200"/>
                <a:gd name="connsiteX3" fmla="*/ 1784151 w 1784151"/>
                <a:gd name="connsiteY3" fmla="*/ 178415 h 4267200"/>
                <a:gd name="connsiteX4" fmla="*/ 1784151 w 1784151"/>
                <a:gd name="connsiteY4" fmla="*/ 4088785 h 4267200"/>
                <a:gd name="connsiteX5" fmla="*/ 1605736 w 1784151"/>
                <a:gd name="connsiteY5" fmla="*/ 4267200 h 4267200"/>
                <a:gd name="connsiteX6" fmla="*/ 178415 w 1784151"/>
                <a:gd name="connsiteY6" fmla="*/ 4267200 h 4267200"/>
                <a:gd name="connsiteX7" fmla="*/ 0 w 1784151"/>
                <a:gd name="connsiteY7" fmla="*/ 4088785 h 4267200"/>
                <a:gd name="connsiteX8" fmla="*/ 0 w 1784151"/>
                <a:gd name="connsiteY8" fmla="*/ 178415 h 42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151" h="4267200">
                  <a:moveTo>
                    <a:pt x="0" y="178415"/>
                  </a:moveTo>
                  <a:cubicBezTo>
                    <a:pt x="0" y="79879"/>
                    <a:pt x="79879" y="0"/>
                    <a:pt x="178415" y="0"/>
                  </a:cubicBezTo>
                  <a:lnTo>
                    <a:pt x="1605736" y="0"/>
                  </a:lnTo>
                  <a:cubicBezTo>
                    <a:pt x="1704272" y="0"/>
                    <a:pt x="1784151" y="79879"/>
                    <a:pt x="1784151" y="178415"/>
                  </a:cubicBezTo>
                  <a:lnTo>
                    <a:pt x="1784151" y="4088785"/>
                  </a:lnTo>
                  <a:cubicBezTo>
                    <a:pt x="1784151" y="4187321"/>
                    <a:pt x="1704272" y="4267200"/>
                    <a:pt x="1605736" y="4267200"/>
                  </a:cubicBezTo>
                  <a:lnTo>
                    <a:pt x="178415" y="4267200"/>
                  </a:lnTo>
                  <a:cubicBezTo>
                    <a:pt x="79879" y="4267200"/>
                    <a:pt x="0" y="4187321"/>
                    <a:pt x="0" y="4088785"/>
                  </a:cubicBezTo>
                  <a:lnTo>
                    <a:pt x="0" y="178415"/>
                  </a:lnTo>
                  <a:close/>
                </a:path>
              </a:pathLst>
            </a:custGeom>
            <a:solidFill>
              <a:schemeClr val="tx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8232" tIns="1785112" rIns="78232" bIns="93167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/>
                <a:t>Run </a:t>
              </a:r>
              <a:r>
                <a:rPr lang="en-US" sz="900"/>
                <a:t>p</a:t>
              </a:r>
              <a:r>
                <a:rPr lang="en-US" sz="900" kern="1200"/>
                <a:t>arallel sandboxes</a:t>
              </a:r>
            </a:p>
          </p:txBody>
        </p:sp>
        <p:sp>
          <p:nvSpPr>
            <p:cNvPr id="9" name="Oval 8" descr="Woman Shrugging with solid fill">
              <a:extLst>
                <a:ext uri="{FF2B5EF4-FFF2-40B4-BE49-F238E27FC236}">
                  <a16:creationId xmlns:a16="http://schemas.microsoft.com/office/drawing/2014/main" id="{BFA68C2E-A28D-9E68-F3B2-8972CDEBE2DE}"/>
                </a:ext>
              </a:extLst>
            </p:cNvPr>
            <p:cNvSpPr/>
            <p:nvPr/>
          </p:nvSpPr>
          <p:spPr>
            <a:xfrm>
              <a:off x="4228565" y="747614"/>
              <a:ext cx="688050" cy="581954"/>
            </a:xfrm>
            <a:prstGeom prst="ellipse">
              <a:avLst/>
            </a:pr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F9F696D-ED08-AE3F-8D59-7BD87C2D822E}"/>
                </a:ext>
              </a:extLst>
            </p:cNvPr>
            <p:cNvSpPr/>
            <p:nvPr/>
          </p:nvSpPr>
          <p:spPr>
            <a:xfrm>
              <a:off x="5030459" y="642757"/>
              <a:ext cx="863903" cy="1747611"/>
            </a:xfrm>
            <a:custGeom>
              <a:avLst/>
              <a:gdLst>
                <a:gd name="connsiteX0" fmla="*/ 0 w 1784151"/>
                <a:gd name="connsiteY0" fmla="*/ 178415 h 4267200"/>
                <a:gd name="connsiteX1" fmla="*/ 178415 w 1784151"/>
                <a:gd name="connsiteY1" fmla="*/ 0 h 4267200"/>
                <a:gd name="connsiteX2" fmla="*/ 1605736 w 1784151"/>
                <a:gd name="connsiteY2" fmla="*/ 0 h 4267200"/>
                <a:gd name="connsiteX3" fmla="*/ 1784151 w 1784151"/>
                <a:gd name="connsiteY3" fmla="*/ 178415 h 4267200"/>
                <a:gd name="connsiteX4" fmla="*/ 1784151 w 1784151"/>
                <a:gd name="connsiteY4" fmla="*/ 4088785 h 4267200"/>
                <a:gd name="connsiteX5" fmla="*/ 1605736 w 1784151"/>
                <a:gd name="connsiteY5" fmla="*/ 4267200 h 4267200"/>
                <a:gd name="connsiteX6" fmla="*/ 178415 w 1784151"/>
                <a:gd name="connsiteY6" fmla="*/ 4267200 h 4267200"/>
                <a:gd name="connsiteX7" fmla="*/ 0 w 1784151"/>
                <a:gd name="connsiteY7" fmla="*/ 4088785 h 4267200"/>
                <a:gd name="connsiteX8" fmla="*/ 0 w 1784151"/>
                <a:gd name="connsiteY8" fmla="*/ 178415 h 42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151" h="4267200">
                  <a:moveTo>
                    <a:pt x="0" y="178415"/>
                  </a:moveTo>
                  <a:cubicBezTo>
                    <a:pt x="0" y="79879"/>
                    <a:pt x="79879" y="0"/>
                    <a:pt x="178415" y="0"/>
                  </a:cubicBezTo>
                  <a:lnTo>
                    <a:pt x="1605736" y="0"/>
                  </a:lnTo>
                  <a:cubicBezTo>
                    <a:pt x="1704272" y="0"/>
                    <a:pt x="1784151" y="79879"/>
                    <a:pt x="1784151" y="178415"/>
                  </a:cubicBezTo>
                  <a:lnTo>
                    <a:pt x="1784151" y="4088785"/>
                  </a:lnTo>
                  <a:cubicBezTo>
                    <a:pt x="1784151" y="4187321"/>
                    <a:pt x="1704272" y="4267200"/>
                    <a:pt x="1605736" y="4267200"/>
                  </a:cubicBezTo>
                  <a:lnTo>
                    <a:pt x="178415" y="4267200"/>
                  </a:lnTo>
                  <a:cubicBezTo>
                    <a:pt x="79879" y="4267200"/>
                    <a:pt x="0" y="4187321"/>
                    <a:pt x="0" y="4088785"/>
                  </a:cubicBezTo>
                  <a:lnTo>
                    <a:pt x="0" y="178415"/>
                  </a:lnTo>
                  <a:close/>
                </a:path>
              </a:pathLst>
            </a:custGeom>
            <a:solidFill>
              <a:schemeClr val="tx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8232" tIns="1785112" rIns="78232" bIns="93167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/>
                <a:t>Real-Time </a:t>
              </a:r>
              <a:r>
                <a:rPr lang="en-US" sz="900"/>
                <a:t>s</a:t>
              </a:r>
              <a:r>
                <a:rPr lang="en-US" sz="900" kern="1200"/>
                <a:t>andbox </a:t>
              </a:r>
              <a:r>
                <a:rPr lang="en-US" sz="900"/>
                <a:t>c</a:t>
              </a:r>
              <a:r>
                <a:rPr lang="en-US" sz="900" kern="1200"/>
                <a:t>apability</a:t>
              </a:r>
            </a:p>
          </p:txBody>
        </p:sp>
        <p:sp>
          <p:nvSpPr>
            <p:cNvPr id="11" name="Oval 10" descr="Crawl with solid fill">
              <a:extLst>
                <a:ext uri="{FF2B5EF4-FFF2-40B4-BE49-F238E27FC236}">
                  <a16:creationId xmlns:a16="http://schemas.microsoft.com/office/drawing/2014/main" id="{E95C7E8D-35F5-B735-3AB3-228F81A2C85A}"/>
                </a:ext>
              </a:extLst>
            </p:cNvPr>
            <p:cNvSpPr/>
            <p:nvPr/>
          </p:nvSpPr>
          <p:spPr>
            <a:xfrm>
              <a:off x="5118385" y="747614"/>
              <a:ext cx="688050" cy="581954"/>
            </a:xfrm>
            <a:prstGeom prst="ellipse">
              <a:avLst/>
            </a:pr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B54C795-6BEA-423B-001A-D06D8084FEB6}"/>
                </a:ext>
              </a:extLst>
            </p:cNvPr>
            <p:cNvSpPr/>
            <p:nvPr/>
          </p:nvSpPr>
          <p:spPr>
            <a:xfrm>
              <a:off x="5920279" y="642757"/>
              <a:ext cx="863903" cy="1747611"/>
            </a:xfrm>
            <a:custGeom>
              <a:avLst/>
              <a:gdLst>
                <a:gd name="connsiteX0" fmla="*/ 0 w 1784151"/>
                <a:gd name="connsiteY0" fmla="*/ 178415 h 4267200"/>
                <a:gd name="connsiteX1" fmla="*/ 178415 w 1784151"/>
                <a:gd name="connsiteY1" fmla="*/ 0 h 4267200"/>
                <a:gd name="connsiteX2" fmla="*/ 1605736 w 1784151"/>
                <a:gd name="connsiteY2" fmla="*/ 0 h 4267200"/>
                <a:gd name="connsiteX3" fmla="*/ 1784151 w 1784151"/>
                <a:gd name="connsiteY3" fmla="*/ 178415 h 4267200"/>
                <a:gd name="connsiteX4" fmla="*/ 1784151 w 1784151"/>
                <a:gd name="connsiteY4" fmla="*/ 4088785 h 4267200"/>
                <a:gd name="connsiteX5" fmla="*/ 1605736 w 1784151"/>
                <a:gd name="connsiteY5" fmla="*/ 4267200 h 4267200"/>
                <a:gd name="connsiteX6" fmla="*/ 178415 w 1784151"/>
                <a:gd name="connsiteY6" fmla="*/ 4267200 h 4267200"/>
                <a:gd name="connsiteX7" fmla="*/ 0 w 1784151"/>
                <a:gd name="connsiteY7" fmla="*/ 4088785 h 4267200"/>
                <a:gd name="connsiteX8" fmla="*/ 0 w 1784151"/>
                <a:gd name="connsiteY8" fmla="*/ 178415 h 42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151" h="4267200">
                  <a:moveTo>
                    <a:pt x="0" y="178415"/>
                  </a:moveTo>
                  <a:cubicBezTo>
                    <a:pt x="0" y="79879"/>
                    <a:pt x="79879" y="0"/>
                    <a:pt x="178415" y="0"/>
                  </a:cubicBezTo>
                  <a:lnTo>
                    <a:pt x="1605736" y="0"/>
                  </a:lnTo>
                  <a:cubicBezTo>
                    <a:pt x="1704272" y="0"/>
                    <a:pt x="1784151" y="79879"/>
                    <a:pt x="1784151" y="178415"/>
                  </a:cubicBezTo>
                  <a:lnTo>
                    <a:pt x="1784151" y="4088785"/>
                  </a:lnTo>
                  <a:cubicBezTo>
                    <a:pt x="1784151" y="4187321"/>
                    <a:pt x="1704272" y="4267200"/>
                    <a:pt x="1605736" y="4267200"/>
                  </a:cubicBezTo>
                  <a:lnTo>
                    <a:pt x="178415" y="4267200"/>
                  </a:lnTo>
                  <a:cubicBezTo>
                    <a:pt x="79879" y="4267200"/>
                    <a:pt x="0" y="4187321"/>
                    <a:pt x="0" y="4088785"/>
                  </a:cubicBezTo>
                  <a:lnTo>
                    <a:pt x="0" y="178415"/>
                  </a:lnTo>
                  <a:close/>
                </a:path>
              </a:pathLst>
            </a:custGeom>
            <a:solidFill>
              <a:schemeClr val="tx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8232" tIns="1785112" rIns="78232" bIns="93167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/>
                <a:t>“Near real </a:t>
              </a:r>
              <a:r>
                <a:rPr lang="en-US" sz="900"/>
                <a:t>t</a:t>
              </a:r>
              <a:r>
                <a:rPr lang="en-US" sz="900" kern="1200"/>
                <a:t>ime” risk rating for new CM’s</a:t>
              </a:r>
            </a:p>
          </p:txBody>
        </p:sp>
        <p:sp>
          <p:nvSpPr>
            <p:cNvPr id="15" name="Oval 14" descr="Cycle with people with solid fill">
              <a:extLst>
                <a:ext uri="{FF2B5EF4-FFF2-40B4-BE49-F238E27FC236}">
                  <a16:creationId xmlns:a16="http://schemas.microsoft.com/office/drawing/2014/main" id="{BA2A1205-983E-0E59-727D-FEFC00C63B35}"/>
                </a:ext>
              </a:extLst>
            </p:cNvPr>
            <p:cNvSpPr/>
            <p:nvPr/>
          </p:nvSpPr>
          <p:spPr>
            <a:xfrm>
              <a:off x="6008205" y="747614"/>
              <a:ext cx="688050" cy="581954"/>
            </a:xfrm>
            <a:prstGeom prst="ellipse">
              <a:avLst/>
            </a:prstGeom>
            <a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B8611E9-C56D-0BF5-33AC-4C99113F455A}"/>
                </a:ext>
              </a:extLst>
            </p:cNvPr>
            <p:cNvSpPr/>
            <p:nvPr/>
          </p:nvSpPr>
          <p:spPr>
            <a:xfrm>
              <a:off x="6810099" y="642757"/>
              <a:ext cx="863903" cy="1747611"/>
            </a:xfrm>
            <a:custGeom>
              <a:avLst/>
              <a:gdLst>
                <a:gd name="connsiteX0" fmla="*/ 0 w 1784151"/>
                <a:gd name="connsiteY0" fmla="*/ 178415 h 4267200"/>
                <a:gd name="connsiteX1" fmla="*/ 178415 w 1784151"/>
                <a:gd name="connsiteY1" fmla="*/ 0 h 4267200"/>
                <a:gd name="connsiteX2" fmla="*/ 1605736 w 1784151"/>
                <a:gd name="connsiteY2" fmla="*/ 0 h 4267200"/>
                <a:gd name="connsiteX3" fmla="*/ 1784151 w 1784151"/>
                <a:gd name="connsiteY3" fmla="*/ 178415 h 4267200"/>
                <a:gd name="connsiteX4" fmla="*/ 1784151 w 1784151"/>
                <a:gd name="connsiteY4" fmla="*/ 4088785 h 4267200"/>
                <a:gd name="connsiteX5" fmla="*/ 1605736 w 1784151"/>
                <a:gd name="connsiteY5" fmla="*/ 4267200 h 4267200"/>
                <a:gd name="connsiteX6" fmla="*/ 178415 w 1784151"/>
                <a:gd name="connsiteY6" fmla="*/ 4267200 h 4267200"/>
                <a:gd name="connsiteX7" fmla="*/ 0 w 1784151"/>
                <a:gd name="connsiteY7" fmla="*/ 4088785 h 4267200"/>
                <a:gd name="connsiteX8" fmla="*/ 0 w 1784151"/>
                <a:gd name="connsiteY8" fmla="*/ 178415 h 42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151" h="4267200">
                  <a:moveTo>
                    <a:pt x="0" y="178415"/>
                  </a:moveTo>
                  <a:cubicBezTo>
                    <a:pt x="0" y="79879"/>
                    <a:pt x="79879" y="0"/>
                    <a:pt x="178415" y="0"/>
                  </a:cubicBezTo>
                  <a:lnTo>
                    <a:pt x="1605736" y="0"/>
                  </a:lnTo>
                  <a:cubicBezTo>
                    <a:pt x="1704272" y="0"/>
                    <a:pt x="1784151" y="79879"/>
                    <a:pt x="1784151" y="178415"/>
                  </a:cubicBezTo>
                  <a:lnTo>
                    <a:pt x="1784151" y="4088785"/>
                  </a:lnTo>
                  <a:cubicBezTo>
                    <a:pt x="1784151" y="4187321"/>
                    <a:pt x="1704272" y="4267200"/>
                    <a:pt x="1605736" y="4267200"/>
                  </a:cubicBezTo>
                  <a:lnTo>
                    <a:pt x="178415" y="4267200"/>
                  </a:lnTo>
                  <a:cubicBezTo>
                    <a:pt x="79879" y="4267200"/>
                    <a:pt x="0" y="4187321"/>
                    <a:pt x="0" y="4088785"/>
                  </a:cubicBezTo>
                  <a:lnTo>
                    <a:pt x="0" y="178415"/>
                  </a:lnTo>
                  <a:close/>
                </a:path>
              </a:pathLst>
            </a:custGeom>
            <a:solidFill>
              <a:schemeClr val="tx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8232" tIns="1785112" rIns="78232" bIns="93167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/>
                <a:t>Feedback mechanism</a:t>
              </a:r>
            </a:p>
          </p:txBody>
        </p:sp>
        <p:sp>
          <p:nvSpPr>
            <p:cNvPr id="17" name="Oval 16" descr="Group of people with solid fill">
              <a:extLst>
                <a:ext uri="{FF2B5EF4-FFF2-40B4-BE49-F238E27FC236}">
                  <a16:creationId xmlns:a16="http://schemas.microsoft.com/office/drawing/2014/main" id="{93CDEBEA-80FA-68A7-9AAB-1D907FACD15C}"/>
                </a:ext>
              </a:extLst>
            </p:cNvPr>
            <p:cNvSpPr/>
            <p:nvPr/>
          </p:nvSpPr>
          <p:spPr>
            <a:xfrm>
              <a:off x="6898025" y="747614"/>
              <a:ext cx="688050" cy="581954"/>
            </a:xfrm>
            <a:prstGeom prst="ellipse">
              <a:avLst/>
            </a:prstGeom>
            <a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4C86E81-7626-70F8-1FAF-43100169E322}"/>
                </a:ext>
              </a:extLst>
            </p:cNvPr>
            <p:cNvSpPr/>
            <p:nvPr/>
          </p:nvSpPr>
          <p:spPr>
            <a:xfrm>
              <a:off x="7699918" y="642757"/>
              <a:ext cx="863903" cy="1747611"/>
            </a:xfrm>
            <a:custGeom>
              <a:avLst/>
              <a:gdLst>
                <a:gd name="connsiteX0" fmla="*/ 0 w 1784151"/>
                <a:gd name="connsiteY0" fmla="*/ 178415 h 4267200"/>
                <a:gd name="connsiteX1" fmla="*/ 178415 w 1784151"/>
                <a:gd name="connsiteY1" fmla="*/ 0 h 4267200"/>
                <a:gd name="connsiteX2" fmla="*/ 1605736 w 1784151"/>
                <a:gd name="connsiteY2" fmla="*/ 0 h 4267200"/>
                <a:gd name="connsiteX3" fmla="*/ 1784151 w 1784151"/>
                <a:gd name="connsiteY3" fmla="*/ 178415 h 4267200"/>
                <a:gd name="connsiteX4" fmla="*/ 1784151 w 1784151"/>
                <a:gd name="connsiteY4" fmla="*/ 4088785 h 4267200"/>
                <a:gd name="connsiteX5" fmla="*/ 1605736 w 1784151"/>
                <a:gd name="connsiteY5" fmla="*/ 4267200 h 4267200"/>
                <a:gd name="connsiteX6" fmla="*/ 178415 w 1784151"/>
                <a:gd name="connsiteY6" fmla="*/ 4267200 h 4267200"/>
                <a:gd name="connsiteX7" fmla="*/ 0 w 1784151"/>
                <a:gd name="connsiteY7" fmla="*/ 4088785 h 4267200"/>
                <a:gd name="connsiteX8" fmla="*/ 0 w 1784151"/>
                <a:gd name="connsiteY8" fmla="*/ 178415 h 426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84151" h="4267200">
                  <a:moveTo>
                    <a:pt x="0" y="178415"/>
                  </a:moveTo>
                  <a:cubicBezTo>
                    <a:pt x="0" y="79879"/>
                    <a:pt x="79879" y="0"/>
                    <a:pt x="178415" y="0"/>
                  </a:cubicBezTo>
                  <a:lnTo>
                    <a:pt x="1605736" y="0"/>
                  </a:lnTo>
                  <a:cubicBezTo>
                    <a:pt x="1704272" y="0"/>
                    <a:pt x="1784151" y="79879"/>
                    <a:pt x="1784151" y="178415"/>
                  </a:cubicBezTo>
                  <a:lnTo>
                    <a:pt x="1784151" y="4088785"/>
                  </a:lnTo>
                  <a:cubicBezTo>
                    <a:pt x="1784151" y="4187321"/>
                    <a:pt x="1704272" y="4267200"/>
                    <a:pt x="1605736" y="4267200"/>
                  </a:cubicBezTo>
                  <a:lnTo>
                    <a:pt x="178415" y="4267200"/>
                  </a:lnTo>
                  <a:cubicBezTo>
                    <a:pt x="79879" y="4267200"/>
                    <a:pt x="0" y="4187321"/>
                    <a:pt x="0" y="4088785"/>
                  </a:cubicBezTo>
                  <a:lnTo>
                    <a:pt x="0" y="178415"/>
                  </a:lnTo>
                  <a:close/>
                </a:path>
              </a:pathLst>
            </a:custGeom>
            <a:solidFill>
              <a:schemeClr val="tx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8232" tIns="1785112" rIns="78232" bIns="93167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900" kern="1200"/>
                <a:t>Analytics to compute </a:t>
              </a:r>
              <a:r>
                <a:rPr lang="en-US" sz="900"/>
                <a:t>m</a:t>
              </a:r>
              <a:r>
                <a:rPr lang="en-US" sz="900" kern="1200"/>
                <a:t>easures of success </a:t>
              </a:r>
            </a:p>
          </p:txBody>
        </p:sp>
        <p:sp>
          <p:nvSpPr>
            <p:cNvPr id="20" name="Oval 19" descr="Dance with solid fill">
              <a:extLst>
                <a:ext uri="{FF2B5EF4-FFF2-40B4-BE49-F238E27FC236}">
                  <a16:creationId xmlns:a16="http://schemas.microsoft.com/office/drawing/2014/main" id="{08197762-6939-2503-FA5E-50F79F1EA7E6}"/>
                </a:ext>
              </a:extLst>
            </p:cNvPr>
            <p:cNvSpPr/>
            <p:nvPr/>
          </p:nvSpPr>
          <p:spPr>
            <a:xfrm>
              <a:off x="7787845" y="747614"/>
              <a:ext cx="688050" cy="581954"/>
            </a:xfrm>
            <a:prstGeom prst="ellipse">
              <a:avLst/>
            </a:prstGeom>
            <a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Arrow: Left-Right 20">
              <a:extLst>
                <a:ext uri="{FF2B5EF4-FFF2-40B4-BE49-F238E27FC236}">
                  <a16:creationId xmlns:a16="http://schemas.microsoft.com/office/drawing/2014/main" id="{F722D9DF-AE8A-A0BB-CE7C-A46480867D56}"/>
                </a:ext>
              </a:extLst>
            </p:cNvPr>
            <p:cNvSpPr/>
            <p:nvPr/>
          </p:nvSpPr>
          <p:spPr>
            <a:xfrm>
              <a:off x="3417369" y="2208839"/>
              <a:ext cx="4888081" cy="175062"/>
            </a:xfrm>
            <a:prstGeom prst="leftRightArrow">
              <a:avLst/>
            </a:prstGeom>
            <a:solidFill>
              <a:schemeClr val="accent1">
                <a:tint val="60000"/>
                <a:hueOff val="0"/>
                <a:satOff val="0"/>
                <a:lumOff val="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Arrow: Bent 21">
            <a:extLst>
              <a:ext uri="{FF2B5EF4-FFF2-40B4-BE49-F238E27FC236}">
                <a16:creationId xmlns:a16="http://schemas.microsoft.com/office/drawing/2014/main" id="{86401158-CA67-8A1A-9476-0E78515ADEA9}"/>
              </a:ext>
            </a:extLst>
          </p:cNvPr>
          <p:cNvSpPr/>
          <p:nvPr/>
        </p:nvSpPr>
        <p:spPr>
          <a:xfrm rot="16200000" flipH="1">
            <a:off x="1809201" y="876713"/>
            <a:ext cx="1680646" cy="1709428"/>
          </a:xfrm>
          <a:prstGeom prst="bentArrow">
            <a:avLst>
              <a:gd name="adj1" fmla="val 12304"/>
              <a:gd name="adj2" fmla="val 20298"/>
              <a:gd name="adj3" fmla="val 25000"/>
              <a:gd name="adj4" fmla="val 42658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9DE4C6-5EC4-74EB-5C19-C12077198393}"/>
              </a:ext>
            </a:extLst>
          </p:cNvPr>
          <p:cNvSpPr txBox="1"/>
          <p:nvPr/>
        </p:nvSpPr>
        <p:spPr>
          <a:xfrm rot="16200000">
            <a:off x="1868820" y="1843390"/>
            <a:ext cx="561052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b="1" i="0">
                <a:solidFill>
                  <a:schemeClr val="tx2"/>
                </a:solidFill>
                <a:latin typeface="BentonSans Light" panose="02000503000000020004" pitchFamily="2" charset="0"/>
              </a:rPr>
              <a:t>Vendor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C20712-DA87-7ADE-FC72-3A00988CF03A}"/>
              </a:ext>
            </a:extLst>
          </p:cNvPr>
          <p:cNvSpPr txBox="1"/>
          <p:nvPr/>
        </p:nvSpPr>
        <p:spPr>
          <a:xfrm>
            <a:off x="2673421" y="900200"/>
            <a:ext cx="802501" cy="2058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b="1" i="0">
                <a:solidFill>
                  <a:schemeClr val="tx2"/>
                </a:solidFill>
                <a:latin typeface="BentonSans Light" panose="02000503000000020004" pitchFamily="2" charset="0"/>
              </a:rPr>
              <a:t>Evaluation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F76105-87B4-8CCE-1D6B-6C6C862D9812}"/>
              </a:ext>
            </a:extLst>
          </p:cNvPr>
          <p:cNvSpPr/>
          <p:nvPr/>
        </p:nvSpPr>
        <p:spPr>
          <a:xfrm>
            <a:off x="1032292" y="6063596"/>
            <a:ext cx="2733977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02AA78-5FC3-5F48-15A5-1617B22AEEBD}"/>
              </a:ext>
            </a:extLst>
          </p:cNvPr>
          <p:cNvSpPr txBox="1"/>
          <p:nvPr/>
        </p:nvSpPr>
        <p:spPr>
          <a:xfrm>
            <a:off x="3117300" y="3773818"/>
            <a:ext cx="297745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bg2"/>
                </a:solidFill>
                <a:latin typeface="BentonSans Light" panose="02000503000000020004" pitchFamily="2" charset="0"/>
              </a:defRPr>
            </a:lvl1pPr>
          </a:lstStyle>
          <a:p>
            <a:r>
              <a:rPr lang="en-US" sz="1000" b="0">
                <a:solidFill>
                  <a:schemeClr val="tx2"/>
                </a:solidFill>
                <a:latin typeface="+mn-lt"/>
              </a:rPr>
              <a:t>Identified top 2 vendors based on down select criteria and assigned weightage</a:t>
            </a:r>
            <a:r>
              <a:rPr lang="en-US" sz="1000" b="0" dirty="0">
                <a:solidFill>
                  <a:schemeClr val="tx2"/>
                </a:solidFill>
                <a:latin typeface="+mn-lt"/>
              </a:rPr>
              <a:t> </a:t>
            </a:r>
            <a:endParaRPr lang="en-US" sz="1000" b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F2AC4E-72A4-B2AA-CE7A-0BC1120B99DC}"/>
              </a:ext>
            </a:extLst>
          </p:cNvPr>
          <p:cNvSpPr txBox="1"/>
          <p:nvPr/>
        </p:nvSpPr>
        <p:spPr>
          <a:xfrm>
            <a:off x="2478498" y="4654301"/>
            <a:ext cx="188833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bg2"/>
                </a:solidFill>
                <a:latin typeface="BentonSans Light" panose="02000503000000020004" pitchFamily="2" charset="0"/>
              </a:defRPr>
            </a:lvl1pPr>
          </a:lstStyle>
          <a:p>
            <a:r>
              <a:rPr lang="en-US" sz="1000" b="0">
                <a:solidFill>
                  <a:schemeClr val="tx2"/>
                </a:solidFill>
                <a:latin typeface="+mn-lt"/>
              </a:rPr>
              <a:t>Final vendor selection complete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1AC05C-94B4-F9AA-779A-2ADA53218830}"/>
              </a:ext>
            </a:extLst>
          </p:cNvPr>
          <p:cNvSpPr/>
          <p:nvPr/>
        </p:nvSpPr>
        <p:spPr>
          <a:xfrm>
            <a:off x="1032292" y="5440652"/>
            <a:ext cx="2733977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473E79-BA93-E986-7FE3-0E027BF2A383}"/>
              </a:ext>
            </a:extLst>
          </p:cNvPr>
          <p:cNvSpPr txBox="1"/>
          <p:nvPr/>
        </p:nvSpPr>
        <p:spPr>
          <a:xfrm>
            <a:off x="3377909" y="3361206"/>
            <a:ext cx="204062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bg2"/>
                </a:solidFill>
                <a:latin typeface="BentonSans Light" panose="02000503000000020004" pitchFamily="2" charset="0"/>
              </a:defRPr>
            </a:lvl1pPr>
          </a:lstStyle>
          <a:p>
            <a:r>
              <a:rPr lang="en-US" sz="1000" b="0">
                <a:solidFill>
                  <a:schemeClr val="tx2"/>
                </a:solidFill>
                <a:latin typeface="+mn-lt"/>
              </a:rPr>
              <a:t>Shortlisted vendors for deep dives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6E5B34-B7B9-8E44-1FCF-96B5325B1005}"/>
              </a:ext>
            </a:extLst>
          </p:cNvPr>
          <p:cNvSpPr txBox="1"/>
          <p:nvPr/>
        </p:nvSpPr>
        <p:spPr>
          <a:xfrm>
            <a:off x="2842299" y="4243925"/>
            <a:ext cx="14635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bg2"/>
                </a:solidFill>
                <a:latin typeface="BentonSans Light" panose="02000503000000020004" pitchFamily="2" charset="0"/>
              </a:defRPr>
            </a:lvl1pPr>
          </a:lstStyle>
          <a:p>
            <a:r>
              <a:rPr lang="en-US" sz="1000" b="0">
                <a:solidFill>
                  <a:schemeClr val="tx2"/>
                </a:solidFill>
                <a:latin typeface="+mn-lt"/>
              </a:rPr>
              <a:t>Top 2 vendors do a POC 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624123A-81A6-0E19-BBC3-F6F08B165D27}"/>
              </a:ext>
            </a:extLst>
          </p:cNvPr>
          <p:cNvGrpSpPr/>
          <p:nvPr/>
        </p:nvGrpSpPr>
        <p:grpSpPr>
          <a:xfrm>
            <a:off x="671959" y="2937504"/>
            <a:ext cx="2731119" cy="2358912"/>
            <a:chOff x="976650" y="3981990"/>
            <a:chExt cx="3001857" cy="257637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3213DD3-95E2-B5E9-97FD-1508BE69CCD5}"/>
                </a:ext>
              </a:extLst>
            </p:cNvPr>
            <p:cNvSpPr/>
            <p:nvPr/>
          </p:nvSpPr>
          <p:spPr>
            <a:xfrm>
              <a:off x="976650" y="4339841"/>
              <a:ext cx="3001857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A51B2DF-8188-9997-427D-47F417929D56}"/>
                </a:ext>
              </a:extLst>
            </p:cNvPr>
            <p:cNvSpPr txBox="1"/>
            <p:nvPr/>
          </p:nvSpPr>
          <p:spPr>
            <a:xfrm>
              <a:off x="2106322" y="3981990"/>
              <a:ext cx="724557" cy="1615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50" b="1" i="0">
                  <a:solidFill>
                    <a:schemeClr val="bg1"/>
                  </a:solidFill>
                  <a:latin typeface="BentonSans Light" panose="02000503000000020004" pitchFamily="2" charset="0"/>
                </a:rPr>
                <a:t>15+ vendors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98A8FEA-F0B1-6F41-6420-6D8157B52FC3}"/>
                </a:ext>
              </a:extLst>
            </p:cNvPr>
            <p:cNvSpPr txBox="1"/>
            <p:nvPr/>
          </p:nvSpPr>
          <p:spPr>
            <a:xfrm>
              <a:off x="2158363" y="4502377"/>
              <a:ext cx="646011" cy="1615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50" b="1" i="0">
                  <a:solidFill>
                    <a:schemeClr val="bg1"/>
                  </a:solidFill>
                  <a:latin typeface="BentonSans Light" panose="02000503000000020004" pitchFamily="2" charset="0"/>
                </a:rPr>
                <a:t>  8 vendors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5B97DC4-C6EB-5764-DF15-0ADB6979D3AB}"/>
                </a:ext>
              </a:extLst>
            </p:cNvPr>
            <p:cNvSpPr txBox="1"/>
            <p:nvPr/>
          </p:nvSpPr>
          <p:spPr>
            <a:xfrm>
              <a:off x="2164966" y="5077754"/>
              <a:ext cx="791883" cy="1615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50" b="1" i="0">
                  <a:solidFill>
                    <a:schemeClr val="bg1"/>
                  </a:solidFill>
                  <a:latin typeface="BentonSans Light" panose="02000503000000020004" pitchFamily="2" charset="0"/>
                </a:rPr>
                <a:t>  2/3 vendors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C2E385B-3531-8285-7CDF-289CB6200059}"/>
                </a:ext>
              </a:extLst>
            </p:cNvPr>
            <p:cNvSpPr txBox="1"/>
            <p:nvPr/>
          </p:nvSpPr>
          <p:spPr>
            <a:xfrm>
              <a:off x="2187822" y="5656274"/>
              <a:ext cx="673261" cy="16158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50" b="1" i="0">
                  <a:solidFill>
                    <a:schemeClr val="bg1"/>
                  </a:solidFill>
                  <a:latin typeface="BentonSans Light" panose="02000503000000020004" pitchFamily="2" charset="0"/>
                </a:rPr>
                <a:t>  2  vendors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4E04286-A471-7845-6183-59B1F6F3F76B}"/>
                </a:ext>
              </a:extLst>
            </p:cNvPr>
            <p:cNvSpPr txBox="1"/>
            <p:nvPr/>
          </p:nvSpPr>
          <p:spPr>
            <a:xfrm>
              <a:off x="2504134" y="6235201"/>
              <a:ext cx="113814" cy="32316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50" b="1" i="0">
                  <a:solidFill>
                    <a:schemeClr val="bg1"/>
                  </a:solidFill>
                  <a:latin typeface="BentonSans Light" panose="02000503000000020004" pitchFamily="2" charset="0"/>
                </a:rPr>
                <a:t>  1</a:t>
              </a:r>
            </a:p>
            <a:p>
              <a:pPr algn="l"/>
              <a:r>
                <a:rPr lang="en-US" sz="1050" b="1" i="0">
                  <a:solidFill>
                    <a:schemeClr val="bg1"/>
                  </a:solidFill>
                  <a:latin typeface="BentonSans Light" panose="02000503000000020004" pitchFamily="2" charset="0"/>
                </a:rPr>
                <a:t> 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98FC7B2-9333-5A6C-5D8A-A6DFEB2EE5B4}"/>
              </a:ext>
            </a:extLst>
          </p:cNvPr>
          <p:cNvGrpSpPr/>
          <p:nvPr/>
        </p:nvGrpSpPr>
        <p:grpSpPr>
          <a:xfrm>
            <a:off x="874185" y="2785938"/>
            <a:ext cx="2701811" cy="2319862"/>
            <a:chOff x="917191" y="3903716"/>
            <a:chExt cx="3554308" cy="2898154"/>
          </a:xfrm>
        </p:grpSpPr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37F02227-354F-3769-6535-9223BA4872AD}"/>
                </a:ext>
              </a:extLst>
            </p:cNvPr>
            <p:cNvSpPr/>
            <p:nvPr/>
          </p:nvSpPr>
          <p:spPr>
            <a:xfrm rot="10800000">
              <a:off x="917191" y="3903716"/>
              <a:ext cx="3370943" cy="2898154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19E909A-884E-E770-021C-B683269F553A}"/>
                </a:ext>
              </a:extLst>
            </p:cNvPr>
            <p:cNvSpPr/>
            <p:nvPr/>
          </p:nvSpPr>
          <p:spPr>
            <a:xfrm>
              <a:off x="976650" y="4339841"/>
              <a:ext cx="3001857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4DD3289-9460-ED53-10E0-6B021D050BA2}"/>
                </a:ext>
              </a:extLst>
            </p:cNvPr>
            <p:cNvSpPr/>
            <p:nvPr/>
          </p:nvSpPr>
          <p:spPr>
            <a:xfrm>
              <a:off x="1032292" y="6063596"/>
              <a:ext cx="2733977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F5D3D76-986D-CA2C-57B8-6783F07CD4F8}"/>
                </a:ext>
              </a:extLst>
            </p:cNvPr>
            <p:cNvSpPr/>
            <p:nvPr/>
          </p:nvSpPr>
          <p:spPr>
            <a:xfrm>
              <a:off x="1074623" y="4883079"/>
              <a:ext cx="2733977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F115511-421D-9DB4-5F3B-8E28FE2BA4B4}"/>
                </a:ext>
              </a:extLst>
            </p:cNvPr>
            <p:cNvSpPr/>
            <p:nvPr/>
          </p:nvSpPr>
          <p:spPr>
            <a:xfrm>
              <a:off x="1032292" y="5440652"/>
              <a:ext cx="2733977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968A876-5B69-6D7D-CB44-1AFA768E25F2}"/>
                </a:ext>
              </a:extLst>
            </p:cNvPr>
            <p:cNvSpPr txBox="1"/>
            <p:nvPr/>
          </p:nvSpPr>
          <p:spPr>
            <a:xfrm>
              <a:off x="2106322" y="3981990"/>
              <a:ext cx="929980" cy="192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00" b="1" i="0">
                  <a:solidFill>
                    <a:schemeClr val="bg1"/>
                  </a:solidFill>
                </a:rPr>
                <a:t>15+ vendors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DC49CE8-B7B6-6B0C-8272-C0CEE46EE356}"/>
                </a:ext>
              </a:extLst>
            </p:cNvPr>
            <p:cNvSpPr txBox="1"/>
            <p:nvPr/>
          </p:nvSpPr>
          <p:spPr>
            <a:xfrm>
              <a:off x="2158363" y="4502377"/>
              <a:ext cx="797124" cy="192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00" b="1" i="0">
                  <a:solidFill>
                    <a:schemeClr val="bg1"/>
                  </a:solidFill>
                </a:rPr>
                <a:t> 6 vendors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9122C52-D315-2756-920A-9ED8385899E4}"/>
                </a:ext>
              </a:extLst>
            </p:cNvPr>
            <p:cNvSpPr txBox="1"/>
            <p:nvPr/>
          </p:nvSpPr>
          <p:spPr>
            <a:xfrm>
              <a:off x="2164965" y="5077756"/>
              <a:ext cx="828758" cy="19224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00" b="1" i="0">
                  <a:solidFill>
                    <a:schemeClr val="bg1"/>
                  </a:solidFill>
                </a:rPr>
                <a:t>  2 vendors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084B670-D7E9-8F78-0123-2C38D2D07BEF}"/>
                </a:ext>
              </a:extLst>
            </p:cNvPr>
            <p:cNvSpPr txBox="1"/>
            <p:nvPr/>
          </p:nvSpPr>
          <p:spPr>
            <a:xfrm>
              <a:off x="2495559" y="6226931"/>
              <a:ext cx="380889" cy="1922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000" b="1" i="0">
                  <a:solidFill>
                    <a:schemeClr val="bg1"/>
                  </a:solidFill>
                </a:rPr>
                <a:t> 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91A93F9-E0D8-3463-692D-B212550A4DBB}"/>
                </a:ext>
              </a:extLst>
            </p:cNvPr>
            <p:cNvSpPr txBox="1"/>
            <p:nvPr/>
          </p:nvSpPr>
          <p:spPr>
            <a:xfrm>
              <a:off x="2504133" y="6235201"/>
              <a:ext cx="75916" cy="384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1000" b="1" i="0">
                  <a:solidFill>
                    <a:schemeClr val="bg1"/>
                  </a:solidFill>
                </a:rPr>
                <a:t>  </a:t>
              </a:r>
            </a:p>
            <a:p>
              <a:pPr algn="l"/>
              <a:r>
                <a:rPr lang="en-US" sz="1000" b="1" i="0">
                  <a:solidFill>
                    <a:schemeClr val="bg1"/>
                  </a:solidFill>
                </a:rPr>
                <a:t> </a:t>
              </a:r>
            </a:p>
          </p:txBody>
        </p:sp>
        <p:pic>
          <p:nvPicPr>
            <p:cNvPr id="72" name="Picture 71" descr="A green check mark on a black background&#10;&#10;Description automatically generated">
              <a:extLst>
                <a:ext uri="{FF2B5EF4-FFF2-40B4-BE49-F238E27FC236}">
                  <a16:creationId xmlns:a16="http://schemas.microsoft.com/office/drawing/2014/main" id="{1C24E336-524A-E013-8055-FD1E778F1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6"/>
                </a:ext>
              </a:extLst>
            </a:blip>
            <a:stretch>
              <a:fillRect/>
            </a:stretch>
          </p:blipFill>
          <p:spPr>
            <a:xfrm>
              <a:off x="4155749" y="3991489"/>
              <a:ext cx="315750" cy="315751"/>
            </a:xfrm>
            <a:prstGeom prst="rect">
              <a:avLst/>
            </a:prstGeom>
          </p:spPr>
        </p:pic>
        <p:pic>
          <p:nvPicPr>
            <p:cNvPr id="73" name="Picture 72" descr="A green check mark on a black background&#10;&#10;Description automatically generated">
              <a:extLst>
                <a:ext uri="{FF2B5EF4-FFF2-40B4-BE49-F238E27FC236}">
                  <a16:creationId xmlns:a16="http://schemas.microsoft.com/office/drawing/2014/main" id="{E2BC0F9C-3A2E-964B-89B3-8FD643976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6"/>
                </a:ext>
              </a:extLst>
            </a:blip>
            <a:stretch>
              <a:fillRect/>
            </a:stretch>
          </p:blipFill>
          <p:spPr>
            <a:xfrm>
              <a:off x="3881498" y="4522841"/>
              <a:ext cx="315750" cy="315751"/>
            </a:xfrm>
            <a:prstGeom prst="rect">
              <a:avLst/>
            </a:prstGeom>
          </p:spPr>
        </p:pic>
      </p:grpSp>
      <p:pic>
        <p:nvPicPr>
          <p:cNvPr id="74" name="Picture 73" descr="A green check mark on a black background&#10;&#10;Description automatically generated">
            <a:extLst>
              <a:ext uri="{FF2B5EF4-FFF2-40B4-BE49-F238E27FC236}">
                <a16:creationId xmlns:a16="http://schemas.microsoft.com/office/drawing/2014/main" id="{94266773-66B3-4381-7E83-F4347F28956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2858140" y="3718185"/>
            <a:ext cx="240018" cy="252747"/>
          </a:xfrm>
          <a:prstGeom prst="rect">
            <a:avLst/>
          </a:prstGeom>
        </p:spPr>
      </p:pic>
      <p:pic>
        <p:nvPicPr>
          <p:cNvPr id="75" name="Picture 74" descr="A green check mark on a black background&#10;&#10;Description automatically generated">
            <a:extLst>
              <a:ext uri="{FF2B5EF4-FFF2-40B4-BE49-F238E27FC236}">
                <a16:creationId xmlns:a16="http://schemas.microsoft.com/office/drawing/2014/main" id="{C5A234C6-CB53-86A9-3700-89DC74B7D0F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2608455" y="4167946"/>
            <a:ext cx="240018" cy="25274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F044BAF-BA2D-CD0E-D703-DF196B5771F9}"/>
              </a:ext>
            </a:extLst>
          </p:cNvPr>
          <p:cNvSpPr/>
          <p:nvPr/>
        </p:nvSpPr>
        <p:spPr>
          <a:xfrm>
            <a:off x="568788" y="3275826"/>
            <a:ext cx="734902" cy="19312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sz="800">
                <a:solidFill>
                  <a:schemeClr val="tx2"/>
                </a:solidFill>
                <a:latin typeface="BentonSans Regular "/>
              </a:rPr>
              <a:t>Mar 2024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9C1ACBB-2A6B-F0F3-1CDF-28C0C34C01B5}"/>
              </a:ext>
            </a:extLst>
          </p:cNvPr>
          <p:cNvSpPr/>
          <p:nvPr/>
        </p:nvSpPr>
        <p:spPr>
          <a:xfrm>
            <a:off x="874185" y="3732398"/>
            <a:ext cx="734902" cy="19312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800">
                <a:solidFill>
                  <a:schemeClr val="tx2"/>
                </a:solidFill>
                <a:latin typeface="BentonSans Regular "/>
              </a:rPr>
              <a:t>Apr 2024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E73DE9-1B14-1E18-7C3B-B15FEEB958B6}"/>
              </a:ext>
            </a:extLst>
          </p:cNvPr>
          <p:cNvSpPr/>
          <p:nvPr/>
        </p:nvSpPr>
        <p:spPr>
          <a:xfrm>
            <a:off x="1047315" y="4190980"/>
            <a:ext cx="734902" cy="19312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800">
                <a:solidFill>
                  <a:schemeClr val="tx2"/>
                </a:solidFill>
                <a:latin typeface="BentonSans Regular "/>
              </a:rPr>
              <a:t>July 2024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CE8C69-3332-315A-301D-6A05E7964258}"/>
              </a:ext>
            </a:extLst>
          </p:cNvPr>
          <p:cNvSpPr/>
          <p:nvPr/>
        </p:nvSpPr>
        <p:spPr>
          <a:xfrm>
            <a:off x="1330476" y="4642054"/>
            <a:ext cx="857472" cy="19312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800">
                <a:solidFill>
                  <a:schemeClr val="tx2"/>
                </a:solidFill>
                <a:latin typeface="BentonSans Regular "/>
              </a:rPr>
              <a:t>Aug 2024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F9710F1-73CA-8D27-C026-6ED3CD639BDA}"/>
              </a:ext>
            </a:extLst>
          </p:cNvPr>
          <p:cNvSpPr/>
          <p:nvPr/>
        </p:nvSpPr>
        <p:spPr>
          <a:xfrm>
            <a:off x="329184" y="2722329"/>
            <a:ext cx="5748793" cy="242117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B65CBD-588C-E02E-4FAF-278B1FDECA27}"/>
              </a:ext>
            </a:extLst>
          </p:cNvPr>
          <p:cNvSpPr txBox="1"/>
          <p:nvPr/>
        </p:nvSpPr>
        <p:spPr>
          <a:xfrm>
            <a:off x="3612876" y="2888817"/>
            <a:ext cx="25129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</a:rPr>
              <a:t>Research on Vendors providing CDD platforms and services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991F54A-ABD5-274D-06F1-18F1AA527EB4}"/>
              </a:ext>
            </a:extLst>
          </p:cNvPr>
          <p:cNvSpPr txBox="1"/>
          <p:nvPr/>
        </p:nvSpPr>
        <p:spPr>
          <a:xfrm>
            <a:off x="6864385" y="2856197"/>
            <a:ext cx="1593385" cy="2077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b="1" u="sng">
                <a:solidFill>
                  <a:schemeClr val="tx2"/>
                </a:solidFill>
              </a:rPr>
              <a:t>Down select criteria</a:t>
            </a:r>
            <a:endParaRPr lang="en-US" b="1" i="0" u="sng">
              <a:solidFill>
                <a:schemeClr val="tx2"/>
              </a:solidFill>
              <a:latin typeface="BentonSans Light" panose="02000503000000020004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E9D6B69-0B02-19FF-3FB5-0BAB4768FB5C}"/>
              </a:ext>
            </a:extLst>
          </p:cNvPr>
          <p:cNvGrpSpPr/>
          <p:nvPr/>
        </p:nvGrpSpPr>
        <p:grpSpPr>
          <a:xfrm>
            <a:off x="6357118" y="2731931"/>
            <a:ext cx="6134544" cy="1659960"/>
            <a:chOff x="6357118" y="2731931"/>
            <a:chExt cx="6134544" cy="1659960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991F039-D16F-0EBC-458C-6B4D2A3E81D2}"/>
                </a:ext>
              </a:extLst>
            </p:cNvPr>
            <p:cNvSpPr txBox="1"/>
            <p:nvPr/>
          </p:nvSpPr>
          <p:spPr>
            <a:xfrm>
              <a:off x="6373892" y="3153337"/>
              <a:ext cx="611777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sz="1000">
                  <a:solidFill>
                    <a:schemeClr val="tx2"/>
                  </a:solidFill>
                </a:rPr>
                <a:t>Fit with Requirements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000">
                  <a:solidFill>
                    <a:schemeClr val="tx2"/>
                  </a:solidFill>
                </a:rPr>
                <a:t>Reputation, Experience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000">
                  <a:solidFill>
                    <a:schemeClr val="tx2"/>
                  </a:solidFill>
                </a:rPr>
                <a:t>Scalability &amp; Flexibility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000">
                  <a:solidFill>
                    <a:schemeClr val="tx2"/>
                  </a:solidFill>
                </a:rPr>
                <a:t>Security &amp; Compliance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000">
                  <a:solidFill>
                    <a:schemeClr val="tx2"/>
                  </a:solidFill>
                </a:rPr>
                <a:t>Integration Capabilities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000">
                  <a:solidFill>
                    <a:schemeClr val="tx2"/>
                  </a:solidFill>
                </a:rPr>
                <a:t>Support &amp; SLAs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3CBAA63-5FB0-7D48-37BA-239F7837D9CC}"/>
                </a:ext>
              </a:extLst>
            </p:cNvPr>
            <p:cNvSpPr/>
            <p:nvPr/>
          </p:nvSpPr>
          <p:spPr>
            <a:xfrm>
              <a:off x="6357118" y="2731931"/>
              <a:ext cx="2391533" cy="165996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2AE2814-EB23-1AA0-3D9B-D1FDD2CC44CA}"/>
              </a:ext>
            </a:extLst>
          </p:cNvPr>
          <p:cNvSpPr txBox="1"/>
          <p:nvPr/>
        </p:nvSpPr>
        <p:spPr>
          <a:xfrm>
            <a:off x="1840057" y="4188794"/>
            <a:ext cx="658835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</a:rPr>
              <a:t>  2  vendors</a:t>
            </a: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211D6D54-C896-7166-C39D-D4707A143C4D}"/>
              </a:ext>
            </a:extLst>
          </p:cNvPr>
          <p:cNvSpPr txBox="1">
            <a:spLocks/>
          </p:cNvSpPr>
          <p:nvPr/>
        </p:nvSpPr>
        <p:spPr>
          <a:xfrm>
            <a:off x="8735304" y="4943874"/>
            <a:ext cx="457200" cy="2298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8FE1D80-0B15-46BA-B7F8-B6C93A045F20}" type="slidenum">
              <a:rPr lang="en-US" sz="1000">
                <a:solidFill>
                  <a:srgbClr val="006FCF"/>
                </a:solidFill>
              </a:rPr>
              <a:pPr algn="r"/>
              <a:t>3</a:t>
            </a:fld>
            <a:endParaRPr lang="en-US" sz="100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863786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C9F1-ABDE-B8FF-22A3-11861368E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019" y="141788"/>
            <a:ext cx="7665392" cy="590621"/>
          </a:xfrm>
        </p:spPr>
        <p:txBody>
          <a:bodyPr/>
          <a:lstStyle/>
          <a:p>
            <a:r>
              <a:rPr lang="en-US" dirty="0"/>
              <a:t>Vendors evaluated for CDD platform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1351FB-A521-4984-4F95-4C5E77A38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4F112B-C1B1-E343-D1BC-CF3C00A19F34}"/>
              </a:ext>
            </a:extLst>
          </p:cNvPr>
          <p:cNvSpPr txBox="1"/>
          <p:nvPr/>
        </p:nvSpPr>
        <p:spPr>
          <a:xfrm>
            <a:off x="1167619" y="3347265"/>
            <a:ext cx="7976381" cy="17947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u="sng" dirty="0"/>
              <a:t>Down select criteria for the evaluation were as follows : 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050" dirty="0"/>
              <a:t>Reputation &amp; Experience 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050" dirty="0"/>
              <a:t>Fit with Requirements 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050" dirty="0"/>
              <a:t>Scalability &amp; Flexibility 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050" dirty="0"/>
              <a:t>Security &amp; Compliance 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050" dirty="0"/>
              <a:t>Integration Capabilities 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n-US" sz="1050" dirty="0"/>
              <a:t> Support &amp; SLAs</a:t>
            </a:r>
          </a:p>
          <a:p>
            <a:pPr algn="l"/>
            <a:endParaRPr lang="en-US" sz="1013" dirty="0">
              <a:solidFill>
                <a:schemeClr val="accent3"/>
              </a:solidFill>
              <a:latin typeface="BentonSans Light" panose="02000503000000020004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5459F8-C73E-2631-C689-AE4C8CC98A0F}"/>
              </a:ext>
            </a:extLst>
          </p:cNvPr>
          <p:cNvGrpSpPr/>
          <p:nvPr/>
        </p:nvGrpSpPr>
        <p:grpSpPr>
          <a:xfrm>
            <a:off x="1932188" y="705539"/>
            <a:ext cx="6074553" cy="2371145"/>
            <a:chOff x="1820714" y="805954"/>
            <a:chExt cx="9261331" cy="40312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83B03C-A1DB-0B37-B2A2-B5F2DA9EB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9671" y="889038"/>
              <a:ext cx="1709845" cy="103542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D1BC496-846A-39B3-D6F8-3D24B0A65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2523" y="805954"/>
              <a:ext cx="2538454" cy="1068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D00E3A4-17BF-C75F-5EF6-1B4ABAEA3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47146" y="889038"/>
              <a:ext cx="1891440" cy="9648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0A07905-847E-0355-AF94-AE1070D9A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20714" y="2709224"/>
              <a:ext cx="1870143" cy="89217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6DBA97-D3D3-8D03-4DDD-3267BED97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70977" y="2490645"/>
              <a:ext cx="3311068" cy="88372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E8A36A7-BA25-8909-03A4-2F7716237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70347" y="3768575"/>
              <a:ext cx="2900630" cy="106865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87D3939-9DB2-45F3-7685-1C287DCC3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89219" y="2702132"/>
              <a:ext cx="1870143" cy="62338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5F4B412-F3F5-CB15-5A66-E2D3277FFD35}"/>
              </a:ext>
            </a:extLst>
          </p:cNvPr>
          <p:cNvSpPr/>
          <p:nvPr/>
        </p:nvSpPr>
        <p:spPr>
          <a:xfrm>
            <a:off x="1085977" y="514351"/>
            <a:ext cx="7709966" cy="265946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920699649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79308" y="72055"/>
            <a:ext cx="8333137" cy="590621"/>
          </a:xfrm>
        </p:spPr>
        <p:txBody>
          <a:bodyPr/>
          <a:lstStyle/>
          <a:p>
            <a:r>
              <a:rPr lang="en-US" dirty="0"/>
              <a:t>CDD Vendor Evaluation : Comparison of Top 3 Vendors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FD810-5C60-20B2-2160-0BEC9D45B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FBC70DB-690F-532E-16C6-BDF0F6DD555E}"/>
              </a:ext>
            </a:extLst>
          </p:cNvPr>
          <p:cNvGrpSpPr/>
          <p:nvPr/>
        </p:nvGrpSpPr>
        <p:grpSpPr>
          <a:xfrm>
            <a:off x="719759" y="592392"/>
            <a:ext cx="8492686" cy="2635564"/>
            <a:chOff x="157670" y="910768"/>
            <a:chExt cx="11891000" cy="3647437"/>
          </a:xfrm>
        </p:grpSpPr>
        <p:sp>
          <p:nvSpPr>
            <p:cNvPr id="35" name="Rounded Rectangle 15">
              <a:extLst>
                <a:ext uri="{FF2B5EF4-FFF2-40B4-BE49-F238E27FC236}">
                  <a16:creationId xmlns:a16="http://schemas.microsoft.com/office/drawing/2014/main" id="{227281B7-D84B-0A6C-9DA9-3FCA63504419}"/>
                </a:ext>
              </a:extLst>
            </p:cNvPr>
            <p:cNvSpPr/>
            <p:nvPr/>
          </p:nvSpPr>
          <p:spPr>
            <a:xfrm>
              <a:off x="171662" y="910768"/>
              <a:ext cx="3744297" cy="3325953"/>
            </a:xfrm>
            <a:prstGeom prst="roundRect">
              <a:avLst>
                <a:gd name="adj" fmla="val 1241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4472C4">
                  <a:alpha val="89000"/>
                </a:srgbClr>
              </a:solidFill>
              <a:prstDash val="solid"/>
              <a:miter lim="800000"/>
            </a:ln>
            <a:effectLst>
              <a:outerShdw blurRad="50800" dir="5400000" algn="ctr" rotWithShape="0">
                <a:srgbClr val="00000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12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38969D1-186D-8600-0416-107E958A52BB}"/>
                </a:ext>
              </a:extLst>
            </p:cNvPr>
            <p:cNvSpPr/>
            <p:nvPr/>
          </p:nvSpPr>
          <p:spPr>
            <a:xfrm>
              <a:off x="2497748" y="2018776"/>
              <a:ext cx="1516060" cy="22597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54000" rIns="54000" bIns="54000" anchor="t" anchorCtr="0">
              <a:noAutofit/>
            </a:bodyPr>
            <a:lstStyle/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Industry Leader in Risk Category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Forrester/Gartner leader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Configurable &amp; Scalable system matching all requirements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Volume supports largest global banks</a:t>
              </a:r>
            </a:p>
            <a:p>
              <a:pPr marL="0" lvl="1" defTabSz="342900">
                <a:spcBef>
                  <a:spcPts val="525"/>
                </a:spcBef>
                <a:buSzPct val="100000"/>
              </a:pPr>
              <a:endParaRPr lang="de-DE" sz="825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37" name="Rounded Rectangle 15">
              <a:extLst>
                <a:ext uri="{FF2B5EF4-FFF2-40B4-BE49-F238E27FC236}">
                  <a16:creationId xmlns:a16="http://schemas.microsoft.com/office/drawing/2014/main" id="{1C0904B0-D932-1A77-0292-E0991CF606BF}"/>
                </a:ext>
              </a:extLst>
            </p:cNvPr>
            <p:cNvSpPr/>
            <p:nvPr/>
          </p:nvSpPr>
          <p:spPr>
            <a:xfrm>
              <a:off x="3984466" y="916502"/>
              <a:ext cx="3860006" cy="3320219"/>
            </a:xfrm>
            <a:prstGeom prst="roundRect">
              <a:avLst>
                <a:gd name="adj" fmla="val 1241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4472C4">
                  <a:alpha val="89000"/>
                </a:srgbClr>
              </a:solidFill>
              <a:prstDash val="solid"/>
              <a:miter lim="800000"/>
            </a:ln>
            <a:effectLst>
              <a:outerShdw blurRad="50800" dir="5400000" algn="ctr" rotWithShape="0">
                <a:srgbClr val="00000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12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7FF8CF0-C685-D350-3F9A-91BF068E940F}"/>
                </a:ext>
              </a:extLst>
            </p:cNvPr>
            <p:cNvSpPr/>
            <p:nvPr/>
          </p:nvSpPr>
          <p:spPr>
            <a:xfrm>
              <a:off x="4224663" y="3487140"/>
              <a:ext cx="3301034" cy="10710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54000" rIns="54000" bIns="54000" anchor="t" anchorCtr="0">
              <a:noAutofit/>
            </a:bodyPr>
            <a:lstStyle/>
            <a:p>
              <a:pPr marL="0" lvl="1" defTabSz="342900">
                <a:spcBef>
                  <a:spcPts val="525"/>
                </a:spcBef>
                <a:buSzPct val="100000"/>
              </a:pPr>
              <a:endParaRPr lang="de-DE" sz="1200" dirty="0">
                <a:solidFill>
                  <a:prstClr val="black"/>
                </a:solidFill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B5131AA0-3839-E573-0E4A-50B0C70CB04E}"/>
                </a:ext>
              </a:extLst>
            </p:cNvPr>
            <p:cNvSpPr/>
            <p:nvPr/>
          </p:nvSpPr>
          <p:spPr>
            <a:xfrm>
              <a:off x="7912980" y="910768"/>
              <a:ext cx="4039859" cy="3320219"/>
            </a:xfrm>
            <a:prstGeom prst="roundRect">
              <a:avLst>
                <a:gd name="adj" fmla="val 1241"/>
              </a:avLst>
            </a:prstGeom>
            <a:solidFill>
              <a:sysClr val="window" lastClr="FFFFFF"/>
            </a:solidFill>
            <a:ln w="22225" cap="flat" cmpd="sng" algn="ctr">
              <a:solidFill>
                <a:srgbClr val="4472C4">
                  <a:alpha val="89000"/>
                </a:srgbClr>
              </a:solidFill>
              <a:prstDash val="solid"/>
              <a:miter lim="800000"/>
            </a:ln>
            <a:effectLst>
              <a:outerShdw blurRad="50800" dir="5400000" algn="ctr" rotWithShape="0">
                <a:srgbClr val="00000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1200" kern="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8CC8F3A-3377-AA4B-5D85-0FFF5B868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869" y="920420"/>
              <a:ext cx="916607" cy="5486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C4032E8F-5E74-3BAC-FBDA-6FAA65641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81846" y="968299"/>
              <a:ext cx="1500842" cy="471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01FC7FE-2549-8916-A31A-637C90652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21927" y="935268"/>
              <a:ext cx="1001253" cy="504812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7A25C73-E981-EE94-16F0-5E4D7F50AE8B}"/>
                </a:ext>
              </a:extLst>
            </p:cNvPr>
            <p:cNvGrpSpPr/>
            <p:nvPr/>
          </p:nvGrpSpPr>
          <p:grpSpPr>
            <a:xfrm>
              <a:off x="5634506" y="961218"/>
              <a:ext cx="1146482" cy="1124714"/>
              <a:chOff x="6356291" y="940381"/>
              <a:chExt cx="1280160" cy="1097280"/>
            </a:xfrm>
          </p:grpSpPr>
          <p:sp>
            <p:nvSpPr>
              <p:cNvPr id="44" name="Pie 21">
                <a:extLst>
                  <a:ext uri="{FF2B5EF4-FFF2-40B4-BE49-F238E27FC236}">
                    <a16:creationId xmlns:a16="http://schemas.microsoft.com/office/drawing/2014/main" id="{EBD51D23-87D3-0CB4-9993-9A7DB4F20E37}"/>
                  </a:ext>
                </a:extLst>
              </p:cNvPr>
              <p:cNvSpPr/>
              <p:nvPr/>
            </p:nvSpPr>
            <p:spPr>
              <a:xfrm>
                <a:off x="6356291" y="940381"/>
                <a:ext cx="1280160" cy="1097280"/>
              </a:xfrm>
              <a:prstGeom prst="pie">
                <a:avLst>
                  <a:gd name="adj1" fmla="val 16113913"/>
                  <a:gd name="adj2" fmla="val 14108104"/>
                </a:avLst>
              </a:prstGeom>
              <a:solidFill>
                <a:srgbClr val="007CC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1200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DF2E543-65F4-14ED-3CFB-9E919800D008}"/>
                  </a:ext>
                </a:extLst>
              </p:cNvPr>
              <p:cNvSpPr/>
              <p:nvPr/>
            </p:nvSpPr>
            <p:spPr>
              <a:xfrm>
                <a:off x="6503473" y="1058520"/>
                <a:ext cx="993535" cy="881950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r="5400000" algn="ctr" rotWithShape="0">
                  <a:sysClr val="windowText" lastClr="000000">
                    <a:alpha val="33000"/>
                  </a:sys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1200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3A6BC20-EFB5-0D81-2127-630D1DE15F6B}"/>
                  </a:ext>
                </a:extLst>
              </p:cNvPr>
              <p:cNvSpPr txBox="1"/>
              <p:nvPr/>
            </p:nvSpPr>
            <p:spPr>
              <a:xfrm>
                <a:off x="6499602" y="1304355"/>
                <a:ext cx="922785" cy="373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US" sz="1800" b="1" kern="0" dirty="0">
                    <a:solidFill>
                      <a:srgbClr val="007CC2"/>
                    </a:solidFill>
                    <a:latin typeface="Calibri" panose="020F0502020204030204"/>
                  </a:rPr>
                  <a:t>8.93</a:t>
                </a:r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062EF0E-4606-0257-8487-8275913F2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64556" y="2130915"/>
              <a:ext cx="1341477" cy="1124714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0870121-7632-4AAC-DD82-E8CEFF95F12A}"/>
                </a:ext>
              </a:extLst>
            </p:cNvPr>
            <p:cNvGrpSpPr/>
            <p:nvPr/>
          </p:nvGrpSpPr>
          <p:grpSpPr>
            <a:xfrm>
              <a:off x="9374698" y="962395"/>
              <a:ext cx="1146482" cy="1124714"/>
              <a:chOff x="10213927" y="952327"/>
              <a:chExt cx="1280160" cy="1097280"/>
            </a:xfrm>
          </p:grpSpPr>
          <p:sp>
            <p:nvSpPr>
              <p:cNvPr id="49" name="Pie 21">
                <a:extLst>
                  <a:ext uri="{FF2B5EF4-FFF2-40B4-BE49-F238E27FC236}">
                    <a16:creationId xmlns:a16="http://schemas.microsoft.com/office/drawing/2014/main" id="{BAD01283-52FD-95C8-11B1-786D45EC86F7}"/>
                  </a:ext>
                </a:extLst>
              </p:cNvPr>
              <p:cNvSpPr/>
              <p:nvPr/>
            </p:nvSpPr>
            <p:spPr>
              <a:xfrm>
                <a:off x="10213927" y="952327"/>
                <a:ext cx="1280160" cy="1097280"/>
              </a:xfrm>
              <a:prstGeom prst="pie">
                <a:avLst>
                  <a:gd name="adj1" fmla="val 16113913"/>
                  <a:gd name="adj2" fmla="val 13377516"/>
                </a:avLst>
              </a:prstGeom>
              <a:solidFill>
                <a:srgbClr val="007CC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1200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B7B35B8-A126-6C1A-7DE3-88B44A8582D8}"/>
                  </a:ext>
                </a:extLst>
              </p:cNvPr>
              <p:cNvSpPr/>
              <p:nvPr/>
            </p:nvSpPr>
            <p:spPr>
              <a:xfrm>
                <a:off x="10359580" y="1055540"/>
                <a:ext cx="993535" cy="881950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r="5400000" algn="ctr" rotWithShape="0">
                  <a:sysClr val="windowText" lastClr="000000">
                    <a:alpha val="33000"/>
                  </a:sys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1200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698DB65-B302-4BE0-4D98-27C4E77BA0B9}"/>
                  </a:ext>
                </a:extLst>
              </p:cNvPr>
              <p:cNvSpPr txBox="1"/>
              <p:nvPr/>
            </p:nvSpPr>
            <p:spPr>
              <a:xfrm>
                <a:off x="10355710" y="1301374"/>
                <a:ext cx="922785" cy="373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US" sz="1800" b="1" kern="0" dirty="0">
                    <a:solidFill>
                      <a:srgbClr val="007CC2"/>
                    </a:solidFill>
                    <a:latin typeface="Calibri" panose="020F0502020204030204"/>
                  </a:rPr>
                  <a:t>8.8</a:t>
                </a: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E865089-12E5-27C3-9315-9F0BD4652BD2}"/>
                </a:ext>
              </a:extLst>
            </p:cNvPr>
            <p:cNvSpPr txBox="1"/>
            <p:nvPr/>
          </p:nvSpPr>
          <p:spPr>
            <a:xfrm>
              <a:off x="157670" y="1907783"/>
              <a:ext cx="1257914" cy="870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C00000"/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Comparatively Expensive Integration</a:t>
              </a:r>
            </a:p>
            <a:p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396BF57-05C2-D91A-E70C-EF9074B22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67014" y="2163161"/>
              <a:ext cx="1341477" cy="1124714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E5654FA-9920-B07A-4958-1C7BFB8DDA57}"/>
                </a:ext>
              </a:extLst>
            </p:cNvPr>
            <p:cNvSpPr txBox="1"/>
            <p:nvPr/>
          </p:nvSpPr>
          <p:spPr>
            <a:xfrm>
              <a:off x="7934975" y="1624990"/>
              <a:ext cx="1425731" cy="2453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C00000"/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Hierarchy scoring and risk scoring using transaction parameters not out of box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C00000"/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Generally  complex API‘s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C00000"/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 Seemingly difficult to collaborate with</a:t>
              </a:r>
            </a:p>
            <a:p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265913C-17AB-AE3A-046B-D9FF24817B41}"/>
                </a:ext>
              </a:extLst>
            </p:cNvPr>
            <p:cNvGrpSpPr/>
            <p:nvPr/>
          </p:nvGrpSpPr>
          <p:grpSpPr>
            <a:xfrm>
              <a:off x="1408655" y="954729"/>
              <a:ext cx="1146482" cy="1124714"/>
              <a:chOff x="2763966" y="986761"/>
              <a:chExt cx="1280160" cy="1097280"/>
            </a:xfrm>
          </p:grpSpPr>
          <p:sp>
            <p:nvSpPr>
              <p:cNvPr id="56" name="Pie 21">
                <a:extLst>
                  <a:ext uri="{FF2B5EF4-FFF2-40B4-BE49-F238E27FC236}">
                    <a16:creationId xmlns:a16="http://schemas.microsoft.com/office/drawing/2014/main" id="{560F31BE-8858-9B1A-52D4-7773F853EA72}"/>
                  </a:ext>
                </a:extLst>
              </p:cNvPr>
              <p:cNvSpPr/>
              <p:nvPr/>
            </p:nvSpPr>
            <p:spPr>
              <a:xfrm>
                <a:off x="2763966" y="986761"/>
                <a:ext cx="1280160" cy="1097280"/>
              </a:xfrm>
              <a:prstGeom prst="pie">
                <a:avLst>
                  <a:gd name="adj1" fmla="val 16113913"/>
                  <a:gd name="adj2" fmla="val 14952777"/>
                </a:avLst>
              </a:prstGeom>
              <a:solidFill>
                <a:srgbClr val="007CC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1200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EBC21DA3-6880-897E-DF63-53F34306AD34}"/>
                  </a:ext>
                </a:extLst>
              </p:cNvPr>
              <p:cNvSpPr/>
              <p:nvPr/>
            </p:nvSpPr>
            <p:spPr>
              <a:xfrm>
                <a:off x="2911147" y="1104900"/>
                <a:ext cx="993535" cy="881950"/>
              </a:xfrm>
              <a:prstGeom prst="ellipse">
                <a:avLst/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r="5400000" algn="ctr" rotWithShape="0">
                  <a:sysClr val="windowText" lastClr="000000">
                    <a:alpha val="33000"/>
                  </a:sys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en-US" sz="1200" kern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1C46CD3-3C79-9B60-D257-80357C56BF52}"/>
                  </a:ext>
                </a:extLst>
              </p:cNvPr>
              <p:cNvSpPr txBox="1"/>
              <p:nvPr/>
            </p:nvSpPr>
            <p:spPr>
              <a:xfrm>
                <a:off x="2907277" y="1350735"/>
                <a:ext cx="922785" cy="373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US" sz="1800" b="1" kern="0" dirty="0">
                    <a:solidFill>
                      <a:srgbClr val="007CC2"/>
                    </a:solidFill>
                    <a:latin typeface="Calibri" panose="020F0502020204030204"/>
                  </a:rPr>
                  <a:t>9.04</a:t>
                </a:r>
              </a:p>
            </p:txBody>
          </p:sp>
        </p:grp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E5E2965-8A8D-653E-3AA5-5DBC0C2F26AA}"/>
                </a:ext>
              </a:extLst>
            </p:cNvPr>
            <p:cNvSpPr/>
            <p:nvPr/>
          </p:nvSpPr>
          <p:spPr>
            <a:xfrm>
              <a:off x="10472573" y="2084989"/>
              <a:ext cx="1576097" cy="22597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54000" rIns="54000" bIns="54000" anchor="t" anchorCtr="0">
              <a:noAutofit/>
            </a:bodyPr>
            <a:lstStyle/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Very Large player in the Industry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Leader in AI/ML space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en-US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Configurable system – fits most requirements</a:t>
              </a: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A665F504-EB38-4406-2A63-E65F901D2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15203" y="2163161"/>
              <a:ext cx="1341477" cy="1124714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F27E02E-2559-5459-EBAE-CC94A8912C3F}"/>
                </a:ext>
              </a:extLst>
            </p:cNvPr>
            <p:cNvSpPr txBox="1"/>
            <p:nvPr/>
          </p:nvSpPr>
          <p:spPr>
            <a:xfrm>
              <a:off x="3903336" y="1720144"/>
              <a:ext cx="1392281" cy="2277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C00000"/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Smaller in size although CRR product taken over from market leader BAE-Solutions.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C00000"/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 Better design &amp; architecture demonstrated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C00000"/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 Simpler API‘s </a:t>
              </a:r>
            </a:p>
            <a:p>
              <a:endParaRPr lang="en-US" sz="1013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65E57E8-702D-A64E-DF58-01693CAB861D}"/>
                </a:ext>
              </a:extLst>
            </p:cNvPr>
            <p:cNvSpPr/>
            <p:nvPr/>
          </p:nvSpPr>
          <p:spPr>
            <a:xfrm>
              <a:off x="6297012" y="2084989"/>
              <a:ext cx="1516060" cy="22597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tIns="54000" rIns="54000" bIns="54000" anchor="t" anchorCtr="0">
              <a:noAutofit/>
            </a:bodyPr>
            <a:lstStyle/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Most Configurable and Scalable system of all 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Matches all our requirements</a:t>
              </a:r>
            </a:p>
            <a:p>
              <a:pPr marL="128588" lvl="1" indent="-128588" defTabSz="342900">
                <a:spcBef>
                  <a:spcPts val="525"/>
                </a:spcBef>
                <a:buSzPct val="100000"/>
                <a:buFont typeface="Arial" panose="020B0604020202020204" pitchFamily="34" charset="0"/>
                <a:buChar char="•"/>
              </a:pPr>
              <a:r>
                <a:rPr lang="de-DE" sz="825" dirty="0">
                  <a:solidFill>
                    <a:srgbClr val="70AD47">
                      <a:lumMod val="75000"/>
                    </a:srgbClr>
                  </a:solidFill>
                  <a:latin typeface="Calibri" panose="020F0502020204030204"/>
                  <a:cs typeface="Arial" panose="020B0604020202020204" pitchFamily="34" charset="0"/>
                  <a:sym typeface="Calibri"/>
                </a:rPr>
                <a:t>High volume supported – 100 mn customer batch in 2 hours; Online scoring in milisecs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D3799E1B-655C-393F-CFC1-437FCA31515D}"/>
              </a:ext>
            </a:extLst>
          </p:cNvPr>
          <p:cNvSpPr txBox="1"/>
          <p:nvPr/>
        </p:nvSpPr>
        <p:spPr>
          <a:xfrm>
            <a:off x="816657" y="3563927"/>
            <a:ext cx="8270193" cy="1520353"/>
          </a:xfrm>
          <a:prstGeom prst="rect">
            <a:avLst/>
          </a:prstGeom>
          <a:noFill/>
          <a:ln w="3175" cmpd="thickThin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 dirty="0"/>
              <a:t>Actimize is a </a:t>
            </a:r>
            <a:r>
              <a:rPr lang="en-US" sz="1050" b="1" dirty="0"/>
              <a:t>clear leader in terms of Reputation &amp; Experience </a:t>
            </a:r>
            <a:r>
              <a:rPr lang="en-US" sz="1050" dirty="0"/>
              <a:t>as they are a leader in the CDD/Financial Crimes, and industry leader per Forrester, Gartner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 dirty="0"/>
              <a:t>Both </a:t>
            </a:r>
            <a:r>
              <a:rPr lang="en-US" sz="1050" b="1" dirty="0"/>
              <a:t>Actimize </a:t>
            </a:r>
            <a:r>
              <a:rPr lang="en-US" sz="1050" dirty="0"/>
              <a:t>and </a:t>
            </a:r>
            <a:r>
              <a:rPr lang="en-US" sz="1050" b="1" dirty="0" err="1"/>
              <a:t>SymphonyAI</a:t>
            </a:r>
            <a:r>
              <a:rPr lang="en-US" sz="1050" b="1" dirty="0"/>
              <a:t> fit all or most of our Functional Requirements criteria 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 dirty="0"/>
              <a:t>SymphonyAI has the </a:t>
            </a:r>
            <a:r>
              <a:rPr lang="en-US" sz="1050" b="1" dirty="0"/>
              <a:t>most scalable and configurable system of all 3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 dirty="0"/>
              <a:t>All players are rated at par for: Security &amp; Compliance, Integration Capabilities, Support &amp; SLAs. 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 dirty="0"/>
              <a:t>Key differentiating factors are Reputation &amp; Experience, Fit with Requirements and Scalability &amp; Flexibility (refer next slide)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E56A98-CE81-8CDC-48C2-D0D057B8811E}"/>
              </a:ext>
            </a:extLst>
          </p:cNvPr>
          <p:cNvSpPr/>
          <p:nvPr/>
        </p:nvSpPr>
        <p:spPr>
          <a:xfrm>
            <a:off x="879308" y="3227955"/>
            <a:ext cx="8026003" cy="466794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defTabSz="339806" fontAlgn="base">
              <a:spcBef>
                <a:spcPts val="225"/>
              </a:spcBef>
              <a:spcAft>
                <a:spcPts val="225"/>
              </a:spcAft>
            </a:pPr>
            <a:r>
              <a:rPr lang="en-US" sz="1125" b="1" dirty="0">
                <a:solidFill>
                  <a:srgbClr val="002663"/>
                </a:solidFill>
                <a:latin typeface="Arial"/>
                <a:cs typeface="Arial"/>
              </a:rPr>
              <a:t>Some distinguishing Highlights </a:t>
            </a:r>
            <a:endParaRPr lang="en-US" sz="1125" b="1" dirty="0">
              <a:solidFill>
                <a:srgbClr val="002663"/>
              </a:solidFill>
              <a:latin typeface="Arial" charset="0"/>
              <a:cs typeface="Arial"/>
            </a:endParaRPr>
          </a:p>
          <a:p>
            <a:pPr marL="543401" lvl="1" indent="-200501" defTabSz="339806"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sz="1125" dirty="0">
              <a:solidFill>
                <a:srgbClr val="002663"/>
              </a:solidFill>
              <a:latin typeface="Arial" charset="0"/>
              <a:cs typeface="Arial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96C146C-3A3C-F331-6DBB-B667FAF13907}"/>
              </a:ext>
            </a:extLst>
          </p:cNvPr>
          <p:cNvSpPr/>
          <p:nvPr/>
        </p:nvSpPr>
        <p:spPr>
          <a:xfrm>
            <a:off x="609824" y="486010"/>
            <a:ext cx="256559" cy="306468"/>
          </a:xfrm>
          <a:prstGeom prst="ellipse">
            <a:avLst/>
          </a:prstGeom>
          <a:solidFill>
            <a:schemeClr val="accent4">
              <a:lumMod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D3CAE3A-C177-D464-9E39-B7CDDC67BC53}"/>
              </a:ext>
            </a:extLst>
          </p:cNvPr>
          <p:cNvSpPr/>
          <p:nvPr/>
        </p:nvSpPr>
        <p:spPr>
          <a:xfrm>
            <a:off x="3361574" y="442247"/>
            <a:ext cx="256559" cy="306468"/>
          </a:xfrm>
          <a:prstGeom prst="ellipse">
            <a:avLst/>
          </a:prstGeom>
          <a:solidFill>
            <a:schemeClr val="accent4">
              <a:lumMod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DBF65A-C7D2-0E15-90F0-C9E468448C39}"/>
              </a:ext>
            </a:extLst>
          </p:cNvPr>
          <p:cNvSpPr/>
          <p:nvPr/>
        </p:nvSpPr>
        <p:spPr>
          <a:xfrm>
            <a:off x="6202003" y="480786"/>
            <a:ext cx="256559" cy="306468"/>
          </a:xfrm>
          <a:prstGeom prst="ellipse">
            <a:avLst/>
          </a:prstGeom>
          <a:solidFill>
            <a:schemeClr val="accent4">
              <a:lumMod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2489304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66828" y="178294"/>
            <a:ext cx="8333137" cy="590621"/>
          </a:xfrm>
        </p:spPr>
        <p:txBody>
          <a:bodyPr/>
          <a:lstStyle/>
          <a:p>
            <a:r>
              <a:rPr lang="en-US" dirty="0"/>
              <a:t>Recommendations on Next Steps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FD810-5C60-20B2-2160-0BEC9D45B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96C146C-3A3C-F331-6DBB-B667FAF13907}"/>
              </a:ext>
            </a:extLst>
          </p:cNvPr>
          <p:cNvSpPr/>
          <p:nvPr/>
        </p:nvSpPr>
        <p:spPr>
          <a:xfrm>
            <a:off x="1124977" y="911349"/>
            <a:ext cx="256559" cy="306468"/>
          </a:xfrm>
          <a:prstGeom prst="ellipse">
            <a:avLst/>
          </a:prstGeom>
          <a:solidFill>
            <a:schemeClr val="accent4">
              <a:lumMod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D3CAE3A-C177-D464-9E39-B7CDDC67BC53}"/>
              </a:ext>
            </a:extLst>
          </p:cNvPr>
          <p:cNvSpPr/>
          <p:nvPr/>
        </p:nvSpPr>
        <p:spPr>
          <a:xfrm>
            <a:off x="1124977" y="2298735"/>
            <a:ext cx="256559" cy="306468"/>
          </a:xfrm>
          <a:prstGeom prst="ellipse">
            <a:avLst/>
          </a:prstGeom>
          <a:solidFill>
            <a:schemeClr val="accent4">
              <a:lumMod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DBF65A-C7D2-0E15-90F0-C9E468448C39}"/>
              </a:ext>
            </a:extLst>
          </p:cNvPr>
          <p:cNvSpPr/>
          <p:nvPr/>
        </p:nvSpPr>
        <p:spPr>
          <a:xfrm>
            <a:off x="1124977" y="3763625"/>
            <a:ext cx="256559" cy="306468"/>
          </a:xfrm>
          <a:prstGeom prst="ellipse">
            <a:avLst/>
          </a:prstGeom>
          <a:solidFill>
            <a:schemeClr val="accent4">
              <a:lumMod val="1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CF989F-86B2-072D-197F-1BBAF644161F}"/>
              </a:ext>
            </a:extLst>
          </p:cNvPr>
          <p:cNvSpPr txBox="1"/>
          <p:nvPr/>
        </p:nvSpPr>
        <p:spPr>
          <a:xfrm>
            <a:off x="1469202" y="3763625"/>
            <a:ext cx="7387654" cy="300916"/>
          </a:xfrm>
          <a:prstGeom prst="rect">
            <a:avLst/>
          </a:prstGeom>
          <a:noFill/>
          <a:ln w="3175" cmpd="thickThin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13" dirty="0"/>
              <a:t>If Symphony AI does </a:t>
            </a:r>
            <a:r>
              <a:rPr lang="en-US" sz="1013"/>
              <a:t>not qualify </a:t>
            </a:r>
            <a:r>
              <a:rPr lang="en-US" sz="1013" dirty="0"/>
              <a:t>for POC based on step 2, move to SAS as next option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9FE0F-AC57-5154-149B-6C3856C25B3C}"/>
              </a:ext>
            </a:extLst>
          </p:cNvPr>
          <p:cNvSpPr txBox="1"/>
          <p:nvPr/>
        </p:nvSpPr>
        <p:spPr>
          <a:xfrm>
            <a:off x="1469203" y="925463"/>
            <a:ext cx="7245476" cy="300916"/>
          </a:xfrm>
          <a:prstGeom prst="rect">
            <a:avLst/>
          </a:prstGeom>
          <a:noFill/>
          <a:ln w="3175" cmpd="thickThin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13" dirty="0"/>
              <a:t>Move Actimize into Phase 2 in Q2 and proceed with the POC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8CF36-9540-745B-395E-19E8B2B879A4}"/>
              </a:ext>
            </a:extLst>
          </p:cNvPr>
          <p:cNvSpPr txBox="1"/>
          <p:nvPr/>
        </p:nvSpPr>
        <p:spPr>
          <a:xfrm>
            <a:off x="1469202" y="2205884"/>
            <a:ext cx="7128389" cy="534762"/>
          </a:xfrm>
          <a:prstGeom prst="rect">
            <a:avLst/>
          </a:prstGeom>
          <a:noFill/>
          <a:ln w="3175" cmpd="thickThin">
            <a:noFill/>
            <a:prstDash val="sys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13" dirty="0"/>
              <a:t>Do some additional due diligence on Symphony AI, connect with some references and if it satisfies our criteria, move to Phase 2 in Q2 to proceed with POC</a:t>
            </a:r>
          </a:p>
        </p:txBody>
      </p:sp>
    </p:spTree>
    <p:extLst>
      <p:ext uri="{BB962C8B-B14F-4D97-AF65-F5344CB8AC3E}">
        <p14:creationId xmlns:p14="http://schemas.microsoft.com/office/powerpoint/2010/main" val="88138405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27E638EB-EB95-9D12-B844-0A121F28E5F8}"/>
              </a:ext>
            </a:extLst>
          </p:cNvPr>
          <p:cNvSpPr/>
          <p:nvPr/>
        </p:nvSpPr>
        <p:spPr>
          <a:xfrm>
            <a:off x="4695560" y="1275900"/>
            <a:ext cx="4003809" cy="2069300"/>
          </a:xfrm>
          <a:prstGeom prst="roundRect">
            <a:avLst>
              <a:gd name="adj" fmla="val 1241"/>
            </a:avLst>
          </a:prstGeom>
          <a:solidFill>
            <a:sysClr val="window" lastClr="FFFFFF"/>
          </a:solidFill>
          <a:ln w="22225" cap="flat" cmpd="sng" algn="ctr">
            <a:solidFill>
              <a:srgbClr val="4472C4">
                <a:alpha val="89000"/>
              </a:srgbClr>
            </a:solidFill>
            <a:prstDash val="solid"/>
            <a:miter lim="800000"/>
          </a:ln>
          <a:effectLst>
            <a:outerShdw blurRad="508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sz="12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04BFE-093A-D2DD-F344-E57AB743694D}"/>
              </a:ext>
            </a:extLst>
          </p:cNvPr>
          <p:cNvSpPr txBox="1"/>
          <p:nvPr/>
        </p:nvSpPr>
        <p:spPr>
          <a:xfrm>
            <a:off x="401991" y="635563"/>
            <a:ext cx="8327593" cy="4972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rgbClr val="002060"/>
                </a:solidFill>
              </a:rPr>
              <a:t>We evaluated 6 shortlisted vendors and have selected NICE Actimize and Symphony AI for the final round. </a:t>
            </a:r>
          </a:p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rgbClr val="002060"/>
                </a:solidFill>
              </a:rPr>
              <a:t>These two vendors will do a POC for AXP in the middle of July.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4048" y="146304"/>
            <a:ext cx="8302752" cy="374904"/>
          </a:xfrm>
        </p:spPr>
        <p:txBody>
          <a:bodyPr/>
          <a:lstStyle/>
          <a:p>
            <a:r>
              <a:rPr lang="en-US" sz="2800"/>
              <a:t>CDD Vendor Evaluation : Comparison of Top 2 Vendors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FD810-5C60-20B2-2160-0BEC9D45B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227281B7-D84B-0A6C-9DA9-3FCA63504419}"/>
              </a:ext>
            </a:extLst>
          </p:cNvPr>
          <p:cNvSpPr/>
          <p:nvPr/>
        </p:nvSpPr>
        <p:spPr>
          <a:xfrm>
            <a:off x="401991" y="1261555"/>
            <a:ext cx="4003809" cy="2069300"/>
          </a:xfrm>
          <a:prstGeom prst="roundRect">
            <a:avLst>
              <a:gd name="adj" fmla="val 1241"/>
            </a:avLst>
          </a:prstGeom>
          <a:solidFill>
            <a:sysClr val="window" lastClr="FFFFFF"/>
          </a:solidFill>
          <a:ln w="22225" cap="flat" cmpd="sng" algn="ctr">
            <a:solidFill>
              <a:srgbClr val="4472C4">
                <a:alpha val="89000"/>
              </a:srgbClr>
            </a:solidFill>
            <a:prstDash val="solid"/>
            <a:miter lim="800000"/>
          </a:ln>
          <a:effectLst>
            <a:outerShdw blurRad="50800" dir="5400000" algn="ctr" rotWithShape="0">
              <a:srgbClr val="000000">
                <a:alpha val="20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sz="1200" kern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8969D1-186D-8600-0416-107E958A52BB}"/>
              </a:ext>
            </a:extLst>
          </p:cNvPr>
          <p:cNvSpPr/>
          <p:nvPr/>
        </p:nvSpPr>
        <p:spPr>
          <a:xfrm>
            <a:off x="469173" y="1896029"/>
            <a:ext cx="1588912" cy="1111227"/>
          </a:xfrm>
          <a:prstGeom prst="rect">
            <a:avLst/>
          </a:prstGeom>
          <a:noFill/>
          <a:ln w="9525">
            <a:noFill/>
          </a:ln>
        </p:spPr>
        <p:txBody>
          <a:bodyPr lIns="54000" tIns="54000" rIns="54000" bIns="54000" anchor="t" anchorCtr="0">
            <a:noAutofit/>
          </a:bodyPr>
          <a:lstStyle/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>
                <a:solidFill>
                  <a:srgbClr val="70AD47">
                    <a:lumMod val="75000"/>
                  </a:srgbClr>
                </a:solidFill>
                <a:cs typeface="Arial" panose="020B0604020202020204" pitchFamily="34" charset="0"/>
                <a:sym typeface="Calibri"/>
              </a:rPr>
              <a:t>Industry Leader in Risk Category</a:t>
            </a:r>
          </a:p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>
                <a:solidFill>
                  <a:srgbClr val="70AD47">
                    <a:lumMod val="75000"/>
                  </a:srgbClr>
                </a:solidFill>
                <a:cs typeface="Arial" panose="020B0604020202020204" pitchFamily="34" charset="0"/>
                <a:sym typeface="Calibri"/>
              </a:rPr>
              <a:t>Forrester/Gartner leader</a:t>
            </a:r>
          </a:p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>
                <a:solidFill>
                  <a:srgbClr val="70AD47">
                    <a:lumMod val="75000"/>
                  </a:srgbClr>
                </a:solidFill>
                <a:cs typeface="Arial" panose="020B0604020202020204" pitchFamily="34" charset="0"/>
                <a:sym typeface="Calibri"/>
              </a:rPr>
              <a:t>Configurable &amp; Scalable system matching all requirements</a:t>
            </a:r>
          </a:p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>
                <a:solidFill>
                  <a:srgbClr val="70AD47">
                    <a:lumMod val="75000"/>
                  </a:srgbClr>
                </a:solidFill>
                <a:cs typeface="Arial" panose="020B0604020202020204" pitchFamily="34" charset="0"/>
                <a:sym typeface="Calibri"/>
              </a:rPr>
              <a:t>Volume supports largest global banks</a:t>
            </a:r>
          </a:p>
          <a:p>
            <a:pPr marL="0" lvl="1" defTabSz="342900">
              <a:spcBef>
                <a:spcPts val="525"/>
              </a:spcBef>
              <a:buSzPct val="100000"/>
            </a:pPr>
            <a:endParaRPr lang="de-DE" sz="825">
              <a:solidFill>
                <a:prstClr val="black"/>
              </a:solidFill>
              <a:cs typeface="Arial" panose="020B0604020202020204" pitchFamily="34" charset="0"/>
              <a:sym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FF8CF0-C685-D350-3F9A-91BF068E940F}"/>
              </a:ext>
            </a:extLst>
          </p:cNvPr>
          <p:cNvSpPr/>
          <p:nvPr/>
        </p:nvSpPr>
        <p:spPr>
          <a:xfrm>
            <a:off x="5201141" y="3054033"/>
            <a:ext cx="2357636" cy="773930"/>
          </a:xfrm>
          <a:prstGeom prst="rect">
            <a:avLst/>
          </a:prstGeom>
          <a:noFill/>
          <a:ln w="9525">
            <a:noFill/>
          </a:ln>
        </p:spPr>
        <p:txBody>
          <a:bodyPr lIns="54000" tIns="54000" rIns="54000" bIns="54000" anchor="t" anchorCtr="0">
            <a:noAutofit/>
          </a:bodyPr>
          <a:lstStyle/>
          <a:p>
            <a:pPr marL="0" lvl="1" defTabSz="342900">
              <a:spcBef>
                <a:spcPts val="525"/>
              </a:spcBef>
              <a:buSzPct val="100000"/>
            </a:pPr>
            <a:endParaRPr lang="de-DE" sz="1200">
              <a:solidFill>
                <a:prstClr val="black"/>
              </a:solidFill>
              <a:cs typeface="Arial" panose="020B0604020202020204" pitchFamily="34" charset="0"/>
              <a:sym typeface="Calibri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8CC8F3A-3377-AA4B-5D85-0FFF5B86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31" y="1276670"/>
            <a:ext cx="654651" cy="396436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4032E8F-5E74-3BAC-FBDA-6FAA65641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9171" y="1299117"/>
            <a:ext cx="996865" cy="317030"/>
          </a:xfrm>
          <a:prstGeom prst="rect">
            <a:avLst/>
          </a:prstGeom>
          <a:noFill/>
          <a:ln>
            <a:solidFill>
              <a:srgbClr val="44546A">
                <a:lumMod val="75000"/>
              </a:srgbClr>
            </a:solidFill>
          </a:ln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D7A25C73-E981-EE94-16F0-5E4D7F50AE8B}"/>
              </a:ext>
            </a:extLst>
          </p:cNvPr>
          <p:cNvGrpSpPr/>
          <p:nvPr/>
        </p:nvGrpSpPr>
        <p:grpSpPr>
          <a:xfrm>
            <a:off x="6441571" y="1299017"/>
            <a:ext cx="818830" cy="812696"/>
            <a:chOff x="6356291" y="940381"/>
            <a:chExt cx="1280160" cy="1097280"/>
          </a:xfrm>
        </p:grpSpPr>
        <p:sp>
          <p:nvSpPr>
            <p:cNvPr id="44" name="Pie 21">
              <a:extLst>
                <a:ext uri="{FF2B5EF4-FFF2-40B4-BE49-F238E27FC236}">
                  <a16:creationId xmlns:a16="http://schemas.microsoft.com/office/drawing/2014/main" id="{EBD51D23-87D3-0CB4-9993-9A7DB4F20E37}"/>
                </a:ext>
              </a:extLst>
            </p:cNvPr>
            <p:cNvSpPr/>
            <p:nvPr/>
          </p:nvSpPr>
          <p:spPr>
            <a:xfrm>
              <a:off x="6356291" y="940381"/>
              <a:ext cx="1280160" cy="1097280"/>
            </a:xfrm>
            <a:prstGeom prst="pie">
              <a:avLst>
                <a:gd name="adj1" fmla="val 16113913"/>
                <a:gd name="adj2" fmla="val 14108104"/>
              </a:avLst>
            </a:pr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DF2E543-65F4-14ED-3CFB-9E919800D008}"/>
                </a:ext>
              </a:extLst>
            </p:cNvPr>
            <p:cNvSpPr/>
            <p:nvPr/>
          </p:nvSpPr>
          <p:spPr>
            <a:xfrm>
              <a:off x="6507635" y="1041109"/>
              <a:ext cx="993535" cy="8819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r="5400000" algn="ctr" rotWithShape="0">
                <a:sysClr val="windowText" lastClr="000000">
                  <a:alpha val="33000"/>
                </a:sys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12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3A6BC20-EFB5-0D81-2127-630D1DE15F6B}"/>
                </a:ext>
              </a:extLst>
            </p:cNvPr>
            <p:cNvSpPr txBox="1"/>
            <p:nvPr/>
          </p:nvSpPr>
          <p:spPr>
            <a:xfrm>
              <a:off x="6499602" y="1304355"/>
              <a:ext cx="922785" cy="373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1800" b="1" kern="0">
                  <a:solidFill>
                    <a:srgbClr val="007CC2"/>
                  </a:solidFill>
                  <a:latin typeface="Calibri" panose="020F0502020204030204"/>
                </a:rPr>
                <a:t>8.93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E865089-12E5-27C3-9315-9F0BD4652BD2}"/>
              </a:ext>
            </a:extLst>
          </p:cNvPr>
          <p:cNvSpPr txBox="1"/>
          <p:nvPr/>
        </p:nvSpPr>
        <p:spPr>
          <a:xfrm>
            <a:off x="3316686" y="2748428"/>
            <a:ext cx="955638" cy="502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>
                <a:solidFill>
                  <a:srgbClr val="C00000"/>
                </a:solidFill>
                <a:cs typeface="Arial" panose="020B0604020202020204" pitchFamily="34" charset="0"/>
                <a:sym typeface="Calibri"/>
              </a:rPr>
              <a:t>Expensive Integration</a:t>
            </a:r>
          </a:p>
          <a:p>
            <a:endParaRPr lang="en-US" sz="1013">
              <a:solidFill>
                <a:prstClr val="black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265913C-17AB-AE3A-046B-D9FF24817B41}"/>
              </a:ext>
            </a:extLst>
          </p:cNvPr>
          <p:cNvGrpSpPr/>
          <p:nvPr/>
        </p:nvGrpSpPr>
        <p:grpSpPr>
          <a:xfrm>
            <a:off x="2196504" y="1301809"/>
            <a:ext cx="818830" cy="812696"/>
            <a:chOff x="2764738" y="998223"/>
            <a:chExt cx="1280160" cy="1097280"/>
          </a:xfrm>
        </p:grpSpPr>
        <p:sp>
          <p:nvSpPr>
            <p:cNvPr id="56" name="Pie 21">
              <a:extLst>
                <a:ext uri="{FF2B5EF4-FFF2-40B4-BE49-F238E27FC236}">
                  <a16:creationId xmlns:a16="http://schemas.microsoft.com/office/drawing/2014/main" id="{560F31BE-8858-9B1A-52D4-7773F853EA72}"/>
                </a:ext>
              </a:extLst>
            </p:cNvPr>
            <p:cNvSpPr/>
            <p:nvPr/>
          </p:nvSpPr>
          <p:spPr>
            <a:xfrm>
              <a:off x="2764738" y="998223"/>
              <a:ext cx="1280160" cy="1097280"/>
            </a:xfrm>
            <a:prstGeom prst="pie">
              <a:avLst>
                <a:gd name="adj1" fmla="val 16113913"/>
                <a:gd name="adj2" fmla="val 14952777"/>
              </a:avLst>
            </a:pr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sz="12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C21DA3-6880-897E-DF63-53F34306AD34}"/>
                </a:ext>
              </a:extLst>
            </p:cNvPr>
            <p:cNvSpPr/>
            <p:nvPr/>
          </p:nvSpPr>
          <p:spPr>
            <a:xfrm>
              <a:off x="2902152" y="1090091"/>
              <a:ext cx="993535" cy="8819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r="5400000" algn="ctr" rotWithShape="0">
                <a:sysClr val="windowText" lastClr="000000">
                  <a:alpha val="33000"/>
                </a:sysClr>
              </a:outerShdw>
            </a:effectLst>
          </p:spPr>
          <p:txBody>
            <a:bodyPr rtlCol="0" anchor="ctr"/>
            <a:lstStyle/>
            <a:p>
              <a:pPr algn="ctr">
                <a:defRPr/>
              </a:pPr>
              <a:endParaRPr lang="en-US" sz="1200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1C46CD3-3C79-9B60-D257-80357C56BF52}"/>
                </a:ext>
              </a:extLst>
            </p:cNvPr>
            <p:cNvSpPr txBox="1"/>
            <p:nvPr/>
          </p:nvSpPr>
          <p:spPr>
            <a:xfrm>
              <a:off x="2907277" y="1350735"/>
              <a:ext cx="922785" cy="373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1800" b="1" kern="0">
                  <a:solidFill>
                    <a:srgbClr val="007CC2"/>
                  </a:solidFill>
                  <a:latin typeface="Calibri" panose="020F0502020204030204"/>
                </a:rPr>
                <a:t>9.04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5F27E02E-2559-5459-EBAE-CC94A8912C3F}"/>
              </a:ext>
            </a:extLst>
          </p:cNvPr>
          <p:cNvSpPr txBox="1"/>
          <p:nvPr/>
        </p:nvSpPr>
        <p:spPr>
          <a:xfrm>
            <a:off x="7405358" y="1826799"/>
            <a:ext cx="1447431" cy="1392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 dirty="0">
                <a:solidFill>
                  <a:srgbClr val="C00000"/>
                </a:solidFill>
                <a:cs typeface="Arial" panose="020B0604020202020204" pitchFamily="34" charset="0"/>
                <a:sym typeface="Calibri"/>
              </a:rPr>
              <a:t>Smaller in size but CRR product taken over from market leader BAE-Solutions.</a:t>
            </a:r>
          </a:p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 dirty="0">
                <a:solidFill>
                  <a:srgbClr val="C00000"/>
                </a:solidFill>
                <a:cs typeface="Arial" panose="020B0604020202020204" pitchFamily="34" charset="0"/>
                <a:sym typeface="Calibri"/>
              </a:rPr>
              <a:t> Better design &amp; architecture demonstrated</a:t>
            </a:r>
          </a:p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 dirty="0">
                <a:solidFill>
                  <a:srgbClr val="C00000"/>
                </a:solidFill>
                <a:cs typeface="Arial" panose="020B0604020202020204" pitchFamily="34" charset="0"/>
                <a:sym typeface="Calibri"/>
              </a:rPr>
              <a:t> Simpler API‘s </a:t>
            </a:r>
          </a:p>
          <a:p>
            <a:endParaRPr lang="en-US" sz="1013" dirty="0">
              <a:solidFill>
                <a:prstClr val="black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65E57E8-702D-A64E-DF58-01693CAB861D}"/>
              </a:ext>
            </a:extLst>
          </p:cNvPr>
          <p:cNvSpPr/>
          <p:nvPr/>
        </p:nvSpPr>
        <p:spPr>
          <a:xfrm>
            <a:off x="4695560" y="1839895"/>
            <a:ext cx="1590116" cy="1076359"/>
          </a:xfrm>
          <a:prstGeom prst="rect">
            <a:avLst/>
          </a:prstGeom>
          <a:noFill/>
          <a:ln w="9525">
            <a:noFill/>
          </a:ln>
        </p:spPr>
        <p:txBody>
          <a:bodyPr lIns="54000" tIns="54000" rIns="54000" bIns="54000" anchor="t" anchorCtr="0">
            <a:noAutofit/>
          </a:bodyPr>
          <a:lstStyle/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 dirty="0">
                <a:solidFill>
                  <a:srgbClr val="70AD47">
                    <a:lumMod val="75000"/>
                  </a:srgbClr>
                </a:solidFill>
                <a:cs typeface="Arial" panose="020B0604020202020204" pitchFamily="34" charset="0"/>
                <a:sym typeface="Calibri"/>
              </a:rPr>
              <a:t>Most Configurable and Scalable system of all </a:t>
            </a:r>
          </a:p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 dirty="0">
                <a:solidFill>
                  <a:srgbClr val="70AD47">
                    <a:lumMod val="75000"/>
                  </a:srgbClr>
                </a:solidFill>
                <a:cs typeface="Arial" panose="020B0604020202020204" pitchFamily="34" charset="0"/>
                <a:sym typeface="Calibri"/>
              </a:rPr>
              <a:t>Matches all our requirements</a:t>
            </a:r>
          </a:p>
          <a:p>
            <a:pPr marL="128588" lvl="1" indent="-128588" defTabSz="342900">
              <a:spcBef>
                <a:spcPts val="525"/>
              </a:spcBef>
              <a:buSzPct val="100000"/>
              <a:buFont typeface="Arial" panose="020B0604020202020204" pitchFamily="34" charset="0"/>
              <a:buChar char="•"/>
            </a:pPr>
            <a:r>
              <a:rPr lang="de-DE" sz="825" dirty="0">
                <a:solidFill>
                  <a:srgbClr val="70AD47">
                    <a:lumMod val="75000"/>
                  </a:srgbClr>
                </a:solidFill>
                <a:cs typeface="Arial" panose="020B0604020202020204" pitchFamily="34" charset="0"/>
                <a:sym typeface="Calibri"/>
              </a:rPr>
              <a:t>High volume supported – 100 mn customer batch in 2 hours; Online scoring in milisecs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799E1B-655C-393F-CFC1-437FCA31515D}"/>
              </a:ext>
            </a:extLst>
          </p:cNvPr>
          <p:cNvSpPr txBox="1"/>
          <p:nvPr/>
        </p:nvSpPr>
        <p:spPr>
          <a:xfrm>
            <a:off x="384048" y="3669409"/>
            <a:ext cx="8315321" cy="1035605"/>
          </a:xfrm>
          <a:prstGeom prst="rect">
            <a:avLst/>
          </a:prstGeom>
          <a:noFill/>
          <a:ln w="3175" cmpd="thickThin">
            <a:solidFill>
              <a:schemeClr val="tx2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>
                <a:solidFill>
                  <a:schemeClr val="tx2"/>
                </a:solidFill>
              </a:rPr>
              <a:t>Actimize is a </a:t>
            </a:r>
            <a:r>
              <a:rPr lang="en-US" sz="1050" b="1">
                <a:solidFill>
                  <a:schemeClr val="tx2"/>
                </a:solidFill>
              </a:rPr>
              <a:t>clear leader in terms of reputation &amp; experience in </a:t>
            </a:r>
            <a:r>
              <a:rPr lang="en-US" sz="1050">
                <a:solidFill>
                  <a:schemeClr val="tx2"/>
                </a:solidFill>
              </a:rPr>
              <a:t>Financial Crimes Compliance, per Forrester and Gartner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>
                <a:solidFill>
                  <a:schemeClr val="tx2"/>
                </a:solidFill>
              </a:rPr>
              <a:t>Both </a:t>
            </a:r>
            <a:r>
              <a:rPr lang="en-US" sz="1050" b="1">
                <a:solidFill>
                  <a:schemeClr val="tx2"/>
                </a:solidFill>
              </a:rPr>
              <a:t>Actimize </a:t>
            </a:r>
            <a:r>
              <a:rPr lang="en-US" sz="1050">
                <a:solidFill>
                  <a:schemeClr val="tx2"/>
                </a:solidFill>
              </a:rPr>
              <a:t>and </a:t>
            </a:r>
            <a:r>
              <a:rPr lang="en-US" sz="1050" b="1">
                <a:solidFill>
                  <a:schemeClr val="tx2"/>
                </a:solidFill>
              </a:rPr>
              <a:t>Symphony AI fit all or most of our functional requirements criteria 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>
                <a:solidFill>
                  <a:schemeClr val="tx2"/>
                </a:solidFill>
              </a:rPr>
              <a:t>Symphony AI has the </a:t>
            </a:r>
            <a:r>
              <a:rPr lang="en-US" sz="1050" b="1">
                <a:solidFill>
                  <a:schemeClr val="tx2"/>
                </a:solidFill>
              </a:rPr>
              <a:t>most scalable and configurable system of the two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050">
                <a:solidFill>
                  <a:schemeClr val="tx2"/>
                </a:solidFill>
              </a:rPr>
              <a:t>Both players are rated at par for: Security &amp; compliance, integration capabilities, support &amp; SLAs.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E56A98-CE81-8CDC-48C2-D0D057B8811E}"/>
              </a:ext>
            </a:extLst>
          </p:cNvPr>
          <p:cNvSpPr/>
          <p:nvPr/>
        </p:nvSpPr>
        <p:spPr>
          <a:xfrm>
            <a:off x="384048" y="3411921"/>
            <a:ext cx="8026003" cy="466794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defTabSz="339806" fontAlgn="base">
              <a:spcBef>
                <a:spcPts val="225"/>
              </a:spcBef>
              <a:spcAft>
                <a:spcPts val="225"/>
              </a:spcAft>
            </a:pPr>
            <a:r>
              <a:rPr lang="en-US" sz="1125" b="1">
                <a:solidFill>
                  <a:srgbClr val="002663"/>
                </a:solidFill>
                <a:cs typeface="Arial"/>
              </a:rPr>
              <a:t>Some distinguishing highlights </a:t>
            </a:r>
          </a:p>
          <a:p>
            <a:pPr marL="543401" lvl="1" indent="-200501" defTabSz="339806"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en-US" sz="1125">
              <a:solidFill>
                <a:srgbClr val="002663"/>
              </a:solidFill>
              <a:cs typeface="Arial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2FF0E5-B172-4CDB-AC4E-CD8EC48744FD}"/>
              </a:ext>
            </a:extLst>
          </p:cNvPr>
          <p:cNvGrpSpPr/>
          <p:nvPr/>
        </p:nvGrpSpPr>
        <p:grpSpPr>
          <a:xfrm>
            <a:off x="2114571" y="2309088"/>
            <a:ext cx="1079501" cy="812696"/>
            <a:chOff x="2219388" y="1797445"/>
            <a:chExt cx="1079501" cy="812696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062EF0E-4606-0257-8487-8275913F2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2219388" y="1797445"/>
              <a:ext cx="1079501" cy="81269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4FC24E-248D-52D5-6F92-C36F294DB8B6}"/>
                </a:ext>
              </a:extLst>
            </p:cNvPr>
            <p:cNvSpPr/>
            <p:nvPr/>
          </p:nvSpPr>
          <p:spPr>
            <a:xfrm>
              <a:off x="2482593" y="1940000"/>
              <a:ext cx="480906" cy="171886"/>
            </a:xfrm>
            <a:prstGeom prst="rect">
              <a:avLst/>
            </a:prstGeom>
            <a:solidFill>
              <a:srgbClr val="47591D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800">
                  <a:solidFill>
                    <a:schemeClr val="bg1"/>
                  </a:solidFill>
                </a:rPr>
                <a:t>Pros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747149-2236-449A-B209-489001018050}"/>
                </a:ext>
              </a:extLst>
            </p:cNvPr>
            <p:cNvSpPr/>
            <p:nvPr/>
          </p:nvSpPr>
          <p:spPr>
            <a:xfrm>
              <a:off x="2620708" y="2320989"/>
              <a:ext cx="524529" cy="148033"/>
            </a:xfrm>
            <a:prstGeom prst="rect">
              <a:avLst/>
            </a:prstGeom>
            <a:solidFill>
              <a:srgbClr val="681C1C"/>
            </a:soli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800"/>
                <a:t>Cons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032A138-541B-409C-F005-D388D6CA8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372" y="2262865"/>
            <a:ext cx="1189971" cy="9255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986C51-DA81-3E4C-EA5B-C7EBE023F2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4238" y="2255646"/>
            <a:ext cx="1189971" cy="9255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A55B1A2-8F2C-DF27-902C-87B216F676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4183" y="2275494"/>
            <a:ext cx="1189971" cy="925533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2F872E7C-CF9E-6C4E-1A7D-22BFF7655DEF}"/>
              </a:ext>
            </a:extLst>
          </p:cNvPr>
          <p:cNvSpPr txBox="1">
            <a:spLocks/>
          </p:cNvSpPr>
          <p:nvPr/>
        </p:nvSpPr>
        <p:spPr>
          <a:xfrm>
            <a:off x="8735304" y="4943874"/>
            <a:ext cx="457200" cy="2298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8FE1D80-0B15-46BA-B7F8-B6C93A045F20}" type="slidenum">
              <a:rPr lang="en-US" sz="1000">
                <a:solidFill>
                  <a:srgbClr val="006FCF"/>
                </a:solidFill>
              </a:rPr>
              <a:pPr algn="r"/>
              <a:t>7</a:t>
            </a:fld>
            <a:endParaRPr lang="en-US" sz="100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072200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004BFE-093A-D2DD-F344-E57AB743694D}"/>
              </a:ext>
            </a:extLst>
          </p:cNvPr>
          <p:cNvSpPr txBox="1"/>
          <p:nvPr/>
        </p:nvSpPr>
        <p:spPr>
          <a:xfrm>
            <a:off x="239415" y="581774"/>
            <a:ext cx="8665169" cy="4972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rgbClr val="002060"/>
                </a:solidFill>
              </a:rPr>
              <a:t>The top 2 vendors and our in-house were toe to toe with each other but the in-house build had some unique advantages 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4048" y="146304"/>
            <a:ext cx="8302752" cy="374904"/>
          </a:xfrm>
        </p:spPr>
        <p:txBody>
          <a:bodyPr/>
          <a:lstStyle/>
          <a:p>
            <a:r>
              <a:rPr lang="en-US" sz="2800" dirty="0"/>
              <a:t>Rationale Behind Recommendation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FD810-5C60-20B2-2160-0BEC9D45B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2F872E7C-CF9E-6C4E-1A7D-22BFF7655DEF}"/>
              </a:ext>
            </a:extLst>
          </p:cNvPr>
          <p:cNvSpPr txBox="1">
            <a:spLocks/>
          </p:cNvSpPr>
          <p:nvPr/>
        </p:nvSpPr>
        <p:spPr>
          <a:xfrm>
            <a:off x="8735304" y="4943874"/>
            <a:ext cx="457200" cy="2298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8FE1D80-0B15-46BA-B7F8-B6C93A045F20}" type="slidenum">
              <a:rPr lang="en-US" sz="1000">
                <a:solidFill>
                  <a:srgbClr val="006FCF"/>
                </a:solidFill>
              </a:rPr>
              <a:pPr algn="r"/>
              <a:t>8</a:t>
            </a:fld>
            <a:endParaRPr lang="en-US" sz="1000">
              <a:solidFill>
                <a:srgbClr val="006FCF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AF04ADE-3F94-B762-158B-4113640FB70A}"/>
              </a:ext>
            </a:extLst>
          </p:cNvPr>
          <p:cNvGrpSpPr/>
          <p:nvPr/>
        </p:nvGrpSpPr>
        <p:grpSpPr>
          <a:xfrm>
            <a:off x="6926668" y="1310527"/>
            <a:ext cx="1192696" cy="2595755"/>
            <a:chOff x="3976737" y="1344620"/>
            <a:chExt cx="1192696" cy="259575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EA1E07A-807E-B242-5C77-AE8B68E3D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120668" y="1344620"/>
              <a:ext cx="904833" cy="717776"/>
            </a:xfrm>
            <a:prstGeom prst="rect">
              <a:avLst/>
            </a:prstGeom>
          </p:spPr>
        </p:pic>
        <p:sp>
          <p:nvSpPr>
            <p:cNvPr id="25" name="Flowchart: Stored Data 24">
              <a:extLst>
                <a:ext uri="{FF2B5EF4-FFF2-40B4-BE49-F238E27FC236}">
                  <a16:creationId xmlns:a16="http://schemas.microsoft.com/office/drawing/2014/main" id="{105578F0-9045-EBB0-8676-B01044B1F464}"/>
                </a:ext>
              </a:extLst>
            </p:cNvPr>
            <p:cNvSpPr/>
            <p:nvPr/>
          </p:nvSpPr>
          <p:spPr>
            <a:xfrm rot="16200000">
              <a:off x="3491708" y="2262650"/>
              <a:ext cx="2162754" cy="1192696"/>
            </a:xfrm>
            <a:prstGeom prst="flowChartOnlineStorag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7816">
                  <a:schemeClr val="tx2"/>
                </a:gs>
                <a:gs pos="0">
                  <a:schemeClr val="tx2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185367-262B-0128-2098-6374A95B187D}"/>
              </a:ext>
            </a:extLst>
          </p:cNvPr>
          <p:cNvGrpSpPr/>
          <p:nvPr/>
        </p:nvGrpSpPr>
        <p:grpSpPr>
          <a:xfrm>
            <a:off x="3934462" y="1284035"/>
            <a:ext cx="1192696" cy="2622247"/>
            <a:chOff x="2532546" y="1310177"/>
            <a:chExt cx="1192696" cy="262224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A01F170-A01A-FE04-4634-10AEEABBC6C5}"/>
                </a:ext>
              </a:extLst>
            </p:cNvPr>
            <p:cNvGrpSpPr/>
            <p:nvPr/>
          </p:nvGrpSpPr>
          <p:grpSpPr>
            <a:xfrm>
              <a:off x="2534236" y="1310177"/>
              <a:ext cx="1140238" cy="724158"/>
              <a:chOff x="2123827" y="1357212"/>
              <a:chExt cx="1066241" cy="711566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CDF0AE4-6A44-4D2C-E809-3B81E312F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2623894" y="1500287"/>
                <a:ext cx="566174" cy="497248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15E9567-AE2C-F36D-C78A-CDAC773796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2123827" y="1357212"/>
                <a:ext cx="689839" cy="711566"/>
              </a:xfrm>
              <a:prstGeom prst="rect">
                <a:avLst/>
              </a:prstGeom>
            </p:spPr>
          </p:pic>
        </p:grpSp>
        <p:sp>
          <p:nvSpPr>
            <p:cNvPr id="26" name="Flowchart: Stored Data 25">
              <a:extLst>
                <a:ext uri="{FF2B5EF4-FFF2-40B4-BE49-F238E27FC236}">
                  <a16:creationId xmlns:a16="http://schemas.microsoft.com/office/drawing/2014/main" id="{CC93D3B1-5BBD-F44D-0BDE-5BC8372C2CA6}"/>
                </a:ext>
              </a:extLst>
            </p:cNvPr>
            <p:cNvSpPr/>
            <p:nvPr/>
          </p:nvSpPr>
          <p:spPr>
            <a:xfrm rot="16200000">
              <a:off x="2047517" y="2254699"/>
              <a:ext cx="2162754" cy="1192696"/>
            </a:xfrm>
            <a:prstGeom prst="flowChartOnlineStorag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7816">
                  <a:schemeClr val="tx2"/>
                </a:gs>
                <a:gs pos="0">
                  <a:schemeClr val="tx2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1253F5B-BBE2-5503-3DE1-B7AA034419E5}"/>
              </a:ext>
            </a:extLst>
          </p:cNvPr>
          <p:cNvGrpSpPr/>
          <p:nvPr/>
        </p:nvGrpSpPr>
        <p:grpSpPr>
          <a:xfrm>
            <a:off x="821828" y="1247071"/>
            <a:ext cx="1192696" cy="2659211"/>
            <a:chOff x="1071927" y="1273213"/>
            <a:chExt cx="1192696" cy="26592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987FC21-9C9E-B6ED-AFC1-3B3FE19BD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56803" y="1273213"/>
              <a:ext cx="1006628" cy="860589"/>
            </a:xfrm>
            <a:prstGeom prst="rect">
              <a:avLst/>
            </a:prstGeom>
          </p:spPr>
        </p:pic>
        <p:sp>
          <p:nvSpPr>
            <p:cNvPr id="27" name="Flowchart: Stored Data 26">
              <a:extLst>
                <a:ext uri="{FF2B5EF4-FFF2-40B4-BE49-F238E27FC236}">
                  <a16:creationId xmlns:a16="http://schemas.microsoft.com/office/drawing/2014/main" id="{833B0738-908D-E93E-7381-82D74BA1A4A8}"/>
                </a:ext>
              </a:extLst>
            </p:cNvPr>
            <p:cNvSpPr/>
            <p:nvPr/>
          </p:nvSpPr>
          <p:spPr>
            <a:xfrm rot="16200000">
              <a:off x="586898" y="2254699"/>
              <a:ext cx="2162754" cy="1192696"/>
            </a:xfrm>
            <a:prstGeom prst="flowChartOnlineStorag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7816">
                  <a:schemeClr val="tx2"/>
                </a:gs>
                <a:gs pos="0">
                  <a:schemeClr val="tx2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146F3E0-8EB3-B076-6F39-53B5994681E0}"/>
              </a:ext>
            </a:extLst>
          </p:cNvPr>
          <p:cNvSpPr txBox="1"/>
          <p:nvPr/>
        </p:nvSpPr>
        <p:spPr>
          <a:xfrm>
            <a:off x="930555" y="2858997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chemeClr val="bg1"/>
                </a:solidFill>
              </a:rPr>
              <a:t>Performance</a:t>
            </a:r>
          </a:p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8FF0BE-3920-CD58-496A-531CDA6D2180}"/>
              </a:ext>
            </a:extLst>
          </p:cNvPr>
          <p:cNvSpPr txBox="1"/>
          <p:nvPr/>
        </p:nvSpPr>
        <p:spPr>
          <a:xfrm>
            <a:off x="4015137" y="2571750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chemeClr val="bg1"/>
                </a:solidFill>
              </a:rPr>
              <a:t>Customization </a:t>
            </a:r>
          </a:p>
          <a:p>
            <a:pPr algn="ctr"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chemeClr val="bg1"/>
                </a:solidFill>
              </a:rPr>
              <a:t>&amp; </a:t>
            </a:r>
          </a:p>
          <a:p>
            <a:pPr algn="ctr"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chemeClr val="bg1"/>
                </a:solidFill>
              </a:rPr>
              <a:t>Flexibility</a:t>
            </a:r>
          </a:p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6B2B8A-4161-512C-8010-0AF8E32BCC4C}"/>
              </a:ext>
            </a:extLst>
          </p:cNvPr>
          <p:cNvSpPr txBox="1"/>
          <p:nvPr/>
        </p:nvSpPr>
        <p:spPr>
          <a:xfrm>
            <a:off x="7350446" y="2824904"/>
            <a:ext cx="9144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r>
              <a:rPr lang="en-US" sz="1200" dirty="0">
                <a:solidFill>
                  <a:schemeClr val="bg1"/>
                </a:solidFill>
              </a:rPr>
              <a:t>Cost </a:t>
            </a:r>
          </a:p>
          <a:p>
            <a:pPr>
              <a:lnSpc>
                <a:spcPct val="120000"/>
              </a:lnSpc>
              <a:spcBef>
                <a:spcPts val="900"/>
              </a:spcBef>
              <a:buSzPct val="120000"/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3455243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4048" y="146304"/>
            <a:ext cx="8302752" cy="374904"/>
          </a:xfrm>
        </p:spPr>
        <p:txBody>
          <a:bodyPr/>
          <a:lstStyle/>
          <a:p>
            <a:r>
              <a:rPr lang="en-US" sz="2800" dirty="0"/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FD810-5C60-20B2-2160-0BEC9D45B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2F872E7C-CF9E-6C4E-1A7D-22BFF7655DEF}"/>
              </a:ext>
            </a:extLst>
          </p:cNvPr>
          <p:cNvSpPr txBox="1">
            <a:spLocks/>
          </p:cNvSpPr>
          <p:nvPr/>
        </p:nvSpPr>
        <p:spPr>
          <a:xfrm>
            <a:off x="8735304" y="4943874"/>
            <a:ext cx="457200" cy="2298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8FE1D80-0B15-46BA-B7F8-B6C93A045F20}" type="slidenum">
              <a:rPr lang="en-US" sz="1000">
                <a:solidFill>
                  <a:srgbClr val="006FCF"/>
                </a:solidFill>
              </a:rPr>
              <a:pPr algn="r"/>
              <a:t>9</a:t>
            </a:fld>
            <a:endParaRPr lang="en-US" sz="1000">
              <a:solidFill>
                <a:srgbClr val="006F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80190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0498" y="219757"/>
            <a:ext cx="8783004" cy="374904"/>
          </a:xfrm>
        </p:spPr>
        <p:txBody>
          <a:bodyPr/>
          <a:lstStyle/>
          <a:p>
            <a:r>
              <a:rPr lang="en-US" sz="2800" dirty="0"/>
              <a:t>Business : Comparison of Top 2 Vendors with In-House Build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FD810-5C60-20B2-2160-0BEC9D45B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gray">
          <a:xfrm>
            <a:off x="10675654" y="6392687"/>
            <a:ext cx="1052269" cy="30127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195" kern="1200">
                <a:solidFill>
                  <a:schemeClr val="tx2"/>
                </a:solidFill>
                <a:latin typeface="Guardian Egyp Regular" charset="0"/>
                <a:ea typeface="Guardian Egyp Regular" charset="0"/>
                <a:cs typeface="Guardian Egyp Regular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20384AA-0A71-E644-AEED-65CD2253F2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2F872E7C-CF9E-6C4E-1A7D-22BFF7655DEF}"/>
              </a:ext>
            </a:extLst>
          </p:cNvPr>
          <p:cNvSpPr txBox="1">
            <a:spLocks/>
          </p:cNvSpPr>
          <p:nvPr/>
        </p:nvSpPr>
        <p:spPr>
          <a:xfrm>
            <a:off x="8735304" y="4943874"/>
            <a:ext cx="457200" cy="2298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8FE1D80-0B15-46BA-B7F8-B6C93A045F20}" type="slidenum">
              <a:rPr lang="en-US" sz="1000">
                <a:solidFill>
                  <a:srgbClr val="006FCF"/>
                </a:solidFill>
              </a:rPr>
              <a:pPr algn="r"/>
              <a:t>10</a:t>
            </a:fld>
            <a:endParaRPr lang="en-US" sz="1000">
              <a:solidFill>
                <a:srgbClr val="006FCF"/>
              </a:solidFill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B40B5C7-0287-7EC9-DF6B-293FF18671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451973"/>
              </p:ext>
            </p:extLst>
          </p:nvPr>
        </p:nvGraphicFramePr>
        <p:xfrm>
          <a:off x="3132815" y="1859700"/>
          <a:ext cx="2328416" cy="2053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806335" progId="Excel.Sheet.12">
                  <p:embed/>
                </p:oleObj>
              </mc:Choice>
              <mc:Fallback>
                <p:oleObj name="Worksheet" showAsIcon="1" r:id="rId3" imgW="914400" imgH="806335" progId="Excel.Sheet.12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3B40B5C7-0287-7EC9-DF6B-293FF18671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2815" y="1859700"/>
                        <a:ext cx="2328416" cy="2053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51166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Amex">
  <a:themeElements>
    <a:clrScheme name="Amex">
      <a:dk1>
        <a:srgbClr val="53565A"/>
      </a:dk1>
      <a:lt1>
        <a:srgbClr val="FFFFFF"/>
      </a:lt1>
      <a:dk2>
        <a:srgbClr val="00175A"/>
      </a:dk2>
      <a:lt2>
        <a:srgbClr val="006FCF"/>
      </a:lt2>
      <a:accent1>
        <a:srgbClr val="006FCF"/>
      </a:accent1>
      <a:accent2>
        <a:srgbClr val="00175A"/>
      </a:accent2>
      <a:accent3>
        <a:srgbClr val="A7A8AA"/>
      </a:accent3>
      <a:accent4>
        <a:srgbClr val="000000"/>
      </a:accent4>
      <a:accent5>
        <a:srgbClr val="D9D9D6"/>
      </a:accent5>
      <a:accent6>
        <a:srgbClr val="53565A"/>
      </a:accent6>
      <a:hlink>
        <a:srgbClr val="006FCF"/>
      </a:hlink>
      <a:folHlink>
        <a:srgbClr val="006FCF"/>
      </a:folHlink>
    </a:clrScheme>
    <a:fontScheme name="Amex">
      <a:majorFont>
        <a:latin typeface="Guardian Egyp Light"/>
        <a:ea typeface=""/>
        <a:cs typeface=""/>
      </a:majorFont>
      <a:minorFont>
        <a:latin typeface="BentonSans Regular"/>
        <a:ea typeface=""/>
        <a:cs typeface="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Amex PowerPoint 16x9 15Mar2018" id="{E65D0F6C-AD03-7B48-8D84-8B59EC049515}" vid="{76BEEA1E-CAD0-9141-9FA9-63D9023E28D5}"/>
    </a:ext>
  </a:extLst>
</a:theme>
</file>

<file path=ppt/theme/theme2.xml><?xml version="1.0" encoding="utf-8"?>
<a:theme xmlns:a="http://schemas.openxmlformats.org/drawingml/2006/main" name="1_Amex">
  <a:themeElements>
    <a:clrScheme name="66a9e2">
      <a:dk1>
        <a:srgbClr val="000000"/>
      </a:dk1>
      <a:lt1>
        <a:srgbClr val="FFFFFF"/>
      </a:lt1>
      <a:dk2>
        <a:srgbClr val="00175A"/>
      </a:dk2>
      <a:lt2>
        <a:srgbClr val="006FCF"/>
      </a:lt2>
      <a:accent1>
        <a:srgbClr val="001759"/>
      </a:accent1>
      <a:accent2>
        <a:srgbClr val="006FCF"/>
      </a:accent2>
      <a:accent3>
        <a:srgbClr val="75787B"/>
      </a:accent3>
      <a:accent4>
        <a:srgbClr val="66A9E2"/>
      </a:accent4>
      <a:accent5>
        <a:srgbClr val="B1B2B3"/>
      </a:accent5>
      <a:accent6>
        <a:srgbClr val="98A1BC"/>
      </a:accent6>
      <a:hlink>
        <a:srgbClr val="006FCF"/>
      </a:hlink>
      <a:folHlink>
        <a:srgbClr val="006F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  <a:ln w="635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90500" dist="63500" dir="2700000" algn="br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1200"/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dk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1450" indent="-171450">
          <a:lnSpc>
            <a:spcPct val="120000"/>
          </a:lnSpc>
          <a:spcBef>
            <a:spcPts val="900"/>
          </a:spcBef>
          <a:buSzPct val="120000"/>
          <a:buFont typeface="Arial" pitchFamily="34" charset="0"/>
          <a:buChar char="▪"/>
          <a:defRPr sz="1200"/>
        </a:defPPr>
      </a:lstStyle>
    </a:txDef>
  </a:objectDefaults>
  <a:extraClrSchemeLst/>
  <a:custClrLst>
    <a:custClr name="Bright Blue">
      <a:srgbClr val="006FCF"/>
    </a:custClr>
    <a:custClr name="Deep Blue">
      <a:srgbClr val="00175A"/>
    </a:custClr>
    <a:custClr name="White">
      <a:srgbClr val="FFFFFF"/>
    </a:custClr>
    <a:custClr name="Black">
      <a:srgbClr val="000000"/>
    </a:custClr>
    <a:custClr name="Gray 1">
      <a:srgbClr val="D9D9D6"/>
    </a:custClr>
    <a:custClr name="Gray 2">
      <a:srgbClr val="D0D0CE"/>
    </a:custClr>
    <a:custClr name="Gray 3">
      <a:srgbClr val="C8C9C7"/>
    </a:custClr>
    <a:custClr name="Gray 4">
      <a:srgbClr val="BBBCBC"/>
    </a:custClr>
    <a:custClr name="Gray 5">
      <a:srgbClr val="B1B3B3"/>
    </a:custClr>
    <a:custClr name="Gray 6">
      <a:srgbClr val="A7A8AA"/>
    </a:custClr>
    <a:custClr name="Gray 7">
      <a:srgbClr val="97999B"/>
    </a:custClr>
    <a:custClr name="Gray 8">
      <a:srgbClr val="888B8D"/>
    </a:custClr>
    <a:custClr name="Gray 9">
      <a:srgbClr val="75787B"/>
    </a:custClr>
    <a:custClr name="Gray 10">
      <a:srgbClr val="63666A"/>
    </a:custClr>
    <a:custClr name="Gray 11">
      <a:srgbClr val="53565A"/>
    </a:custClr>
  </a:custClrLst>
  <a:extLst>
    <a:ext uri="{05A4C25C-085E-4340-85A3-A5531E510DB2}">
      <thm15:themeFamily xmlns:thm15="http://schemas.microsoft.com/office/thememl/2012/main" name="CRMC_January 2023 Materials .potx" id="{43E12D2D-7647-4ABC-8EF1-268820C68BF7}" vid="{533C5878-0A4A-4A0A-8D72-A1828A2AB14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2C0460C3559746B0B6E1AC616BCFD6" ma:contentTypeVersion="8" ma:contentTypeDescription="Create a new document." ma:contentTypeScope="" ma:versionID="1a20673167e6959bd9ae57aee0d35333">
  <xsd:schema xmlns:xsd="http://www.w3.org/2001/XMLSchema" xmlns:xs="http://www.w3.org/2001/XMLSchema" xmlns:p="http://schemas.microsoft.com/office/2006/metadata/properties" xmlns:ns2="914f765b-6d20-42cb-906c-91dd01508d85" xmlns:ns3="499ebb7c-8c1e-46e2-bcf5-9ac8bf2b72fd" targetNamespace="http://schemas.microsoft.com/office/2006/metadata/properties" ma:root="true" ma:fieldsID="fe1a3061f159cccd832ebd71e362c366" ns2:_="" ns3:_="">
    <xsd:import namespace="914f765b-6d20-42cb-906c-91dd01508d85"/>
    <xsd:import namespace="499ebb7c-8c1e-46e2-bcf5-9ac8bf2b72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Open_x0020_with_x0020_Seclor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4f765b-6d20-42cb-906c-91dd01508d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Open_x0020_with_x0020_Seclore" ma:index="10" nillable="true" ma:displayName="Open with Seclore" ma:hidden="true" ma:internalName="Open_x0020_with_x0020_Seclor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ebb7c-8c1e-46e2-bcf5-9ac8bf2b72f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pen_x0020_with_x0020_Seclore xmlns="914f765b-6d20-42cb-906c-91dd01508d85" xsi:nil="true"/>
    <SharedWithUsers xmlns="499ebb7c-8c1e-46e2-bcf5-9ac8bf2b72fd">
      <UserInfo>
        <DisplayName>Alec Daniel Nicely</DisplayName>
        <AccountId>86</AccountId>
        <AccountType/>
      </UserInfo>
      <UserInfo>
        <DisplayName>Jhansi Jalapally</DisplayName>
        <AccountId>65</AccountId>
        <AccountType/>
      </UserInfo>
      <UserInfo>
        <DisplayName>Guninder Jeet Singh Sahl</DisplayName>
        <AccountId>111</AccountId>
        <AccountType/>
      </UserInfo>
      <UserInfo>
        <DisplayName>Anuj Sharma</DisplayName>
        <AccountId>112</AccountId>
        <AccountType/>
      </UserInfo>
      <UserInfo>
        <DisplayName>Archana Rajendran</DisplayName>
        <AccountId>63</AccountId>
        <AccountType/>
      </UserInfo>
      <UserInfo>
        <DisplayName>Sai Kiran Matampalle</DisplayName>
        <AccountId>92</AccountId>
        <AccountType/>
      </UserInfo>
      <UserInfo>
        <DisplayName>Abhinav Jadon</DisplayName>
        <AccountId>129</AccountId>
        <AccountType/>
      </UserInfo>
      <UserInfo>
        <DisplayName>Lon Clearwater3</DisplayName>
        <AccountId>116</AccountId>
        <AccountType/>
      </UserInfo>
      <UserInfo>
        <DisplayName>Ankit Baraik</DisplayName>
        <AccountId>131</AccountId>
        <AccountType/>
      </UserInfo>
      <UserInfo>
        <DisplayName>Prateek Jha</DisplayName>
        <AccountId>127</AccountId>
        <AccountType/>
      </UserInfo>
      <UserInfo>
        <DisplayName>Priyanka .</DisplayName>
        <AccountId>117</AccountId>
        <AccountType/>
      </UserInfo>
      <UserInfo>
        <DisplayName>BRITANE AREGBESOLA</DisplayName>
        <AccountId>9</AccountId>
        <AccountType/>
      </UserInfo>
      <UserInfo>
        <DisplayName>Rebekah Jones</DisplayName>
        <AccountId>142</AccountId>
        <AccountType/>
      </UserInfo>
      <UserInfo>
        <DisplayName>Ayotunde Uzo</DisplayName>
        <AccountId>143</AccountId>
        <AccountType/>
      </UserInfo>
      <UserInfo>
        <DisplayName>Anuj Kathwariya</DisplayName>
        <AccountId>140</AccountId>
        <AccountType/>
      </UserInfo>
      <UserInfo>
        <DisplayName>Nimit Madan</DisplayName>
        <AccountId>108</AccountId>
        <AccountType/>
      </UserInfo>
      <UserInfo>
        <DisplayName>Saurabh Dwivedi</DisplayName>
        <AccountId>188</AccountId>
        <AccountType/>
      </UserInfo>
      <UserInfo>
        <DisplayName>Rhea N Banerjee</DisplayName>
        <AccountId>17</AccountId>
        <AccountType/>
      </UserInfo>
      <UserInfo>
        <DisplayName>Deepshikha Arora</DisplayName>
        <AccountId>88</AccountId>
        <AccountType/>
      </UserInfo>
      <UserInfo>
        <DisplayName>Tahnee Sentinella</DisplayName>
        <AccountId>201</AccountId>
        <AccountType/>
      </UserInfo>
      <UserInfo>
        <DisplayName>Sneha Yadav</DisplayName>
        <AccountId>196</AccountId>
        <AccountType/>
      </UserInfo>
      <UserInfo>
        <DisplayName>Gregory A. Liss</DisplayName>
        <AccountId>26</AccountId>
        <AccountType/>
      </UserInfo>
      <UserInfo>
        <DisplayName>Tori Scott-Vespucci</DisplayName>
        <AccountId>210</AccountId>
        <AccountType/>
      </UserInfo>
      <UserInfo>
        <DisplayName>Suprana Sengupta</DisplayName>
        <AccountId>214</AccountId>
        <AccountType/>
      </UserInfo>
      <UserInfo>
        <DisplayName>Manika Kishore</DisplayName>
        <AccountId>217</AccountId>
        <AccountType/>
      </UserInfo>
      <UserInfo>
        <DisplayName>Amit K Pandey</DisplayName>
        <AccountId>218</AccountId>
        <AccountType/>
      </UserInfo>
      <UserInfo>
        <DisplayName>Ali Shan</DisplayName>
        <AccountId>219</AccountId>
        <AccountType/>
      </UserInfo>
      <UserInfo>
        <DisplayName>Prateek Jain</DisplayName>
        <AccountId>216</AccountId>
        <AccountType/>
      </UserInfo>
      <UserInfo>
        <DisplayName>Gayathri Kuppusamy</DisplayName>
        <AccountId>220</AccountId>
        <AccountType/>
      </UserInfo>
      <UserInfo>
        <DisplayName>Sreelakshmi Sreekumar Pillai</DisplayName>
        <AccountId>221</AccountId>
        <AccountType/>
      </UserInfo>
      <UserInfo>
        <DisplayName>Vidyasagar Rudramadhumohana</DisplayName>
        <AccountId>190</AccountId>
        <AccountType/>
      </UserInfo>
      <UserInfo>
        <DisplayName>Arun T Prasannakumar1</DisplayName>
        <AccountId>224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0446A1-54D9-4B7C-BF37-5E730EFEC4A9}">
  <ds:schemaRefs>
    <ds:schemaRef ds:uri="499ebb7c-8c1e-46e2-bcf5-9ac8bf2b72fd"/>
    <ds:schemaRef ds:uri="914f765b-6d20-42cb-906c-91dd01508d8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E3F5B0-C2EA-4721-B337-60F8ABC0CB78}">
  <ds:schemaRefs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499ebb7c-8c1e-46e2-bcf5-9ac8bf2b72fd"/>
    <ds:schemaRef ds:uri="914f765b-6d20-42cb-906c-91dd01508d8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1C4D1F8-CD7B-4AA8-8715-7E6371D1F6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158f467-f592-4f68-b205-41e7c092277d}" enabled="1" method="Standard" siteId="{66295b3b-c4fd-41af-a077-c0ec2a40e36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Amex</Template>
  <TotalTime>6176</TotalTime>
  <Words>902</Words>
  <Application>Microsoft Office PowerPoint</Application>
  <PresentationFormat>On-screen Show (16:9)</PresentationFormat>
  <Paragraphs>210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Amex</vt:lpstr>
      <vt:lpstr>1_Amex</vt:lpstr>
      <vt:lpstr>CDD Build vs. Buy Evaluation </vt:lpstr>
      <vt:lpstr>CDD Platform Option Evaluation &amp; Final Recommendation </vt:lpstr>
      <vt:lpstr>Evaluation Methodology</vt:lpstr>
      <vt:lpstr>Vendors evaluated for CDD platform</vt:lpstr>
      <vt:lpstr>CDD Vendor Evaluation : Comparison of Top 3 Vendors </vt:lpstr>
      <vt:lpstr>Recommendations on Next Steps</vt:lpstr>
      <vt:lpstr>CDD Vendor Evaluation : Comparison of Top 2 Vendors </vt:lpstr>
      <vt:lpstr>Rationale Behind Recommendation </vt:lpstr>
      <vt:lpstr>Appendix</vt:lpstr>
      <vt:lpstr>Business : Comparison of Top 2 Vendors with In-House Build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axp_flourish_tagline_dobusiness_template</dc:title>
  <dc:subject/>
  <dc:creator>Piangporn Jensen</dc:creator>
  <cp:keywords/>
  <dc:description/>
  <cp:lastModifiedBy>Rhea N Banerjee</cp:lastModifiedBy>
  <cp:revision>4</cp:revision>
  <cp:lastPrinted>2021-01-25T18:48:54Z</cp:lastPrinted>
  <dcterms:created xsi:type="dcterms:W3CDTF">2018-07-27T20:51:36Z</dcterms:created>
  <dcterms:modified xsi:type="dcterms:W3CDTF">2026-03-07T11:07:43Z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XPAuthor">
    <vt:lpwstr>Devin Christine Villarosa</vt:lpwstr>
  </property>
  <property fmtid="{D5CDD505-2E9C-101B-9397-08002B2CF9AE}" pid="3" name="AXPDataClassification">
    <vt:lpwstr>AXP Internal</vt:lpwstr>
  </property>
  <property fmtid="{D5CDD505-2E9C-101B-9397-08002B2CF9AE}" pid="4" name="AXPDataClassificationForSearch">
    <vt:lpwstr>AXPInternal_UniqueSearchString</vt:lpwstr>
  </property>
  <property fmtid="{D5CDD505-2E9C-101B-9397-08002B2CF9AE}" pid="5" name="Jive_LatestUserAccountName">
    <vt:lpwstr>sswamy</vt:lpwstr>
  </property>
  <property fmtid="{D5CDD505-2E9C-101B-9397-08002B2CF9AE}" pid="6" name="Offisync_UniqueId">
    <vt:lpwstr>112235</vt:lpwstr>
  </property>
  <property fmtid="{D5CDD505-2E9C-101B-9397-08002B2CF9AE}" pid="7" name="Offisync_ServerID">
    <vt:lpwstr>1705d9cf-de7c-4d04-92a9-b248fa970c4a</vt:lpwstr>
  </property>
  <property fmtid="{D5CDD505-2E9C-101B-9397-08002B2CF9AE}" pid="8" name="Offisync_ProviderInitializationData">
    <vt:lpwstr>https://square.americanexpress.com</vt:lpwstr>
  </property>
  <property fmtid="{D5CDD505-2E9C-101B-9397-08002B2CF9AE}" pid="9" name="Jive_VersionGuid">
    <vt:lpwstr>e410543c-78b7-478e-ba78-287745bf7af1</vt:lpwstr>
  </property>
  <property fmtid="{D5CDD505-2E9C-101B-9397-08002B2CF9AE}" pid="10" name="Offisync_UpdateToken">
    <vt:lpwstr>1</vt:lpwstr>
  </property>
  <property fmtid="{D5CDD505-2E9C-101B-9397-08002B2CF9AE}" pid="11" name="ContentTypeId">
    <vt:lpwstr>0x0101001E2C0460C3559746B0B6E1AC616BCFD6</vt:lpwstr>
  </property>
</Properties>
</file>